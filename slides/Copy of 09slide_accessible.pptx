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22">
          <p15:clr>
            <a:srgbClr val="A4A3A4"/>
          </p15:clr>
        </p15:guide>
        <p15:guide id="2" pos="295">
          <p15:clr>
            <a:srgbClr val="A4A3A4"/>
          </p15:clr>
        </p15:guide>
        <p15:guide id="3" orient="horz" pos="4178">
          <p15:clr>
            <a:srgbClr val="A4A3A4"/>
          </p15:clr>
        </p15:guide>
        <p15:guide id="4" orient="horz" pos="119">
          <p15:clr>
            <a:srgbClr val="A4A3A4"/>
          </p15:clr>
        </p15:guide>
        <p15:guide id="5" orient="horz" pos="709">
          <p15:clr>
            <a:srgbClr val="A4A3A4"/>
          </p15:clr>
        </p15:guide>
        <p15:guide id="6" orient="horz" pos="958">
          <p15:clr>
            <a:srgbClr val="A4A3A4"/>
          </p15:clr>
        </p15:guide>
        <p15:guide id="7" pos="5465">
          <p15:clr>
            <a:srgbClr val="A4A3A4"/>
          </p15:clr>
        </p15:guide>
        <p15:guide id="8" orient="horz" pos="3816">
          <p15:clr>
            <a:srgbClr val="A4A3A4"/>
          </p15:clr>
        </p15:guide>
      </p15:sldGuideLst>
    </p:ext>
    <p:ext uri="GoogleSlidesCustomDataVersion2">
      <go:slidesCustomData xmlns:go="http://customooxmlschemas.google.com/" r:id="rId73" roundtripDataSignature="AMtx7mjNDgAnXa0m32oxkeEgPb0VmyDx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22" orient="horz"/>
        <p:guide pos="295"/>
        <p:guide pos="4178" orient="horz"/>
        <p:guide pos="119" orient="horz"/>
        <p:guide pos="709" orient="horz"/>
        <p:guide pos="958" orient="horz"/>
        <p:guide pos="5465"/>
        <p:guide pos="381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slide" Target="slides/slide66.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iveexample.pearsoncmg.com/html/TestSimpleCircle.html"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iveexample.pearsoncmg.com/html/TV.html" TargetMode="External"/><Relationship Id="rId3" Type="http://schemas.openxmlformats.org/officeDocument/2006/relationships/hyperlink" Target="https://liveexample.pearsoncmg.com/html/TestTV.html"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iveexample.pearsoncmg.com/html/TestPoint2D.html"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iveexample.pearsoncmg.com/html/CircleWithStaticMembers.html" TargetMode="External"/><Relationship Id="rId3" Type="http://schemas.openxmlformats.org/officeDocument/2006/relationships/hyperlink" Target="https://liveexample.pearsoncmg.com/html/TestCircleWithStaticMembers.html"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iveexample.pearsoncmg.com/html/CircleWithPrivateDataFields.html" TargetMode="External"/><Relationship Id="rId3" Type="http://schemas.openxmlformats.org/officeDocument/2006/relationships/hyperlink" Target="https://liveexample.pearsoncmg.com/html/TestCircleWithPrivateDataFields.html"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iveexample.pearsoncmg.com/html/TestPassObject.html"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iveexample.pearsoncmg.com/html/TotalArea.html"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If this PowerPoint presentation contains mathematical equations, you may need to check that your computer has the following installed:</a:t>
            </a:r>
            <a:endParaRPr/>
          </a:p>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 MathType Plugin</a:t>
            </a:r>
            <a:endParaRPr/>
          </a:p>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 Math Player (free versions available)</a:t>
            </a:r>
            <a:endParaRPr/>
          </a:p>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3) NVDA Reader (free versions available)</a:t>
            </a:r>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Slides in this presentation contain hyperlinks. JAWS users should be able to get a list of links by using INSERT+F7</a:t>
            </a:r>
            <a:endParaRPr/>
          </a:p>
        </p:txBody>
      </p:sp>
      <p:sp>
        <p:nvSpPr>
          <p:cNvPr id="158" name="Google Shape;158;p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6: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Class name, Circle.</a:t>
            </a:r>
            <a:endParaRPr/>
          </a:p>
          <a:p>
            <a:pPr indent="0" lvl="0" marL="0" marR="0" rtl="0" algn="l">
              <a:spcBef>
                <a:spcPts val="0"/>
              </a:spcBef>
              <a:spcAft>
                <a:spcPts val="0"/>
              </a:spcAft>
              <a:buClr>
                <a:schemeClr val="dk1"/>
              </a:buClr>
              <a:buSzPts val="1200"/>
              <a:buFont typeface="Arial"/>
              <a:buNone/>
            </a:pPr>
            <a:r>
              <a:rPr lang="en-US"/>
              <a:t>Data fields. Radius is, blank space. Methods, getArea.</a:t>
            </a:r>
            <a:endParaRPr/>
          </a:p>
          <a:p>
            <a:pPr indent="0" lvl="0" marL="0" marR="0" rtl="0" algn="l">
              <a:spcBef>
                <a:spcPts val="0"/>
              </a:spcBef>
              <a:spcAft>
                <a:spcPts val="0"/>
              </a:spcAft>
              <a:buClr>
                <a:schemeClr val="dk1"/>
              </a:buClr>
              <a:buSzPts val="1200"/>
              <a:buFont typeface="Arial"/>
              <a:buNone/>
            </a:pPr>
            <a:r>
              <a:rPr lang="en-US"/>
              <a:t>Three objects of the Circle class are as follows.</a:t>
            </a:r>
            <a:endParaRPr/>
          </a:p>
          <a:p>
            <a:pPr indent="0" lvl="0" marL="0" marR="0" rtl="0" algn="l">
              <a:spcBef>
                <a:spcPts val="0"/>
              </a:spcBef>
              <a:spcAft>
                <a:spcPts val="0"/>
              </a:spcAft>
              <a:buClr>
                <a:schemeClr val="dk1"/>
              </a:buClr>
              <a:buSzPts val="1200"/>
              <a:buFont typeface="Arial"/>
              <a:buNone/>
            </a:pPr>
            <a:r>
              <a:rPr lang="en-US"/>
              <a:t>Circle object 1. Data fields, radius is 10.</a:t>
            </a:r>
            <a:endParaRPr/>
          </a:p>
          <a:p>
            <a:pPr indent="0" lvl="0" marL="0" marR="0" rtl="0" algn="l">
              <a:spcBef>
                <a:spcPts val="0"/>
              </a:spcBef>
              <a:spcAft>
                <a:spcPts val="0"/>
              </a:spcAft>
              <a:buClr>
                <a:schemeClr val="dk1"/>
              </a:buClr>
              <a:buSzPts val="1200"/>
              <a:buFont typeface="Arial"/>
              <a:buNone/>
            </a:pPr>
            <a:r>
              <a:rPr lang="en-US"/>
              <a:t>Circle object 2. Data fields, radius is 25.</a:t>
            </a:r>
            <a:endParaRPr/>
          </a:p>
          <a:p>
            <a:pPr indent="0" lvl="0" marL="0" marR="0" rtl="0" algn="l">
              <a:spcBef>
                <a:spcPts val="0"/>
              </a:spcBef>
              <a:spcAft>
                <a:spcPts val="0"/>
              </a:spcAft>
              <a:buClr>
                <a:schemeClr val="dk1"/>
              </a:buClr>
              <a:buSzPts val="1200"/>
              <a:buFont typeface="Arial"/>
              <a:buNone/>
            </a:pPr>
            <a:r>
              <a:rPr lang="en-US"/>
              <a:t>Circle object 3. Data fields, radius is 125.</a:t>
            </a:r>
            <a:endParaRPr/>
          </a:p>
        </p:txBody>
      </p:sp>
      <p:sp>
        <p:nvSpPr>
          <p:cNvPr id="201" name="Google Shape;201;p7: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Line 1, indicates class Circle open braces. Line 2, slash forward address address The radius of this circle address slash forward. Line 3, double radius equal to 1.0 semicolon. The line 3 is Data field. Line 4, Blank. Line 5, slash forward address address Construct a circle object address slash forward. Line 6, Circle open parenthesis close parenthesis open braces. Line 7, close braces. Line 8, Blank. Line 9, slash forward address address Construct a circle object address slash forward. Line 10, Circle open parenthesis double new Radius close parenthesis open braces. Line 11, radius equal to new Radius semicolon. Line 12, close braces. The lines 5, 6, 7, 8, 9, 10, 11 and 12 are Constructors. Line 13, Blank. Line 14, slash forward address address Return the area of this circle address slash forward. Line 15, double get Area open parenthesis close parenthesis open braces. The line 15 is Method. Line 16, return radius address radius address 3 period 14159 semicolon. Line 17, close braces. Line 18, close braces. </a:t>
            </a:r>
            <a:endParaRPr/>
          </a:p>
        </p:txBody>
      </p:sp>
      <p:sp>
        <p:nvSpPr>
          <p:cNvPr id="215" name="Google Shape;215;p9: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1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Row 1 shows the Class name (circle). Row 2 shows the Data fields (radius: double). Row 3 shows the computer coding of 6 lines for Constructors and methods. Line 1, indicates Circle open parenthesis close parenthesis. Line 2, Circle open parenthesis new Radius colon double close parenthesis. Line 3, g e t Area open parenthesis close parenthesis colon double. Line 4, g e t Perimeter open parenthesis close parenthesis colon double. Line 5, s e t Radius open parenthesis new Radius colon. Line 6, double close parenthesis colon void. A left side text box shows the 2 rows of UML notation for objects. Row 1 shows the Circle 1 colon Circle. Row 2 shows the radius equal to 1.0. A middle text box shows the 2 rows of UML notation for objects. Row 1 shows the Circle 2 colon Circle. Row 2 shows the radius equal to 25. A right side text box shows the 2 rows of UML notation for objects. Row 1 shows the Circle 3 colon Circle. Row 2 shows the radius equal to 125.</a:t>
            </a:r>
            <a:endParaRPr/>
          </a:p>
        </p:txBody>
      </p:sp>
      <p:sp>
        <p:nvSpPr>
          <p:cNvPr id="222" name="Google Shape;222;p10: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TestSimpleCircle: </a:t>
            </a:r>
            <a:r>
              <a:rPr lang="en-US" u="sng">
                <a:solidFill>
                  <a:schemeClr val="hlink"/>
                </a:solidFill>
                <a:hlinkClick r:id="rId2"/>
              </a:rPr>
              <a:t>https://liveexample.pearsoncmg.com/html/TestSimpleCircle.html</a:t>
            </a:r>
            <a:endParaRPr/>
          </a:p>
        </p:txBody>
      </p:sp>
      <p:sp>
        <p:nvSpPr>
          <p:cNvPr id="229" name="Google Shape;229;p1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Row 1 shows the TV. Row 2 shows the computer coding. Line 1, indicates channel colon i n t. Line 2, shows the volume Level colon i n t. Line 3, shows the on colon boolean. Row 3 also shows the computer coding for 9 lines and in this coding + sign indicates a public modifier. Line 1, indicates plus TV open parenthesis close parenthesis. Line 2, plus t u r n On open parenthesis close parenthesis colon void. Line 3, plus tu r n Off open parenthesis close parenthesis colon void. Line 4, plus s e t Channel open parenthesis new Channel colon i n t close parenthesis colon void. Line 5, plus s e t Volume open parenthesis new Volume Level colon i n t close parenthesis colon void. Line 6, plus channel Up open parenthesis close parenthesis colon void. Line 7, plus channel Down open parenthesis close parenthesis colon void. Line 8, plus volume Up open parenthesis close parenthesis colon void. Line 9, plus volume Down open parenthesis close parenthesis colon void. </a:t>
            </a:r>
            <a:endParaRPr/>
          </a:p>
          <a:p>
            <a:pPr indent="0" lvl="0" marL="0" marR="0" rtl="0" algn="l">
              <a:spcBef>
                <a:spcPts val="0"/>
              </a:spcBef>
              <a:spcAft>
                <a:spcPts val="0"/>
              </a:spcAft>
              <a:buClr>
                <a:schemeClr val="dk1"/>
              </a:buClr>
              <a:buSzPts val="1200"/>
              <a:buFont typeface="Arial"/>
              <a:buNone/>
            </a:pPr>
            <a:r>
              <a:t/>
            </a:r>
            <a:endParaRPr/>
          </a:p>
          <a:p>
            <a:pPr indent="0" lvl="0" marL="0" marR="0" rtl="0" algn="l">
              <a:spcBef>
                <a:spcPts val="0"/>
              </a:spcBef>
              <a:spcAft>
                <a:spcPts val="0"/>
              </a:spcAft>
              <a:buClr>
                <a:schemeClr val="dk1"/>
              </a:buClr>
              <a:buSzPts val="1200"/>
              <a:buFont typeface="Arial"/>
              <a:buNone/>
            </a:pPr>
            <a:r>
              <a:rPr lang="en-US"/>
              <a:t>TV: </a:t>
            </a:r>
            <a:r>
              <a:rPr lang="en-US" u="sng">
                <a:solidFill>
                  <a:schemeClr val="hlink"/>
                </a:solidFill>
                <a:hlinkClick r:id="rId2"/>
              </a:rPr>
              <a:t>https://liveexample.pearsoncmg.com/html/TV.html</a:t>
            </a:r>
            <a:endParaRPr/>
          </a:p>
          <a:p>
            <a:pPr indent="0" lvl="0" marL="0" marR="0" rtl="0" algn="l">
              <a:spcBef>
                <a:spcPts val="0"/>
              </a:spcBef>
              <a:spcAft>
                <a:spcPts val="0"/>
              </a:spcAft>
              <a:buClr>
                <a:schemeClr val="dk1"/>
              </a:buClr>
              <a:buSzPts val="1200"/>
              <a:buFont typeface="Arial"/>
              <a:buNone/>
            </a:pPr>
            <a:r>
              <a:t/>
            </a:r>
            <a:endParaRPr/>
          </a:p>
          <a:p>
            <a:pPr indent="0" lvl="0" marL="0" marR="0" rtl="0" algn="l">
              <a:spcBef>
                <a:spcPts val="0"/>
              </a:spcBef>
              <a:spcAft>
                <a:spcPts val="0"/>
              </a:spcAft>
              <a:buClr>
                <a:schemeClr val="dk1"/>
              </a:buClr>
              <a:buSzPts val="1200"/>
              <a:buFont typeface="Arial"/>
              <a:buNone/>
            </a:pPr>
            <a:r>
              <a:rPr lang="en-US"/>
              <a:t>TestTV: </a:t>
            </a:r>
            <a:r>
              <a:rPr lang="en-US" u="sng">
                <a:solidFill>
                  <a:schemeClr val="hlink"/>
                </a:solidFill>
                <a:hlinkClick r:id="rId3"/>
              </a:rPr>
              <a:t>https://liveexample.pearsoncmg.com/html/TestTV.html</a:t>
            </a:r>
            <a:endParaRPr/>
          </a:p>
        </p:txBody>
      </p:sp>
      <p:sp>
        <p:nvSpPr>
          <p:cNvPr id="237" name="Google Shape;237;p12: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246" name="Google Shape;246;p13: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254" name="Google Shape;254;p14: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5: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6: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7: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An arrow from right side to the left side of = is labeled, assign object reference. The object new circle left parenthesis right parenthesis semi colon is labeled, create an object.</a:t>
            </a:r>
            <a:endParaRPr/>
          </a:p>
        </p:txBody>
      </p:sp>
      <p:sp>
        <p:nvSpPr>
          <p:cNvPr id="279" name="Google Shape;279;p18: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9: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Line 1, indicates Circle my Circle equal to new Circle open parenthesis 5.0 close parenthesis semicolon. Line 2, blank. Line 3, Circle my Circle equal to new Circle open parenthesis close parenthesis semicolon.ine 4, blank. Line 5, your Circle period radius equal to hundred semicolon. A right side text box shows the 1 Row for Declare my Circle i.e. no value.</a:t>
            </a:r>
            <a:endParaRPr/>
          </a:p>
        </p:txBody>
      </p:sp>
      <p:sp>
        <p:nvSpPr>
          <p:cNvPr id="297" name="Google Shape;297;p20: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2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SzPts val="1800"/>
              <a:buFont typeface="Calibri"/>
              <a:buNone/>
            </a:pPr>
            <a:r>
              <a:rPr b="0" i="0" lang="en-US" sz="1800" u="none" strike="noStrike">
                <a:solidFill>
                  <a:srgbClr val="000000"/>
                </a:solidFill>
                <a:latin typeface="Calibri"/>
                <a:ea typeface="Calibri"/>
                <a:cs typeface="Calibri"/>
                <a:sym typeface="Calibri"/>
              </a:rPr>
              <a:t>The computer code consists 5 lines. Line 1, indicates Circle my Circle equal to new Circle open parenthesis 5.0 close parenthesis semicolon. Line 2, blank. Line 3, Circle my Circle equal to new Circle open parenthesis close parenthesis semicolon. Line 4, blank. Line 5, your Circle period radius equal to hundred semicolon. </a:t>
            </a:r>
            <a:endParaRPr/>
          </a:p>
          <a:p>
            <a:pPr indent="0" lvl="0" marL="0" marR="0" rtl="0" algn="l">
              <a:spcBef>
                <a:spcPts val="0"/>
              </a:spcBef>
              <a:spcAft>
                <a:spcPts val="0"/>
              </a:spcAft>
              <a:buClr>
                <a:srgbClr val="000000"/>
              </a:buClr>
              <a:buSzPts val="1800"/>
              <a:buFont typeface="Calibri"/>
              <a:buNone/>
            </a:pPr>
            <a:r>
              <a:rPr b="0" i="0" lang="en-US" sz="1800" u="none" strike="noStrike">
                <a:solidFill>
                  <a:srgbClr val="000000"/>
                </a:solidFill>
                <a:latin typeface="Calibri"/>
                <a:ea typeface="Calibri"/>
                <a:cs typeface="Calibri"/>
                <a:sym typeface="Calibri"/>
              </a:rPr>
              <a:t>A right upward side text box shows 1 Row for my Circle i.e. no value. A right downward side text box shows the 2 rows. Row 1 shows the Create a circle by coding i.e. colon Circle. Row 2 shows the radius colon 5.0.</a:t>
            </a:r>
            <a:r>
              <a:rPr lang="en-US"/>
              <a:t> </a:t>
            </a:r>
            <a:endParaRPr/>
          </a:p>
        </p:txBody>
      </p:sp>
      <p:sp>
        <p:nvSpPr>
          <p:cNvPr id="304" name="Google Shape;304;p2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SzPts val="1800"/>
              <a:buFont typeface="Calibri"/>
              <a:buNone/>
            </a:pPr>
            <a:r>
              <a:rPr b="0" i="0" lang="en-US" sz="1800" u="none" strike="noStrike">
                <a:solidFill>
                  <a:srgbClr val="000000"/>
                </a:solidFill>
                <a:latin typeface="Calibri"/>
                <a:ea typeface="Calibri"/>
                <a:cs typeface="Calibri"/>
                <a:sym typeface="Calibri"/>
              </a:rPr>
              <a:t>The computer code consists 5 lines. Line 1, indicates Circle my Circle equal to new Circle open parenthesis 5.0 close parenthesis semicolon. Line 2, blank. Line 3, Circle my Circle equal to new Circle open parenthesis close parenthesis semicolon. Line 4, blank. Line 5, your Circle period radius equal to hundred semicolon.</a:t>
            </a:r>
            <a:endParaRPr/>
          </a:p>
          <a:p>
            <a:pPr indent="0" lvl="0" marL="0" marR="0" rtl="0" algn="l">
              <a:spcBef>
                <a:spcPts val="0"/>
              </a:spcBef>
              <a:spcAft>
                <a:spcPts val="0"/>
              </a:spcAft>
              <a:buClr>
                <a:srgbClr val="000000"/>
              </a:buClr>
              <a:buSzPts val="1800"/>
              <a:buFont typeface="Calibri"/>
              <a:buNone/>
            </a:pPr>
            <a:r>
              <a:rPr b="0" i="0" lang="en-US" sz="1800" u="none" strike="noStrike">
                <a:solidFill>
                  <a:srgbClr val="000000"/>
                </a:solidFill>
                <a:latin typeface="Calibri"/>
                <a:ea typeface="Calibri"/>
                <a:cs typeface="Calibri"/>
                <a:sym typeface="Calibri"/>
              </a:rPr>
              <a:t>A right upward side text box shows 1 Row for my Circle i.e. reference value and it also shows an arrow of red colour which is for Assign object reference to my Circle. A right downward side text box shows the 2 rows. Row 1 shows the Create a circle by coding i.e. colon Circle. Row 2 shows the radius colon 5.0.</a:t>
            </a:r>
            <a:r>
              <a:rPr lang="en-US"/>
              <a:t> </a:t>
            </a:r>
            <a:endParaRPr/>
          </a:p>
        </p:txBody>
      </p:sp>
      <p:sp>
        <p:nvSpPr>
          <p:cNvPr id="311" name="Google Shape;311;p22: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2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 computer code consists 5 lines. Line 1, indicates Circle my Circle equal to new Circle open parenthesis 5.0 close parenthesis semicolon. Line 2, blank. Line 3, Circle my Circle equal to new Circle open parenthesis close parenthesis semicolon.ine 4, blank. Line 5, your Circle period radius equal to hundred semicolon. A right upward side text box shows 1 Row for my Circle i.e. reference value and it also shows an arrow of red colour. A rightward middle text box shows the 2 rows. Row 1 shows the Create a circle by coding i.e. colon Circle. Row 2 shows the radius colon 5.0. A right downward side text box shows the 1 row for Declare your Circle i.e. no value. </a:t>
            </a:r>
            <a:endParaRPr/>
          </a:p>
        </p:txBody>
      </p:sp>
      <p:sp>
        <p:nvSpPr>
          <p:cNvPr id="318" name="Google Shape;318;p23: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2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 computer code consists 5 lines. Line 1, indicates Circle my Circle equal to new Circle open parenthesis 5.0 close parenthesis semicolon. Line 2, blank. Line 3, Circle my Circle equal to new Circle open parenthesis close parenthesis semicolon line 4, blank. Line 5, your Circle period radius equal to hundred semicolon. A right upward side text box shows 1 Row for my Circle i.e. reference value and it also shows the red color arrow. A rightward middle text box shows the 2 rows. Row 1 shows the Create a circle by coding i.e. colon Circle. Row 2 shows the radius colon 5.0.A rightward middle side text box shows the 1 row for Declare your Circle i.e. no value. A right downward text box shows 2 rows for Create a new Circle object. Row 1 shows the colon Circle. Row 2 shows the radius colon 1.0. </a:t>
            </a:r>
            <a:endParaRPr/>
          </a:p>
        </p:txBody>
      </p:sp>
      <p:sp>
        <p:nvSpPr>
          <p:cNvPr id="325" name="Google Shape;325;p24: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 computer code consists 5 lines. Line 1, indicates Circle my Circle equal to new Circle open parenthesis 5.0 close parenthesis semicolon. Line 2, blank. Line 3, Circle my Circle equal to new Circle open parenthesis close parenthesis semicolon.ine 4, blank. Line 5, your Circle period radius equal to hundred semicolon. A right upward side text box shows 1 Row for my Circle i.e. reference value and it also shows the red color arrow. A rightward middle text box shows the 2 rows. Row 1 shows the Create a circle by coding i.e. colon Circle. Row 2 shows the radius colon 5.0. A rightward middle side text box shows the 1 row i.e. reference value for assign object reference to your circle and it also shows the red colour arrow. A right downward text box shows 2 rows for Create a new Circle object. Row 1 shows the colon Circle. Row 2 shows the radius colon 1.0. </a:t>
            </a:r>
            <a:endParaRPr/>
          </a:p>
        </p:txBody>
      </p:sp>
      <p:sp>
        <p:nvSpPr>
          <p:cNvPr id="332" name="Google Shape;332;p25: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2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 computer code consists 5 lines. Line 1, indicates Circle my Circle equal to new Circle open parenthesis 5.0 close parenthesis semicolon. Line 2, blank. Line 3, Circle my Circle equal to new Circle open parenthesis close parenthesis semicolon.ine 4, blank. Line 5, your Circle period radius equal to hundred semicolon. A right upward side text box shows 1 Row for my Circle i.e. reference value and it also shows the red colour arrow. A rightward middle text box shows the 2 rows. Row 1 shows the Create a circle by coding i.e. colon Circle. Row 2 shows the radius colon 5.0.A rightward middle side text box shows the 1 row for Declare your Circle i.e. reference value and it also shows the red color arrow. A right downward text box shows 2 rows for Create a new Circle object. Row 1 shows the colon Circle. Row 2 shows the Change radius in your circle by coding i.e. radius colon 100.0. </a:t>
            </a:r>
            <a:endParaRPr/>
          </a:p>
        </p:txBody>
      </p:sp>
      <p:sp>
        <p:nvSpPr>
          <p:cNvPr id="339" name="Google Shape;339;p26: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7: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8: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9: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0: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3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 computer code consists 8 lines. Line 1, public class Test open braces. Line 2, public static void main open parenthesis String open braces close braces args close parenthesis open braces. Line 3, i n t x semicolon slash forward slash forward x has no default value. Line 4, String y semicolon slash forward slash forward y has no default value. Line 5, System period out period print ln open parenthesis double quote x is double quote plus x close parenthesis semicolon. Line 6, System period out period print ln open parenthesis double quote y is double quote plus y close parenthesis semicolon. Line 7, close braces. Line 8, close braces. </a:t>
            </a:r>
            <a:endParaRPr/>
          </a:p>
        </p:txBody>
      </p:sp>
      <p:sp>
        <p:nvSpPr>
          <p:cNvPr id="372" name="Google Shape;372;p3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2: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3: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4: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5: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3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Row 1, shows the coding i.e. java period util period Date. Row 2, shows the coding for 5 lines and the plus sign shows the public modifier. Line 1, plus Date open parenthesis close parenthesis. Line 2, plus Date open parenthesis elapse Time colon long close parenthesis. Line 3, plus to String open parenthesis close parenthesis colon String. Line 4, plus g e t Time open parenthesis close parenthesis colon long. Line 5, plus s e t Time open parenthesis elapse Time colon long close parenthesis colon void. </a:t>
            </a:r>
            <a:endParaRPr/>
          </a:p>
        </p:txBody>
      </p:sp>
      <p:sp>
        <p:nvSpPr>
          <p:cNvPr id="405" name="Google Shape;405;p36: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7: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3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Constructs a Random object with the current time as its seed.</a:t>
            </a:r>
            <a:endParaRPr/>
          </a:p>
          <a:p>
            <a:pPr indent="0" lvl="0" marL="0" marR="0" rtl="0" algn="l">
              <a:spcBef>
                <a:spcPts val="0"/>
              </a:spcBef>
              <a:spcAft>
                <a:spcPts val="0"/>
              </a:spcAft>
              <a:buClr>
                <a:schemeClr val="dk1"/>
              </a:buClr>
              <a:buSzPts val="1200"/>
              <a:buFont typeface="Arial"/>
              <a:buNone/>
            </a:pPr>
            <a:r>
              <a:rPr lang="en-US"/>
              <a:t>+Random left parenthesis seed, long right parenthesis. Constructs a Random object with a specified seed.</a:t>
            </a:r>
            <a:endParaRPr/>
          </a:p>
          <a:p>
            <a:pPr indent="0" lvl="0" marL="0" marR="0" rtl="0" algn="l">
              <a:spcBef>
                <a:spcPts val="0"/>
              </a:spcBef>
              <a:spcAft>
                <a:spcPts val="0"/>
              </a:spcAft>
              <a:buClr>
                <a:schemeClr val="dk1"/>
              </a:buClr>
              <a:buSzPts val="1200"/>
              <a:buFont typeface="Arial"/>
              <a:buNone/>
            </a:pPr>
            <a:r>
              <a:rPr lang="en-US"/>
              <a:t>+nextint left parenthesis right parenthesis colon int. Returns a random int value.</a:t>
            </a:r>
            <a:endParaRPr/>
          </a:p>
          <a:p>
            <a:pPr indent="0" lvl="0" marL="0" marR="0" rtl="0" algn="l">
              <a:spcBef>
                <a:spcPts val="0"/>
              </a:spcBef>
              <a:spcAft>
                <a:spcPts val="0"/>
              </a:spcAft>
              <a:buClr>
                <a:schemeClr val="dk1"/>
              </a:buClr>
              <a:buSzPts val="1200"/>
              <a:buFont typeface="Arial"/>
              <a:buNone/>
            </a:pPr>
            <a:r>
              <a:rPr lang="en-US"/>
              <a:t>+nextInt left parenthesis n, int right parenthesis colon int. Returns a random int value between 0 and n (exclusive).</a:t>
            </a:r>
            <a:endParaRPr/>
          </a:p>
          <a:p>
            <a:pPr indent="0" lvl="0" marL="0" marR="0" rtl="0" algn="l">
              <a:spcBef>
                <a:spcPts val="0"/>
              </a:spcBef>
              <a:spcAft>
                <a:spcPts val="0"/>
              </a:spcAft>
              <a:buClr>
                <a:schemeClr val="dk1"/>
              </a:buClr>
              <a:buSzPts val="1200"/>
              <a:buFont typeface="Arial"/>
              <a:buNone/>
            </a:pPr>
            <a:r>
              <a:rPr lang="en-US"/>
              <a:t>+nextLong left parenthesis right parenthesis, colon long. Returns a random long value.</a:t>
            </a:r>
            <a:endParaRPr/>
          </a:p>
          <a:p>
            <a:pPr indent="0" lvl="0" marL="0" marR="0" rtl="0" algn="l">
              <a:spcBef>
                <a:spcPts val="0"/>
              </a:spcBef>
              <a:spcAft>
                <a:spcPts val="0"/>
              </a:spcAft>
              <a:buClr>
                <a:schemeClr val="dk1"/>
              </a:buClr>
              <a:buSzPts val="1200"/>
              <a:buFont typeface="Arial"/>
              <a:buNone/>
            </a:pPr>
            <a:r>
              <a:rPr lang="en-US"/>
              <a:t>+nextDouble left parenthesis right parenthesis colon double. Returns a random double value between 0.0 and 1.0 (exclusive).</a:t>
            </a:r>
            <a:endParaRPr/>
          </a:p>
          <a:p>
            <a:pPr indent="0" lvl="0" marL="0" marR="0" rtl="0" algn="l">
              <a:spcBef>
                <a:spcPts val="0"/>
              </a:spcBef>
              <a:spcAft>
                <a:spcPts val="0"/>
              </a:spcAft>
              <a:buClr>
                <a:schemeClr val="dk1"/>
              </a:buClr>
              <a:buSzPts val="1200"/>
              <a:buFont typeface="Arial"/>
              <a:buNone/>
            </a:pPr>
            <a:r>
              <a:rPr lang="en-US"/>
              <a:t>+nextFloat left parenthesis right parenthesis colon float. Returns a random float value between 0.0F and 1.0F (exclusive).</a:t>
            </a:r>
            <a:endParaRPr/>
          </a:p>
          <a:p>
            <a:pPr indent="0" lvl="0" marL="0" marR="0" rtl="0" algn="l">
              <a:spcBef>
                <a:spcPts val="0"/>
              </a:spcBef>
              <a:spcAft>
                <a:spcPts val="0"/>
              </a:spcAft>
              <a:buClr>
                <a:schemeClr val="dk1"/>
              </a:buClr>
              <a:buSzPts val="1200"/>
              <a:buFont typeface="Arial"/>
              <a:buNone/>
            </a:pPr>
            <a:r>
              <a:rPr lang="en-US"/>
              <a:t>+nextBoolean left parenthesis right parenthesis colon Boolean. Returns a random Boolean value.</a:t>
            </a:r>
            <a:endParaRPr/>
          </a:p>
        </p:txBody>
      </p:sp>
      <p:sp>
        <p:nvSpPr>
          <p:cNvPr id="420" name="Google Shape;420;p38: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9: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4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 box is divided in 2 rows. Row 1, shows the coding i.e. java fx period geometry period Point 2D. Row 2, consists 6 lines for computer coding. Line 1, indicates plus Point 2D open parenthesis x colon double comma y colon double close parenthesis. Line 2, plus distance open parenthesis x colon double comma y colon double close parenthesis colon double. Line 3, plus distance open parenthesis p colon Point 2D close parenthesis colon double. Line 4, plus g e t X open parenthesis close parenthesis colon double. Line 5, plus g e t Y open parenthesis close parenthesis colon double. Line 6, plus to String open parenthesis close parenthesis colon String. </a:t>
            </a:r>
            <a:endParaRPr/>
          </a:p>
          <a:p>
            <a:pPr indent="0" lvl="0" marL="0" marR="0" rtl="0" algn="l">
              <a:spcBef>
                <a:spcPts val="0"/>
              </a:spcBef>
              <a:spcAft>
                <a:spcPts val="0"/>
              </a:spcAft>
              <a:buClr>
                <a:schemeClr val="dk1"/>
              </a:buClr>
              <a:buSzPts val="1200"/>
              <a:buFont typeface="Arial"/>
              <a:buNone/>
            </a:pPr>
            <a:r>
              <a:t/>
            </a:r>
            <a:endParaRPr/>
          </a:p>
          <a:p>
            <a:pPr indent="0" lvl="0" marL="0" marR="0" rtl="0" algn="l">
              <a:spcBef>
                <a:spcPts val="0"/>
              </a:spcBef>
              <a:spcAft>
                <a:spcPts val="0"/>
              </a:spcAft>
              <a:buClr>
                <a:schemeClr val="dk1"/>
              </a:buClr>
              <a:buSzPts val="1200"/>
              <a:buFont typeface="Arial"/>
              <a:buNone/>
            </a:pPr>
            <a:r>
              <a:rPr lang="en-US"/>
              <a:t>TestPoint2D: </a:t>
            </a:r>
            <a:r>
              <a:rPr lang="en-US" u="sng">
                <a:solidFill>
                  <a:schemeClr val="hlink"/>
                </a:solidFill>
                <a:hlinkClick r:id="rId2"/>
              </a:rPr>
              <a:t>https://liveexample.pearsoncmg.com/html/TestPoint2D.html</a:t>
            </a:r>
            <a:endParaRPr/>
          </a:p>
        </p:txBody>
      </p:sp>
      <p:sp>
        <p:nvSpPr>
          <p:cNvPr id="436" name="Google Shape;436;p40: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4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445" name="Google Shape;445;p4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4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452" name="Google Shape;452;p42: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4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459" name="Google Shape;459;p43: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4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 box titled, Circle contains 2 lines. Line 1, radius colon double number of objects colon i n t, underline. Line 2, get number of objects left parenthesis right parenthesis colon i n t, underline, get area left parenthesis right parenthesis colon double. The box is labeled, U M L Notation, underline colon static variables or methods. An arrow branches from the Circle box into two arrows each labeled, instantiate and points to two boxes. The box titled, Circle 1 colon circle has the text, radius = 1, number of objects colon = 2, underline. An arrow extends from radius = 1 to memory 1, labeled, radius. The box titled, Circle 2 colon circle has the text, radius = 5, number of objects colon = 2, underline. An arrow extends from radius = 5 to memory 4, labeled, radius. Arrows from both boxes lead to memory 2, number of objects and is labeled, after two circle, objects were created, number of objects is 2.</a:t>
            </a:r>
            <a:r>
              <a:rPr lang="en-US"/>
              <a:t> </a:t>
            </a:r>
            <a:endParaRPr/>
          </a:p>
        </p:txBody>
      </p:sp>
      <p:sp>
        <p:nvSpPr>
          <p:cNvPr id="466" name="Google Shape;466;p44: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4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CircleWithStaticMembers: </a:t>
            </a:r>
            <a:r>
              <a:rPr lang="en-US" u="sng">
                <a:solidFill>
                  <a:schemeClr val="hlink"/>
                </a:solidFill>
                <a:hlinkClick r:id="rId2"/>
              </a:rPr>
              <a:t>https://liveexample.pearsoncmg.com/html/CircleWithStaticMembers.html</a:t>
            </a:r>
            <a:endParaRPr/>
          </a:p>
          <a:p>
            <a:pPr indent="0" lvl="0" marL="0" marR="0" rtl="0" algn="l">
              <a:spcBef>
                <a:spcPts val="0"/>
              </a:spcBef>
              <a:spcAft>
                <a:spcPts val="0"/>
              </a:spcAft>
              <a:buClr>
                <a:schemeClr val="dk1"/>
              </a:buClr>
              <a:buSzPts val="1200"/>
              <a:buFont typeface="Arial"/>
              <a:buNone/>
            </a:pPr>
            <a:r>
              <a:t/>
            </a:r>
            <a:endParaRPr/>
          </a:p>
          <a:p>
            <a:pPr indent="0" lvl="0" marL="0" marR="0" rtl="0" algn="l">
              <a:spcBef>
                <a:spcPts val="0"/>
              </a:spcBef>
              <a:spcAft>
                <a:spcPts val="0"/>
              </a:spcAft>
              <a:buClr>
                <a:schemeClr val="dk1"/>
              </a:buClr>
              <a:buSzPts val="1200"/>
              <a:buFont typeface="Arial"/>
              <a:buNone/>
            </a:pPr>
            <a:r>
              <a:rPr lang="en-US"/>
              <a:t>TestCircleWithStaticMembers: </a:t>
            </a:r>
            <a:r>
              <a:rPr lang="en-US" u="sng">
                <a:solidFill>
                  <a:schemeClr val="hlink"/>
                </a:solidFill>
                <a:hlinkClick r:id="rId3"/>
              </a:rPr>
              <a:t>https://liveexample.pearsoncmg.com/html/TestCircleWithStaticMembers.html</a:t>
            </a:r>
            <a:endParaRPr/>
          </a:p>
        </p:txBody>
      </p:sp>
      <p:sp>
        <p:nvSpPr>
          <p:cNvPr id="473" name="Google Shape;473;p45: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4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482" name="Google Shape;482;p46: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4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 computer code consists 14 lines. Line 1, indicates package p1 semicolon. Line 2, blank. Line 3, public class C1 open braces. Line 4, public i n t x semicolon. Line 5, i n t y semicolon. Line 6, private i n t z semicolon. Line 7, blank. Line 8, public void m1 open parenthesis close parenthesis open braces. Line 9, close braces. Line 10, void m2 open parenthesis close parenthesis open braces. Line 11, close braces. Line 12, private void m3 open parenthesis close parenthesis open braces. Line 13, close braces. Line 14, close braces. A middle text box shows the coding for the default modifier restricts access to within a package. The computer code consists 14 lines. Line 1, indicates package p1 semicolon. Line 2, blank. Line 3, public class C2 open braces. Line 4, void a Method open parenthesis close parenthesis open braces. Line 5, C1 o equal to new C1 open parenthesis close parenthesis semicolon. Line 6, can access o period x semicolon. Line 7, can access o period y semicolon. Line 8, cannot access o period z semicolon. Line 9, blank. Line 10, can invoke o period m1 open parenthesis close parenthesis semicolon. Line 11, can invoke o period m2 open parenthesis close parenthesis semicolon. Line 12, cannot invoke o period m3 open parenthesis close parenthesis semicolon. Line 13, close braces. Line 14, close braces. A right side text box shows the coding for the public modifier enables unrestricted access. It consists 14 lines. Line 1, indicates package p2 semicolon. Line 2, blank. Line 3, public class C3 open braces. Line 4, void a Method open parenthesis close parenthesis open braces. Line 5, C1 o equal to new C1 open parenthesis close parenthesis semicolon. Line 6, can access 0 period x semicolon. Line 7, cannot access 0 period y semicolon. Line 8, cannot access 0 period z semicolon. Line 9, blank. Line 10, can invoke o period m1 open parenthesis close parenthesis semicolon. Line 11, cannot invoke 0 period m2 open parenthesis close parenthesis semicolon. Line 12, cannot invoke 0 period m3 open parenthesis close parenthesis semicolon. Line 13, close braces. Line 14, close braces. </a:t>
            </a:r>
            <a:endParaRPr/>
          </a:p>
        </p:txBody>
      </p:sp>
      <p:sp>
        <p:nvSpPr>
          <p:cNvPr id="491" name="Google Shape;491;p47: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4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 box contains 5 lines. Line 1, indicates package p1 semicolon. Line 2, blank. Line 3, class C1 open braces. Line 4, dot dot dot. Line 5, close braces. A middle text box also shows the default modifier on a class restricts access to within a package. The box contains 5 lines. Line 1, indicates package p1 semicolon. Line 2, blank. Line 3, public class C2 open braces. Line 4, can access C1. Line 5, close braces. A left side text box shows the public modifier enables unrestricted access. The box contains 6 lines. Line 1, package p2 semicolon. Line 2, blank. Line 3, public class C3 open braces. Line 4, cannot access C1 semicolon. Line 5, can access C2 semicolon. Line 6, close braces.</a:t>
            </a:r>
            <a:endParaRPr/>
          </a:p>
        </p:txBody>
      </p:sp>
      <p:sp>
        <p:nvSpPr>
          <p:cNvPr id="499" name="Google Shape;499;p48: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4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 box contains 13 lines. Line 1, indicates public class C open braces. Line 2, private Boolean x semicolon. Line 3, blank. Line 4, public static void main open parenthesis String open braces close braces args close parenthesis open braces. Line 5, C c equal to new C open parenthesis close parenthesis semicolon. Line 6, System period out period print ln open parenthesis c period x close parenthesis semicolon. Line 7, System period out period print ln open parenthesis c period convert open parenthesis close parenthesis close parenthesis semicolon. Line 8, close braces. Line 9, blank. Line 10, private i n t convert open parenthesis close parenthesis open braces. Line 11, return x question mark 1 colon minus 1 semicolon. Line 12, close braces. Line 13, close braces. A text box (b) shows an object cannot access its private members. This box contains 7 lines. Line 1, indicates public class Test open braces. Line 2, public static void main open parenthesis String open parenthesis close parenthesis args close parenthesis open braces. Line 3, C c equal to new C open parenthesis close parenthesis semicolon. Line 4, System period out period print ln open parenthesis c period x close parenthesis semicolon. Line 5, System period out period print ln open parenthesis c period convert open parenthesis close parenthesis close parenthesis semicolon. Line 6, close braces. Line 7, close braces.</a:t>
            </a:r>
            <a:endParaRPr/>
          </a:p>
        </p:txBody>
      </p:sp>
      <p:sp>
        <p:nvSpPr>
          <p:cNvPr id="507" name="Google Shape;507;p49: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50: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5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This box has divided in 3 rows. Row 1 indicates Circle. Row 2 shows the coding for 2 lines and minus sign indicates private modifier. Line 1, minus radius colon double. Line 2, minus number of Objects colon i n t. Row 3, also shows the coding and it consists 6 lines. Line 1, plus Circle open parenthesis close parenthesis. Line 2, plus Circle open parenthesis radius colon double close parenthesis. Line 3, plus g e t Radius open parenthesis close parenthesis colon double. Line 4, plus s e t Radius open parenthesis radius colon double close parenthesis colon void. Line 5, plus g e t Number Of Objects open parenthesis close parenthesis colon i n t. Line 6, plus g e t Area open parenthesis close parenthesis colon double.</a:t>
            </a:r>
            <a:endParaRPr/>
          </a:p>
          <a:p>
            <a:pPr indent="0" lvl="0" marL="0" marR="0" rtl="0" algn="l">
              <a:spcBef>
                <a:spcPts val="0"/>
              </a:spcBef>
              <a:spcAft>
                <a:spcPts val="0"/>
              </a:spcAft>
              <a:buClr>
                <a:schemeClr val="dk1"/>
              </a:buClr>
              <a:buSzPts val="1200"/>
              <a:buFont typeface="Arial"/>
              <a:buNone/>
            </a:pPr>
            <a:r>
              <a:t/>
            </a:r>
            <a:endParaRPr/>
          </a:p>
          <a:p>
            <a:pPr indent="0" lvl="0" marL="0" marR="0" rtl="0" algn="l">
              <a:spcBef>
                <a:spcPts val="0"/>
              </a:spcBef>
              <a:spcAft>
                <a:spcPts val="0"/>
              </a:spcAft>
              <a:buClr>
                <a:schemeClr val="dk1"/>
              </a:buClr>
              <a:buSzPts val="1200"/>
              <a:buFont typeface="Arial"/>
              <a:buNone/>
            </a:pPr>
            <a:r>
              <a:rPr lang="en-US"/>
              <a:t>CircleWithPrivateDataFields: </a:t>
            </a:r>
            <a:r>
              <a:rPr lang="en-US" u="sng">
                <a:solidFill>
                  <a:schemeClr val="hlink"/>
                </a:solidFill>
                <a:hlinkClick r:id="rId2"/>
              </a:rPr>
              <a:t>https://liveexample.pearsoncmg.com/html/CircleWithPrivateDataFields.html</a:t>
            </a:r>
            <a:endParaRPr/>
          </a:p>
          <a:p>
            <a:pPr indent="0" lvl="0" marL="0" marR="0" rtl="0" algn="l">
              <a:spcBef>
                <a:spcPts val="0"/>
              </a:spcBef>
              <a:spcAft>
                <a:spcPts val="0"/>
              </a:spcAft>
              <a:buClr>
                <a:schemeClr val="dk1"/>
              </a:buClr>
              <a:buSzPts val="1200"/>
              <a:buFont typeface="Arial"/>
              <a:buNone/>
            </a:pPr>
            <a:r>
              <a:t/>
            </a:r>
            <a:endParaRPr/>
          </a:p>
          <a:p>
            <a:pPr indent="0" lvl="0" marL="0" marR="0" rtl="0" algn="l">
              <a:spcBef>
                <a:spcPts val="0"/>
              </a:spcBef>
              <a:spcAft>
                <a:spcPts val="0"/>
              </a:spcAft>
              <a:buClr>
                <a:schemeClr val="dk1"/>
              </a:buClr>
              <a:buSzPts val="1200"/>
              <a:buFont typeface="Arial"/>
              <a:buNone/>
            </a:pPr>
            <a:r>
              <a:rPr lang="en-US"/>
              <a:t>TestCircleWithPrivateDataFields: </a:t>
            </a:r>
            <a:r>
              <a:rPr lang="en-US" u="sng">
                <a:solidFill>
                  <a:schemeClr val="hlink"/>
                </a:solidFill>
                <a:hlinkClick r:id="rId3"/>
              </a:rPr>
              <a:t>https://liveexample.pearsoncmg.com/html/TestCircleWithPrivateDataFields.html</a:t>
            </a:r>
            <a:endParaRPr/>
          </a:p>
        </p:txBody>
      </p:sp>
      <p:sp>
        <p:nvSpPr>
          <p:cNvPr id="521" name="Google Shape;521;p5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81b73b2b0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81b73b2b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381b73b2b03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Arial"/>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5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TestPassObject: </a:t>
            </a:r>
            <a:r>
              <a:rPr lang="en-US" u="sng">
                <a:solidFill>
                  <a:schemeClr val="hlink"/>
                </a:solidFill>
                <a:hlinkClick r:id="rId2"/>
              </a:rPr>
              <a:t>https://liveexample.pearsoncmg.com/html/TestPassObject.html</a:t>
            </a:r>
            <a:endParaRPr/>
          </a:p>
        </p:txBody>
      </p:sp>
      <p:sp>
        <p:nvSpPr>
          <p:cNvPr id="536" name="Google Shape;536;p52: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5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Activation record for the main method. int n, 5. myCircle, reference.</a:t>
            </a:r>
            <a:endParaRPr/>
          </a:p>
          <a:p>
            <a:pPr indent="0" lvl="0" marL="0" marR="0" rtl="0" algn="l">
              <a:spcBef>
                <a:spcPts val="0"/>
              </a:spcBef>
              <a:spcAft>
                <a:spcPts val="0"/>
              </a:spcAft>
              <a:buClr>
                <a:schemeClr val="dk1"/>
              </a:buClr>
              <a:buSzPts val="1200"/>
              <a:buFont typeface="Arial"/>
              <a:buNone/>
            </a:pPr>
            <a:r>
              <a:rPr lang="en-US"/>
              <a:t>An arrow from n, 5 to int times 5 is labeled, pass by value (here the value is 5). An arrow from reference in the activation record to reference in the stack is labeled, pass by value (here the value is the reference for the object). </a:t>
            </a:r>
            <a:endParaRPr/>
          </a:p>
          <a:p>
            <a:pPr indent="0" lvl="0" marL="0" marR="0" rtl="0" algn="l">
              <a:spcBef>
                <a:spcPts val="0"/>
              </a:spcBef>
              <a:spcAft>
                <a:spcPts val="0"/>
              </a:spcAft>
              <a:buClr>
                <a:schemeClr val="dk1"/>
              </a:buClr>
              <a:buSzPts val="1200"/>
              <a:buFont typeface="Arial"/>
              <a:buNone/>
            </a:pPr>
            <a:r>
              <a:rPr lang="en-US"/>
              <a:t>The reference in both the sections lead to heap, a Circle object.</a:t>
            </a:r>
            <a:endParaRPr/>
          </a:p>
        </p:txBody>
      </p:sp>
      <p:sp>
        <p:nvSpPr>
          <p:cNvPr id="544" name="Google Shape;544;p53: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5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551" name="Google Shape;551;p54: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5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558" name="Google Shape;558;p55: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5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a:t>TotalArea: </a:t>
            </a:r>
            <a:r>
              <a:rPr lang="en-US" u="sng">
                <a:solidFill>
                  <a:schemeClr val="hlink"/>
                </a:solidFill>
                <a:hlinkClick r:id="rId2"/>
              </a:rPr>
              <a:t>https://liveexample.pearsoncmg.com/html/TotalArea.html</a:t>
            </a:r>
            <a:endParaRPr/>
          </a:p>
        </p:txBody>
      </p:sp>
      <p:sp>
        <p:nvSpPr>
          <p:cNvPr id="566" name="Google Shape;566;p56: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5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574" name="Google Shape;574;p57: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5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581" name="Google Shape;581;p58: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5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589" name="Google Shape;589;p59: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6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596" name="Google Shape;596;p60: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6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603" name="Google Shape;603;p6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6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a:p>
        </p:txBody>
      </p:sp>
      <p:sp>
        <p:nvSpPr>
          <p:cNvPr id="610" name="Google Shape;610;p62: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6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It consists 12 lines. Line 1, indicates public class F open braces. Line 2, private i n t i equal to 5 semicolon. Line 3, private static double k equal to zero semicolon. Line 4, blank. Line 5, void s e t I open parenthesis i n t i close parenthesis open braces. Line 6, t h i s period i equal to i semicolon. Line 7, close braces. Line 8, blank. Line 9, static void s e t K open parenthesis double k close parenthesis open braces. Line 10, F period k equal to k semicolon. Line 11, close braces. Line 12, close braces. A right hand side text box shows the coding of F1 and F2 are the objects of F. It consists 7 lines. Line 1, F f1 equal to new F open parenthesis close parenthesis semicolon F f2 equal to new F open parenthesis close parenthesis semicolon. Line 2, blank. Line 3, Invoking f1 period s e t I open parenthesis ten close parenthesis is to execute. Line 4, t h i s i equal to 10 comma where t h i s refers f1. Line 5, blank. Line 6, Invoking f2 period s e t I open parenthesis 45 close parenthesis is to execute. Line 7, t h i s i equal to 45 comma where t h i s refers f2. </a:t>
            </a:r>
            <a:endParaRPr/>
          </a:p>
        </p:txBody>
      </p:sp>
      <p:sp>
        <p:nvSpPr>
          <p:cNvPr id="617" name="Google Shape;617;p63: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6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It consists 15 lines. Line 1, indicates public class Circle open braces. Line 2, private double radius semicolon. Line 3, blank. Line 4, public Circle open parenthesis double radius close parenthesis open braces. Line 5, t h i s period radius equal to radius semicolon where this must be explicitly used to reference the data field radius of the object being constructed. Line 6, close braces. Line 7, blank. Line 8, public Circle open parenthesis close parenthesis open braces. Line 9, t h i s open parenthesis 1 period 0 close parenthesis semicolon where this is used to invoke another constructor. Line 10, close braces. Line 11, public double g e t Area open parenthesis close parenthesis open braces. Line 12, return t h i s period radius address t h i s period radius address Math period PI semicolon where Every instance variable belongs to an instance represented by this, which is normally omitted. Line 13, close braces. Line 14, close braces.</a:t>
            </a:r>
            <a:endParaRPr/>
          </a:p>
        </p:txBody>
      </p:sp>
      <p:sp>
        <p:nvSpPr>
          <p:cNvPr id="624" name="Google Shape;624;p64: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
        <p:nvSpPr>
          <p:cNvPr id="631" name="Google Shape;631;p65: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00"/>
              </a:buClr>
              <a:buSzPts val="35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add copyright">
  <p:cSld name="Chapter Opener-add copyright">
    <p:spTree>
      <p:nvGrpSpPr>
        <p:cNvPr id="14" name="Shape 14"/>
        <p:cNvGrpSpPr/>
        <p:nvPr/>
      </p:nvGrpSpPr>
      <p:grpSpPr>
        <a:xfrm>
          <a:off x="0" y="0"/>
          <a:ext cx="0" cy="0"/>
          <a:chOff x="0" y="0"/>
          <a:chExt cx="0" cy="0"/>
        </a:xfrm>
      </p:grpSpPr>
      <p:sp>
        <p:nvSpPr>
          <p:cNvPr id="15" name="Google Shape;15;p67"/>
          <p:cNvSpPr txBox="1"/>
          <p:nvPr>
            <p:ph type="title"/>
          </p:nvPr>
        </p:nvSpPr>
        <p:spPr>
          <a:xfrm>
            <a:off x="457200" y="215371"/>
            <a:ext cx="8229600" cy="622828"/>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 name="Google Shape;16;p67"/>
          <p:cNvSpPr txBox="1"/>
          <p:nvPr>
            <p:ph idx="1" type="body"/>
          </p:nvPr>
        </p:nvSpPr>
        <p:spPr>
          <a:xfrm>
            <a:off x="457200" y="958098"/>
            <a:ext cx="8229600" cy="478970"/>
          </a:xfrm>
          <a:prstGeom prst="rect">
            <a:avLst/>
          </a:prstGeom>
          <a:noFill/>
          <a:ln>
            <a:noFill/>
          </a:ln>
        </p:spPr>
        <p:txBody>
          <a:bodyPr anchorCtr="0" anchor="ctr"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2000"/>
              <a:buFont typeface="Arial"/>
              <a:buNone/>
              <a:defRPr b="0" i="0" sz="2000" u="none" cap="none" strike="noStrike">
                <a:solidFill>
                  <a:srgbClr val="007FA3"/>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
        <p:nvSpPr>
          <p:cNvPr id="17" name="Google Shape;17;p67"/>
          <p:cNvSpPr txBox="1"/>
          <p:nvPr>
            <p:ph idx="2" type="body"/>
          </p:nvPr>
        </p:nvSpPr>
        <p:spPr>
          <a:xfrm>
            <a:off x="457200" y="1600200"/>
            <a:ext cx="4397375" cy="4525963"/>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 name="Google Shape;18;p67"/>
          <p:cNvSpPr txBox="1"/>
          <p:nvPr>
            <p:ph idx="3" type="body"/>
          </p:nvPr>
        </p:nvSpPr>
        <p:spPr>
          <a:xfrm>
            <a:off x="5029200" y="1600200"/>
            <a:ext cx="3657600" cy="1492250"/>
          </a:xfrm>
          <a:prstGeom prst="rect">
            <a:avLst/>
          </a:prstGeom>
          <a:noFill/>
          <a:ln>
            <a:noFill/>
          </a:ln>
        </p:spPr>
        <p:txBody>
          <a:bodyPr anchorCtr="0" anchor="b" bIns="91425" lIns="91425" spcFirstLastPara="1" rIns="91425" wrap="square" tIns="91425">
            <a:noAutofit/>
          </a:bodyPr>
          <a:lstStyle>
            <a:lvl1pPr indent="-228600" lvl="0" marL="457200" algn="ctr">
              <a:lnSpc>
                <a:spcPct val="100000"/>
              </a:lnSpc>
              <a:spcBef>
                <a:spcPts val="1500"/>
              </a:spcBef>
              <a:spcAft>
                <a:spcPts val="0"/>
              </a:spcAft>
              <a:buSzPts val="3000"/>
              <a:buNone/>
              <a:defRPr b="1" sz="3000">
                <a:latin typeface="Arial"/>
                <a:ea typeface="Arial"/>
                <a:cs typeface="Arial"/>
                <a:sym typeface="Arial"/>
              </a:defRPr>
            </a:lvl1pPr>
            <a:lvl2pPr indent="-228600" lvl="1" marL="914400" algn="l">
              <a:lnSpc>
                <a:spcPct val="100000"/>
              </a:lnSpc>
              <a:spcBef>
                <a:spcPts val="600"/>
              </a:spcBef>
              <a:spcAft>
                <a:spcPts val="0"/>
              </a:spcAft>
              <a:buSzPts val="1600"/>
              <a:buNone/>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 name="Google Shape;19;p67"/>
          <p:cNvSpPr txBox="1"/>
          <p:nvPr>
            <p:ph idx="4" type="body"/>
          </p:nvPr>
        </p:nvSpPr>
        <p:spPr>
          <a:xfrm>
            <a:off x="5029200" y="3252788"/>
            <a:ext cx="3657600" cy="2873375"/>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1500"/>
              </a:spcBef>
              <a:spcAft>
                <a:spcPts val="0"/>
              </a:spcAft>
              <a:buSzPts val="2200"/>
              <a:buNone/>
              <a:defRPr sz="2200">
                <a:latin typeface="Arial"/>
                <a:ea typeface="Arial"/>
                <a:cs typeface="Arial"/>
                <a:sym typeface="Arial"/>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20" name="Google Shape;20;p67"/>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 name="Google Shape;21;p67"/>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67"/>
          <p:cNvSpPr/>
          <p:nvPr>
            <p:ph idx="5" type="pic"/>
          </p:nvPr>
        </p:nvSpPr>
        <p:spPr>
          <a:xfrm>
            <a:off x="457200" y="6400801"/>
            <a:ext cx="1001713" cy="228600"/>
          </a:xfrm>
          <a:prstGeom prst="rect">
            <a:avLst/>
          </a:prstGeom>
          <a:noFill/>
          <a:ln>
            <a:noFill/>
          </a:ln>
        </p:spPr>
      </p:sp>
      <p:sp>
        <p:nvSpPr>
          <p:cNvPr id="23" name="Google Shape;23;p67"/>
          <p:cNvSpPr txBox="1"/>
          <p:nvPr>
            <p:ph idx="6" type="body"/>
          </p:nvPr>
        </p:nvSpPr>
        <p:spPr>
          <a:xfrm>
            <a:off x="2097088" y="6400800"/>
            <a:ext cx="6589712" cy="228600"/>
          </a:xfrm>
          <a:prstGeom prst="rect">
            <a:avLst/>
          </a:prstGeom>
          <a:noFill/>
          <a:ln>
            <a:noFill/>
          </a:ln>
        </p:spPr>
        <p:txBody>
          <a:bodyPr anchorCtr="0" anchor="ctr" bIns="91425" lIns="91425" spcFirstLastPara="1" rIns="91425" wrap="square" tIns="91425">
            <a:noAutofit/>
          </a:bodyPr>
          <a:lstStyle>
            <a:lvl1pPr indent="-228600" lvl="0" marL="457200" algn="r">
              <a:lnSpc>
                <a:spcPct val="100000"/>
              </a:lnSpc>
              <a:spcBef>
                <a:spcPts val="1500"/>
              </a:spcBef>
              <a:spcAft>
                <a:spcPts val="0"/>
              </a:spcAft>
              <a:buSzPts val="1200"/>
              <a:buNone/>
              <a:defRPr sz="1200">
                <a:latin typeface="Verdana"/>
                <a:ea typeface="Verdana"/>
                <a:cs typeface="Verdana"/>
                <a:sym typeface="Verdana"/>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Tree>
  </p:cSld>
  <p:clrMapOvr>
    <a:masterClrMapping/>
  </p:clrMapOvr>
  <p:extLst>
    <p:ext uri="{DCECCB84-F9BA-43D5-87BE-67443E8EF086}">
      <p15:sldGuideLst>
        <p15:guide id="1" orient="horz" pos="4176">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31" name="Shape 31"/>
        <p:cNvGrpSpPr/>
        <p:nvPr/>
      </p:nvGrpSpPr>
      <p:grpSpPr>
        <a:xfrm>
          <a:off x="0" y="0"/>
          <a:ext cx="0" cy="0"/>
          <a:chOff x="0" y="0"/>
          <a:chExt cx="0" cy="0"/>
        </a:xfrm>
      </p:grpSpPr>
      <p:sp>
        <p:nvSpPr>
          <p:cNvPr id="32" name="Google Shape;32;p6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 name="Google Shape;33;p69"/>
          <p:cNvSpPr txBox="1"/>
          <p:nvPr>
            <p:ph idx="1" type="body"/>
          </p:nvPr>
        </p:nvSpPr>
        <p:spPr>
          <a:xfrm>
            <a:off x="457200" y="1556327"/>
            <a:ext cx="8229600" cy="226752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34" name="Google Shape;34;p69"/>
          <p:cNvSpPr txBox="1"/>
          <p:nvPr>
            <p:ph idx="2" type="body"/>
          </p:nvPr>
        </p:nvSpPr>
        <p:spPr>
          <a:xfrm>
            <a:off x="457200" y="3971925"/>
            <a:ext cx="8229600" cy="2105025"/>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35" name="Google Shape;35;p69"/>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36" name="Google Shape;36;p69"/>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7" name="Shape 37"/>
        <p:cNvGrpSpPr/>
        <p:nvPr/>
      </p:nvGrpSpPr>
      <p:grpSpPr>
        <a:xfrm>
          <a:off x="0" y="0"/>
          <a:ext cx="0" cy="0"/>
          <a:chOff x="0" y="0"/>
          <a:chExt cx="0" cy="0"/>
        </a:xfrm>
      </p:grpSpPr>
      <p:sp>
        <p:nvSpPr>
          <p:cNvPr id="38" name="Google Shape;38;p7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 name="Google Shape;39;p70"/>
          <p:cNvSpPr txBox="1"/>
          <p:nvPr>
            <p:ph idx="1" type="body"/>
          </p:nvPr>
        </p:nvSpPr>
        <p:spPr>
          <a:xfrm>
            <a:off x="457200" y="1554920"/>
            <a:ext cx="8232775" cy="4663335"/>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1500"/>
              </a:spcBef>
              <a:spcAft>
                <a:spcPts val="0"/>
              </a:spcAft>
              <a:buSzPts val="2400"/>
              <a:buChar char="•"/>
              <a:defRPr sz="2400">
                <a:latin typeface="Arial"/>
                <a:ea typeface="Arial"/>
                <a:cs typeface="Arial"/>
                <a:sym typeface="Arial"/>
              </a:defRPr>
            </a:lvl1pPr>
            <a:lvl2pPr indent="-381000" lvl="1" marL="914400" algn="l">
              <a:lnSpc>
                <a:spcPct val="100000"/>
              </a:lnSpc>
              <a:spcBef>
                <a:spcPts val="600"/>
              </a:spcBef>
              <a:spcAft>
                <a:spcPts val="0"/>
              </a:spcAft>
              <a:buSzPts val="2400"/>
              <a:buChar char="–"/>
              <a:defRPr sz="2400">
                <a:latin typeface="Arial"/>
                <a:ea typeface="Arial"/>
                <a:cs typeface="Arial"/>
                <a:sym typeface="Arial"/>
              </a:defRPr>
            </a:lvl2pPr>
            <a:lvl3pPr indent="-381000" lvl="2" marL="1371600" algn="l">
              <a:lnSpc>
                <a:spcPct val="100000"/>
              </a:lnSpc>
              <a:spcBef>
                <a:spcPts val="600"/>
              </a:spcBef>
              <a:spcAft>
                <a:spcPts val="0"/>
              </a:spcAft>
              <a:buSzPts val="2400"/>
              <a:buChar char="▪"/>
              <a:defRPr sz="2400">
                <a:latin typeface="Arial"/>
                <a:ea typeface="Arial"/>
                <a:cs typeface="Arial"/>
                <a:sym typeface="Arial"/>
              </a:defRPr>
            </a:lvl3pPr>
            <a:lvl4pPr indent="-381000" lvl="3" marL="1828800" algn="l">
              <a:lnSpc>
                <a:spcPct val="100000"/>
              </a:lnSpc>
              <a:spcBef>
                <a:spcPts val="600"/>
              </a:spcBef>
              <a:spcAft>
                <a:spcPts val="0"/>
              </a:spcAft>
              <a:buSzPts val="2400"/>
              <a:buChar char="–"/>
              <a:defRPr sz="2400">
                <a:latin typeface="Arial"/>
                <a:ea typeface="Arial"/>
                <a:cs typeface="Arial"/>
                <a:sym typeface="Arial"/>
              </a:defRPr>
            </a:lvl4pPr>
            <a:lvl5pPr indent="-381000" lvl="4" marL="2286000" algn="l">
              <a:lnSpc>
                <a:spcPct val="100000"/>
              </a:lnSpc>
              <a:spcBef>
                <a:spcPts val="600"/>
              </a:spcBef>
              <a:spcAft>
                <a:spcPts val="0"/>
              </a:spcAft>
              <a:buSzPts val="2400"/>
              <a:buChar char="•"/>
              <a:defRPr sz="2400">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40" name="Google Shape;40;p70"/>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1" name="Google Shape;41;p70"/>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Ten Content">
  <p:cSld name="2_Title and Ten Content">
    <p:spTree>
      <p:nvGrpSpPr>
        <p:cNvPr id="42" name="Shape 42"/>
        <p:cNvGrpSpPr/>
        <p:nvPr/>
      </p:nvGrpSpPr>
      <p:grpSpPr>
        <a:xfrm>
          <a:off x="0" y="0"/>
          <a:ext cx="0" cy="0"/>
          <a:chOff x="0" y="0"/>
          <a:chExt cx="0" cy="0"/>
        </a:xfrm>
      </p:grpSpPr>
      <p:sp>
        <p:nvSpPr>
          <p:cNvPr id="43" name="Google Shape;43;p71"/>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 name="Google Shape;44;p71"/>
          <p:cNvSpPr txBox="1"/>
          <p:nvPr>
            <p:ph idx="1" type="body"/>
          </p:nvPr>
        </p:nvSpPr>
        <p:spPr>
          <a:xfrm>
            <a:off x="457200" y="1552575"/>
            <a:ext cx="8229600" cy="198039"/>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45" name="Google Shape;45;p71"/>
          <p:cNvSpPr txBox="1"/>
          <p:nvPr>
            <p:ph idx="2" type="body"/>
          </p:nvPr>
        </p:nvSpPr>
        <p:spPr>
          <a:xfrm>
            <a:off x="457200" y="1841636"/>
            <a:ext cx="8229600" cy="232963"/>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46" name="Google Shape;46;p71"/>
          <p:cNvSpPr txBox="1"/>
          <p:nvPr>
            <p:ph idx="3" type="body"/>
          </p:nvPr>
        </p:nvSpPr>
        <p:spPr>
          <a:xfrm>
            <a:off x="457200" y="2191482"/>
            <a:ext cx="8229600" cy="22164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47" name="Google Shape;47;p71"/>
          <p:cNvSpPr txBox="1"/>
          <p:nvPr>
            <p:ph idx="4" type="body"/>
          </p:nvPr>
        </p:nvSpPr>
        <p:spPr>
          <a:xfrm>
            <a:off x="457200" y="2515536"/>
            <a:ext cx="8229600" cy="22164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48" name="Google Shape;48;p71"/>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9" name="Google Shape;49;p71"/>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0" name="Google Shape;50;p71"/>
          <p:cNvSpPr txBox="1"/>
          <p:nvPr>
            <p:ph idx="5" type="body"/>
          </p:nvPr>
        </p:nvSpPr>
        <p:spPr>
          <a:xfrm>
            <a:off x="457200" y="2840656"/>
            <a:ext cx="8229600" cy="200926"/>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51" name="Google Shape;51;p71"/>
          <p:cNvSpPr txBox="1"/>
          <p:nvPr>
            <p:ph idx="6" type="body"/>
          </p:nvPr>
        </p:nvSpPr>
        <p:spPr>
          <a:xfrm>
            <a:off x="457200" y="3169638"/>
            <a:ext cx="8229600" cy="21700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52" name="Google Shape;52;p71"/>
          <p:cNvSpPr txBox="1"/>
          <p:nvPr>
            <p:ph idx="7" type="body"/>
          </p:nvPr>
        </p:nvSpPr>
        <p:spPr>
          <a:xfrm>
            <a:off x="457200" y="3488845"/>
            <a:ext cx="8229600" cy="239102"/>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53" name="Google Shape;53;p71"/>
          <p:cNvSpPr txBox="1"/>
          <p:nvPr>
            <p:ph idx="8" type="body"/>
          </p:nvPr>
        </p:nvSpPr>
        <p:spPr>
          <a:xfrm>
            <a:off x="457200" y="3727450"/>
            <a:ext cx="8229600" cy="328613"/>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1500"/>
              </a:spcBef>
              <a:spcAft>
                <a:spcPts val="0"/>
              </a:spcAft>
              <a:buSzPts val="2400"/>
              <a:buChar char="•"/>
              <a:defRPr sz="2400">
                <a:latin typeface="Arial"/>
                <a:ea typeface="Arial"/>
                <a:cs typeface="Arial"/>
                <a:sym typeface="Arial"/>
              </a:defRPr>
            </a:lvl1pPr>
            <a:lvl2pPr indent="-381000" lvl="1" marL="914400" algn="l">
              <a:lnSpc>
                <a:spcPct val="100000"/>
              </a:lnSpc>
              <a:spcBef>
                <a:spcPts val="600"/>
              </a:spcBef>
              <a:spcAft>
                <a:spcPts val="0"/>
              </a:spcAft>
              <a:buSzPts val="2400"/>
              <a:buChar char="–"/>
              <a:defRPr sz="2400">
                <a:latin typeface="Arial"/>
                <a:ea typeface="Arial"/>
                <a:cs typeface="Arial"/>
                <a:sym typeface="Arial"/>
              </a:defRPr>
            </a:lvl2pPr>
            <a:lvl3pPr indent="-381000" lvl="2" marL="1371600" algn="l">
              <a:lnSpc>
                <a:spcPct val="100000"/>
              </a:lnSpc>
              <a:spcBef>
                <a:spcPts val="600"/>
              </a:spcBef>
              <a:spcAft>
                <a:spcPts val="0"/>
              </a:spcAft>
              <a:buSzPts val="2400"/>
              <a:buChar char="▪"/>
              <a:defRPr sz="2400">
                <a:latin typeface="Arial"/>
                <a:ea typeface="Arial"/>
                <a:cs typeface="Arial"/>
                <a:sym typeface="Arial"/>
              </a:defRPr>
            </a:lvl3pPr>
            <a:lvl4pPr indent="-381000" lvl="3" marL="1828800" algn="l">
              <a:lnSpc>
                <a:spcPct val="100000"/>
              </a:lnSpc>
              <a:spcBef>
                <a:spcPts val="600"/>
              </a:spcBef>
              <a:spcAft>
                <a:spcPts val="0"/>
              </a:spcAft>
              <a:buSzPts val="2400"/>
              <a:buChar char="–"/>
              <a:defRPr sz="2400">
                <a:latin typeface="Arial"/>
                <a:ea typeface="Arial"/>
                <a:cs typeface="Arial"/>
                <a:sym typeface="Arial"/>
              </a:defRPr>
            </a:lvl4pPr>
            <a:lvl5pPr indent="-381000" lvl="4" marL="2286000" algn="l">
              <a:lnSpc>
                <a:spcPct val="100000"/>
              </a:lnSpc>
              <a:spcBef>
                <a:spcPts val="600"/>
              </a:spcBef>
              <a:spcAft>
                <a:spcPts val="0"/>
              </a:spcAft>
              <a:buSzPts val="2400"/>
              <a:buChar char="•"/>
              <a:defRPr sz="2400">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54" name="Google Shape;54;p71"/>
          <p:cNvSpPr txBox="1"/>
          <p:nvPr>
            <p:ph idx="9" type="body"/>
          </p:nvPr>
        </p:nvSpPr>
        <p:spPr>
          <a:xfrm>
            <a:off x="457200" y="4056063"/>
            <a:ext cx="8229600" cy="293687"/>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1500"/>
              </a:spcBef>
              <a:spcAft>
                <a:spcPts val="0"/>
              </a:spcAft>
              <a:buSzPts val="2400"/>
              <a:buChar char="•"/>
              <a:defRPr sz="2400">
                <a:latin typeface="Arial"/>
                <a:ea typeface="Arial"/>
                <a:cs typeface="Arial"/>
                <a:sym typeface="Arial"/>
              </a:defRPr>
            </a:lvl1pPr>
            <a:lvl2pPr indent="-381000" lvl="1" marL="914400" algn="l">
              <a:lnSpc>
                <a:spcPct val="100000"/>
              </a:lnSpc>
              <a:spcBef>
                <a:spcPts val="600"/>
              </a:spcBef>
              <a:spcAft>
                <a:spcPts val="0"/>
              </a:spcAft>
              <a:buSzPts val="2400"/>
              <a:buChar char="–"/>
              <a:defRPr sz="2400">
                <a:latin typeface="Arial"/>
                <a:ea typeface="Arial"/>
                <a:cs typeface="Arial"/>
                <a:sym typeface="Arial"/>
              </a:defRPr>
            </a:lvl2pPr>
            <a:lvl3pPr indent="-381000" lvl="2" marL="1371600" algn="l">
              <a:lnSpc>
                <a:spcPct val="100000"/>
              </a:lnSpc>
              <a:spcBef>
                <a:spcPts val="600"/>
              </a:spcBef>
              <a:spcAft>
                <a:spcPts val="0"/>
              </a:spcAft>
              <a:buSzPts val="2400"/>
              <a:buChar char="▪"/>
              <a:defRPr sz="2400">
                <a:latin typeface="Arial"/>
                <a:ea typeface="Arial"/>
                <a:cs typeface="Arial"/>
                <a:sym typeface="Arial"/>
              </a:defRPr>
            </a:lvl3pPr>
            <a:lvl4pPr indent="-381000" lvl="3" marL="1828800" algn="l">
              <a:lnSpc>
                <a:spcPct val="100000"/>
              </a:lnSpc>
              <a:spcBef>
                <a:spcPts val="600"/>
              </a:spcBef>
              <a:spcAft>
                <a:spcPts val="0"/>
              </a:spcAft>
              <a:buSzPts val="2400"/>
              <a:buChar char="–"/>
              <a:defRPr sz="2400">
                <a:latin typeface="Arial"/>
                <a:ea typeface="Arial"/>
                <a:cs typeface="Arial"/>
                <a:sym typeface="Arial"/>
              </a:defRPr>
            </a:lvl4pPr>
            <a:lvl5pPr indent="-381000" lvl="4" marL="2286000" algn="l">
              <a:lnSpc>
                <a:spcPct val="100000"/>
              </a:lnSpc>
              <a:spcBef>
                <a:spcPts val="600"/>
              </a:spcBef>
              <a:spcAft>
                <a:spcPts val="0"/>
              </a:spcAft>
              <a:buSzPts val="2400"/>
              <a:buChar char="•"/>
              <a:defRPr sz="2400">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55" name="Google Shape;55;p71"/>
          <p:cNvSpPr txBox="1"/>
          <p:nvPr>
            <p:ph idx="13" type="body"/>
          </p:nvPr>
        </p:nvSpPr>
        <p:spPr>
          <a:xfrm>
            <a:off x="457200" y="4349750"/>
            <a:ext cx="8229600" cy="280988"/>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1500"/>
              </a:spcBef>
              <a:spcAft>
                <a:spcPts val="0"/>
              </a:spcAft>
              <a:buSzPts val="2400"/>
              <a:buChar char="•"/>
              <a:defRPr sz="2400">
                <a:latin typeface="Arial"/>
                <a:ea typeface="Arial"/>
                <a:cs typeface="Arial"/>
                <a:sym typeface="Arial"/>
              </a:defRPr>
            </a:lvl1pPr>
            <a:lvl2pPr indent="-381000" lvl="1" marL="914400" algn="l">
              <a:lnSpc>
                <a:spcPct val="100000"/>
              </a:lnSpc>
              <a:spcBef>
                <a:spcPts val="600"/>
              </a:spcBef>
              <a:spcAft>
                <a:spcPts val="0"/>
              </a:spcAft>
              <a:buSzPts val="2400"/>
              <a:buChar char="–"/>
              <a:defRPr sz="2400">
                <a:latin typeface="Arial"/>
                <a:ea typeface="Arial"/>
                <a:cs typeface="Arial"/>
                <a:sym typeface="Arial"/>
              </a:defRPr>
            </a:lvl2pPr>
            <a:lvl3pPr indent="-381000" lvl="2" marL="1371600" algn="l">
              <a:lnSpc>
                <a:spcPct val="100000"/>
              </a:lnSpc>
              <a:spcBef>
                <a:spcPts val="600"/>
              </a:spcBef>
              <a:spcAft>
                <a:spcPts val="0"/>
              </a:spcAft>
              <a:buSzPts val="2400"/>
              <a:buChar char="▪"/>
              <a:defRPr sz="2400">
                <a:latin typeface="Arial"/>
                <a:ea typeface="Arial"/>
                <a:cs typeface="Arial"/>
                <a:sym typeface="Arial"/>
              </a:defRPr>
            </a:lvl3pPr>
            <a:lvl4pPr indent="-381000" lvl="3" marL="1828800" algn="l">
              <a:lnSpc>
                <a:spcPct val="100000"/>
              </a:lnSpc>
              <a:spcBef>
                <a:spcPts val="600"/>
              </a:spcBef>
              <a:spcAft>
                <a:spcPts val="0"/>
              </a:spcAft>
              <a:buSzPts val="2400"/>
              <a:buChar char="–"/>
              <a:defRPr sz="2400">
                <a:latin typeface="Arial"/>
                <a:ea typeface="Arial"/>
                <a:cs typeface="Arial"/>
                <a:sym typeface="Arial"/>
              </a:defRPr>
            </a:lvl4pPr>
            <a:lvl5pPr indent="-381000" lvl="4" marL="2286000" algn="l">
              <a:lnSpc>
                <a:spcPct val="100000"/>
              </a:lnSpc>
              <a:spcBef>
                <a:spcPts val="600"/>
              </a:spcBef>
              <a:spcAft>
                <a:spcPts val="0"/>
              </a:spcAft>
              <a:buSzPts val="2400"/>
              <a:buChar char="•"/>
              <a:defRPr sz="2400">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56" name="Google Shape;56;p71"/>
          <p:cNvSpPr txBox="1"/>
          <p:nvPr>
            <p:ph idx="14" type="body"/>
          </p:nvPr>
        </p:nvSpPr>
        <p:spPr>
          <a:xfrm>
            <a:off x="457200" y="4630738"/>
            <a:ext cx="8229600" cy="339725"/>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1500"/>
              </a:spcBef>
              <a:spcAft>
                <a:spcPts val="0"/>
              </a:spcAft>
              <a:buSzPts val="2400"/>
              <a:buChar char="•"/>
              <a:defRPr sz="2400">
                <a:latin typeface="Arial"/>
                <a:ea typeface="Arial"/>
                <a:cs typeface="Arial"/>
                <a:sym typeface="Arial"/>
              </a:defRPr>
            </a:lvl1pPr>
            <a:lvl2pPr indent="-381000" lvl="1" marL="914400" algn="l">
              <a:lnSpc>
                <a:spcPct val="100000"/>
              </a:lnSpc>
              <a:spcBef>
                <a:spcPts val="600"/>
              </a:spcBef>
              <a:spcAft>
                <a:spcPts val="0"/>
              </a:spcAft>
              <a:buSzPts val="2400"/>
              <a:buChar char="–"/>
              <a:defRPr sz="2400">
                <a:latin typeface="Arial"/>
                <a:ea typeface="Arial"/>
                <a:cs typeface="Arial"/>
                <a:sym typeface="Arial"/>
              </a:defRPr>
            </a:lvl2pPr>
            <a:lvl3pPr indent="-381000" lvl="2" marL="1371600" algn="l">
              <a:lnSpc>
                <a:spcPct val="100000"/>
              </a:lnSpc>
              <a:spcBef>
                <a:spcPts val="600"/>
              </a:spcBef>
              <a:spcAft>
                <a:spcPts val="0"/>
              </a:spcAft>
              <a:buSzPts val="2400"/>
              <a:buChar char="▪"/>
              <a:defRPr sz="2400">
                <a:latin typeface="Arial"/>
                <a:ea typeface="Arial"/>
                <a:cs typeface="Arial"/>
                <a:sym typeface="Arial"/>
              </a:defRPr>
            </a:lvl3pPr>
            <a:lvl4pPr indent="-381000" lvl="3" marL="1828800" algn="l">
              <a:lnSpc>
                <a:spcPct val="100000"/>
              </a:lnSpc>
              <a:spcBef>
                <a:spcPts val="600"/>
              </a:spcBef>
              <a:spcAft>
                <a:spcPts val="0"/>
              </a:spcAft>
              <a:buSzPts val="2400"/>
              <a:buChar char="–"/>
              <a:defRPr sz="2400">
                <a:latin typeface="Arial"/>
                <a:ea typeface="Arial"/>
                <a:cs typeface="Arial"/>
                <a:sym typeface="Arial"/>
              </a:defRPr>
            </a:lvl4pPr>
            <a:lvl5pPr indent="-381000" lvl="4" marL="2286000" algn="l">
              <a:lnSpc>
                <a:spcPct val="100000"/>
              </a:lnSpc>
              <a:spcBef>
                <a:spcPts val="600"/>
              </a:spcBef>
              <a:spcAft>
                <a:spcPts val="0"/>
              </a:spcAft>
              <a:buSzPts val="2400"/>
              <a:buChar char="•"/>
              <a:defRPr sz="2400">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57" name="Google Shape;57;p71"/>
          <p:cNvSpPr txBox="1"/>
          <p:nvPr>
            <p:ph idx="15" type="body"/>
          </p:nvPr>
        </p:nvSpPr>
        <p:spPr>
          <a:xfrm>
            <a:off x="457200" y="4970463"/>
            <a:ext cx="8229600" cy="293687"/>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1500"/>
              </a:spcBef>
              <a:spcAft>
                <a:spcPts val="0"/>
              </a:spcAft>
              <a:buSzPts val="2400"/>
              <a:buChar char="•"/>
              <a:defRPr sz="2400">
                <a:latin typeface="Arial"/>
                <a:ea typeface="Arial"/>
                <a:cs typeface="Arial"/>
                <a:sym typeface="Arial"/>
              </a:defRPr>
            </a:lvl1pPr>
            <a:lvl2pPr indent="-381000" lvl="1" marL="914400" algn="l">
              <a:lnSpc>
                <a:spcPct val="100000"/>
              </a:lnSpc>
              <a:spcBef>
                <a:spcPts val="600"/>
              </a:spcBef>
              <a:spcAft>
                <a:spcPts val="0"/>
              </a:spcAft>
              <a:buSzPts val="2400"/>
              <a:buChar char="–"/>
              <a:defRPr sz="2400">
                <a:latin typeface="Arial"/>
                <a:ea typeface="Arial"/>
                <a:cs typeface="Arial"/>
                <a:sym typeface="Arial"/>
              </a:defRPr>
            </a:lvl2pPr>
            <a:lvl3pPr indent="-381000" lvl="2" marL="1371600" algn="l">
              <a:lnSpc>
                <a:spcPct val="100000"/>
              </a:lnSpc>
              <a:spcBef>
                <a:spcPts val="600"/>
              </a:spcBef>
              <a:spcAft>
                <a:spcPts val="0"/>
              </a:spcAft>
              <a:buSzPts val="2400"/>
              <a:buChar char="▪"/>
              <a:defRPr sz="2400">
                <a:latin typeface="Arial"/>
                <a:ea typeface="Arial"/>
                <a:cs typeface="Arial"/>
                <a:sym typeface="Arial"/>
              </a:defRPr>
            </a:lvl3pPr>
            <a:lvl4pPr indent="-381000" lvl="3" marL="1828800" algn="l">
              <a:lnSpc>
                <a:spcPct val="100000"/>
              </a:lnSpc>
              <a:spcBef>
                <a:spcPts val="600"/>
              </a:spcBef>
              <a:spcAft>
                <a:spcPts val="0"/>
              </a:spcAft>
              <a:buSzPts val="2400"/>
              <a:buChar char="–"/>
              <a:defRPr sz="2400">
                <a:latin typeface="Arial"/>
                <a:ea typeface="Arial"/>
                <a:cs typeface="Arial"/>
                <a:sym typeface="Arial"/>
              </a:defRPr>
            </a:lvl4pPr>
            <a:lvl5pPr indent="-381000" lvl="4" marL="2286000" algn="l">
              <a:lnSpc>
                <a:spcPct val="100000"/>
              </a:lnSpc>
              <a:spcBef>
                <a:spcPts val="600"/>
              </a:spcBef>
              <a:spcAft>
                <a:spcPts val="0"/>
              </a:spcAft>
              <a:buSzPts val="2400"/>
              <a:buChar char="•"/>
              <a:defRPr sz="2400">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58" name="Google Shape;58;p71"/>
          <p:cNvSpPr txBox="1"/>
          <p:nvPr>
            <p:ph idx="16" type="body"/>
          </p:nvPr>
        </p:nvSpPr>
        <p:spPr>
          <a:xfrm>
            <a:off x="457200" y="5264150"/>
            <a:ext cx="8229600" cy="339725"/>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1500"/>
              </a:spcBef>
              <a:spcAft>
                <a:spcPts val="0"/>
              </a:spcAft>
              <a:buSzPts val="2400"/>
              <a:buChar char="•"/>
              <a:defRPr sz="2400">
                <a:latin typeface="Arial"/>
                <a:ea typeface="Arial"/>
                <a:cs typeface="Arial"/>
                <a:sym typeface="Arial"/>
              </a:defRPr>
            </a:lvl1pPr>
            <a:lvl2pPr indent="-381000" lvl="1" marL="914400" algn="l">
              <a:lnSpc>
                <a:spcPct val="100000"/>
              </a:lnSpc>
              <a:spcBef>
                <a:spcPts val="600"/>
              </a:spcBef>
              <a:spcAft>
                <a:spcPts val="0"/>
              </a:spcAft>
              <a:buSzPts val="2400"/>
              <a:buChar char="–"/>
              <a:defRPr sz="2400">
                <a:latin typeface="Arial"/>
                <a:ea typeface="Arial"/>
                <a:cs typeface="Arial"/>
                <a:sym typeface="Arial"/>
              </a:defRPr>
            </a:lvl2pPr>
            <a:lvl3pPr indent="-381000" lvl="2" marL="1371600" algn="l">
              <a:lnSpc>
                <a:spcPct val="100000"/>
              </a:lnSpc>
              <a:spcBef>
                <a:spcPts val="600"/>
              </a:spcBef>
              <a:spcAft>
                <a:spcPts val="0"/>
              </a:spcAft>
              <a:buSzPts val="2400"/>
              <a:buChar char="▪"/>
              <a:defRPr sz="2400">
                <a:latin typeface="Arial"/>
                <a:ea typeface="Arial"/>
                <a:cs typeface="Arial"/>
                <a:sym typeface="Arial"/>
              </a:defRPr>
            </a:lvl3pPr>
            <a:lvl4pPr indent="-381000" lvl="3" marL="1828800" algn="l">
              <a:lnSpc>
                <a:spcPct val="100000"/>
              </a:lnSpc>
              <a:spcBef>
                <a:spcPts val="600"/>
              </a:spcBef>
              <a:spcAft>
                <a:spcPts val="0"/>
              </a:spcAft>
              <a:buSzPts val="2400"/>
              <a:buChar char="–"/>
              <a:defRPr sz="2400">
                <a:latin typeface="Arial"/>
                <a:ea typeface="Arial"/>
                <a:cs typeface="Arial"/>
                <a:sym typeface="Arial"/>
              </a:defRPr>
            </a:lvl4pPr>
            <a:lvl5pPr indent="-381000" lvl="4" marL="2286000" algn="l">
              <a:lnSpc>
                <a:spcPct val="100000"/>
              </a:lnSpc>
              <a:spcBef>
                <a:spcPts val="600"/>
              </a:spcBef>
              <a:spcAft>
                <a:spcPts val="0"/>
              </a:spcAft>
              <a:buSzPts val="2400"/>
              <a:buChar char="•"/>
              <a:defRPr sz="2400">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Tree>
  </p:cSld>
  <p:clrMapOvr>
    <a:masterClrMapping/>
  </p:clrMapOvr>
  <p:extLst>
    <p:ext uri="{DCECCB84-F9BA-43D5-87BE-67443E8EF086}">
      <p15:sldGuideLst>
        <p15:guide id="1" orient="horz" pos="98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ntent">
  <p:cSld name="Title and Four Content">
    <p:spTree>
      <p:nvGrpSpPr>
        <p:cNvPr id="59" name="Shape 59"/>
        <p:cNvGrpSpPr/>
        <p:nvPr/>
      </p:nvGrpSpPr>
      <p:grpSpPr>
        <a:xfrm>
          <a:off x="0" y="0"/>
          <a:ext cx="0" cy="0"/>
          <a:chOff x="0" y="0"/>
          <a:chExt cx="0" cy="0"/>
        </a:xfrm>
      </p:grpSpPr>
      <p:sp>
        <p:nvSpPr>
          <p:cNvPr id="60" name="Google Shape;60;p72"/>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1" name="Google Shape;61;p72"/>
          <p:cNvSpPr txBox="1"/>
          <p:nvPr>
            <p:ph idx="1" type="body"/>
          </p:nvPr>
        </p:nvSpPr>
        <p:spPr>
          <a:xfrm>
            <a:off x="457200" y="1552575"/>
            <a:ext cx="1885950" cy="44386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62" name="Google Shape;62;p72"/>
          <p:cNvSpPr txBox="1"/>
          <p:nvPr>
            <p:ph idx="2" type="body"/>
          </p:nvPr>
        </p:nvSpPr>
        <p:spPr>
          <a:xfrm>
            <a:off x="2572593" y="1552575"/>
            <a:ext cx="1885950" cy="44386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63" name="Google Shape;63;p72"/>
          <p:cNvSpPr txBox="1"/>
          <p:nvPr>
            <p:ph idx="3" type="body"/>
          </p:nvPr>
        </p:nvSpPr>
        <p:spPr>
          <a:xfrm>
            <a:off x="4687986" y="1552575"/>
            <a:ext cx="1885950" cy="44386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64" name="Google Shape;64;p72"/>
          <p:cNvSpPr txBox="1"/>
          <p:nvPr>
            <p:ph idx="4" type="body"/>
          </p:nvPr>
        </p:nvSpPr>
        <p:spPr>
          <a:xfrm>
            <a:off x="6803378" y="1552575"/>
            <a:ext cx="1885950" cy="44386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65" name="Google Shape;65;p72"/>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66" name="Google Shape;66;p72"/>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n Content">
  <p:cSld name="1_Title and Ten Content">
    <p:spTree>
      <p:nvGrpSpPr>
        <p:cNvPr id="67" name="Shape 67"/>
        <p:cNvGrpSpPr/>
        <p:nvPr/>
      </p:nvGrpSpPr>
      <p:grpSpPr>
        <a:xfrm>
          <a:off x="0" y="0"/>
          <a:ext cx="0" cy="0"/>
          <a:chOff x="0" y="0"/>
          <a:chExt cx="0" cy="0"/>
        </a:xfrm>
      </p:grpSpPr>
      <p:sp>
        <p:nvSpPr>
          <p:cNvPr id="68" name="Google Shape;68;p73"/>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9" name="Google Shape;69;p73"/>
          <p:cNvSpPr txBox="1"/>
          <p:nvPr>
            <p:ph idx="1" type="body"/>
          </p:nvPr>
        </p:nvSpPr>
        <p:spPr>
          <a:xfrm>
            <a:off x="457200" y="1552575"/>
            <a:ext cx="4011769" cy="46940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70" name="Google Shape;70;p73"/>
          <p:cNvSpPr txBox="1"/>
          <p:nvPr>
            <p:ph idx="2" type="body"/>
          </p:nvPr>
        </p:nvSpPr>
        <p:spPr>
          <a:xfrm>
            <a:off x="457200" y="2216772"/>
            <a:ext cx="4011769" cy="552186"/>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71" name="Google Shape;71;p73"/>
          <p:cNvSpPr txBox="1"/>
          <p:nvPr>
            <p:ph idx="3" type="body"/>
          </p:nvPr>
        </p:nvSpPr>
        <p:spPr>
          <a:xfrm>
            <a:off x="457200" y="2953477"/>
            <a:ext cx="4011769" cy="52536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72" name="Google Shape;72;p73"/>
          <p:cNvSpPr txBox="1"/>
          <p:nvPr>
            <p:ph idx="4" type="body"/>
          </p:nvPr>
        </p:nvSpPr>
        <p:spPr>
          <a:xfrm>
            <a:off x="457200" y="3640944"/>
            <a:ext cx="4011769" cy="52536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73" name="Google Shape;73;p73"/>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74" name="Google Shape;74;p73"/>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73"/>
          <p:cNvSpPr txBox="1"/>
          <p:nvPr>
            <p:ph idx="5" type="body"/>
          </p:nvPr>
        </p:nvSpPr>
        <p:spPr>
          <a:xfrm>
            <a:off x="457200" y="4352925"/>
            <a:ext cx="4011769" cy="4762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76" name="Google Shape;76;p73"/>
          <p:cNvSpPr txBox="1"/>
          <p:nvPr>
            <p:ph idx="6" type="body"/>
          </p:nvPr>
        </p:nvSpPr>
        <p:spPr>
          <a:xfrm>
            <a:off x="457200" y="5010150"/>
            <a:ext cx="4011769" cy="5143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77" name="Google Shape;77;p73"/>
          <p:cNvSpPr txBox="1"/>
          <p:nvPr>
            <p:ph idx="7" type="body"/>
          </p:nvPr>
        </p:nvSpPr>
        <p:spPr>
          <a:xfrm>
            <a:off x="457200" y="5692775"/>
            <a:ext cx="4011769" cy="56673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78" name="Google Shape;78;p73"/>
          <p:cNvSpPr txBox="1"/>
          <p:nvPr>
            <p:ph idx="8" type="body"/>
          </p:nvPr>
        </p:nvSpPr>
        <p:spPr>
          <a:xfrm>
            <a:off x="4622801" y="1557338"/>
            <a:ext cx="4064000" cy="465137"/>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79" name="Google Shape;79;p73"/>
          <p:cNvSpPr txBox="1"/>
          <p:nvPr>
            <p:ph idx="9" type="body"/>
          </p:nvPr>
        </p:nvSpPr>
        <p:spPr>
          <a:xfrm>
            <a:off x="4622800" y="2216150"/>
            <a:ext cx="4064000" cy="5524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80" name="Google Shape;80;p73"/>
          <p:cNvSpPr txBox="1"/>
          <p:nvPr>
            <p:ph idx="13" type="body"/>
          </p:nvPr>
        </p:nvSpPr>
        <p:spPr>
          <a:xfrm>
            <a:off x="4622800" y="2952750"/>
            <a:ext cx="4064000" cy="525463"/>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81" name="Google Shape;81;p73"/>
          <p:cNvSpPr txBox="1"/>
          <p:nvPr>
            <p:ph idx="14" type="body"/>
          </p:nvPr>
        </p:nvSpPr>
        <p:spPr>
          <a:xfrm>
            <a:off x="4622800" y="3641725"/>
            <a:ext cx="4064000" cy="523875"/>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82" name="Google Shape;82;p73"/>
          <p:cNvSpPr txBox="1"/>
          <p:nvPr>
            <p:ph idx="15" type="body"/>
          </p:nvPr>
        </p:nvSpPr>
        <p:spPr>
          <a:xfrm>
            <a:off x="4622800" y="4352925"/>
            <a:ext cx="4064000" cy="4762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83" name="Google Shape;83;p73"/>
          <p:cNvSpPr txBox="1"/>
          <p:nvPr>
            <p:ph idx="16" type="body"/>
          </p:nvPr>
        </p:nvSpPr>
        <p:spPr>
          <a:xfrm>
            <a:off x="4713288" y="5010150"/>
            <a:ext cx="3973512" cy="5143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84" name="Google Shape;84;p73"/>
          <p:cNvSpPr txBox="1"/>
          <p:nvPr>
            <p:ph idx="17" type="body"/>
          </p:nvPr>
        </p:nvSpPr>
        <p:spPr>
          <a:xfrm>
            <a:off x="4713288" y="5692775"/>
            <a:ext cx="3973512" cy="56673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Tree>
  </p:cSld>
  <p:clrMapOvr>
    <a:masterClrMapping/>
  </p:clrMapOvr>
  <p:extLst>
    <p:ext uri="{DCECCB84-F9BA-43D5-87BE-67443E8EF086}">
      <p15:sldGuideLst>
        <p15:guide id="1" orient="horz" pos="98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85" name="Shape 85"/>
        <p:cNvGrpSpPr/>
        <p:nvPr/>
      </p:nvGrpSpPr>
      <p:grpSpPr>
        <a:xfrm>
          <a:off x="0" y="0"/>
          <a:ext cx="0" cy="0"/>
          <a:chOff x="0" y="0"/>
          <a:chExt cx="0" cy="0"/>
        </a:xfrm>
      </p:grpSpPr>
      <p:sp>
        <p:nvSpPr>
          <p:cNvPr id="86" name="Google Shape;86;p7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 name="Google Shape;87;p74"/>
          <p:cNvSpPr txBox="1"/>
          <p:nvPr>
            <p:ph idx="1" type="body"/>
          </p:nvPr>
        </p:nvSpPr>
        <p:spPr>
          <a:xfrm>
            <a:off x="457200" y="1556327"/>
            <a:ext cx="3635375" cy="4520623"/>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88" name="Google Shape;88;p74"/>
          <p:cNvSpPr txBox="1"/>
          <p:nvPr>
            <p:ph idx="2" type="body"/>
          </p:nvPr>
        </p:nvSpPr>
        <p:spPr>
          <a:xfrm>
            <a:off x="4234542" y="1556327"/>
            <a:ext cx="4452257" cy="226752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89" name="Google Shape;89;p74"/>
          <p:cNvSpPr txBox="1"/>
          <p:nvPr>
            <p:ph idx="3" type="body"/>
          </p:nvPr>
        </p:nvSpPr>
        <p:spPr>
          <a:xfrm>
            <a:off x="4234542" y="3971925"/>
            <a:ext cx="4452258" cy="2105025"/>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90" name="Google Shape;90;p74"/>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91" name="Google Shape;91;p74"/>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add copyright">
  <p:cSld name="Title Slide-add copyright">
    <p:spTree>
      <p:nvGrpSpPr>
        <p:cNvPr id="92" name="Shape 92"/>
        <p:cNvGrpSpPr/>
        <p:nvPr/>
      </p:nvGrpSpPr>
      <p:grpSpPr>
        <a:xfrm>
          <a:off x="0" y="0"/>
          <a:ext cx="0" cy="0"/>
          <a:chOff x="0" y="0"/>
          <a:chExt cx="0" cy="0"/>
        </a:xfrm>
      </p:grpSpPr>
      <p:sp>
        <p:nvSpPr>
          <p:cNvPr id="93" name="Google Shape;93;p75"/>
          <p:cNvSpPr/>
          <p:nvPr/>
        </p:nvSpPr>
        <p:spPr>
          <a:xfrm>
            <a:off x="0" y="0"/>
            <a:ext cx="9144000" cy="3886200"/>
          </a:xfrm>
          <a:prstGeom prst="rect">
            <a:avLst/>
          </a:prstGeom>
          <a:solidFill>
            <a:srgbClr val="007FA3"/>
          </a:solidFill>
          <a:ln cap="flat" cmpd="sng" w="25400">
            <a:solidFill>
              <a:srgbClr val="007F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94" name="Google Shape;94;p75"/>
          <p:cNvSpPr txBox="1"/>
          <p:nvPr>
            <p:ph type="ctrTitle"/>
          </p:nvPr>
        </p:nvSpPr>
        <p:spPr>
          <a:xfrm>
            <a:off x="685800" y="762000"/>
            <a:ext cx="7772400" cy="2838451"/>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lt1"/>
              </a:buClr>
              <a:buSzPts val="3600"/>
              <a:buFont typeface="Times New Roman"/>
              <a:buNone/>
              <a:defRPr b="1" i="0" sz="3600" u="none" cap="none" strike="noStrike">
                <a:solidFill>
                  <a:schemeClr val="lt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5" name="Google Shape;95;p75"/>
          <p:cNvSpPr txBox="1"/>
          <p:nvPr>
            <p:ph idx="1" type="subTitle"/>
          </p:nvPr>
        </p:nvSpPr>
        <p:spPr>
          <a:xfrm>
            <a:off x="674687" y="3962400"/>
            <a:ext cx="7794625" cy="17526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2400"/>
              <a:buFont typeface="Arial"/>
              <a:buNone/>
              <a:defRPr b="0" i="0" sz="2400" u="none" cap="none" strike="noStrike">
                <a:solidFill>
                  <a:schemeClr val="dk1"/>
                </a:solidFill>
                <a:latin typeface="Arial"/>
                <a:ea typeface="Arial"/>
                <a:cs typeface="Arial"/>
                <a:sym typeface="Arial"/>
              </a:defRPr>
            </a:lvl1pPr>
            <a:lvl2pPr lvl="1" marR="0" algn="ctr">
              <a:lnSpc>
                <a:spcPct val="100000"/>
              </a:lnSpc>
              <a:spcBef>
                <a:spcPts val="6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2pPr>
            <a:lvl3pPr lvl="2" marR="0" algn="ctr">
              <a:lnSpc>
                <a:spcPct val="100000"/>
              </a:lnSpc>
              <a:spcBef>
                <a:spcPts val="600"/>
              </a:spcBef>
              <a:spcAft>
                <a:spcPts val="0"/>
              </a:spcAft>
              <a:buClr>
                <a:srgbClr val="007FA3"/>
              </a:buClr>
              <a:buSzPts val="1600"/>
              <a:buFont typeface="Noto Sans Symbols"/>
              <a:buNone/>
              <a:defRPr b="0" i="0" sz="1600" u="none" cap="none" strike="noStrike">
                <a:solidFill>
                  <a:srgbClr val="888888"/>
                </a:solidFill>
                <a:latin typeface="Arial"/>
                <a:ea typeface="Arial"/>
                <a:cs typeface="Arial"/>
                <a:sym typeface="Arial"/>
              </a:defRPr>
            </a:lvl3pPr>
            <a:lvl4pPr lvl="3" marR="0" algn="ctr">
              <a:lnSpc>
                <a:spcPct val="100000"/>
              </a:lnSpc>
              <a:spcBef>
                <a:spcPts val="6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4pPr>
            <a:lvl5pPr lvl="4" marR="0" algn="ctr">
              <a:lnSpc>
                <a:spcPct val="100000"/>
              </a:lnSpc>
              <a:spcBef>
                <a:spcPts val="6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5pPr>
            <a:lvl6pPr lvl="5"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6pPr>
            <a:lvl7pPr lvl="6"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7pPr>
            <a:lvl8pPr lvl="7"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8pPr>
            <a:lvl9pPr lvl="8"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9pPr>
          </a:lstStyle>
          <a:p/>
        </p:txBody>
      </p:sp>
      <p:sp>
        <p:nvSpPr>
          <p:cNvPr id="96" name="Google Shape;96;p75"/>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97" name="Google Shape;97;p75"/>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225"/>
              <a:buFont typeface="Arial"/>
              <a:buNone/>
              <a:defRPr b="0" i="0" sz="9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225"/>
              <a:buFont typeface="Arial"/>
              <a:buNone/>
              <a:defRPr b="0" i="0" sz="9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225"/>
              <a:buFont typeface="Arial"/>
              <a:buNone/>
              <a:defRPr b="0" i="0" sz="9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225"/>
              <a:buFont typeface="Arial"/>
              <a:buNone/>
              <a:defRPr b="0" i="0" sz="9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225"/>
              <a:buFont typeface="Arial"/>
              <a:buNone/>
              <a:defRPr b="0" i="0" sz="9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225"/>
              <a:buFont typeface="Arial"/>
              <a:buNone/>
              <a:defRPr b="0" i="0" sz="9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225"/>
              <a:buFont typeface="Arial"/>
              <a:buNone/>
              <a:defRPr b="0" i="0" sz="9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225"/>
              <a:buFont typeface="Arial"/>
              <a:buNone/>
              <a:defRPr b="0" i="0" sz="9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225"/>
              <a:buFont typeface="Arial"/>
              <a:buNone/>
              <a:defRPr b="0" i="0" sz="9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98" name="Shape 98"/>
        <p:cNvGrpSpPr/>
        <p:nvPr/>
      </p:nvGrpSpPr>
      <p:grpSpPr>
        <a:xfrm>
          <a:off x="0" y="0"/>
          <a:ext cx="0" cy="0"/>
          <a:chOff x="0" y="0"/>
          <a:chExt cx="0" cy="0"/>
        </a:xfrm>
      </p:grpSpPr>
      <p:sp>
        <p:nvSpPr>
          <p:cNvPr id="99" name="Google Shape;99;p7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0" name="Google Shape;100;p76"/>
          <p:cNvSpPr txBox="1"/>
          <p:nvPr>
            <p:ph idx="1" type="body"/>
          </p:nvPr>
        </p:nvSpPr>
        <p:spPr>
          <a:xfrm>
            <a:off x="457200" y="1552575"/>
            <a:ext cx="3991970" cy="44386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01" name="Google Shape;101;p76"/>
          <p:cNvSpPr txBox="1"/>
          <p:nvPr>
            <p:ph idx="2" type="body"/>
          </p:nvPr>
        </p:nvSpPr>
        <p:spPr>
          <a:xfrm>
            <a:off x="4694830" y="1552575"/>
            <a:ext cx="3991970" cy="44386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02" name="Google Shape;102;p76"/>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03" name="Google Shape;103;p76"/>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 and Three Columns">
    <p:spTree>
      <p:nvGrpSpPr>
        <p:cNvPr id="104" name="Shape 104"/>
        <p:cNvGrpSpPr/>
        <p:nvPr/>
      </p:nvGrpSpPr>
      <p:grpSpPr>
        <a:xfrm>
          <a:off x="0" y="0"/>
          <a:ext cx="0" cy="0"/>
          <a:chOff x="0" y="0"/>
          <a:chExt cx="0" cy="0"/>
        </a:xfrm>
      </p:grpSpPr>
      <p:sp>
        <p:nvSpPr>
          <p:cNvPr id="105" name="Google Shape;105;p77"/>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6" name="Google Shape;106;p77"/>
          <p:cNvSpPr txBox="1"/>
          <p:nvPr>
            <p:ph idx="1" type="body"/>
          </p:nvPr>
        </p:nvSpPr>
        <p:spPr>
          <a:xfrm>
            <a:off x="457201" y="1552575"/>
            <a:ext cx="2595603" cy="44386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07" name="Google Shape;107;p77"/>
          <p:cNvSpPr txBox="1"/>
          <p:nvPr>
            <p:ph idx="2" type="body"/>
          </p:nvPr>
        </p:nvSpPr>
        <p:spPr>
          <a:xfrm>
            <a:off x="3274199" y="1552575"/>
            <a:ext cx="2595602" cy="44386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08" name="Google Shape;108;p77"/>
          <p:cNvSpPr txBox="1"/>
          <p:nvPr>
            <p:ph idx="3" type="body"/>
          </p:nvPr>
        </p:nvSpPr>
        <p:spPr>
          <a:xfrm>
            <a:off x="6091197" y="1552575"/>
            <a:ext cx="2595603" cy="443865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09" name="Google Shape;109;p77"/>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10" name="Google Shape;110;p77"/>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Figure + Caption">
  <p:cSld name="1_Figure + Caption">
    <p:spTree>
      <p:nvGrpSpPr>
        <p:cNvPr id="111" name="Shape 111"/>
        <p:cNvGrpSpPr/>
        <p:nvPr/>
      </p:nvGrpSpPr>
      <p:grpSpPr>
        <a:xfrm>
          <a:off x="0" y="0"/>
          <a:ext cx="0" cy="0"/>
          <a:chOff x="0" y="0"/>
          <a:chExt cx="0" cy="0"/>
        </a:xfrm>
      </p:grpSpPr>
      <p:sp>
        <p:nvSpPr>
          <p:cNvPr id="112" name="Google Shape;112;p78"/>
          <p:cNvSpPr txBox="1"/>
          <p:nvPr>
            <p:ph type="title"/>
          </p:nvPr>
        </p:nvSpPr>
        <p:spPr>
          <a:xfrm>
            <a:off x="457200" y="241479"/>
            <a:ext cx="8229600" cy="106679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3" name="Google Shape;113;p78"/>
          <p:cNvSpPr/>
          <p:nvPr>
            <p:ph idx="2" type="pic"/>
          </p:nvPr>
        </p:nvSpPr>
        <p:spPr>
          <a:xfrm>
            <a:off x="457200" y="1564404"/>
            <a:ext cx="8232775" cy="3417887"/>
          </a:xfrm>
          <a:prstGeom prst="rect">
            <a:avLst/>
          </a:prstGeom>
          <a:noFill/>
          <a:ln>
            <a:noFill/>
          </a:ln>
        </p:spPr>
      </p:sp>
      <p:sp>
        <p:nvSpPr>
          <p:cNvPr id="114" name="Google Shape;114;p78"/>
          <p:cNvSpPr txBox="1"/>
          <p:nvPr>
            <p:ph idx="1" type="body"/>
          </p:nvPr>
        </p:nvSpPr>
        <p:spPr>
          <a:xfrm>
            <a:off x="457200" y="5102487"/>
            <a:ext cx="8229600" cy="1018367"/>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1600"/>
              <a:buFont typeface="Noto Sans Symbols"/>
              <a:buNone/>
              <a:defRPr b="0" i="0" sz="1600" u="none" cap="none" strike="noStrike">
                <a:solidFill>
                  <a:schemeClr val="dk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15" name="Google Shape;115;p78"/>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16" name="Google Shape;116;p78"/>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Figure + Caption">
  <p:cSld name="2_Figure + Caption">
    <p:spTree>
      <p:nvGrpSpPr>
        <p:cNvPr id="117" name="Shape 117"/>
        <p:cNvGrpSpPr/>
        <p:nvPr/>
      </p:nvGrpSpPr>
      <p:grpSpPr>
        <a:xfrm>
          <a:off x="0" y="0"/>
          <a:ext cx="0" cy="0"/>
          <a:chOff x="0" y="0"/>
          <a:chExt cx="0" cy="0"/>
        </a:xfrm>
      </p:grpSpPr>
      <p:sp>
        <p:nvSpPr>
          <p:cNvPr id="118" name="Google Shape;118;p7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9" name="Google Shape;119;p79"/>
          <p:cNvSpPr txBox="1"/>
          <p:nvPr>
            <p:ph idx="1" type="body"/>
          </p:nvPr>
        </p:nvSpPr>
        <p:spPr>
          <a:xfrm>
            <a:off x="457200" y="1558412"/>
            <a:ext cx="4484688" cy="3754437"/>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20" name="Google Shape;120;p79"/>
          <p:cNvSpPr txBox="1"/>
          <p:nvPr>
            <p:ph idx="2" type="body"/>
          </p:nvPr>
        </p:nvSpPr>
        <p:spPr>
          <a:xfrm>
            <a:off x="5048250" y="1558412"/>
            <a:ext cx="3638550" cy="3754437"/>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15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600"/>
              </a:spcBef>
              <a:spcAft>
                <a:spcPts val="0"/>
              </a:spcAft>
              <a:buClr>
                <a:srgbClr val="007FA3"/>
              </a:buClr>
              <a:buSzPts val="2400"/>
              <a:buChar char="•"/>
              <a:defRPr b="0" i="0" sz="2400" u="none" cap="none" strike="noStrike">
                <a:solidFill>
                  <a:schemeClr val="dk1"/>
                </a:solidFill>
                <a:latin typeface="Arial"/>
                <a:ea typeface="Arial"/>
                <a:cs typeface="Arial"/>
                <a:sym typeface="Arial"/>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21" name="Google Shape;121;p79"/>
          <p:cNvSpPr txBox="1"/>
          <p:nvPr>
            <p:ph idx="3" type="body"/>
          </p:nvPr>
        </p:nvSpPr>
        <p:spPr>
          <a:xfrm>
            <a:off x="457200" y="5420799"/>
            <a:ext cx="8229600" cy="5334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22" name="Google Shape;122;p79"/>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23" name="Google Shape;123;p79"/>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bel Layout 1">
  <p:cSld name="Label Layout 1">
    <p:spTree>
      <p:nvGrpSpPr>
        <p:cNvPr id="124" name="Shape 124"/>
        <p:cNvGrpSpPr/>
        <p:nvPr/>
      </p:nvGrpSpPr>
      <p:grpSpPr>
        <a:xfrm>
          <a:off x="0" y="0"/>
          <a:ext cx="0" cy="0"/>
          <a:chOff x="0" y="0"/>
          <a:chExt cx="0" cy="0"/>
        </a:xfrm>
      </p:grpSpPr>
      <p:sp>
        <p:nvSpPr>
          <p:cNvPr id="125" name="Google Shape;125;p8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6" name="Google Shape;126;p80"/>
          <p:cNvSpPr txBox="1"/>
          <p:nvPr>
            <p:ph idx="1" type="body"/>
          </p:nvPr>
        </p:nvSpPr>
        <p:spPr>
          <a:xfrm>
            <a:off x="2982913" y="4359275"/>
            <a:ext cx="3482975" cy="600075"/>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27" name="Google Shape;127;p80"/>
          <p:cNvSpPr/>
          <p:nvPr>
            <p:ph idx="2" type="pic"/>
          </p:nvPr>
        </p:nvSpPr>
        <p:spPr>
          <a:xfrm>
            <a:off x="2982912" y="1681163"/>
            <a:ext cx="3482975" cy="2559050"/>
          </a:xfrm>
          <a:prstGeom prst="rect">
            <a:avLst/>
          </a:prstGeom>
          <a:noFill/>
          <a:ln>
            <a:noFill/>
          </a:ln>
        </p:spPr>
      </p:sp>
      <p:sp>
        <p:nvSpPr>
          <p:cNvPr id="128" name="Google Shape;128;p80"/>
          <p:cNvSpPr txBox="1"/>
          <p:nvPr>
            <p:ph idx="3" type="body"/>
          </p:nvPr>
        </p:nvSpPr>
        <p:spPr>
          <a:xfrm>
            <a:off x="808109" y="1681163"/>
            <a:ext cx="1220716" cy="627062"/>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29" name="Google Shape;129;p80"/>
          <p:cNvSpPr txBox="1"/>
          <p:nvPr>
            <p:ph idx="4" type="body"/>
          </p:nvPr>
        </p:nvSpPr>
        <p:spPr>
          <a:xfrm>
            <a:off x="808109" y="2647157"/>
            <a:ext cx="1206500" cy="627062"/>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30" name="Google Shape;130;p80"/>
          <p:cNvSpPr txBox="1"/>
          <p:nvPr>
            <p:ph idx="5" type="body"/>
          </p:nvPr>
        </p:nvSpPr>
        <p:spPr>
          <a:xfrm>
            <a:off x="808109" y="3613151"/>
            <a:ext cx="1206500" cy="627062"/>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31" name="Google Shape;131;p80"/>
          <p:cNvSpPr txBox="1"/>
          <p:nvPr>
            <p:ph idx="6" type="body"/>
          </p:nvPr>
        </p:nvSpPr>
        <p:spPr>
          <a:xfrm>
            <a:off x="7381874" y="1681163"/>
            <a:ext cx="1304925" cy="627062"/>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32" name="Google Shape;132;p80"/>
          <p:cNvSpPr txBox="1"/>
          <p:nvPr>
            <p:ph idx="7" type="body"/>
          </p:nvPr>
        </p:nvSpPr>
        <p:spPr>
          <a:xfrm>
            <a:off x="7381874" y="2651590"/>
            <a:ext cx="1304925" cy="618196"/>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33" name="Google Shape;133;p80"/>
          <p:cNvSpPr txBox="1"/>
          <p:nvPr>
            <p:ph idx="8" type="body"/>
          </p:nvPr>
        </p:nvSpPr>
        <p:spPr>
          <a:xfrm>
            <a:off x="7381874" y="3613151"/>
            <a:ext cx="1304925" cy="627063"/>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34" name="Google Shape;134;p80"/>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5" name="Google Shape;135;p80"/>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bel Layout 2">
  <p:cSld name="Label Layout 2">
    <p:spTree>
      <p:nvGrpSpPr>
        <p:cNvPr id="136" name="Shape 136"/>
        <p:cNvGrpSpPr/>
        <p:nvPr/>
      </p:nvGrpSpPr>
      <p:grpSpPr>
        <a:xfrm>
          <a:off x="0" y="0"/>
          <a:ext cx="0" cy="0"/>
          <a:chOff x="0" y="0"/>
          <a:chExt cx="0" cy="0"/>
        </a:xfrm>
      </p:grpSpPr>
      <p:sp>
        <p:nvSpPr>
          <p:cNvPr id="137" name="Google Shape;137;p81"/>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38" name="Google Shape;138;p81"/>
          <p:cNvSpPr txBox="1"/>
          <p:nvPr>
            <p:ph idx="1" type="body"/>
          </p:nvPr>
        </p:nvSpPr>
        <p:spPr>
          <a:xfrm>
            <a:off x="457201" y="4392613"/>
            <a:ext cx="2107323" cy="504825"/>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39" name="Google Shape;139;p81"/>
          <p:cNvSpPr/>
          <p:nvPr>
            <p:ph idx="2" type="pic"/>
          </p:nvPr>
        </p:nvSpPr>
        <p:spPr>
          <a:xfrm>
            <a:off x="457200" y="1817688"/>
            <a:ext cx="2107324" cy="2386012"/>
          </a:xfrm>
          <a:prstGeom prst="rect">
            <a:avLst/>
          </a:prstGeom>
          <a:noFill/>
          <a:ln>
            <a:noFill/>
          </a:ln>
        </p:spPr>
      </p:sp>
      <p:sp>
        <p:nvSpPr>
          <p:cNvPr id="140" name="Google Shape;140;p81"/>
          <p:cNvSpPr txBox="1"/>
          <p:nvPr>
            <p:ph idx="3" type="body"/>
          </p:nvPr>
        </p:nvSpPr>
        <p:spPr>
          <a:xfrm>
            <a:off x="2774622" y="1794947"/>
            <a:ext cx="1534619" cy="591855"/>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41" name="Google Shape;141;p81"/>
          <p:cNvSpPr txBox="1"/>
          <p:nvPr>
            <p:ph idx="4" type="body"/>
          </p:nvPr>
        </p:nvSpPr>
        <p:spPr>
          <a:xfrm>
            <a:off x="2774622" y="2707481"/>
            <a:ext cx="1534619" cy="606425"/>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42" name="Google Shape;142;p81"/>
          <p:cNvSpPr txBox="1"/>
          <p:nvPr>
            <p:ph idx="5" type="body"/>
          </p:nvPr>
        </p:nvSpPr>
        <p:spPr>
          <a:xfrm>
            <a:off x="2774622" y="3597275"/>
            <a:ext cx="1534619" cy="606425"/>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43" name="Google Shape;143;p81"/>
          <p:cNvSpPr txBox="1"/>
          <p:nvPr>
            <p:ph idx="6" type="body"/>
          </p:nvPr>
        </p:nvSpPr>
        <p:spPr>
          <a:xfrm>
            <a:off x="4931596" y="4347439"/>
            <a:ext cx="2107323" cy="504825"/>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44" name="Google Shape;144;p81"/>
          <p:cNvSpPr/>
          <p:nvPr>
            <p:ph idx="7" type="pic"/>
          </p:nvPr>
        </p:nvSpPr>
        <p:spPr>
          <a:xfrm>
            <a:off x="4931596" y="1806537"/>
            <a:ext cx="2107323" cy="2397164"/>
          </a:xfrm>
          <a:prstGeom prst="rect">
            <a:avLst/>
          </a:prstGeom>
          <a:noFill/>
          <a:ln>
            <a:noFill/>
          </a:ln>
        </p:spPr>
      </p:sp>
      <p:sp>
        <p:nvSpPr>
          <p:cNvPr id="145" name="Google Shape;145;p81"/>
          <p:cNvSpPr txBox="1"/>
          <p:nvPr>
            <p:ph idx="8" type="body"/>
          </p:nvPr>
        </p:nvSpPr>
        <p:spPr>
          <a:xfrm>
            <a:off x="7304580" y="1794947"/>
            <a:ext cx="1534619" cy="608524"/>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46" name="Google Shape;146;p81"/>
          <p:cNvSpPr txBox="1"/>
          <p:nvPr>
            <p:ph idx="9" type="body"/>
          </p:nvPr>
        </p:nvSpPr>
        <p:spPr>
          <a:xfrm>
            <a:off x="7304579" y="2707481"/>
            <a:ext cx="1534619" cy="608524"/>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47" name="Google Shape;147;p81"/>
          <p:cNvSpPr txBox="1"/>
          <p:nvPr>
            <p:ph idx="13" type="body"/>
          </p:nvPr>
        </p:nvSpPr>
        <p:spPr>
          <a:xfrm>
            <a:off x="7304579" y="3579818"/>
            <a:ext cx="1534620" cy="608524"/>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1500"/>
              </a:spcBef>
              <a:spcAft>
                <a:spcPts val="0"/>
              </a:spcAft>
              <a:buSzPts val="1600"/>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48" name="Google Shape;148;p81"/>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49" name="Google Shape;149;p81"/>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0" name="Shape 150"/>
        <p:cNvGrpSpPr/>
        <p:nvPr/>
      </p:nvGrpSpPr>
      <p:grpSpPr>
        <a:xfrm>
          <a:off x="0" y="0"/>
          <a:ext cx="0" cy="0"/>
          <a:chOff x="0" y="0"/>
          <a:chExt cx="0" cy="0"/>
        </a:xfrm>
      </p:grpSpPr>
      <p:sp>
        <p:nvSpPr>
          <p:cNvPr id="151" name="Google Shape;151;p82"/>
          <p:cNvSpPr txBox="1"/>
          <p:nvPr>
            <p:ph type="title"/>
          </p:nvPr>
        </p:nvSpPr>
        <p:spPr>
          <a:xfrm>
            <a:off x="685800" y="1447800"/>
            <a:ext cx="7772400" cy="2152651"/>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600"/>
              <a:buFont typeface="Times New Roman"/>
              <a:buNone/>
              <a:defRPr b="1" i="0" sz="3600" u="none" cap="none" strike="noStrik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2" name="Google Shape;152;p82"/>
          <p:cNvSpPr txBox="1"/>
          <p:nvPr>
            <p:ph idx="1" type="body"/>
          </p:nvPr>
        </p:nvSpPr>
        <p:spPr>
          <a:xfrm>
            <a:off x="674687" y="3962400"/>
            <a:ext cx="7794626" cy="175260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1600"/>
              <a:buFont typeface="Arial"/>
              <a:buNone/>
              <a:defRPr b="0" i="0" sz="1600" u="none" cap="none" strike="noStrike">
                <a:solidFill>
                  <a:srgbClr val="007FA3"/>
                </a:solidFill>
                <a:latin typeface="Arial"/>
                <a:ea typeface="Arial"/>
                <a:cs typeface="Arial"/>
                <a:sym typeface="Arial"/>
              </a:defRPr>
            </a:lvl1pPr>
            <a:lvl2pPr indent="-228600" lvl="1" marL="914400" marR="0" algn="l">
              <a:lnSpc>
                <a:spcPct val="100000"/>
              </a:lnSpc>
              <a:spcBef>
                <a:spcPts val="600"/>
              </a:spcBef>
              <a:spcAft>
                <a:spcPts val="0"/>
              </a:spcAft>
              <a:buClr>
                <a:srgbClr val="007FA3"/>
              </a:buClr>
              <a:buSzPts val="1800"/>
              <a:buFont typeface="Arial"/>
              <a:buNone/>
              <a:defRPr b="0" i="0" sz="1800" u="none" cap="none" strike="noStrike">
                <a:solidFill>
                  <a:srgbClr val="888888"/>
                </a:solidFill>
                <a:latin typeface="Arial"/>
                <a:ea typeface="Arial"/>
                <a:cs typeface="Arial"/>
                <a:sym typeface="Arial"/>
              </a:defRPr>
            </a:lvl2pPr>
            <a:lvl3pPr indent="-228600" lvl="2" marL="1371600" marR="0" algn="l">
              <a:lnSpc>
                <a:spcPct val="100000"/>
              </a:lnSpc>
              <a:spcBef>
                <a:spcPts val="600"/>
              </a:spcBef>
              <a:spcAft>
                <a:spcPts val="0"/>
              </a:spcAft>
              <a:buClr>
                <a:srgbClr val="007FA3"/>
              </a:buClr>
              <a:buSzPts val="1600"/>
              <a:buFont typeface="Noto Sans Symbols"/>
              <a:buNone/>
              <a:defRPr b="0" i="0" sz="1600" u="none" cap="none" strike="noStrike">
                <a:solidFill>
                  <a:srgbClr val="888888"/>
                </a:solidFill>
                <a:latin typeface="Arial"/>
                <a:ea typeface="Arial"/>
                <a:cs typeface="Arial"/>
                <a:sym typeface="Arial"/>
              </a:defRPr>
            </a:lvl3pPr>
            <a:lvl4pPr indent="-228600" lvl="3" marL="1828800" marR="0" algn="l">
              <a:lnSpc>
                <a:spcPct val="100000"/>
              </a:lnSpc>
              <a:spcBef>
                <a:spcPts val="6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4pPr>
            <a:lvl5pPr indent="-228600" lvl="4" marL="2286000" marR="0" algn="l">
              <a:lnSpc>
                <a:spcPct val="100000"/>
              </a:lnSpc>
              <a:spcBef>
                <a:spcPts val="6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5pPr>
            <a:lvl6pPr indent="-228600" lvl="5" marL="27432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6pPr>
            <a:lvl7pPr indent="-228600" lvl="6" marL="32004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7pPr>
            <a:lvl8pPr indent="-228600" lvl="7" marL="36576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8pPr>
            <a:lvl9pPr indent="-228600" lvl="8" marL="41148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9pPr>
          </a:lstStyle>
          <a:p/>
        </p:txBody>
      </p:sp>
      <p:sp>
        <p:nvSpPr>
          <p:cNvPr id="153" name="Google Shape;153;p82"/>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54" name="Google Shape;154;p82"/>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image" Target="../media/image32.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11" name="Google Shape;11;p66"/>
          <p:cNvSpPr txBox="1"/>
          <p:nvPr>
            <p:ph idx="1" type="body"/>
          </p:nvPr>
        </p:nvSpPr>
        <p:spPr>
          <a:xfrm>
            <a:off x="457200" y="1600200"/>
            <a:ext cx="8229600" cy="4428411"/>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2" name="Google Shape;12;p66"/>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66"/>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 name="Shape 24"/>
        <p:cNvGrpSpPr/>
        <p:nvPr/>
      </p:nvGrpSpPr>
      <p:grpSpPr>
        <a:xfrm>
          <a:off x="0" y="0"/>
          <a:ext cx="0" cy="0"/>
          <a:chOff x="0" y="0"/>
          <a:chExt cx="0" cy="0"/>
        </a:xfrm>
      </p:grpSpPr>
      <p:sp>
        <p:nvSpPr>
          <p:cNvPr id="25" name="Google Shape;25;p6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26" name="Google Shape;26;p68"/>
          <p:cNvSpPr txBox="1"/>
          <p:nvPr>
            <p:ph idx="1" type="body"/>
          </p:nvPr>
        </p:nvSpPr>
        <p:spPr>
          <a:xfrm>
            <a:off x="457200" y="1600200"/>
            <a:ext cx="8229600" cy="4428411"/>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27" name="Google Shape;27;p68"/>
          <p:cNvSpPr txBox="1"/>
          <p:nvPr/>
        </p:nvSpPr>
        <p:spPr>
          <a:xfrm>
            <a:off x="1600200" y="6429344"/>
            <a:ext cx="7162799" cy="200054"/>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Verdana"/>
              <a:buNone/>
            </a:pPr>
            <a:r>
              <a:rPr b="0" i="0" lang="en-US" sz="1200" u="none" cap="none" strike="noStrike">
                <a:solidFill>
                  <a:srgbClr val="000000"/>
                </a:solidFill>
                <a:latin typeface="Verdana"/>
                <a:ea typeface="Verdana"/>
                <a:cs typeface="Verdana"/>
                <a:sym typeface="Verdana"/>
              </a:rPr>
              <a:t>Copyright © 2024 Pearson Education, Inc. All Rights Reserved</a:t>
            </a:r>
            <a:endParaRPr/>
          </a:p>
        </p:txBody>
      </p:sp>
      <p:sp>
        <p:nvSpPr>
          <p:cNvPr id="28" name="Google Shape;28;p68"/>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9" name="Google Shape;29;p68"/>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30" name="Google Shape;30;p68"/>
          <p:cNvPicPr preferRelativeResize="0"/>
          <p:nvPr/>
        </p:nvPicPr>
        <p:blipFill rotWithShape="1">
          <a:blip r:embed="rId1">
            <a:alphaModFix/>
          </a:blip>
          <a:srcRect b="22151" l="0" r="0" t="22152"/>
          <a:stretch/>
        </p:blipFill>
        <p:spPr>
          <a:xfrm>
            <a:off x="315677" y="6420639"/>
            <a:ext cx="1176574" cy="2964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 Id="rId4" Type="http://schemas.openxmlformats.org/officeDocument/2006/relationships/image" Target="../media/image3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liveexample.pearsoncmg.com/html/TestSimpleCircle.html" TargetMode="External"/><Relationship Id="rId4" Type="http://schemas.openxmlformats.org/officeDocument/2006/relationships/hyperlink" Target="https://liveexample.pearsoncmg.com/html/TestSimpleCircle.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hyperlink" Target="https://liveexample.pearsoncmg.com/html/TV.html" TargetMode="External"/><Relationship Id="rId5" Type="http://schemas.openxmlformats.org/officeDocument/2006/relationships/hyperlink" Target="https://liveexample.pearsoncmg.com/html/TestTV.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0.png"/><Relationship Id="rId4" Type="http://schemas.openxmlformats.org/officeDocument/2006/relationships/hyperlink" Target="https://liveexample.pearsoncmg.com/html/TestPoint2D.html" TargetMode="External"/><Relationship Id="rId5" Type="http://schemas.openxmlformats.org/officeDocument/2006/relationships/hyperlink" Target="https://liveexample.pearsoncmg.com/html/TestPoint2D.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hyperlink" Target="https://liveexample.pearsoncmg.com/html/CircleWithStaticMembers.html" TargetMode="External"/><Relationship Id="rId4" Type="http://schemas.openxmlformats.org/officeDocument/2006/relationships/hyperlink" Target="https://liveexample.pearsoncmg.com/html/CircleWithStaticMembers.html" TargetMode="External"/><Relationship Id="rId5" Type="http://schemas.openxmlformats.org/officeDocument/2006/relationships/hyperlink" Target="https://liveexample.pearsoncmg.com/html/TestCircleWithStaticMembers.html" TargetMode="External"/><Relationship Id="rId6" Type="http://schemas.openxmlformats.org/officeDocument/2006/relationships/hyperlink" Target="https://liveexample.pearsoncmg.com/html/TestCircleWithStaticMembers.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25.png"/><Relationship Id="rId4" Type="http://schemas.openxmlformats.org/officeDocument/2006/relationships/hyperlink" Target="https://liveexample.pearsoncmg.com/html/CircleWithPrivateDataFields.html" TargetMode="External"/><Relationship Id="rId5" Type="http://schemas.openxmlformats.org/officeDocument/2006/relationships/hyperlink" Target="https://liveexample.pearsoncmg.com/html/CircleWithPrivateDataFields.html" TargetMode="External"/><Relationship Id="rId6" Type="http://schemas.openxmlformats.org/officeDocument/2006/relationships/hyperlink" Target="https://liveexample.pearsoncmg.com/html/TestCircleWithPrivateDataFields.html" TargetMode="External"/><Relationship Id="rId7" Type="http://schemas.openxmlformats.org/officeDocument/2006/relationships/hyperlink" Target="https://liveexample.pearsoncmg.com/html/TestCircleWithPrivateDataFields.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hyperlink" Target="https://liveexample.pearsoncmg.com/html/TestPassObject.html" TargetMode="External"/><Relationship Id="rId4" Type="http://schemas.openxmlformats.org/officeDocument/2006/relationships/hyperlink" Target="https://liveexample.pearsoncmg.com/html/TestPassObject.html"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hyperlink" Target="https://liveexample.pearsoncmg.com/html/TotalArea.html" TargetMode="External"/><Relationship Id="rId4" Type="http://schemas.openxmlformats.org/officeDocument/2006/relationships/hyperlink" Target="https://liveexample.pearsoncmg.com/html/TotalArea.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
          <p:cNvSpPr txBox="1"/>
          <p:nvPr>
            <p:ph type="title"/>
          </p:nvPr>
        </p:nvSpPr>
        <p:spPr>
          <a:xfrm>
            <a:off x="457200" y="143692"/>
            <a:ext cx="7586134" cy="98733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7FA3"/>
              </a:buClr>
              <a:buSzPts val="3000"/>
              <a:buFont typeface="Times New Roman"/>
              <a:buNone/>
            </a:pPr>
            <a:r>
              <a:rPr lang="en-US" sz="3000"/>
              <a:t>Introduction to Java Programming and Data Structures</a:t>
            </a:r>
            <a:endParaRPr/>
          </a:p>
        </p:txBody>
      </p:sp>
      <p:sp>
        <p:nvSpPr>
          <p:cNvPr id="161" name="Google Shape;161;p1"/>
          <p:cNvSpPr txBox="1"/>
          <p:nvPr>
            <p:ph idx="1" type="body"/>
          </p:nvPr>
        </p:nvSpPr>
        <p:spPr>
          <a:xfrm>
            <a:off x="457200" y="1212419"/>
            <a:ext cx="8229600" cy="41352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7FA3"/>
              </a:buClr>
              <a:buSzPts val="2000"/>
              <a:buFont typeface="Arial"/>
              <a:buNone/>
            </a:pPr>
            <a:r>
              <a:rPr lang="en-US">
                <a:solidFill>
                  <a:schemeClr val="lt2"/>
                </a:solidFill>
              </a:rPr>
              <a:t>Thirteenth Edition</a:t>
            </a:r>
            <a:endParaRPr/>
          </a:p>
        </p:txBody>
      </p:sp>
      <p:pic>
        <p:nvPicPr>
          <p:cNvPr descr="Front Cover: Introduction to Java Programming and Data Structures Thirteenth Edition by Liang." id="162" name="Google Shape;162;p1"/>
          <p:cNvPicPr preferRelativeResize="0"/>
          <p:nvPr/>
        </p:nvPicPr>
        <p:blipFill rotWithShape="1">
          <a:blip r:embed="rId3">
            <a:alphaModFix/>
          </a:blip>
          <a:srcRect b="0" l="0" r="0" t="0"/>
          <a:stretch/>
        </p:blipFill>
        <p:spPr>
          <a:xfrm>
            <a:off x="581108" y="1707337"/>
            <a:ext cx="3797134" cy="4523213"/>
          </a:xfrm>
          <a:prstGeom prst="rect">
            <a:avLst/>
          </a:prstGeom>
          <a:noFill/>
          <a:ln cap="flat" cmpd="sng" w="9525">
            <a:solidFill>
              <a:schemeClr val="dk1"/>
            </a:solidFill>
            <a:prstDash val="solid"/>
            <a:round/>
            <a:headEnd len="sm" w="sm" type="none"/>
            <a:tailEnd len="sm" w="sm" type="none"/>
          </a:ln>
        </p:spPr>
      </p:pic>
      <p:sp>
        <p:nvSpPr>
          <p:cNvPr id="163" name="Google Shape;163;p1"/>
          <p:cNvSpPr txBox="1"/>
          <p:nvPr>
            <p:ph idx="3" type="body"/>
          </p:nvPr>
        </p:nvSpPr>
        <p:spPr>
          <a:xfrm>
            <a:off x="5029200" y="1906104"/>
            <a:ext cx="3657600" cy="1186345"/>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b="1" lang="en-US">
                <a:latin typeface="Arial"/>
                <a:ea typeface="Arial"/>
                <a:cs typeface="Arial"/>
                <a:sym typeface="Arial"/>
              </a:rPr>
              <a:t>Chapter 9</a:t>
            </a:r>
            <a:endParaRPr/>
          </a:p>
        </p:txBody>
      </p:sp>
      <p:sp>
        <p:nvSpPr>
          <p:cNvPr id="164" name="Google Shape;164;p1"/>
          <p:cNvSpPr txBox="1"/>
          <p:nvPr>
            <p:ph idx="4" type="body"/>
          </p:nvPr>
        </p:nvSpPr>
        <p:spPr>
          <a:xfrm>
            <a:off x="5029200" y="3252789"/>
            <a:ext cx="3657600" cy="1589177"/>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200"/>
              <a:buNone/>
            </a:pPr>
            <a:r>
              <a:rPr lang="en-US"/>
              <a:t>Objects and Classes</a:t>
            </a:r>
            <a:endParaRPr/>
          </a:p>
        </p:txBody>
      </p:sp>
      <p:pic>
        <p:nvPicPr>
          <p:cNvPr descr="Pearson Logo" id="165" name="Google Shape;165;p1"/>
          <p:cNvPicPr preferRelativeResize="0"/>
          <p:nvPr>
            <p:ph idx="5" type="pic"/>
          </p:nvPr>
        </p:nvPicPr>
        <p:blipFill rotWithShape="1">
          <a:blip r:embed="rId4">
            <a:alphaModFix/>
          </a:blip>
          <a:srcRect b="22151" l="0" r="0" t="22152"/>
          <a:stretch/>
        </p:blipFill>
        <p:spPr>
          <a:xfrm>
            <a:off x="315677" y="6420639"/>
            <a:ext cx="1176574" cy="296443"/>
          </a:xfrm>
          <a:prstGeom prst="rect">
            <a:avLst/>
          </a:prstGeom>
          <a:noFill/>
          <a:ln>
            <a:noFill/>
          </a:ln>
        </p:spPr>
      </p:pic>
      <p:sp>
        <p:nvSpPr>
          <p:cNvPr id="166" name="Google Shape;166;p1"/>
          <p:cNvSpPr txBox="1"/>
          <p:nvPr>
            <p:ph idx="6" type="body"/>
          </p:nvPr>
        </p:nvSpPr>
        <p:spPr>
          <a:xfrm>
            <a:off x="2173000" y="6415232"/>
            <a:ext cx="6589712" cy="228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200"/>
              <a:buNone/>
            </a:pPr>
            <a:r>
              <a:rPr b="0" lang="en-US" sz="1200">
                <a:latin typeface="Verdana"/>
                <a:ea typeface="Verdana"/>
                <a:cs typeface="Verdana"/>
                <a:sym typeface="Verdana"/>
              </a:rPr>
              <a:t>Copyright © </a:t>
            </a:r>
            <a:r>
              <a:rPr lang="en-US"/>
              <a:t>2024 </a:t>
            </a:r>
            <a:r>
              <a:rPr b="0" lang="en-US" sz="1200">
                <a:latin typeface="Verdana"/>
                <a:ea typeface="Verdana"/>
                <a:cs typeface="Verdana"/>
                <a:sym typeface="Verdana"/>
              </a:rPr>
              <a:t>Pearson Education, Inc. All Rights Reserved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Motivations</a:t>
            </a:r>
            <a:endParaRPr/>
          </a:p>
        </p:txBody>
      </p:sp>
      <p:sp>
        <p:nvSpPr>
          <p:cNvPr id="172" name="Google Shape;172;p2"/>
          <p:cNvSpPr txBox="1"/>
          <p:nvPr>
            <p:ph idx="1" type="body"/>
          </p:nvPr>
        </p:nvSpPr>
        <p:spPr>
          <a:xfrm>
            <a:off x="457200" y="1556327"/>
            <a:ext cx="8229600" cy="2716128"/>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After learning the preceding chapters, you are capable of solving many programming problems using selections, loops, methods, and arrays. However, these Java features are not sufficient for developing graphical user interfaces and large scale software systems. Suppose you want to develop a graphical user interface as shown below. How do you program it?</a:t>
            </a:r>
            <a:endParaRPr/>
          </a:p>
        </p:txBody>
      </p:sp>
      <p:pic>
        <p:nvPicPr>
          <p:cNvPr descr="A screenshot of Show GUI window shows button OK and Cancel on the left, followed by text box for enter you name, check boxes for bold and italic, radio buttons as red and yellow with red selected, and a drop down button with freshman selected." id="173" name="Google Shape;173;p2"/>
          <p:cNvPicPr preferRelativeResize="0"/>
          <p:nvPr/>
        </p:nvPicPr>
        <p:blipFill rotWithShape="1">
          <a:blip r:embed="rId3">
            <a:alphaModFix/>
          </a:blip>
          <a:srcRect b="0" l="0" r="0" t="0"/>
          <a:stretch/>
        </p:blipFill>
        <p:spPr>
          <a:xfrm>
            <a:off x="497841" y="4584806"/>
            <a:ext cx="8148316" cy="8689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Objectives </a:t>
            </a:r>
            <a:r>
              <a:rPr b="0" lang="en-US" sz="2000"/>
              <a:t>(1 of 3)</a:t>
            </a:r>
            <a:endParaRPr b="0"/>
          </a:p>
        </p:txBody>
      </p:sp>
      <p:sp>
        <p:nvSpPr>
          <p:cNvPr id="179" name="Google Shape;179;p3"/>
          <p:cNvSpPr txBox="1"/>
          <p:nvPr>
            <p:ph idx="1" type="body"/>
          </p:nvPr>
        </p:nvSpPr>
        <p:spPr>
          <a:xfrm>
            <a:off x="470451" y="1554920"/>
            <a:ext cx="8205237" cy="4156767"/>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1800"/>
              <a:buNone/>
            </a:pPr>
            <a:r>
              <a:rPr b="1" lang="en-US" sz="1800">
                <a:solidFill>
                  <a:srgbClr val="007FA3"/>
                </a:solidFill>
              </a:rPr>
              <a:t>9.1</a:t>
            </a:r>
            <a:r>
              <a:rPr lang="en-US" sz="1800"/>
              <a:t> To describe objects and classes, and use classes to model objects (§9.2).</a:t>
            </a:r>
            <a:endParaRPr/>
          </a:p>
          <a:p>
            <a:pPr indent="0" lvl="0" marL="432" rtl="0" algn="l">
              <a:lnSpc>
                <a:spcPct val="100000"/>
              </a:lnSpc>
              <a:spcBef>
                <a:spcPts val="1500"/>
              </a:spcBef>
              <a:spcAft>
                <a:spcPts val="0"/>
              </a:spcAft>
              <a:buSzPts val="1800"/>
              <a:buNone/>
            </a:pPr>
            <a:r>
              <a:rPr b="1" lang="en-US" sz="1800">
                <a:solidFill>
                  <a:srgbClr val="007FA3"/>
                </a:solidFill>
              </a:rPr>
              <a:t>9.2</a:t>
            </a:r>
            <a:r>
              <a:rPr lang="en-US" sz="1800"/>
              <a:t> To use U</a:t>
            </a:r>
            <a:r>
              <a:rPr lang="en-US" sz="100"/>
              <a:t> </a:t>
            </a:r>
            <a:r>
              <a:rPr lang="en-US" sz="1800"/>
              <a:t>M</a:t>
            </a:r>
            <a:r>
              <a:rPr lang="en-US" sz="100"/>
              <a:t> </a:t>
            </a:r>
            <a:r>
              <a:rPr lang="en-US" sz="1800"/>
              <a:t>L graphical notation to describe classes and objects (§9.2).</a:t>
            </a:r>
            <a:endParaRPr/>
          </a:p>
          <a:p>
            <a:pPr indent="0" lvl="0" marL="432" rtl="0" algn="l">
              <a:lnSpc>
                <a:spcPct val="100000"/>
              </a:lnSpc>
              <a:spcBef>
                <a:spcPts val="1500"/>
              </a:spcBef>
              <a:spcAft>
                <a:spcPts val="0"/>
              </a:spcAft>
              <a:buSzPts val="1800"/>
              <a:buNone/>
            </a:pPr>
            <a:r>
              <a:rPr b="1" lang="en-US" sz="1800">
                <a:solidFill>
                  <a:srgbClr val="007FA3"/>
                </a:solidFill>
              </a:rPr>
              <a:t>9.3</a:t>
            </a:r>
            <a:r>
              <a:rPr lang="en-US" sz="1800"/>
              <a:t> To demonstrate how to define classes and create objects (§9.3).</a:t>
            </a:r>
            <a:endParaRPr/>
          </a:p>
          <a:p>
            <a:pPr indent="0" lvl="0" marL="432" rtl="0" algn="l">
              <a:lnSpc>
                <a:spcPct val="100000"/>
              </a:lnSpc>
              <a:spcBef>
                <a:spcPts val="1500"/>
              </a:spcBef>
              <a:spcAft>
                <a:spcPts val="0"/>
              </a:spcAft>
              <a:buSzPts val="1800"/>
              <a:buNone/>
            </a:pPr>
            <a:r>
              <a:rPr b="1" lang="en-US" sz="1800">
                <a:solidFill>
                  <a:srgbClr val="007FA3"/>
                </a:solidFill>
              </a:rPr>
              <a:t>9.4</a:t>
            </a:r>
            <a:r>
              <a:rPr lang="en-US" sz="1800"/>
              <a:t> To create objects using constructors (§9.4).</a:t>
            </a:r>
            <a:endParaRPr/>
          </a:p>
          <a:p>
            <a:pPr indent="0" lvl="0" marL="432" rtl="0" algn="l">
              <a:lnSpc>
                <a:spcPct val="100000"/>
              </a:lnSpc>
              <a:spcBef>
                <a:spcPts val="1500"/>
              </a:spcBef>
              <a:spcAft>
                <a:spcPts val="0"/>
              </a:spcAft>
              <a:buSzPts val="1800"/>
              <a:buNone/>
            </a:pPr>
            <a:r>
              <a:rPr b="1" lang="en-US" sz="1800">
                <a:solidFill>
                  <a:srgbClr val="007FA3"/>
                </a:solidFill>
              </a:rPr>
              <a:t>9.5</a:t>
            </a:r>
            <a:r>
              <a:rPr lang="en-US" sz="1800"/>
              <a:t> To define a reference variable using a reference type and access objects via object reference variables (§9.5). </a:t>
            </a:r>
            <a:endParaRPr/>
          </a:p>
          <a:p>
            <a:pPr indent="0" lvl="0" marL="432" rtl="0" algn="l">
              <a:lnSpc>
                <a:spcPct val="100000"/>
              </a:lnSpc>
              <a:spcBef>
                <a:spcPts val="1500"/>
              </a:spcBef>
              <a:spcAft>
                <a:spcPts val="0"/>
              </a:spcAft>
              <a:buSzPts val="1800"/>
              <a:buNone/>
            </a:pPr>
            <a:r>
              <a:rPr b="1" lang="en-US" sz="1800">
                <a:solidFill>
                  <a:srgbClr val="007FA3"/>
                </a:solidFill>
              </a:rPr>
              <a:t>9.6</a:t>
            </a:r>
            <a:r>
              <a:rPr lang="en-US" sz="1800"/>
              <a:t> To access an object’s data and methods using the object member access operator (.) (§9.5.1).</a:t>
            </a:r>
            <a:endParaRPr/>
          </a:p>
          <a:p>
            <a:pPr indent="0" lvl="0" marL="432" rtl="0" algn="l">
              <a:lnSpc>
                <a:spcPct val="100000"/>
              </a:lnSpc>
              <a:spcBef>
                <a:spcPts val="1500"/>
              </a:spcBef>
              <a:spcAft>
                <a:spcPts val="0"/>
              </a:spcAft>
              <a:buSzPts val="1800"/>
              <a:buNone/>
            </a:pPr>
            <a:r>
              <a:rPr b="1" lang="en-US" sz="1800">
                <a:solidFill>
                  <a:srgbClr val="007FA3"/>
                </a:solidFill>
              </a:rPr>
              <a:t>9.7</a:t>
            </a:r>
            <a:r>
              <a:rPr lang="en-US" sz="1800"/>
              <a:t> To define data fields of reference types and assign default values for an object’s data fields (§9.5.2).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Objectives </a:t>
            </a:r>
            <a:r>
              <a:rPr b="0" lang="en-US" sz="2000"/>
              <a:t>(2 of 3)</a:t>
            </a:r>
            <a:endParaRPr b="0"/>
          </a:p>
        </p:txBody>
      </p:sp>
      <p:sp>
        <p:nvSpPr>
          <p:cNvPr id="185" name="Google Shape;185;p4"/>
          <p:cNvSpPr txBox="1"/>
          <p:nvPr>
            <p:ph idx="1" type="body"/>
          </p:nvPr>
        </p:nvSpPr>
        <p:spPr>
          <a:xfrm>
            <a:off x="457201" y="1554920"/>
            <a:ext cx="8218488" cy="4143515"/>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1800"/>
              <a:buNone/>
            </a:pPr>
            <a:r>
              <a:rPr b="1" lang="en-US" sz="1800">
                <a:solidFill>
                  <a:srgbClr val="007FA3"/>
                </a:solidFill>
              </a:rPr>
              <a:t>9.8</a:t>
            </a:r>
            <a:r>
              <a:rPr lang="en-US" sz="1800"/>
              <a:t> To distinguish between object reference variables and primitive data type variables (§9.5.3).</a:t>
            </a:r>
            <a:endParaRPr/>
          </a:p>
          <a:p>
            <a:pPr indent="0" lvl="0" marL="432" rtl="0" algn="l">
              <a:lnSpc>
                <a:spcPct val="100000"/>
              </a:lnSpc>
              <a:spcBef>
                <a:spcPts val="1500"/>
              </a:spcBef>
              <a:spcAft>
                <a:spcPts val="0"/>
              </a:spcAft>
              <a:buSzPts val="1800"/>
              <a:buNone/>
            </a:pPr>
            <a:r>
              <a:rPr b="1" lang="en-US" sz="1800">
                <a:solidFill>
                  <a:srgbClr val="007FA3"/>
                </a:solidFill>
              </a:rPr>
              <a:t>9.9</a:t>
            </a:r>
            <a:r>
              <a:rPr lang="en-US" sz="1800"/>
              <a:t> To use the Java library classes </a:t>
            </a:r>
            <a:r>
              <a:rPr b="1" lang="en-US" sz="1800">
                <a:latin typeface="Courier New"/>
                <a:ea typeface="Courier New"/>
                <a:cs typeface="Courier New"/>
                <a:sym typeface="Courier New"/>
              </a:rPr>
              <a:t>Date</a:t>
            </a:r>
            <a:r>
              <a:rPr lang="en-US" sz="1800"/>
              <a:t>, </a:t>
            </a:r>
            <a:r>
              <a:rPr b="1" lang="en-US" sz="1800">
                <a:latin typeface="Courier New"/>
                <a:ea typeface="Courier New"/>
                <a:cs typeface="Courier New"/>
                <a:sym typeface="Courier New"/>
              </a:rPr>
              <a:t>Random</a:t>
            </a:r>
            <a:r>
              <a:rPr lang="en-US" sz="1800"/>
              <a:t>, and </a:t>
            </a:r>
            <a:r>
              <a:rPr b="1" lang="en-US" sz="1800">
                <a:latin typeface="Courier New"/>
                <a:ea typeface="Courier New"/>
                <a:cs typeface="Courier New"/>
                <a:sym typeface="Courier New"/>
              </a:rPr>
              <a:t>Point2D</a:t>
            </a:r>
            <a:r>
              <a:rPr lang="en-US" sz="1800"/>
              <a:t> (§9.6).</a:t>
            </a:r>
            <a:endParaRPr/>
          </a:p>
          <a:p>
            <a:pPr indent="0" lvl="0" marL="432" rtl="0" algn="l">
              <a:lnSpc>
                <a:spcPct val="100000"/>
              </a:lnSpc>
              <a:spcBef>
                <a:spcPts val="1500"/>
              </a:spcBef>
              <a:spcAft>
                <a:spcPts val="0"/>
              </a:spcAft>
              <a:buSzPts val="1800"/>
              <a:buNone/>
            </a:pPr>
            <a:r>
              <a:rPr b="1" lang="en-US" sz="1800">
                <a:solidFill>
                  <a:srgbClr val="007FA3"/>
                </a:solidFill>
              </a:rPr>
              <a:t>9.10</a:t>
            </a:r>
            <a:r>
              <a:rPr lang="en-US" sz="1800"/>
              <a:t> To distinguish between instance and static variables and methods (§9.7).</a:t>
            </a:r>
            <a:endParaRPr/>
          </a:p>
          <a:p>
            <a:pPr indent="0" lvl="0" marL="432" rtl="0" algn="l">
              <a:lnSpc>
                <a:spcPct val="100000"/>
              </a:lnSpc>
              <a:spcBef>
                <a:spcPts val="1500"/>
              </a:spcBef>
              <a:spcAft>
                <a:spcPts val="0"/>
              </a:spcAft>
              <a:buSzPts val="1800"/>
              <a:buNone/>
            </a:pPr>
            <a:r>
              <a:rPr b="1" lang="en-US" sz="1800">
                <a:solidFill>
                  <a:srgbClr val="007FA3"/>
                </a:solidFill>
              </a:rPr>
              <a:t>9.11</a:t>
            </a:r>
            <a:r>
              <a:rPr lang="en-US" sz="1800"/>
              <a:t> To define private data fields with appropriate </a:t>
            </a:r>
            <a:r>
              <a:rPr b="1" lang="en-US" sz="1800">
                <a:latin typeface="Courier New"/>
                <a:ea typeface="Courier New"/>
                <a:cs typeface="Courier New"/>
                <a:sym typeface="Courier New"/>
              </a:rPr>
              <a:t>get</a:t>
            </a:r>
            <a:r>
              <a:rPr lang="en-US" sz="1800"/>
              <a:t> and </a:t>
            </a:r>
            <a:r>
              <a:rPr b="1" lang="en-US" sz="1800">
                <a:latin typeface="Courier New"/>
                <a:ea typeface="Courier New"/>
                <a:cs typeface="Courier New"/>
                <a:sym typeface="Courier New"/>
              </a:rPr>
              <a:t>set</a:t>
            </a:r>
            <a:r>
              <a:rPr lang="en-US" sz="1800"/>
              <a:t> methods (§9.8).</a:t>
            </a:r>
            <a:endParaRPr/>
          </a:p>
          <a:p>
            <a:pPr indent="0" lvl="0" marL="432" rtl="0" algn="l">
              <a:lnSpc>
                <a:spcPct val="100000"/>
              </a:lnSpc>
              <a:spcBef>
                <a:spcPts val="1500"/>
              </a:spcBef>
              <a:spcAft>
                <a:spcPts val="0"/>
              </a:spcAft>
              <a:buSzPts val="1800"/>
              <a:buNone/>
            </a:pPr>
            <a:r>
              <a:rPr b="1" lang="en-US" sz="1800">
                <a:solidFill>
                  <a:srgbClr val="007FA3"/>
                </a:solidFill>
              </a:rPr>
              <a:t>9.12</a:t>
            </a:r>
            <a:r>
              <a:rPr lang="en-US" sz="1800"/>
              <a:t> To encapsulate data fields to make classes easy to maintain (§9.9).</a:t>
            </a:r>
            <a:endParaRPr/>
          </a:p>
          <a:p>
            <a:pPr indent="0" lvl="0" marL="432" rtl="0" algn="l">
              <a:lnSpc>
                <a:spcPct val="100000"/>
              </a:lnSpc>
              <a:spcBef>
                <a:spcPts val="1500"/>
              </a:spcBef>
              <a:spcAft>
                <a:spcPts val="0"/>
              </a:spcAft>
              <a:buSzPts val="1800"/>
              <a:buNone/>
            </a:pPr>
            <a:r>
              <a:rPr b="1" lang="en-US" sz="1800">
                <a:solidFill>
                  <a:srgbClr val="007FA3"/>
                </a:solidFill>
              </a:rPr>
              <a:t>9.13</a:t>
            </a:r>
            <a:r>
              <a:rPr lang="en-US" sz="1800"/>
              <a:t> To develop methods with object arguments and differentiate between primitive-type arguments and object-type arguments (§9.10).</a:t>
            </a:r>
            <a:endParaRPr/>
          </a:p>
          <a:p>
            <a:pPr indent="0" lvl="0" marL="432" rtl="0" algn="l">
              <a:lnSpc>
                <a:spcPct val="100000"/>
              </a:lnSpc>
              <a:spcBef>
                <a:spcPts val="1500"/>
              </a:spcBef>
              <a:spcAft>
                <a:spcPts val="0"/>
              </a:spcAft>
              <a:buSzPts val="1800"/>
              <a:buNone/>
            </a:pPr>
            <a:r>
              <a:rPr b="1" lang="en-US" sz="1800">
                <a:solidFill>
                  <a:srgbClr val="007FA3"/>
                </a:solidFill>
              </a:rPr>
              <a:t>9.14</a:t>
            </a:r>
            <a:r>
              <a:rPr lang="en-US" sz="1800"/>
              <a:t> To store and process objects in arrays (§9.11).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Objectives </a:t>
            </a:r>
            <a:r>
              <a:rPr b="0" lang="en-US" sz="2000"/>
              <a:t>(3 of 3)</a:t>
            </a:r>
            <a:endParaRPr b="0"/>
          </a:p>
        </p:txBody>
      </p:sp>
      <p:sp>
        <p:nvSpPr>
          <p:cNvPr id="191" name="Google Shape;191;p5"/>
          <p:cNvSpPr txBox="1"/>
          <p:nvPr>
            <p:ph idx="1" type="body"/>
          </p:nvPr>
        </p:nvSpPr>
        <p:spPr>
          <a:xfrm>
            <a:off x="457201" y="1554921"/>
            <a:ext cx="8218488" cy="2831549"/>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b="1" lang="en-US">
                <a:solidFill>
                  <a:srgbClr val="007FA3"/>
                </a:solidFill>
              </a:rPr>
              <a:t>9.15</a:t>
            </a:r>
            <a:r>
              <a:rPr lang="en-US"/>
              <a:t> To create immutable objects from immutable classes to protect the contents of objects (§9.12).</a:t>
            </a:r>
            <a:endParaRPr/>
          </a:p>
          <a:p>
            <a:pPr indent="0" lvl="0" marL="432" rtl="0" algn="l">
              <a:lnSpc>
                <a:spcPct val="100000"/>
              </a:lnSpc>
              <a:spcBef>
                <a:spcPts val="1500"/>
              </a:spcBef>
              <a:spcAft>
                <a:spcPts val="0"/>
              </a:spcAft>
              <a:buSzPts val="2400"/>
              <a:buNone/>
            </a:pPr>
            <a:r>
              <a:rPr b="1" lang="en-US">
                <a:solidFill>
                  <a:srgbClr val="007FA3"/>
                </a:solidFill>
              </a:rPr>
              <a:t>9.16</a:t>
            </a:r>
            <a:r>
              <a:rPr lang="en-US"/>
              <a:t> To determine the scope of variables in the context of a class (§9.13).</a:t>
            </a:r>
            <a:endParaRPr/>
          </a:p>
          <a:p>
            <a:pPr indent="0" lvl="0" marL="432" rtl="0" algn="l">
              <a:lnSpc>
                <a:spcPct val="100000"/>
              </a:lnSpc>
              <a:spcBef>
                <a:spcPts val="1500"/>
              </a:spcBef>
              <a:spcAft>
                <a:spcPts val="0"/>
              </a:spcAft>
              <a:buSzPts val="2400"/>
              <a:buNone/>
            </a:pPr>
            <a:r>
              <a:rPr b="1" lang="en-US">
                <a:solidFill>
                  <a:srgbClr val="007FA3"/>
                </a:solidFill>
              </a:rPr>
              <a:t>9.17</a:t>
            </a:r>
            <a:r>
              <a:rPr lang="en-US"/>
              <a:t> To use the keyword </a:t>
            </a:r>
            <a:r>
              <a:rPr b="1" lang="en-US">
                <a:latin typeface="Courier New"/>
                <a:ea typeface="Courier New"/>
                <a:cs typeface="Courier New"/>
                <a:sym typeface="Courier New"/>
              </a:rPr>
              <a:t>this</a:t>
            </a:r>
            <a:r>
              <a:rPr lang="en-US"/>
              <a:t> to refer to the calling object itself (§9.14).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O</a:t>
            </a:r>
            <a:r>
              <a:rPr lang="en-US" sz="100"/>
              <a:t> </a:t>
            </a:r>
            <a:r>
              <a:rPr lang="en-US"/>
              <a:t>O Programming Concepts</a:t>
            </a:r>
            <a:endParaRPr/>
          </a:p>
        </p:txBody>
      </p:sp>
      <p:sp>
        <p:nvSpPr>
          <p:cNvPr id="197" name="Google Shape;197;p6"/>
          <p:cNvSpPr txBox="1"/>
          <p:nvPr>
            <p:ph idx="1" type="body"/>
          </p:nvPr>
        </p:nvSpPr>
        <p:spPr>
          <a:xfrm>
            <a:off x="457201" y="1554920"/>
            <a:ext cx="8218488" cy="3573671"/>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Object-oriented programming (O</a:t>
            </a:r>
            <a:r>
              <a:rPr lang="en-US" sz="100"/>
              <a:t> </a:t>
            </a:r>
            <a:r>
              <a:rPr lang="en-US"/>
              <a:t>O</a:t>
            </a:r>
            <a:r>
              <a:rPr lang="en-US" sz="100"/>
              <a:t> </a:t>
            </a:r>
            <a:r>
              <a:rPr lang="en-US"/>
              <a:t>P) involves programming using objects. An </a:t>
            </a:r>
            <a:r>
              <a:rPr b="1" lang="en-US"/>
              <a:t>object</a:t>
            </a:r>
            <a:r>
              <a:rPr lang="en-US"/>
              <a:t> represents an entity in the real world that can be distinctly identified. For example, a student, a desk, a circle, a button, and even a loan can all be viewed as objects. An object has a unique identity, state, and behaviors. The </a:t>
            </a:r>
            <a:r>
              <a:rPr b="1" lang="en-US"/>
              <a:t>state</a:t>
            </a:r>
            <a:r>
              <a:rPr lang="en-US"/>
              <a:t> of an object consists of a set of </a:t>
            </a:r>
            <a:r>
              <a:rPr b="1" lang="en-US"/>
              <a:t>data fields </a:t>
            </a:r>
            <a:r>
              <a:rPr lang="en-US"/>
              <a:t>(also known as </a:t>
            </a:r>
            <a:r>
              <a:rPr b="1" lang="en-US"/>
              <a:t>properties</a:t>
            </a:r>
            <a:r>
              <a:rPr lang="en-US"/>
              <a:t>) with their current values. The </a:t>
            </a:r>
            <a:r>
              <a:rPr b="1" lang="en-US"/>
              <a:t>behavior</a:t>
            </a:r>
            <a:r>
              <a:rPr lang="en-US"/>
              <a:t> of an object is defined by a set of methods.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7"/>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Objects</a:t>
            </a:r>
            <a:endParaRPr/>
          </a:p>
        </p:txBody>
      </p:sp>
      <p:pic>
        <p:nvPicPr>
          <p:cNvPr descr="A class template with detail as follows. For long description in Notes pane, press F6." id="204" name="Google Shape;204;p7"/>
          <p:cNvPicPr preferRelativeResize="0"/>
          <p:nvPr/>
        </p:nvPicPr>
        <p:blipFill rotWithShape="1">
          <a:blip r:embed="rId3">
            <a:alphaModFix/>
          </a:blip>
          <a:srcRect b="0" l="0" r="0" t="0"/>
          <a:stretch/>
        </p:blipFill>
        <p:spPr>
          <a:xfrm>
            <a:off x="509659" y="1644821"/>
            <a:ext cx="8124680" cy="2879251"/>
          </a:xfrm>
          <a:prstGeom prst="rect">
            <a:avLst/>
          </a:prstGeom>
          <a:noFill/>
          <a:ln>
            <a:noFill/>
          </a:ln>
        </p:spPr>
      </p:pic>
      <p:sp>
        <p:nvSpPr>
          <p:cNvPr id="205" name="Google Shape;205;p7"/>
          <p:cNvSpPr txBox="1"/>
          <p:nvPr>
            <p:ph idx="2" type="body"/>
          </p:nvPr>
        </p:nvSpPr>
        <p:spPr>
          <a:xfrm>
            <a:off x="457200" y="4788607"/>
            <a:ext cx="8229600" cy="968922"/>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An object has both a state and behavior. The state defines the object, and the behavior defines what the object does.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Classes </a:t>
            </a:r>
            <a:r>
              <a:rPr b="0" lang="en-US" sz="2000"/>
              <a:t>(1 of 2)</a:t>
            </a:r>
            <a:endParaRPr b="0"/>
          </a:p>
        </p:txBody>
      </p:sp>
      <p:sp>
        <p:nvSpPr>
          <p:cNvPr id="211" name="Google Shape;211;p8"/>
          <p:cNvSpPr txBox="1"/>
          <p:nvPr>
            <p:ph idx="1" type="body"/>
          </p:nvPr>
        </p:nvSpPr>
        <p:spPr>
          <a:xfrm>
            <a:off x="457201" y="1554921"/>
            <a:ext cx="8218488" cy="2076176"/>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b="1" lang="en-US"/>
              <a:t>Classes</a:t>
            </a:r>
            <a:r>
              <a:rPr lang="en-US"/>
              <a:t> are constructs that define objects of the same type. A Java class uses variables to define data fields and methods to define behaviors. Additionally, a class provides a special type of methods, known as constructors, which are invoked to construct objects from the class.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Classes </a:t>
            </a:r>
            <a:r>
              <a:rPr b="0" lang="en-US" sz="2000"/>
              <a:t>(2 of 2)</a:t>
            </a:r>
            <a:endParaRPr b="0"/>
          </a:p>
        </p:txBody>
      </p:sp>
      <p:pic>
        <p:nvPicPr>
          <p:cNvPr descr="A text box shows the Classes. The computer code consists 18 lines. For long description in Notes pane, press F6." id="218" name="Google Shape;218;p9"/>
          <p:cNvPicPr preferRelativeResize="0"/>
          <p:nvPr/>
        </p:nvPicPr>
        <p:blipFill rotWithShape="1">
          <a:blip r:embed="rId3">
            <a:alphaModFix/>
          </a:blip>
          <a:srcRect b="0" l="0" r="0" t="0"/>
          <a:stretch/>
        </p:blipFill>
        <p:spPr>
          <a:xfrm>
            <a:off x="1022017" y="1459713"/>
            <a:ext cx="7099966" cy="45719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U</a:t>
            </a:r>
            <a:r>
              <a:rPr lang="en-US" sz="100"/>
              <a:t> </a:t>
            </a:r>
            <a:r>
              <a:rPr lang="en-US"/>
              <a:t>M</a:t>
            </a:r>
            <a:r>
              <a:rPr lang="en-US" sz="100"/>
              <a:t> </a:t>
            </a:r>
            <a:r>
              <a:rPr lang="en-US"/>
              <a:t>L Class Diagram</a:t>
            </a:r>
            <a:endParaRPr/>
          </a:p>
        </p:txBody>
      </p:sp>
      <p:pic>
        <p:nvPicPr>
          <p:cNvPr descr="The top box shows the UML Class Diagram. For long description in Notes pane, press F6." id="225" name="Google Shape;225;p10"/>
          <p:cNvPicPr preferRelativeResize="0"/>
          <p:nvPr/>
        </p:nvPicPr>
        <p:blipFill rotWithShape="1">
          <a:blip r:embed="rId3">
            <a:alphaModFix/>
          </a:blip>
          <a:srcRect b="0" l="0" r="0" t="0"/>
          <a:stretch/>
        </p:blipFill>
        <p:spPr>
          <a:xfrm>
            <a:off x="507822" y="1609095"/>
            <a:ext cx="8154861" cy="363980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1"/>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200"/>
              <a:buFont typeface="Times New Roman"/>
              <a:buNone/>
            </a:pPr>
            <a:r>
              <a:rPr lang="en-US" sz="3200"/>
              <a:t>Example: Defining Classes and Creating Objects </a:t>
            </a:r>
            <a:r>
              <a:rPr b="0" lang="en-US" sz="2000"/>
              <a:t>(1 of 2)</a:t>
            </a:r>
            <a:endParaRPr b="0" sz="3200"/>
          </a:p>
        </p:txBody>
      </p:sp>
      <p:sp>
        <p:nvSpPr>
          <p:cNvPr id="232" name="Google Shape;232;p11"/>
          <p:cNvSpPr txBox="1"/>
          <p:nvPr>
            <p:ph idx="1" type="body"/>
          </p:nvPr>
        </p:nvSpPr>
        <p:spPr>
          <a:xfrm>
            <a:off x="457200" y="1552575"/>
            <a:ext cx="8229600" cy="919692"/>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Objective: Demonstrate creating objects, accessing data, and using methods.</a:t>
            </a:r>
            <a:endParaRPr/>
          </a:p>
        </p:txBody>
      </p:sp>
      <p:sp>
        <p:nvSpPr>
          <p:cNvPr id="233" name="Google Shape;233;p11"/>
          <p:cNvSpPr txBox="1"/>
          <p:nvPr>
            <p:ph idx="8" type="body"/>
          </p:nvPr>
        </p:nvSpPr>
        <p:spPr>
          <a:xfrm>
            <a:off x="6096000" y="5607050"/>
            <a:ext cx="2590800" cy="55668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3"/>
              </a:rPr>
              <a:t>TestSimpleCircle</a:t>
            </a:r>
            <a:endParaRPr u="sng">
              <a:solidFill>
                <a:schemeClr val="hlink"/>
              </a:solidFill>
              <a:hlinkClick r:id="rId4"/>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2"/>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200"/>
              <a:buFont typeface="Times New Roman"/>
              <a:buNone/>
            </a:pPr>
            <a:r>
              <a:rPr lang="en-US" sz="3200"/>
              <a:t>Example: Defining Classes and Creating Objects </a:t>
            </a:r>
            <a:r>
              <a:rPr b="0" lang="en-US" sz="2000"/>
              <a:t>(2 of 2)</a:t>
            </a:r>
            <a:endParaRPr b="0" sz="3200"/>
          </a:p>
        </p:txBody>
      </p:sp>
      <p:pic>
        <p:nvPicPr>
          <p:cNvPr descr="A text box shows the 3 rows for Defining Classes and Creating Objects. For long description in Notes pane, press F6." id="240" name="Google Shape;240;p12"/>
          <p:cNvPicPr preferRelativeResize="0"/>
          <p:nvPr/>
        </p:nvPicPr>
        <p:blipFill rotWithShape="1">
          <a:blip r:embed="rId3">
            <a:alphaModFix/>
          </a:blip>
          <a:srcRect b="0" l="0" r="0" t="0"/>
          <a:stretch/>
        </p:blipFill>
        <p:spPr>
          <a:xfrm>
            <a:off x="627574" y="1702833"/>
            <a:ext cx="7888851" cy="3406550"/>
          </a:xfrm>
          <a:prstGeom prst="rect">
            <a:avLst/>
          </a:prstGeom>
          <a:noFill/>
          <a:ln>
            <a:noFill/>
          </a:ln>
        </p:spPr>
      </p:pic>
      <p:sp>
        <p:nvSpPr>
          <p:cNvPr id="241" name="Google Shape;241;p12"/>
          <p:cNvSpPr txBox="1"/>
          <p:nvPr>
            <p:ph idx="8" type="body"/>
          </p:nvPr>
        </p:nvSpPr>
        <p:spPr>
          <a:xfrm>
            <a:off x="7805530" y="5213629"/>
            <a:ext cx="881270" cy="506122"/>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4"/>
              </a:rPr>
              <a:t>TV</a:t>
            </a:r>
            <a:endParaRPr/>
          </a:p>
        </p:txBody>
      </p:sp>
      <p:sp>
        <p:nvSpPr>
          <p:cNvPr id="242" name="Google Shape;242;p12"/>
          <p:cNvSpPr txBox="1"/>
          <p:nvPr>
            <p:ph idx="9" type="body"/>
          </p:nvPr>
        </p:nvSpPr>
        <p:spPr>
          <a:xfrm>
            <a:off x="7504386" y="5818357"/>
            <a:ext cx="1247728" cy="506122"/>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5"/>
              </a:rPr>
              <a:t>TestTV</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3"/>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Constructors </a:t>
            </a:r>
            <a:r>
              <a:rPr b="0" lang="en-US" sz="2000"/>
              <a:t>(1 of 2)</a:t>
            </a:r>
            <a:endParaRPr b="0"/>
          </a:p>
        </p:txBody>
      </p:sp>
      <p:sp>
        <p:nvSpPr>
          <p:cNvPr id="249" name="Google Shape;249;p13"/>
          <p:cNvSpPr txBox="1"/>
          <p:nvPr>
            <p:ph idx="1" type="body"/>
          </p:nvPr>
        </p:nvSpPr>
        <p:spPr>
          <a:xfrm>
            <a:off x="457200" y="1556327"/>
            <a:ext cx="8229600" cy="2747659"/>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b="1" lang="en-US">
                <a:latin typeface="Courier New"/>
                <a:ea typeface="Courier New"/>
                <a:cs typeface="Courier New"/>
                <a:sym typeface="Courier New"/>
              </a:rPr>
              <a:t>Circle() {</a:t>
            </a:r>
            <a:endParaRPr/>
          </a:p>
          <a:p>
            <a:pPr indent="0" lvl="0" marL="432" rtl="0" algn="l">
              <a:lnSpc>
                <a:spcPct val="100000"/>
              </a:lnSpc>
              <a:spcBef>
                <a:spcPts val="1500"/>
              </a:spcBef>
              <a:spcAft>
                <a:spcPts val="0"/>
              </a:spcAft>
              <a:buSzPts val="2400"/>
              <a:buNone/>
            </a:pPr>
            <a:r>
              <a:rPr b="1" lang="en-US">
                <a:latin typeface="Courier New"/>
                <a:ea typeface="Courier New"/>
                <a:cs typeface="Courier New"/>
                <a:sym typeface="Courier New"/>
              </a:rPr>
              <a:t>}</a:t>
            </a:r>
            <a:endParaRPr/>
          </a:p>
          <a:p>
            <a:pPr indent="0" lvl="0" marL="432" rtl="0" algn="l">
              <a:lnSpc>
                <a:spcPct val="100000"/>
              </a:lnSpc>
              <a:spcBef>
                <a:spcPts val="1500"/>
              </a:spcBef>
              <a:spcAft>
                <a:spcPts val="0"/>
              </a:spcAft>
              <a:buSzPts val="2400"/>
              <a:buNone/>
            </a:pPr>
            <a:r>
              <a:rPr b="1" lang="en-US">
                <a:latin typeface="Courier New"/>
                <a:ea typeface="Courier New"/>
                <a:cs typeface="Courier New"/>
                <a:sym typeface="Courier New"/>
              </a:rPr>
              <a:t>Circle(double newRadius) {</a:t>
            </a:r>
            <a:endParaRPr/>
          </a:p>
          <a:p>
            <a:pPr indent="0" lvl="0" marL="180000" rtl="0" algn="l">
              <a:lnSpc>
                <a:spcPct val="100000"/>
              </a:lnSpc>
              <a:spcBef>
                <a:spcPts val="1500"/>
              </a:spcBef>
              <a:spcAft>
                <a:spcPts val="0"/>
              </a:spcAft>
              <a:buSzPts val="2400"/>
              <a:buNone/>
            </a:pPr>
            <a:r>
              <a:rPr b="1" lang="en-US">
                <a:latin typeface="Courier New"/>
                <a:ea typeface="Courier New"/>
                <a:cs typeface="Courier New"/>
                <a:sym typeface="Courier New"/>
              </a:rPr>
              <a:t>radius = newRadius;</a:t>
            </a:r>
            <a:endParaRPr/>
          </a:p>
          <a:p>
            <a:pPr indent="0" lvl="0" marL="432" rtl="0" algn="l">
              <a:lnSpc>
                <a:spcPct val="100000"/>
              </a:lnSpc>
              <a:spcBef>
                <a:spcPts val="1500"/>
              </a:spcBef>
              <a:spcAft>
                <a:spcPts val="0"/>
              </a:spcAft>
              <a:buSzPts val="2400"/>
              <a:buNone/>
            </a:pPr>
            <a:r>
              <a:rPr b="1" lang="en-US">
                <a:latin typeface="Courier New"/>
                <a:ea typeface="Courier New"/>
                <a:cs typeface="Courier New"/>
                <a:sym typeface="Courier New"/>
              </a:rPr>
              <a:t>}</a:t>
            </a:r>
            <a:endParaRPr/>
          </a:p>
        </p:txBody>
      </p:sp>
      <p:sp>
        <p:nvSpPr>
          <p:cNvPr id="250" name="Google Shape;250;p13"/>
          <p:cNvSpPr txBox="1"/>
          <p:nvPr>
            <p:ph idx="2" type="body"/>
          </p:nvPr>
        </p:nvSpPr>
        <p:spPr>
          <a:xfrm>
            <a:off x="457200" y="4560726"/>
            <a:ext cx="8218488" cy="951989"/>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Constructors are a special kind of methods that are invoked to construct objects.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Constructors </a:t>
            </a:r>
            <a:r>
              <a:rPr b="0" lang="en-US" sz="2000"/>
              <a:t>(2 of 2)</a:t>
            </a:r>
            <a:endParaRPr b="0"/>
          </a:p>
        </p:txBody>
      </p:sp>
      <p:sp>
        <p:nvSpPr>
          <p:cNvPr id="257" name="Google Shape;257;p14"/>
          <p:cNvSpPr txBox="1"/>
          <p:nvPr>
            <p:ph idx="1" type="body"/>
          </p:nvPr>
        </p:nvSpPr>
        <p:spPr>
          <a:xfrm>
            <a:off x="457201" y="1554921"/>
            <a:ext cx="8218488" cy="3772454"/>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A constructor with no parameters is referred to as a </a:t>
            </a:r>
            <a:r>
              <a:rPr b="1" lang="en-US"/>
              <a:t>no-arg constructor</a:t>
            </a:r>
            <a:r>
              <a:rPr lang="en-US"/>
              <a:t>.</a:t>
            </a:r>
            <a:endParaRPr/>
          </a:p>
          <a:p>
            <a:pPr indent="-255600" lvl="0" marL="256032" rtl="0" algn="l">
              <a:lnSpc>
                <a:spcPct val="100000"/>
              </a:lnSpc>
              <a:spcBef>
                <a:spcPts val="1500"/>
              </a:spcBef>
              <a:spcAft>
                <a:spcPts val="0"/>
              </a:spcAft>
              <a:buSzPts val="2400"/>
              <a:buChar char="•"/>
            </a:pPr>
            <a:r>
              <a:rPr lang="en-US"/>
              <a:t>Constructors must have the same name as the class itself.</a:t>
            </a:r>
            <a:endParaRPr/>
          </a:p>
          <a:p>
            <a:pPr indent="-255600" lvl="0" marL="256032" rtl="0" algn="l">
              <a:lnSpc>
                <a:spcPct val="100000"/>
              </a:lnSpc>
              <a:spcBef>
                <a:spcPts val="1500"/>
              </a:spcBef>
              <a:spcAft>
                <a:spcPts val="0"/>
              </a:spcAft>
              <a:buSzPts val="2400"/>
              <a:buChar char="•"/>
            </a:pPr>
            <a:r>
              <a:rPr lang="en-US"/>
              <a:t>Constructors do not have a return type—not even void.</a:t>
            </a:r>
            <a:endParaRPr/>
          </a:p>
          <a:p>
            <a:pPr indent="-255600" lvl="0" marL="256032" rtl="0" algn="l">
              <a:lnSpc>
                <a:spcPct val="100000"/>
              </a:lnSpc>
              <a:spcBef>
                <a:spcPts val="1500"/>
              </a:spcBef>
              <a:spcAft>
                <a:spcPts val="0"/>
              </a:spcAft>
              <a:buSzPts val="2400"/>
              <a:buChar char="•"/>
            </a:pPr>
            <a:r>
              <a:rPr lang="en-US"/>
              <a:t>Constructors are invoked using the new operator when an object is created. Constructors play the role of initializing objects.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200"/>
              <a:buFont typeface="Times New Roman"/>
              <a:buNone/>
            </a:pPr>
            <a:r>
              <a:rPr lang="en-US" sz="3200"/>
              <a:t>Creating Objects Using Constructors</a:t>
            </a:r>
            <a:endParaRPr/>
          </a:p>
        </p:txBody>
      </p:sp>
      <p:sp>
        <p:nvSpPr>
          <p:cNvPr id="263" name="Google Shape;263;p15"/>
          <p:cNvSpPr txBox="1"/>
          <p:nvPr>
            <p:ph idx="1" type="body"/>
          </p:nvPr>
        </p:nvSpPr>
        <p:spPr>
          <a:xfrm>
            <a:off x="457201" y="1554921"/>
            <a:ext cx="8218488" cy="3136349"/>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b="1" lang="en-US">
                <a:latin typeface="Courier New"/>
                <a:ea typeface="Courier New"/>
                <a:cs typeface="Courier New"/>
                <a:sym typeface="Courier New"/>
              </a:rPr>
              <a:t>new ClassName();</a:t>
            </a:r>
            <a:endParaRPr/>
          </a:p>
          <a:p>
            <a:pPr indent="0" lvl="0" marL="432" rtl="0" algn="l">
              <a:lnSpc>
                <a:spcPct val="100000"/>
              </a:lnSpc>
              <a:spcBef>
                <a:spcPts val="4500"/>
              </a:spcBef>
              <a:spcAft>
                <a:spcPts val="0"/>
              </a:spcAft>
              <a:buSzPts val="2400"/>
              <a:buNone/>
            </a:pPr>
            <a:r>
              <a:rPr lang="en-US"/>
              <a:t>Example:</a:t>
            </a:r>
            <a:endParaRPr/>
          </a:p>
          <a:p>
            <a:pPr indent="0" lvl="0" marL="432" rtl="0" algn="l">
              <a:lnSpc>
                <a:spcPct val="100000"/>
              </a:lnSpc>
              <a:spcBef>
                <a:spcPts val="1500"/>
              </a:spcBef>
              <a:spcAft>
                <a:spcPts val="0"/>
              </a:spcAft>
              <a:buSzPts val="2400"/>
              <a:buNone/>
            </a:pPr>
            <a:r>
              <a:rPr b="1" lang="en-US">
                <a:latin typeface="Courier New"/>
                <a:ea typeface="Courier New"/>
                <a:cs typeface="Courier New"/>
                <a:sym typeface="Courier New"/>
              </a:rPr>
              <a:t>new Circle();</a:t>
            </a:r>
            <a:endParaRPr/>
          </a:p>
          <a:p>
            <a:pPr indent="0" lvl="0" marL="432" rtl="0" algn="l">
              <a:lnSpc>
                <a:spcPct val="100000"/>
              </a:lnSpc>
              <a:spcBef>
                <a:spcPts val="4500"/>
              </a:spcBef>
              <a:spcAft>
                <a:spcPts val="0"/>
              </a:spcAft>
              <a:buSzPts val="2400"/>
              <a:buNone/>
            </a:pPr>
            <a:r>
              <a:rPr b="1" lang="en-US">
                <a:latin typeface="Courier New"/>
                <a:ea typeface="Courier New"/>
                <a:cs typeface="Courier New"/>
                <a:sym typeface="Courier New"/>
              </a:rPr>
              <a:t>new Circle(5.0);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Default Constructor</a:t>
            </a:r>
            <a:endParaRPr/>
          </a:p>
        </p:txBody>
      </p:sp>
      <p:sp>
        <p:nvSpPr>
          <p:cNvPr id="269" name="Google Shape;269;p16"/>
          <p:cNvSpPr txBox="1"/>
          <p:nvPr>
            <p:ph idx="1" type="body"/>
          </p:nvPr>
        </p:nvSpPr>
        <p:spPr>
          <a:xfrm>
            <a:off x="457200" y="1554921"/>
            <a:ext cx="8256494" cy="2076176"/>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A class may be defined without constructors. In this case, a no-arg constructor with an empty body is implicitly defined in the class. This constructor, called a </a:t>
            </a:r>
            <a:r>
              <a:rPr b="1" lang="en-US"/>
              <a:t>default constructor</a:t>
            </a:r>
            <a:r>
              <a:rPr lang="en-US"/>
              <a:t>, is provided automatically </a:t>
            </a:r>
            <a:r>
              <a:rPr b="1" lang="en-US"/>
              <a:t>only if no constructors are explicitly defined in the class</a:t>
            </a:r>
            <a:r>
              <a:rPr lang="en-US"/>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7"/>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400"/>
              <a:buFont typeface="Times New Roman"/>
              <a:buNone/>
            </a:pPr>
            <a:r>
              <a:rPr lang="en-US" sz="3400"/>
              <a:t>Declaring Object Reference Variables</a:t>
            </a:r>
            <a:endParaRPr/>
          </a:p>
        </p:txBody>
      </p:sp>
      <p:sp>
        <p:nvSpPr>
          <p:cNvPr id="275" name="Google Shape;275;p17"/>
          <p:cNvSpPr txBox="1"/>
          <p:nvPr>
            <p:ph idx="1" type="body"/>
          </p:nvPr>
        </p:nvSpPr>
        <p:spPr>
          <a:xfrm>
            <a:off x="457201" y="1554920"/>
            <a:ext cx="8218488" cy="328212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To reference an object, assign the object to a reference variable.</a:t>
            </a:r>
            <a:endParaRPr/>
          </a:p>
          <a:p>
            <a:pPr indent="0" lvl="0" marL="432" rtl="0" algn="l">
              <a:lnSpc>
                <a:spcPct val="100000"/>
              </a:lnSpc>
              <a:spcBef>
                <a:spcPts val="1500"/>
              </a:spcBef>
              <a:spcAft>
                <a:spcPts val="0"/>
              </a:spcAft>
              <a:buSzPts val="2400"/>
              <a:buNone/>
            </a:pPr>
            <a:r>
              <a:rPr lang="en-US"/>
              <a:t>To declare a reference variable, use the syntax:</a:t>
            </a:r>
            <a:endParaRPr/>
          </a:p>
          <a:p>
            <a:pPr indent="0" lvl="0" marL="432" rtl="0" algn="l">
              <a:lnSpc>
                <a:spcPct val="100000"/>
              </a:lnSpc>
              <a:spcBef>
                <a:spcPts val="1500"/>
              </a:spcBef>
              <a:spcAft>
                <a:spcPts val="0"/>
              </a:spcAft>
              <a:buSzPts val="2400"/>
              <a:buNone/>
            </a:pPr>
            <a:r>
              <a:rPr b="1" lang="en-US">
                <a:latin typeface="Courier New"/>
                <a:ea typeface="Courier New"/>
                <a:cs typeface="Courier New"/>
                <a:sym typeface="Courier New"/>
              </a:rPr>
              <a:t>ClassName objectRefVar;</a:t>
            </a:r>
            <a:endParaRPr/>
          </a:p>
          <a:p>
            <a:pPr indent="0" lvl="0" marL="432" rtl="0" algn="l">
              <a:lnSpc>
                <a:spcPct val="100000"/>
              </a:lnSpc>
              <a:spcBef>
                <a:spcPts val="1500"/>
              </a:spcBef>
              <a:spcAft>
                <a:spcPts val="0"/>
              </a:spcAft>
              <a:buSzPts val="2400"/>
              <a:buNone/>
            </a:pPr>
            <a:r>
              <a:rPr lang="en-US"/>
              <a:t>Example:</a:t>
            </a:r>
            <a:endParaRPr/>
          </a:p>
          <a:p>
            <a:pPr indent="0" lvl="0" marL="432" rtl="0" algn="l">
              <a:lnSpc>
                <a:spcPct val="100000"/>
              </a:lnSpc>
              <a:spcBef>
                <a:spcPts val="1500"/>
              </a:spcBef>
              <a:spcAft>
                <a:spcPts val="0"/>
              </a:spcAft>
              <a:buSzPts val="2400"/>
              <a:buNone/>
            </a:pPr>
            <a:r>
              <a:rPr b="1" lang="en-US">
                <a:latin typeface="Courier New"/>
                <a:ea typeface="Courier New"/>
                <a:cs typeface="Courier New"/>
                <a:sym typeface="Courier New"/>
              </a:rPr>
              <a:t>Circle myCircle;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200"/>
              <a:buFont typeface="Times New Roman"/>
              <a:buNone/>
            </a:pPr>
            <a:r>
              <a:rPr lang="en-US" sz="3200"/>
              <a:t>Declaring/Creating Objects in a Single Step</a:t>
            </a:r>
            <a:endParaRPr/>
          </a:p>
        </p:txBody>
      </p:sp>
      <p:sp>
        <p:nvSpPr>
          <p:cNvPr id="282" name="Google Shape;282;p18"/>
          <p:cNvSpPr txBox="1"/>
          <p:nvPr>
            <p:ph idx="1" type="body"/>
          </p:nvPr>
        </p:nvSpPr>
        <p:spPr>
          <a:xfrm>
            <a:off x="470451" y="1552575"/>
            <a:ext cx="8218489" cy="666750"/>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sz="2400">
                <a:latin typeface="Courier New"/>
                <a:ea typeface="Courier New"/>
                <a:cs typeface="Courier New"/>
                <a:sym typeface="Courier New"/>
              </a:rPr>
              <a:t>ClassName objectRefVar = new ClassName();</a:t>
            </a:r>
            <a:endParaRPr/>
          </a:p>
        </p:txBody>
      </p:sp>
      <p:sp>
        <p:nvSpPr>
          <p:cNvPr id="283" name="Google Shape;283;p18"/>
          <p:cNvSpPr txBox="1"/>
          <p:nvPr>
            <p:ph idx="2" type="body"/>
          </p:nvPr>
        </p:nvSpPr>
        <p:spPr>
          <a:xfrm>
            <a:off x="468313" y="2409825"/>
            <a:ext cx="1493837" cy="619125"/>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Example:</a:t>
            </a:r>
            <a:endParaRPr/>
          </a:p>
        </p:txBody>
      </p:sp>
      <p:pic>
        <p:nvPicPr>
          <p:cNvPr descr="Circle myCircle = new circle left parenthesis right parenthesis semi colon. For long description in Notes pane, press F6." id="284" name="Google Shape;284;p18"/>
          <p:cNvPicPr preferRelativeResize="0"/>
          <p:nvPr/>
        </p:nvPicPr>
        <p:blipFill rotWithShape="1">
          <a:blip r:embed="rId3">
            <a:alphaModFix/>
          </a:blip>
          <a:srcRect b="0" l="0" r="0" t="0"/>
          <a:stretch/>
        </p:blipFill>
        <p:spPr>
          <a:xfrm>
            <a:off x="546293" y="3356776"/>
            <a:ext cx="6708385" cy="12311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Accessing Object’s Members</a:t>
            </a:r>
            <a:endParaRPr/>
          </a:p>
        </p:txBody>
      </p:sp>
      <p:sp>
        <p:nvSpPr>
          <p:cNvPr id="290" name="Google Shape;290;p19"/>
          <p:cNvSpPr txBox="1"/>
          <p:nvPr>
            <p:ph idx="1" type="body"/>
          </p:nvPr>
        </p:nvSpPr>
        <p:spPr>
          <a:xfrm>
            <a:off x="470451" y="1552575"/>
            <a:ext cx="7458075" cy="561975"/>
          </a:xfrm>
          <a:prstGeom prst="rect">
            <a:avLst/>
          </a:prstGeom>
          <a:noFill/>
          <a:ln>
            <a:noFill/>
          </a:ln>
        </p:spPr>
        <p:txBody>
          <a:bodyPr anchorCtr="0" anchor="t" bIns="91425" lIns="91425" spcFirstLastPara="1" rIns="91425" wrap="square" tIns="91425">
            <a:noAutofit/>
          </a:bodyPr>
          <a:lstStyle/>
          <a:p>
            <a:pPr indent="-255600" lvl="0" marL="256032" marR="0" rtl="0" algn="l">
              <a:lnSpc>
                <a:spcPct val="100000"/>
              </a:lnSpc>
              <a:spcBef>
                <a:spcPts val="0"/>
              </a:spcBef>
              <a:spcAft>
                <a:spcPts val="0"/>
              </a:spcAft>
              <a:buClr>
                <a:srgbClr val="007FA3"/>
              </a:buClr>
              <a:buSzPts val="2400"/>
              <a:buChar char="•"/>
            </a:pPr>
            <a:r>
              <a:rPr lang="en-US"/>
              <a:t>Referencing the object’s data:</a:t>
            </a:r>
            <a:endParaRPr/>
          </a:p>
        </p:txBody>
      </p:sp>
      <p:sp>
        <p:nvSpPr>
          <p:cNvPr id="291" name="Google Shape;291;p19"/>
          <p:cNvSpPr txBox="1"/>
          <p:nvPr>
            <p:ph idx="2" type="body"/>
          </p:nvPr>
        </p:nvSpPr>
        <p:spPr>
          <a:xfrm>
            <a:off x="470450" y="2215243"/>
            <a:ext cx="7458075" cy="1123949"/>
          </a:xfrm>
          <a:prstGeom prst="rect">
            <a:avLst/>
          </a:prstGeom>
          <a:noFill/>
          <a:ln>
            <a:noFill/>
          </a:ln>
        </p:spPr>
        <p:txBody>
          <a:bodyPr anchorCtr="0" anchor="t" bIns="91425" lIns="91425" spcFirstLastPara="1" rIns="91425" wrap="square" tIns="91425">
            <a:noAutofit/>
          </a:bodyPr>
          <a:lstStyle/>
          <a:p>
            <a:pPr indent="-284400" lvl="0" marL="741600" rtl="0" algn="l">
              <a:lnSpc>
                <a:spcPct val="100000"/>
              </a:lnSpc>
              <a:spcBef>
                <a:spcPts val="0"/>
              </a:spcBef>
              <a:spcAft>
                <a:spcPts val="0"/>
              </a:spcAft>
              <a:buSzPts val="2400"/>
              <a:buNone/>
            </a:pPr>
            <a:r>
              <a:rPr lang="en-US">
                <a:latin typeface="Courier New"/>
                <a:ea typeface="Courier New"/>
                <a:cs typeface="Courier New"/>
                <a:sym typeface="Courier New"/>
              </a:rPr>
              <a:t>objectRefVar.data</a:t>
            </a:r>
            <a:endParaRPr/>
          </a:p>
          <a:p>
            <a:pPr indent="-284400" lvl="0" marL="741600" rtl="0" algn="l">
              <a:lnSpc>
                <a:spcPct val="100000"/>
              </a:lnSpc>
              <a:spcBef>
                <a:spcPts val="1500"/>
              </a:spcBef>
              <a:spcAft>
                <a:spcPts val="0"/>
              </a:spcAft>
              <a:buSzPts val="2400"/>
              <a:buNone/>
            </a:pPr>
            <a:r>
              <a:rPr lang="en-US"/>
              <a:t>e.g., </a:t>
            </a:r>
            <a:r>
              <a:rPr lang="en-US">
                <a:latin typeface="Courier New"/>
                <a:ea typeface="Courier New"/>
                <a:cs typeface="Courier New"/>
                <a:sym typeface="Courier New"/>
              </a:rPr>
              <a:t>myCircle.radius</a:t>
            </a:r>
            <a:endParaRPr/>
          </a:p>
        </p:txBody>
      </p:sp>
      <p:sp>
        <p:nvSpPr>
          <p:cNvPr id="292" name="Google Shape;292;p19"/>
          <p:cNvSpPr txBox="1"/>
          <p:nvPr>
            <p:ph idx="3" type="body"/>
          </p:nvPr>
        </p:nvSpPr>
        <p:spPr>
          <a:xfrm>
            <a:off x="470450" y="3429000"/>
            <a:ext cx="6116738" cy="561976"/>
          </a:xfrm>
          <a:prstGeom prst="rect">
            <a:avLst/>
          </a:prstGeom>
          <a:noFill/>
          <a:ln>
            <a:noFill/>
          </a:ln>
        </p:spPr>
        <p:txBody>
          <a:bodyPr anchorCtr="0" anchor="t" bIns="91425" lIns="91425" spcFirstLastPara="1" rIns="91425" wrap="square" tIns="91425">
            <a:noAutofit/>
          </a:bodyPr>
          <a:lstStyle/>
          <a:p>
            <a:pPr indent="-255600" lvl="0" marL="256032" marR="0" rtl="0" algn="l">
              <a:lnSpc>
                <a:spcPct val="100000"/>
              </a:lnSpc>
              <a:spcBef>
                <a:spcPts val="0"/>
              </a:spcBef>
              <a:spcAft>
                <a:spcPts val="0"/>
              </a:spcAft>
              <a:buClr>
                <a:srgbClr val="007FA3"/>
              </a:buClr>
              <a:buSzPts val="2400"/>
              <a:buChar char="•"/>
            </a:pPr>
            <a:r>
              <a:rPr lang="en-US"/>
              <a:t>Invoking the object’s method:</a:t>
            </a:r>
            <a:endParaRPr/>
          </a:p>
        </p:txBody>
      </p:sp>
      <p:sp>
        <p:nvSpPr>
          <p:cNvPr id="293" name="Google Shape;293;p19"/>
          <p:cNvSpPr txBox="1"/>
          <p:nvPr>
            <p:ph idx="4" type="body"/>
          </p:nvPr>
        </p:nvSpPr>
        <p:spPr>
          <a:xfrm>
            <a:off x="470450" y="4086678"/>
            <a:ext cx="8205238" cy="1218747"/>
          </a:xfrm>
          <a:prstGeom prst="rect">
            <a:avLst/>
          </a:prstGeom>
          <a:noFill/>
          <a:ln>
            <a:noFill/>
          </a:ln>
        </p:spPr>
        <p:txBody>
          <a:bodyPr anchorCtr="0" anchor="t" bIns="91425" lIns="91425" spcFirstLastPara="1" rIns="91425" wrap="square" tIns="91425">
            <a:noAutofit/>
          </a:bodyPr>
          <a:lstStyle/>
          <a:p>
            <a:pPr indent="-284400" lvl="0" marL="741600" rtl="0" algn="l">
              <a:lnSpc>
                <a:spcPct val="100000"/>
              </a:lnSpc>
              <a:spcBef>
                <a:spcPts val="0"/>
              </a:spcBef>
              <a:spcAft>
                <a:spcPts val="0"/>
              </a:spcAft>
              <a:buSzPts val="2400"/>
              <a:buNone/>
            </a:pPr>
            <a:r>
              <a:rPr lang="en-US">
                <a:latin typeface="Courier New"/>
                <a:ea typeface="Courier New"/>
                <a:cs typeface="Courier New"/>
                <a:sym typeface="Courier New"/>
              </a:rPr>
              <a:t>objectRefVar.methodName(arguments)</a:t>
            </a:r>
            <a:endParaRPr/>
          </a:p>
          <a:p>
            <a:pPr indent="-284400" lvl="0" marL="741600" rtl="0" algn="l">
              <a:lnSpc>
                <a:spcPct val="100000"/>
              </a:lnSpc>
              <a:spcBef>
                <a:spcPts val="1500"/>
              </a:spcBef>
              <a:spcAft>
                <a:spcPts val="0"/>
              </a:spcAft>
              <a:buSzPts val="2400"/>
              <a:buNone/>
            </a:pPr>
            <a:r>
              <a:rPr lang="en-US"/>
              <a:t>e.g., </a:t>
            </a:r>
            <a:r>
              <a:rPr lang="en-US">
                <a:latin typeface="Courier New"/>
                <a:ea typeface="Courier New"/>
                <a:cs typeface="Courier New"/>
                <a:sym typeface="Courier New"/>
              </a:rPr>
              <a:t>myCircle.getArea()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Trace Code </a:t>
            </a:r>
            <a:r>
              <a:rPr b="0" lang="en-US" sz="2000"/>
              <a:t>(1 of 7)</a:t>
            </a:r>
            <a:endParaRPr b="0"/>
          </a:p>
        </p:txBody>
      </p:sp>
      <p:pic>
        <p:nvPicPr>
          <p:cNvPr descr="A text box shows the Trace Code. The computer code consists 5 lines. For long description in Notes pane, press F6." id="300" name="Google Shape;300;p20"/>
          <p:cNvPicPr preferRelativeResize="0"/>
          <p:nvPr/>
        </p:nvPicPr>
        <p:blipFill rotWithShape="1">
          <a:blip r:embed="rId3">
            <a:alphaModFix/>
          </a:blip>
          <a:srcRect b="0" l="0" r="0" t="0"/>
          <a:stretch/>
        </p:blipFill>
        <p:spPr>
          <a:xfrm>
            <a:off x="497841" y="2210702"/>
            <a:ext cx="8148316" cy="243659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1"/>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Trace Code </a:t>
            </a:r>
            <a:r>
              <a:rPr b="0" lang="en-US" sz="2000"/>
              <a:t>(2 of 7)</a:t>
            </a:r>
            <a:endParaRPr b="0"/>
          </a:p>
        </p:txBody>
      </p:sp>
      <p:pic>
        <p:nvPicPr>
          <p:cNvPr descr="A text box shows the Trace Code. For long description in Notes pane, press F6." id="307" name="Google Shape;307;p21"/>
          <p:cNvPicPr preferRelativeResize="0"/>
          <p:nvPr/>
        </p:nvPicPr>
        <p:blipFill rotWithShape="1">
          <a:blip r:embed="rId3">
            <a:alphaModFix/>
          </a:blip>
          <a:srcRect b="0" l="0" r="0" t="0"/>
          <a:stretch/>
        </p:blipFill>
        <p:spPr>
          <a:xfrm>
            <a:off x="511093" y="1797514"/>
            <a:ext cx="8148316" cy="326297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2"/>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Trace Code </a:t>
            </a:r>
            <a:r>
              <a:rPr b="0" lang="en-US" sz="2000"/>
              <a:t>(3 of 7)</a:t>
            </a:r>
            <a:endParaRPr b="0"/>
          </a:p>
        </p:txBody>
      </p:sp>
      <p:pic>
        <p:nvPicPr>
          <p:cNvPr descr="A text box shows the Trace Code. For long description in Notes pane, press F6." id="314" name="Google Shape;314;p22"/>
          <p:cNvPicPr preferRelativeResize="0"/>
          <p:nvPr/>
        </p:nvPicPr>
        <p:blipFill rotWithShape="1">
          <a:blip r:embed="rId3">
            <a:alphaModFix/>
          </a:blip>
          <a:srcRect b="0" l="0" r="0" t="0"/>
          <a:stretch/>
        </p:blipFill>
        <p:spPr>
          <a:xfrm>
            <a:off x="497841" y="2380839"/>
            <a:ext cx="8148316" cy="209632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3"/>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Trace Code </a:t>
            </a:r>
            <a:r>
              <a:rPr b="0" lang="en-US" sz="2000"/>
              <a:t>(4 of 7)</a:t>
            </a:r>
            <a:endParaRPr b="0"/>
          </a:p>
        </p:txBody>
      </p:sp>
      <p:pic>
        <p:nvPicPr>
          <p:cNvPr descr="A text box shows the Trace Code. For long description in Notes pane, press F6." id="321" name="Google Shape;321;p23"/>
          <p:cNvPicPr preferRelativeResize="0"/>
          <p:nvPr/>
        </p:nvPicPr>
        <p:blipFill rotWithShape="1">
          <a:blip r:embed="rId3">
            <a:alphaModFix/>
          </a:blip>
          <a:srcRect b="0" l="0" r="0" t="0"/>
          <a:stretch/>
        </p:blipFill>
        <p:spPr>
          <a:xfrm>
            <a:off x="497841" y="1591904"/>
            <a:ext cx="8148316" cy="428379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Trace Code </a:t>
            </a:r>
            <a:r>
              <a:rPr b="0" lang="en-US" sz="2000"/>
              <a:t>(5 of 7)</a:t>
            </a:r>
            <a:endParaRPr b="0"/>
          </a:p>
        </p:txBody>
      </p:sp>
      <p:pic>
        <p:nvPicPr>
          <p:cNvPr descr="A text box shows the Trace Code. For long description in Notes pane, press F6." id="328" name="Google Shape;328;p24"/>
          <p:cNvPicPr preferRelativeResize="0"/>
          <p:nvPr/>
        </p:nvPicPr>
        <p:blipFill rotWithShape="1">
          <a:blip r:embed="rId3">
            <a:alphaModFix/>
          </a:blip>
          <a:srcRect b="0" l="0" r="0" t="0"/>
          <a:stretch/>
        </p:blipFill>
        <p:spPr>
          <a:xfrm>
            <a:off x="493923" y="1550824"/>
            <a:ext cx="8156154" cy="449846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Trace Code </a:t>
            </a:r>
            <a:r>
              <a:rPr b="0" lang="en-US" sz="2000"/>
              <a:t>(6 of 7)</a:t>
            </a:r>
            <a:endParaRPr b="0"/>
          </a:p>
        </p:txBody>
      </p:sp>
      <p:pic>
        <p:nvPicPr>
          <p:cNvPr descr="A text box shows the Trace Code. For long description in Notes pane, press F6." id="335" name="Google Shape;335;p25"/>
          <p:cNvPicPr preferRelativeResize="0"/>
          <p:nvPr/>
        </p:nvPicPr>
        <p:blipFill rotWithShape="1">
          <a:blip r:embed="rId3">
            <a:alphaModFix/>
          </a:blip>
          <a:srcRect b="0" l="0" r="0" t="0"/>
          <a:stretch/>
        </p:blipFill>
        <p:spPr>
          <a:xfrm>
            <a:off x="496991" y="1578577"/>
            <a:ext cx="8150017" cy="4363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Trace Code </a:t>
            </a:r>
            <a:r>
              <a:rPr b="0" lang="en-US" sz="2000"/>
              <a:t>(7 of 7)</a:t>
            </a:r>
            <a:endParaRPr b="0"/>
          </a:p>
        </p:txBody>
      </p:sp>
      <p:pic>
        <p:nvPicPr>
          <p:cNvPr descr="A text box shows the Trace Code. For long description in Notes pane, press F6." id="342" name="Google Shape;342;p26"/>
          <p:cNvPicPr preferRelativeResize="0"/>
          <p:nvPr/>
        </p:nvPicPr>
        <p:blipFill rotWithShape="1">
          <a:blip r:embed="rId3">
            <a:alphaModFix/>
          </a:blip>
          <a:srcRect b="0" l="0" r="0" t="0"/>
          <a:stretch/>
        </p:blipFill>
        <p:spPr>
          <a:xfrm>
            <a:off x="497841" y="1560944"/>
            <a:ext cx="8148316" cy="447823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7"/>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Caution</a:t>
            </a:r>
            <a:endParaRPr/>
          </a:p>
        </p:txBody>
      </p:sp>
      <p:sp>
        <p:nvSpPr>
          <p:cNvPr id="348" name="Google Shape;348;p27"/>
          <p:cNvSpPr txBox="1"/>
          <p:nvPr>
            <p:ph idx="1" type="body"/>
          </p:nvPr>
        </p:nvSpPr>
        <p:spPr>
          <a:xfrm>
            <a:off x="457200" y="1554920"/>
            <a:ext cx="8218488" cy="443506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000"/>
              <a:buNone/>
            </a:pPr>
            <a:r>
              <a:rPr lang="en-US" sz="2000"/>
              <a:t>Recall that you use</a:t>
            </a:r>
            <a:endParaRPr/>
          </a:p>
          <a:p>
            <a:pPr indent="0" lvl="0" marL="255600" rtl="0" algn="l">
              <a:lnSpc>
                <a:spcPct val="100000"/>
              </a:lnSpc>
              <a:spcBef>
                <a:spcPts val="1500"/>
              </a:spcBef>
              <a:spcAft>
                <a:spcPts val="0"/>
              </a:spcAft>
              <a:buSzPts val="2000"/>
              <a:buNone/>
            </a:pPr>
            <a:r>
              <a:rPr lang="en-US" sz="2000">
                <a:latin typeface="Courier New"/>
                <a:ea typeface="Courier New"/>
                <a:cs typeface="Courier New"/>
                <a:sym typeface="Courier New"/>
              </a:rPr>
              <a:t>Math.methodName(arguments)</a:t>
            </a:r>
            <a:r>
              <a:rPr lang="en-US" sz="2000"/>
              <a:t> (e.g., </a:t>
            </a:r>
            <a:r>
              <a:rPr lang="en-US" sz="2000">
                <a:latin typeface="Courier New"/>
                <a:ea typeface="Courier New"/>
                <a:cs typeface="Courier New"/>
                <a:sym typeface="Courier New"/>
              </a:rPr>
              <a:t>Math.pow(3, 2.5)</a:t>
            </a:r>
            <a:r>
              <a:rPr lang="en-US" sz="2000"/>
              <a:t>)</a:t>
            </a:r>
            <a:endParaRPr/>
          </a:p>
          <a:p>
            <a:pPr indent="0" lvl="0" marL="432" rtl="0" algn="l">
              <a:lnSpc>
                <a:spcPct val="100000"/>
              </a:lnSpc>
              <a:spcBef>
                <a:spcPts val="1500"/>
              </a:spcBef>
              <a:spcAft>
                <a:spcPts val="0"/>
              </a:spcAft>
              <a:buSzPts val="2000"/>
              <a:buNone/>
            </a:pPr>
            <a:r>
              <a:rPr lang="en-US" sz="2000"/>
              <a:t>to invoke a method in the Math class. Can you invoke </a:t>
            </a:r>
            <a:r>
              <a:rPr lang="en-US" sz="2000">
                <a:latin typeface="Courier New"/>
                <a:ea typeface="Courier New"/>
                <a:cs typeface="Courier New"/>
                <a:sym typeface="Courier New"/>
              </a:rPr>
              <a:t>getArea()</a:t>
            </a:r>
            <a:r>
              <a:rPr lang="en-US" sz="2000"/>
              <a:t> using </a:t>
            </a:r>
            <a:r>
              <a:rPr lang="en-US" sz="2000">
                <a:latin typeface="Courier New"/>
                <a:ea typeface="Courier New"/>
                <a:cs typeface="Courier New"/>
                <a:sym typeface="Courier New"/>
              </a:rPr>
              <a:t>SimpleCircle.getArea()?</a:t>
            </a:r>
            <a:r>
              <a:rPr lang="en-US" sz="2000"/>
              <a:t> The answer is no. All the methods used before this chapter are static methods, which are defined using the static keyword. However, </a:t>
            </a:r>
            <a:r>
              <a:rPr lang="en-US" sz="2000">
                <a:latin typeface="Courier New"/>
                <a:ea typeface="Courier New"/>
                <a:cs typeface="Courier New"/>
                <a:sym typeface="Courier New"/>
              </a:rPr>
              <a:t>getArea()</a:t>
            </a:r>
            <a:r>
              <a:rPr lang="en-US" sz="2000"/>
              <a:t> is non-static. It must be invoked from an object using</a:t>
            </a:r>
            <a:endParaRPr/>
          </a:p>
          <a:p>
            <a:pPr indent="0" lvl="0" marL="255600" rtl="0" algn="l">
              <a:lnSpc>
                <a:spcPct val="100000"/>
              </a:lnSpc>
              <a:spcBef>
                <a:spcPts val="1500"/>
              </a:spcBef>
              <a:spcAft>
                <a:spcPts val="0"/>
              </a:spcAft>
              <a:buSzPts val="2000"/>
              <a:buNone/>
            </a:pPr>
            <a:r>
              <a:rPr lang="en-US" sz="2000">
                <a:latin typeface="Courier New"/>
                <a:ea typeface="Courier New"/>
                <a:cs typeface="Courier New"/>
                <a:sym typeface="Courier New"/>
              </a:rPr>
              <a:t>objectRefVar.methodName(arguments) </a:t>
            </a:r>
            <a:r>
              <a:rPr lang="en-US" sz="2000"/>
              <a:t>(e.g., </a:t>
            </a:r>
            <a:r>
              <a:rPr lang="en-US" sz="2000">
                <a:latin typeface="Courier New"/>
                <a:ea typeface="Courier New"/>
                <a:cs typeface="Courier New"/>
                <a:sym typeface="Courier New"/>
              </a:rPr>
              <a:t>myCircle.getArea()</a:t>
            </a:r>
            <a:r>
              <a:rPr lang="en-US" sz="2000"/>
              <a:t>).</a:t>
            </a:r>
            <a:endParaRPr/>
          </a:p>
          <a:p>
            <a:pPr indent="0" lvl="0" marL="432" rtl="0" algn="l">
              <a:lnSpc>
                <a:spcPct val="100000"/>
              </a:lnSpc>
              <a:spcBef>
                <a:spcPts val="1500"/>
              </a:spcBef>
              <a:spcAft>
                <a:spcPts val="0"/>
              </a:spcAft>
              <a:buSzPts val="2000"/>
              <a:buNone/>
            </a:pPr>
            <a:r>
              <a:rPr lang="en-US" sz="2000"/>
              <a:t>More explanations will be given in the section on “Static Variables, Constants, and Methods.”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Reference Data Fields</a:t>
            </a:r>
            <a:endParaRPr/>
          </a:p>
        </p:txBody>
      </p:sp>
      <p:sp>
        <p:nvSpPr>
          <p:cNvPr id="354" name="Google Shape;354;p28"/>
          <p:cNvSpPr txBox="1"/>
          <p:nvPr>
            <p:ph idx="1" type="body"/>
          </p:nvPr>
        </p:nvSpPr>
        <p:spPr>
          <a:xfrm>
            <a:off x="457200" y="1556327"/>
            <a:ext cx="8229600" cy="1260000"/>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The data fields can be of reference types. For example, the following Student class contains a data field name of the String type.</a:t>
            </a:r>
            <a:endParaRPr/>
          </a:p>
        </p:txBody>
      </p:sp>
      <p:sp>
        <p:nvSpPr>
          <p:cNvPr id="355" name="Google Shape;355;p28"/>
          <p:cNvSpPr txBox="1"/>
          <p:nvPr>
            <p:ph idx="2" type="body"/>
          </p:nvPr>
        </p:nvSpPr>
        <p:spPr>
          <a:xfrm>
            <a:off x="470451" y="2917719"/>
            <a:ext cx="8342245" cy="3140181"/>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b="1" lang="en-US">
                <a:latin typeface="Courier New"/>
                <a:ea typeface="Courier New"/>
                <a:cs typeface="Courier New"/>
                <a:sym typeface="Courier New"/>
              </a:rPr>
              <a:t>public class Student {</a:t>
            </a:r>
            <a:endParaRPr/>
          </a:p>
          <a:p>
            <a:pPr indent="0" lvl="0" marL="180000" rtl="0" algn="l">
              <a:lnSpc>
                <a:spcPct val="100000"/>
              </a:lnSpc>
              <a:spcBef>
                <a:spcPts val="0"/>
              </a:spcBef>
              <a:spcAft>
                <a:spcPts val="0"/>
              </a:spcAft>
              <a:buSzPts val="2400"/>
              <a:buNone/>
            </a:pPr>
            <a:r>
              <a:rPr b="1" lang="en-US">
                <a:latin typeface="Courier New"/>
                <a:ea typeface="Courier New"/>
                <a:cs typeface="Courier New"/>
                <a:sym typeface="Courier New"/>
              </a:rPr>
              <a:t>String name; // name has default value null</a:t>
            </a:r>
            <a:endParaRPr/>
          </a:p>
          <a:p>
            <a:pPr indent="0" lvl="0" marL="180000" rtl="0" algn="l">
              <a:lnSpc>
                <a:spcPct val="100000"/>
              </a:lnSpc>
              <a:spcBef>
                <a:spcPts val="0"/>
              </a:spcBef>
              <a:spcAft>
                <a:spcPts val="0"/>
              </a:spcAft>
              <a:buSzPts val="2400"/>
              <a:buNone/>
            </a:pPr>
            <a:r>
              <a:rPr b="1" lang="en-US">
                <a:latin typeface="Courier New"/>
                <a:ea typeface="Courier New"/>
                <a:cs typeface="Courier New"/>
                <a:sym typeface="Courier New"/>
              </a:rPr>
              <a:t>int age; // age has default value 0</a:t>
            </a:r>
            <a:endParaRPr/>
          </a:p>
          <a:p>
            <a:pPr indent="0" lvl="0" marL="180000" rtl="0" algn="l">
              <a:lnSpc>
                <a:spcPct val="100000"/>
              </a:lnSpc>
              <a:spcBef>
                <a:spcPts val="0"/>
              </a:spcBef>
              <a:spcAft>
                <a:spcPts val="0"/>
              </a:spcAft>
              <a:buSzPts val="2400"/>
              <a:buNone/>
            </a:pPr>
            <a:r>
              <a:rPr b="1" lang="en-US">
                <a:latin typeface="Courier New"/>
                <a:ea typeface="Courier New"/>
                <a:cs typeface="Courier New"/>
                <a:sym typeface="Courier New"/>
              </a:rPr>
              <a:t>boolean isScienceMajor; // isScienceMajor has default value false</a:t>
            </a:r>
            <a:endParaRPr/>
          </a:p>
          <a:p>
            <a:pPr indent="0" lvl="0" marL="180000" rtl="0" algn="l">
              <a:lnSpc>
                <a:spcPct val="100000"/>
              </a:lnSpc>
              <a:spcBef>
                <a:spcPts val="0"/>
              </a:spcBef>
              <a:spcAft>
                <a:spcPts val="0"/>
              </a:spcAft>
              <a:buSzPts val="2400"/>
              <a:buNone/>
            </a:pPr>
            <a:r>
              <a:rPr b="1" lang="en-US">
                <a:latin typeface="Courier New"/>
                <a:ea typeface="Courier New"/>
                <a:cs typeface="Courier New"/>
                <a:sym typeface="Courier New"/>
              </a:rPr>
              <a:t>char gender; // c has default value '\u0000’</a:t>
            </a:r>
            <a:endParaRPr/>
          </a:p>
          <a:p>
            <a:pPr indent="0" lvl="0" marL="0" rtl="0" algn="l">
              <a:lnSpc>
                <a:spcPct val="100000"/>
              </a:lnSpc>
              <a:spcBef>
                <a:spcPts val="0"/>
              </a:spcBef>
              <a:spcAft>
                <a:spcPts val="0"/>
              </a:spcAft>
              <a:buSzPts val="2400"/>
              <a:buNone/>
            </a:pPr>
            <a:r>
              <a:rPr b="1" lang="en-US">
                <a:latin typeface="Courier New"/>
                <a:ea typeface="Courier New"/>
                <a:cs typeface="Courier New"/>
                <a:sym typeface="Courier New"/>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The Null Value</a:t>
            </a:r>
            <a:endParaRPr/>
          </a:p>
        </p:txBody>
      </p:sp>
      <p:sp>
        <p:nvSpPr>
          <p:cNvPr id="361" name="Google Shape;361;p29"/>
          <p:cNvSpPr txBox="1"/>
          <p:nvPr>
            <p:ph idx="1" type="body"/>
          </p:nvPr>
        </p:nvSpPr>
        <p:spPr>
          <a:xfrm>
            <a:off x="457201" y="1554921"/>
            <a:ext cx="8218488" cy="1097279"/>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If a data field of a reference type does not reference any object, the data field holds a special literal value, null.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Default Value for a Data Field</a:t>
            </a:r>
            <a:endParaRPr/>
          </a:p>
        </p:txBody>
      </p:sp>
      <p:sp>
        <p:nvSpPr>
          <p:cNvPr id="367" name="Google Shape;367;p30"/>
          <p:cNvSpPr txBox="1"/>
          <p:nvPr>
            <p:ph idx="1" type="body"/>
          </p:nvPr>
        </p:nvSpPr>
        <p:spPr>
          <a:xfrm>
            <a:off x="457200" y="1556327"/>
            <a:ext cx="8229600" cy="1391825"/>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000"/>
              <a:buNone/>
            </a:pPr>
            <a:r>
              <a:rPr lang="en-US" sz="2000"/>
              <a:t>The default value of a data field is null for a reference type, 0 for a numeric type, false for a boolean type, and </a:t>
            </a:r>
            <a:r>
              <a:rPr lang="en-US" sz="2000">
                <a:latin typeface="Courier New"/>
                <a:ea typeface="Courier New"/>
                <a:cs typeface="Courier New"/>
                <a:sym typeface="Courier New"/>
              </a:rPr>
              <a:t>'\u0000'</a:t>
            </a:r>
            <a:r>
              <a:rPr lang="en-US" sz="2000"/>
              <a:t> for a char type. However, Java assigns no default value to a local variable inside a method.</a:t>
            </a:r>
            <a:endParaRPr/>
          </a:p>
        </p:txBody>
      </p:sp>
      <p:sp>
        <p:nvSpPr>
          <p:cNvPr id="368" name="Google Shape;368;p30"/>
          <p:cNvSpPr txBox="1"/>
          <p:nvPr>
            <p:ph idx="2" type="body"/>
          </p:nvPr>
        </p:nvSpPr>
        <p:spPr>
          <a:xfrm>
            <a:off x="457200" y="3080819"/>
            <a:ext cx="8218488" cy="3193857"/>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000"/>
              <a:buNone/>
            </a:pPr>
            <a:r>
              <a:rPr b="1" lang="en-US" sz="2000">
                <a:latin typeface="Courier New"/>
                <a:ea typeface="Courier New"/>
                <a:cs typeface="Courier New"/>
                <a:sym typeface="Courier New"/>
              </a:rPr>
              <a:t>public class Test {</a:t>
            </a:r>
            <a:endParaRPr/>
          </a:p>
          <a:p>
            <a:pPr indent="0" lvl="0" marL="180000" rtl="0" algn="l">
              <a:lnSpc>
                <a:spcPct val="100000"/>
              </a:lnSpc>
              <a:spcBef>
                <a:spcPts val="0"/>
              </a:spcBef>
              <a:spcAft>
                <a:spcPts val="0"/>
              </a:spcAft>
              <a:buSzPts val="2000"/>
              <a:buNone/>
            </a:pPr>
            <a:r>
              <a:rPr b="1" lang="en-US" sz="2000">
                <a:latin typeface="Courier New"/>
                <a:ea typeface="Courier New"/>
                <a:cs typeface="Courier New"/>
                <a:sym typeface="Courier New"/>
              </a:rPr>
              <a:t>public static void main(String[] args) {</a:t>
            </a:r>
            <a:endParaRPr/>
          </a:p>
          <a:p>
            <a:pPr indent="0" lvl="0" marL="360000" rtl="0" algn="l">
              <a:lnSpc>
                <a:spcPct val="100000"/>
              </a:lnSpc>
              <a:spcBef>
                <a:spcPts val="0"/>
              </a:spcBef>
              <a:spcAft>
                <a:spcPts val="0"/>
              </a:spcAft>
              <a:buSzPts val="2000"/>
              <a:buNone/>
            </a:pPr>
            <a:r>
              <a:rPr b="1" lang="en-US" sz="2000">
                <a:latin typeface="Courier New"/>
                <a:ea typeface="Courier New"/>
                <a:cs typeface="Courier New"/>
                <a:sym typeface="Courier New"/>
              </a:rPr>
              <a:t>Student student = new Student();</a:t>
            </a:r>
            <a:endParaRPr/>
          </a:p>
          <a:p>
            <a:pPr indent="0" lvl="0" marL="360000" rtl="0" algn="l">
              <a:lnSpc>
                <a:spcPct val="100000"/>
              </a:lnSpc>
              <a:spcBef>
                <a:spcPts val="0"/>
              </a:spcBef>
              <a:spcAft>
                <a:spcPts val="0"/>
              </a:spcAft>
              <a:buSzPts val="2000"/>
              <a:buNone/>
            </a:pPr>
            <a:r>
              <a:rPr b="1" lang="en-US" sz="2000">
                <a:latin typeface="Courier New"/>
                <a:ea typeface="Courier New"/>
                <a:cs typeface="Courier New"/>
                <a:sym typeface="Courier New"/>
              </a:rPr>
              <a:t>System.out.println("name? " + student.name);</a:t>
            </a:r>
            <a:endParaRPr/>
          </a:p>
          <a:p>
            <a:pPr indent="0" lvl="0" marL="360000" rtl="0" algn="l">
              <a:lnSpc>
                <a:spcPct val="100000"/>
              </a:lnSpc>
              <a:spcBef>
                <a:spcPts val="0"/>
              </a:spcBef>
              <a:spcAft>
                <a:spcPts val="0"/>
              </a:spcAft>
              <a:buSzPts val="2000"/>
              <a:buNone/>
            </a:pPr>
            <a:r>
              <a:rPr b="1" lang="en-US" sz="2000">
                <a:latin typeface="Courier New"/>
                <a:ea typeface="Courier New"/>
                <a:cs typeface="Courier New"/>
                <a:sym typeface="Courier New"/>
              </a:rPr>
              <a:t>System.out.println("age? " + student.age);</a:t>
            </a:r>
            <a:endParaRPr/>
          </a:p>
          <a:p>
            <a:pPr indent="0" lvl="0" marL="360000" rtl="0" algn="l">
              <a:lnSpc>
                <a:spcPct val="100000"/>
              </a:lnSpc>
              <a:spcBef>
                <a:spcPts val="0"/>
              </a:spcBef>
              <a:spcAft>
                <a:spcPts val="0"/>
              </a:spcAft>
              <a:buSzPts val="2000"/>
              <a:buNone/>
            </a:pPr>
            <a:r>
              <a:rPr b="1" lang="en-US" sz="2000">
                <a:latin typeface="Courier New"/>
                <a:ea typeface="Courier New"/>
                <a:cs typeface="Courier New"/>
                <a:sym typeface="Courier New"/>
              </a:rPr>
              <a:t>System.out.println("isScienceMajor? " + student.isScienceMajor);</a:t>
            </a:r>
            <a:endParaRPr/>
          </a:p>
          <a:p>
            <a:pPr indent="0" lvl="0" marL="360000" rtl="0" algn="l">
              <a:lnSpc>
                <a:spcPct val="100000"/>
              </a:lnSpc>
              <a:spcBef>
                <a:spcPts val="0"/>
              </a:spcBef>
              <a:spcAft>
                <a:spcPts val="0"/>
              </a:spcAft>
              <a:buSzPts val="2000"/>
              <a:buNone/>
            </a:pPr>
            <a:r>
              <a:rPr b="1" lang="en-US" sz="2000">
                <a:latin typeface="Courier New"/>
                <a:ea typeface="Courier New"/>
                <a:cs typeface="Courier New"/>
                <a:sym typeface="Courier New"/>
              </a:rPr>
              <a:t>System.out.println("gender? " + student.gender);</a:t>
            </a:r>
            <a:endParaRPr/>
          </a:p>
          <a:p>
            <a:pPr indent="0" lvl="0" marL="180000" rtl="0" algn="l">
              <a:lnSpc>
                <a:spcPct val="100000"/>
              </a:lnSpc>
              <a:spcBef>
                <a:spcPts val="0"/>
              </a:spcBef>
              <a:spcAft>
                <a:spcPts val="0"/>
              </a:spcAft>
              <a:buSzPts val="2000"/>
              <a:buNone/>
            </a:pPr>
            <a:r>
              <a:rPr b="1" lang="en-US" sz="2000">
                <a:latin typeface="Courier New"/>
                <a:ea typeface="Courier New"/>
                <a:cs typeface="Courier New"/>
                <a:sym typeface="Courier New"/>
              </a:rPr>
              <a:t>}</a:t>
            </a:r>
            <a:endParaRPr/>
          </a:p>
          <a:p>
            <a:pPr indent="0" lvl="0" marL="432" rtl="0" algn="l">
              <a:lnSpc>
                <a:spcPct val="100000"/>
              </a:lnSpc>
              <a:spcBef>
                <a:spcPts val="0"/>
              </a:spcBef>
              <a:spcAft>
                <a:spcPts val="0"/>
              </a:spcAft>
              <a:buSzPts val="2000"/>
              <a:buNone/>
            </a:pPr>
            <a:r>
              <a:rPr b="1" lang="en-US" sz="2000">
                <a:latin typeface="Courier New"/>
                <a:ea typeface="Courier New"/>
                <a:cs typeface="Courier New"/>
                <a:sym typeface="Courier New"/>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1"/>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Example </a:t>
            </a:r>
            <a:r>
              <a:rPr b="0" lang="en-US" sz="2000"/>
              <a:t>(1 of 3)</a:t>
            </a:r>
            <a:endParaRPr/>
          </a:p>
        </p:txBody>
      </p:sp>
      <p:sp>
        <p:nvSpPr>
          <p:cNvPr id="375" name="Google Shape;375;p31"/>
          <p:cNvSpPr txBox="1"/>
          <p:nvPr>
            <p:ph idx="1" type="body"/>
          </p:nvPr>
        </p:nvSpPr>
        <p:spPr>
          <a:xfrm>
            <a:off x="457200" y="1556327"/>
            <a:ext cx="8229600" cy="864000"/>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Java assigns no default value to a local variable inside a method.</a:t>
            </a:r>
            <a:endParaRPr/>
          </a:p>
        </p:txBody>
      </p:sp>
      <p:pic>
        <p:nvPicPr>
          <p:cNvPr descr="A text box shows the example of no default value. For long description in Notes pane, press F6." id="376" name="Google Shape;376;p31"/>
          <p:cNvPicPr preferRelativeResize="0"/>
          <p:nvPr/>
        </p:nvPicPr>
        <p:blipFill rotWithShape="1">
          <a:blip r:embed="rId3">
            <a:alphaModFix/>
          </a:blip>
          <a:srcRect b="0" l="0" r="0" t="0"/>
          <a:stretch/>
        </p:blipFill>
        <p:spPr>
          <a:xfrm>
            <a:off x="656555" y="2581925"/>
            <a:ext cx="7830890" cy="360245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2"/>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000"/>
              <a:buFont typeface="Times New Roman"/>
              <a:buNone/>
            </a:pPr>
            <a:r>
              <a:rPr lang="en-US" sz="3000"/>
              <a:t>Differences Between Variables of Primitive Data Types and Object Types</a:t>
            </a:r>
            <a:endParaRPr/>
          </a:p>
        </p:txBody>
      </p:sp>
      <p:pic>
        <p:nvPicPr>
          <p:cNvPr descr="Primitive type, int i = 1, i, 1. Object type, Circle c, c, reference. An arrow from reference points to c, circle, radius = 1. c, circle, radius = 1 is labeled, created using new Circle left parenthesis right parenthesis." id="382" name="Google Shape;382;p32"/>
          <p:cNvPicPr preferRelativeResize="0"/>
          <p:nvPr/>
        </p:nvPicPr>
        <p:blipFill rotWithShape="1">
          <a:blip r:embed="rId3">
            <a:alphaModFix/>
          </a:blip>
          <a:srcRect b="0" l="0" r="0" t="0"/>
          <a:stretch/>
        </p:blipFill>
        <p:spPr>
          <a:xfrm>
            <a:off x="507822" y="2420961"/>
            <a:ext cx="8154861" cy="201607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3"/>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200"/>
              <a:buFont typeface="Times New Roman"/>
              <a:buNone/>
            </a:pPr>
            <a:r>
              <a:rPr lang="en-US" sz="3200"/>
              <a:t>Copying Variables of Primitive Data Types and Object Types</a:t>
            </a:r>
            <a:endParaRPr/>
          </a:p>
        </p:txBody>
      </p:sp>
      <p:pic>
        <p:nvPicPr>
          <p:cNvPr descr="Primitive type assignment i = j.&#10;Before, i = 1, j = 2. After i = 2, j = 2." id="388" name="Google Shape;388;p33"/>
          <p:cNvPicPr preferRelativeResize="0"/>
          <p:nvPr/>
        </p:nvPicPr>
        <p:blipFill rotWithShape="1">
          <a:blip r:embed="rId3">
            <a:alphaModFix/>
          </a:blip>
          <a:srcRect b="0" l="0" r="0" t="0"/>
          <a:stretch/>
        </p:blipFill>
        <p:spPr>
          <a:xfrm>
            <a:off x="557622" y="1601567"/>
            <a:ext cx="3761558" cy="2091109"/>
          </a:xfrm>
          <a:prstGeom prst="rect">
            <a:avLst/>
          </a:prstGeom>
          <a:noFill/>
          <a:ln>
            <a:noFill/>
          </a:ln>
        </p:spPr>
      </p:pic>
      <p:pic>
        <p:nvPicPr>
          <p:cNvPr descr="Object type assignment c1 = c2.&#10;Before, C1, C1. Circle, radius = 5. C2, C2. Circle, radius = 9.&#10;After, C1, C1. Circle, radius = 5. C2, C2. Circle, radius = 9. The c1 is crossed out." id="389" name="Google Shape;389;p33"/>
          <p:cNvPicPr preferRelativeResize="0"/>
          <p:nvPr/>
        </p:nvPicPr>
        <p:blipFill rotWithShape="1">
          <a:blip r:embed="rId4">
            <a:alphaModFix/>
          </a:blip>
          <a:srcRect b="0" l="0" r="0" t="0"/>
          <a:stretch/>
        </p:blipFill>
        <p:spPr>
          <a:xfrm>
            <a:off x="4244747" y="3939242"/>
            <a:ext cx="4365114" cy="221304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Garbage Collection </a:t>
            </a:r>
            <a:r>
              <a:rPr b="0" lang="en-US" sz="2000"/>
              <a:t>(1 of 2)</a:t>
            </a:r>
            <a:endParaRPr b="0"/>
          </a:p>
        </p:txBody>
      </p:sp>
      <p:sp>
        <p:nvSpPr>
          <p:cNvPr id="395" name="Google Shape;395;p34"/>
          <p:cNvSpPr txBox="1"/>
          <p:nvPr>
            <p:ph idx="1" type="body"/>
          </p:nvPr>
        </p:nvSpPr>
        <p:spPr>
          <a:xfrm>
            <a:off x="457201" y="1554921"/>
            <a:ext cx="8218488" cy="2394228"/>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As shown in the previous figure, after the assignment statement c1 = c2, c1 points to the same object referenced by c2. The object previously referenced by c1 is no longer referenced. This object is known as garbage. Garbage is automatically collected by J</a:t>
            </a:r>
            <a:r>
              <a:rPr lang="en-US" sz="100"/>
              <a:t> </a:t>
            </a:r>
            <a:r>
              <a:rPr lang="en-US"/>
              <a:t>V</a:t>
            </a:r>
            <a:r>
              <a:rPr lang="en-US" sz="100"/>
              <a:t> </a:t>
            </a:r>
            <a:r>
              <a:rPr lang="en-US"/>
              <a:t>M.</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Garbage Collection </a:t>
            </a:r>
            <a:r>
              <a:rPr b="0" lang="en-US" sz="2000"/>
              <a:t>(2 of 2)</a:t>
            </a:r>
            <a:endParaRPr b="0"/>
          </a:p>
        </p:txBody>
      </p:sp>
      <p:sp>
        <p:nvSpPr>
          <p:cNvPr id="401" name="Google Shape;401;p35"/>
          <p:cNvSpPr txBox="1"/>
          <p:nvPr>
            <p:ph idx="1" type="body"/>
          </p:nvPr>
        </p:nvSpPr>
        <p:spPr>
          <a:xfrm>
            <a:off x="457201" y="1554921"/>
            <a:ext cx="8218488" cy="1908000"/>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b="1" lang="en-US"/>
              <a:t>Tip</a:t>
            </a:r>
            <a:r>
              <a:rPr lang="en-US"/>
              <a:t>: If you know that an object is no longer needed, you can explicitly assign null to a reference variable for the object. The J</a:t>
            </a:r>
            <a:r>
              <a:rPr lang="en-US" sz="100"/>
              <a:t> </a:t>
            </a:r>
            <a:r>
              <a:rPr lang="en-US"/>
              <a:t>V</a:t>
            </a:r>
            <a:r>
              <a:rPr lang="en-US" sz="100"/>
              <a:t> </a:t>
            </a:r>
            <a:r>
              <a:rPr lang="en-US"/>
              <a:t>M will automatically collect the space if the object is not referenced by any variable.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The </a:t>
            </a:r>
            <a:r>
              <a:rPr lang="en-US">
                <a:latin typeface="Courier New"/>
                <a:ea typeface="Courier New"/>
                <a:cs typeface="Courier New"/>
                <a:sym typeface="Courier New"/>
              </a:rPr>
              <a:t>Date</a:t>
            </a:r>
            <a:r>
              <a:rPr lang="en-US"/>
              <a:t> Class</a:t>
            </a:r>
            <a:endParaRPr/>
          </a:p>
        </p:txBody>
      </p:sp>
      <p:sp>
        <p:nvSpPr>
          <p:cNvPr id="408" name="Google Shape;408;p36"/>
          <p:cNvSpPr txBox="1"/>
          <p:nvPr>
            <p:ph idx="1" type="body"/>
          </p:nvPr>
        </p:nvSpPr>
        <p:spPr>
          <a:xfrm>
            <a:off x="457200" y="1556327"/>
            <a:ext cx="8218488" cy="2038211"/>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Java provides a system-independent encapsulation of date and time in the </a:t>
            </a:r>
            <a:r>
              <a:rPr b="1" lang="en-US">
                <a:latin typeface="Courier New"/>
                <a:ea typeface="Courier New"/>
                <a:cs typeface="Courier New"/>
                <a:sym typeface="Courier New"/>
              </a:rPr>
              <a:t>java.util.Date class</a:t>
            </a:r>
            <a:r>
              <a:rPr lang="en-US"/>
              <a:t>. You can use the </a:t>
            </a:r>
            <a:r>
              <a:rPr b="1" lang="en-US">
                <a:latin typeface="Courier New"/>
                <a:ea typeface="Courier New"/>
                <a:cs typeface="Courier New"/>
                <a:sym typeface="Courier New"/>
              </a:rPr>
              <a:t>Date</a:t>
            </a:r>
            <a:r>
              <a:rPr lang="en-US"/>
              <a:t> class to create an instance for the current date and time and use its </a:t>
            </a:r>
            <a:r>
              <a:rPr b="1" lang="en-US">
                <a:latin typeface="Courier New"/>
                <a:ea typeface="Courier New"/>
                <a:cs typeface="Courier New"/>
                <a:sym typeface="Courier New"/>
              </a:rPr>
              <a:t>toString</a:t>
            </a:r>
            <a:r>
              <a:rPr lang="en-US"/>
              <a:t> method to return the date and time as a string.</a:t>
            </a:r>
            <a:endParaRPr/>
          </a:p>
        </p:txBody>
      </p:sp>
      <p:pic>
        <p:nvPicPr>
          <p:cNvPr descr="A text box shows The Date Class and box is divided in 2 rows. For long description in Notes pane, press F6." id="409" name="Google Shape;409;p36"/>
          <p:cNvPicPr preferRelativeResize="0"/>
          <p:nvPr/>
        </p:nvPicPr>
        <p:blipFill rotWithShape="1">
          <a:blip r:embed="rId3">
            <a:alphaModFix/>
          </a:blip>
          <a:srcRect b="0" l="0" r="0" t="0"/>
          <a:stretch/>
        </p:blipFill>
        <p:spPr>
          <a:xfrm>
            <a:off x="514760" y="3819975"/>
            <a:ext cx="8114479" cy="221304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7"/>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The </a:t>
            </a:r>
            <a:r>
              <a:rPr lang="en-US">
                <a:latin typeface="Courier New"/>
                <a:ea typeface="Courier New"/>
                <a:cs typeface="Courier New"/>
                <a:sym typeface="Courier New"/>
              </a:rPr>
              <a:t>Date</a:t>
            </a:r>
            <a:r>
              <a:rPr lang="en-US"/>
              <a:t> Class Example</a:t>
            </a:r>
            <a:endParaRPr/>
          </a:p>
        </p:txBody>
      </p:sp>
      <p:sp>
        <p:nvSpPr>
          <p:cNvPr id="415" name="Google Shape;415;p37"/>
          <p:cNvSpPr txBox="1"/>
          <p:nvPr>
            <p:ph idx="1" type="body"/>
          </p:nvPr>
        </p:nvSpPr>
        <p:spPr>
          <a:xfrm>
            <a:off x="457200" y="1556327"/>
            <a:ext cx="8424000" cy="1722901"/>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For example, the following code</a:t>
            </a:r>
            <a:endParaRPr/>
          </a:p>
          <a:p>
            <a:pPr indent="0" lvl="0" marL="255600" rtl="0" algn="l">
              <a:lnSpc>
                <a:spcPct val="100000"/>
              </a:lnSpc>
              <a:spcBef>
                <a:spcPts val="1500"/>
              </a:spcBef>
              <a:spcAft>
                <a:spcPts val="0"/>
              </a:spcAft>
              <a:buSzPts val="2400"/>
              <a:buNone/>
            </a:pPr>
            <a:r>
              <a:rPr lang="en-US">
                <a:latin typeface="Courier New"/>
                <a:ea typeface="Courier New"/>
                <a:cs typeface="Courier New"/>
                <a:sym typeface="Courier New"/>
              </a:rPr>
              <a:t>java.util.Date date = new java.util.Date();</a:t>
            </a:r>
            <a:endParaRPr/>
          </a:p>
          <a:p>
            <a:pPr indent="0" lvl="0" marL="255600" rtl="0" algn="l">
              <a:lnSpc>
                <a:spcPct val="100000"/>
              </a:lnSpc>
              <a:spcBef>
                <a:spcPts val="1500"/>
              </a:spcBef>
              <a:spcAft>
                <a:spcPts val="0"/>
              </a:spcAft>
              <a:buSzPts val="2400"/>
              <a:buNone/>
            </a:pPr>
            <a:r>
              <a:rPr lang="en-US">
                <a:latin typeface="Courier New"/>
                <a:ea typeface="Courier New"/>
                <a:cs typeface="Courier New"/>
                <a:sym typeface="Courier New"/>
              </a:rPr>
              <a:t>System.out.println(date.toString());</a:t>
            </a:r>
            <a:endParaRPr/>
          </a:p>
        </p:txBody>
      </p:sp>
      <p:sp>
        <p:nvSpPr>
          <p:cNvPr id="416" name="Google Shape;416;p37"/>
          <p:cNvSpPr txBox="1"/>
          <p:nvPr>
            <p:ph idx="2" type="body"/>
          </p:nvPr>
        </p:nvSpPr>
        <p:spPr>
          <a:xfrm>
            <a:off x="470451" y="3522905"/>
            <a:ext cx="8218489" cy="598521"/>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displays a string like </a:t>
            </a:r>
            <a:r>
              <a:rPr b="1" lang="en-US">
                <a:latin typeface="Courier New"/>
                <a:ea typeface="Courier New"/>
                <a:cs typeface="Courier New"/>
                <a:sym typeface="Courier New"/>
              </a:rPr>
              <a:t>Sun Mar 09 13:50:19 EST 2003</a:t>
            </a:r>
            <a:r>
              <a:rPr lang="en-US"/>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The </a:t>
            </a:r>
            <a:r>
              <a:rPr lang="en-US">
                <a:latin typeface="Courier New"/>
                <a:ea typeface="Courier New"/>
                <a:cs typeface="Courier New"/>
                <a:sym typeface="Courier New"/>
              </a:rPr>
              <a:t>Random</a:t>
            </a:r>
            <a:r>
              <a:rPr lang="en-US"/>
              <a:t> Class</a:t>
            </a:r>
            <a:endParaRPr/>
          </a:p>
        </p:txBody>
      </p:sp>
      <p:sp>
        <p:nvSpPr>
          <p:cNvPr id="423" name="Google Shape;423;p38"/>
          <p:cNvSpPr txBox="1"/>
          <p:nvPr>
            <p:ph idx="1" type="body"/>
          </p:nvPr>
        </p:nvSpPr>
        <p:spPr>
          <a:xfrm>
            <a:off x="457200" y="1556327"/>
            <a:ext cx="8229600" cy="1707135"/>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You have used </a:t>
            </a:r>
            <a:r>
              <a:rPr b="1" lang="en-US">
                <a:latin typeface="Courier New"/>
                <a:ea typeface="Courier New"/>
                <a:cs typeface="Courier New"/>
                <a:sym typeface="Courier New"/>
              </a:rPr>
              <a:t>Math.random()</a:t>
            </a:r>
            <a:r>
              <a:rPr lang="en-US"/>
              <a:t> to obtain a random double value between 0.0 and 1.0 (excluding 1.0). A more useful random number generator is provided in the </a:t>
            </a:r>
            <a:r>
              <a:rPr b="1" lang="en-US">
                <a:latin typeface="Courier New"/>
                <a:ea typeface="Courier New"/>
                <a:cs typeface="Courier New"/>
                <a:sym typeface="Courier New"/>
              </a:rPr>
              <a:t>java.util.Random</a:t>
            </a:r>
            <a:r>
              <a:rPr lang="en-US"/>
              <a:t> class.</a:t>
            </a:r>
            <a:endParaRPr/>
          </a:p>
        </p:txBody>
      </p:sp>
      <p:pic>
        <p:nvPicPr>
          <p:cNvPr descr="java dot util dot Random + Random left parenthesis right parenthesis. For long description in Notes pane, press F6." id="424" name="Google Shape;424;p38"/>
          <p:cNvPicPr preferRelativeResize="0"/>
          <p:nvPr/>
        </p:nvPicPr>
        <p:blipFill rotWithShape="1">
          <a:blip r:embed="rId3">
            <a:alphaModFix/>
          </a:blip>
          <a:srcRect b="0" l="0" r="0" t="0"/>
          <a:stretch/>
        </p:blipFill>
        <p:spPr>
          <a:xfrm>
            <a:off x="664464" y="3431054"/>
            <a:ext cx="7815072" cy="286512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The </a:t>
            </a:r>
            <a:r>
              <a:rPr lang="en-US">
                <a:latin typeface="Courier New"/>
                <a:ea typeface="Courier New"/>
                <a:cs typeface="Courier New"/>
                <a:sym typeface="Courier New"/>
              </a:rPr>
              <a:t>Random</a:t>
            </a:r>
            <a:r>
              <a:rPr lang="en-US"/>
              <a:t> Class Example</a:t>
            </a:r>
            <a:endParaRPr/>
          </a:p>
        </p:txBody>
      </p:sp>
      <p:sp>
        <p:nvSpPr>
          <p:cNvPr id="430" name="Google Shape;430;p39"/>
          <p:cNvSpPr txBox="1"/>
          <p:nvPr>
            <p:ph idx="1" type="body"/>
          </p:nvPr>
        </p:nvSpPr>
        <p:spPr>
          <a:xfrm>
            <a:off x="457200" y="1552574"/>
            <a:ext cx="8218488" cy="1044000"/>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000"/>
              <a:buNone/>
            </a:pPr>
            <a:r>
              <a:rPr lang="en-US" sz="2000"/>
              <a:t>If two </a:t>
            </a:r>
            <a:r>
              <a:rPr b="1" lang="en-US" sz="2000">
                <a:latin typeface="Courier New"/>
                <a:ea typeface="Courier New"/>
                <a:cs typeface="Courier New"/>
                <a:sym typeface="Courier New"/>
              </a:rPr>
              <a:t>Random</a:t>
            </a:r>
            <a:r>
              <a:rPr lang="en-US" sz="2000"/>
              <a:t> objects have the same seed, they will generate identical sequences of numbers. For example, the following code creates two </a:t>
            </a:r>
            <a:r>
              <a:rPr b="1" lang="en-US" sz="2000">
                <a:latin typeface="Courier New"/>
                <a:ea typeface="Courier New"/>
                <a:cs typeface="Courier New"/>
                <a:sym typeface="Courier New"/>
              </a:rPr>
              <a:t>Random</a:t>
            </a:r>
            <a:r>
              <a:rPr lang="en-US" sz="2000"/>
              <a:t> objects with the same seed 3.</a:t>
            </a:r>
            <a:endParaRPr/>
          </a:p>
        </p:txBody>
      </p:sp>
      <p:sp>
        <p:nvSpPr>
          <p:cNvPr id="431" name="Google Shape;431;p39"/>
          <p:cNvSpPr txBox="1"/>
          <p:nvPr>
            <p:ph idx="2" type="body"/>
          </p:nvPr>
        </p:nvSpPr>
        <p:spPr>
          <a:xfrm>
            <a:off x="470451" y="2747411"/>
            <a:ext cx="8205237" cy="2520000"/>
          </a:xfrm>
          <a:prstGeom prst="rect">
            <a:avLst/>
          </a:prstGeom>
          <a:noFill/>
          <a:ln>
            <a:noFill/>
          </a:ln>
        </p:spPr>
        <p:txBody>
          <a:bodyPr anchorCtr="0" anchor="t" bIns="91425" lIns="91425" spcFirstLastPara="1" rIns="91425" wrap="square" tIns="0">
            <a:noAutofit/>
          </a:bodyPr>
          <a:lstStyle/>
          <a:p>
            <a:pPr indent="0" lvl="0" marL="432" rtl="0" algn="l">
              <a:lnSpc>
                <a:spcPct val="100000"/>
              </a:lnSpc>
              <a:spcBef>
                <a:spcPts val="0"/>
              </a:spcBef>
              <a:spcAft>
                <a:spcPts val="0"/>
              </a:spcAft>
              <a:buSzPts val="2000"/>
              <a:buNone/>
            </a:pPr>
            <a:r>
              <a:rPr b="1" lang="en-US" sz="2000">
                <a:latin typeface="Courier New"/>
                <a:ea typeface="Courier New"/>
                <a:cs typeface="Courier New"/>
                <a:sym typeface="Courier New"/>
              </a:rPr>
              <a:t>Random random1 = new Random(3);</a:t>
            </a:r>
            <a:endParaRPr/>
          </a:p>
          <a:p>
            <a:pPr indent="0" lvl="0" marL="432" rtl="0" algn="l">
              <a:lnSpc>
                <a:spcPct val="100000"/>
              </a:lnSpc>
              <a:spcBef>
                <a:spcPts val="0"/>
              </a:spcBef>
              <a:spcAft>
                <a:spcPts val="0"/>
              </a:spcAft>
              <a:buSzPts val="2000"/>
              <a:buNone/>
            </a:pPr>
            <a:r>
              <a:rPr b="1" lang="en-US" sz="2000">
                <a:latin typeface="Courier New"/>
                <a:ea typeface="Courier New"/>
                <a:cs typeface="Courier New"/>
                <a:sym typeface="Courier New"/>
              </a:rPr>
              <a:t>System.out.print("From random1: ");</a:t>
            </a:r>
            <a:endParaRPr/>
          </a:p>
          <a:p>
            <a:pPr indent="0" lvl="0" marL="432" rtl="0" algn="l">
              <a:lnSpc>
                <a:spcPct val="100000"/>
              </a:lnSpc>
              <a:spcBef>
                <a:spcPts val="0"/>
              </a:spcBef>
              <a:spcAft>
                <a:spcPts val="0"/>
              </a:spcAft>
              <a:buSzPts val="2000"/>
              <a:buNone/>
            </a:pPr>
            <a:r>
              <a:rPr b="1" lang="en-US" sz="2000">
                <a:latin typeface="Courier New"/>
                <a:ea typeface="Courier New"/>
                <a:cs typeface="Courier New"/>
                <a:sym typeface="Courier New"/>
              </a:rPr>
              <a:t>for (int i = 0; i &lt; 10; i++)</a:t>
            </a:r>
            <a:endParaRPr/>
          </a:p>
          <a:p>
            <a:pPr indent="0" lvl="0" marL="180000" rtl="0" algn="l">
              <a:lnSpc>
                <a:spcPct val="100000"/>
              </a:lnSpc>
              <a:spcBef>
                <a:spcPts val="0"/>
              </a:spcBef>
              <a:spcAft>
                <a:spcPts val="0"/>
              </a:spcAft>
              <a:buSzPts val="2000"/>
              <a:buNone/>
            </a:pPr>
            <a:r>
              <a:rPr b="1" lang="en-US" sz="2000">
                <a:latin typeface="Courier New"/>
                <a:ea typeface="Courier New"/>
                <a:cs typeface="Courier New"/>
                <a:sym typeface="Courier New"/>
              </a:rPr>
              <a:t>System.out.print(random1.nextInt(1000) + " ");</a:t>
            </a:r>
            <a:endParaRPr/>
          </a:p>
          <a:p>
            <a:pPr indent="0" lvl="0" marL="432" rtl="0" algn="l">
              <a:lnSpc>
                <a:spcPct val="100000"/>
              </a:lnSpc>
              <a:spcBef>
                <a:spcPts val="0"/>
              </a:spcBef>
              <a:spcAft>
                <a:spcPts val="0"/>
              </a:spcAft>
              <a:buSzPts val="2000"/>
              <a:buNone/>
            </a:pPr>
            <a:r>
              <a:rPr b="1" lang="en-US" sz="2000">
                <a:latin typeface="Courier New"/>
                <a:ea typeface="Courier New"/>
                <a:cs typeface="Courier New"/>
                <a:sym typeface="Courier New"/>
              </a:rPr>
              <a:t>Random random2 = new Random(3);</a:t>
            </a:r>
            <a:endParaRPr/>
          </a:p>
          <a:p>
            <a:pPr indent="0" lvl="0" marL="432" rtl="0" algn="l">
              <a:lnSpc>
                <a:spcPct val="100000"/>
              </a:lnSpc>
              <a:spcBef>
                <a:spcPts val="0"/>
              </a:spcBef>
              <a:spcAft>
                <a:spcPts val="0"/>
              </a:spcAft>
              <a:buSzPts val="2000"/>
              <a:buNone/>
            </a:pPr>
            <a:r>
              <a:rPr b="1" lang="en-US" sz="2000">
                <a:latin typeface="Courier New"/>
                <a:ea typeface="Courier New"/>
                <a:cs typeface="Courier New"/>
                <a:sym typeface="Courier New"/>
              </a:rPr>
              <a:t>System.out.print("\nFrom random2: ");</a:t>
            </a:r>
            <a:endParaRPr/>
          </a:p>
          <a:p>
            <a:pPr indent="0" lvl="0" marL="432" rtl="0" algn="l">
              <a:lnSpc>
                <a:spcPct val="100000"/>
              </a:lnSpc>
              <a:spcBef>
                <a:spcPts val="0"/>
              </a:spcBef>
              <a:spcAft>
                <a:spcPts val="0"/>
              </a:spcAft>
              <a:buSzPts val="2000"/>
              <a:buNone/>
            </a:pPr>
            <a:r>
              <a:rPr b="1" lang="en-US" sz="2000">
                <a:latin typeface="Courier New"/>
                <a:ea typeface="Courier New"/>
                <a:cs typeface="Courier New"/>
                <a:sym typeface="Courier New"/>
              </a:rPr>
              <a:t>for (int i = 0; i &lt; 10; i++)</a:t>
            </a:r>
            <a:endParaRPr/>
          </a:p>
          <a:p>
            <a:pPr indent="0" lvl="0" marL="180000" rtl="0" algn="l">
              <a:lnSpc>
                <a:spcPct val="100000"/>
              </a:lnSpc>
              <a:spcBef>
                <a:spcPts val="0"/>
              </a:spcBef>
              <a:spcAft>
                <a:spcPts val="0"/>
              </a:spcAft>
              <a:buSzPts val="2000"/>
              <a:buNone/>
            </a:pPr>
            <a:r>
              <a:rPr b="1" lang="en-US" sz="2000">
                <a:latin typeface="Courier New"/>
                <a:ea typeface="Courier New"/>
                <a:cs typeface="Courier New"/>
                <a:sym typeface="Courier New"/>
              </a:rPr>
              <a:t>System.out.print(random2.nextInt(1000) + " ");</a:t>
            </a:r>
            <a:endParaRPr/>
          </a:p>
        </p:txBody>
      </p:sp>
      <p:sp>
        <p:nvSpPr>
          <p:cNvPr id="432" name="Google Shape;432;p39"/>
          <p:cNvSpPr txBox="1"/>
          <p:nvPr>
            <p:ph idx="3" type="body"/>
          </p:nvPr>
        </p:nvSpPr>
        <p:spPr>
          <a:xfrm>
            <a:off x="457200" y="5364157"/>
            <a:ext cx="8229600" cy="961570"/>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000"/>
              <a:buNone/>
            </a:pPr>
            <a:r>
              <a:rPr lang="en-US" sz="2000"/>
              <a:t>From random1: 734 660 210 581 128 202 549 564 459 961</a:t>
            </a:r>
            <a:endParaRPr/>
          </a:p>
          <a:p>
            <a:pPr indent="0" lvl="0" marL="432" rtl="0" algn="l">
              <a:lnSpc>
                <a:spcPct val="100000"/>
              </a:lnSpc>
              <a:spcBef>
                <a:spcPts val="1500"/>
              </a:spcBef>
              <a:spcAft>
                <a:spcPts val="0"/>
              </a:spcAft>
              <a:buSzPts val="2000"/>
              <a:buNone/>
            </a:pPr>
            <a:r>
              <a:rPr lang="en-US" sz="2000"/>
              <a:t>From random2: 734 660 210 581 128 202 549 564 459 961</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The </a:t>
            </a:r>
            <a:r>
              <a:rPr lang="en-US">
                <a:latin typeface="Courier New"/>
                <a:ea typeface="Courier New"/>
                <a:cs typeface="Courier New"/>
                <a:sym typeface="Courier New"/>
              </a:rPr>
              <a:t>Point2D</a:t>
            </a:r>
            <a:r>
              <a:rPr lang="en-US"/>
              <a:t> Class</a:t>
            </a:r>
            <a:endParaRPr/>
          </a:p>
        </p:txBody>
      </p:sp>
      <p:sp>
        <p:nvSpPr>
          <p:cNvPr id="439" name="Google Shape;439;p40"/>
          <p:cNvSpPr txBox="1"/>
          <p:nvPr>
            <p:ph idx="1" type="body"/>
          </p:nvPr>
        </p:nvSpPr>
        <p:spPr>
          <a:xfrm>
            <a:off x="457200" y="1552575"/>
            <a:ext cx="8218488" cy="1288081"/>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Java A</a:t>
            </a:r>
            <a:r>
              <a:rPr lang="en-US" sz="100"/>
              <a:t> </a:t>
            </a:r>
            <a:r>
              <a:rPr lang="en-US"/>
              <a:t>P</a:t>
            </a:r>
            <a:r>
              <a:rPr lang="en-US" sz="100"/>
              <a:t> </a:t>
            </a:r>
            <a:r>
              <a:rPr lang="en-US"/>
              <a:t>I has a conveninent </a:t>
            </a:r>
            <a:r>
              <a:rPr b="1" lang="en-US">
                <a:latin typeface="Courier New"/>
                <a:ea typeface="Courier New"/>
                <a:cs typeface="Courier New"/>
                <a:sym typeface="Courier New"/>
              </a:rPr>
              <a:t>Point2D</a:t>
            </a:r>
            <a:r>
              <a:rPr lang="en-US"/>
              <a:t> class in the </a:t>
            </a:r>
            <a:r>
              <a:rPr b="1" lang="en-US">
                <a:latin typeface="Courier New"/>
                <a:ea typeface="Courier New"/>
                <a:cs typeface="Courier New"/>
                <a:sym typeface="Courier New"/>
              </a:rPr>
              <a:t>javafx.geometry</a:t>
            </a:r>
            <a:r>
              <a:rPr b="1" lang="en-US"/>
              <a:t> </a:t>
            </a:r>
            <a:r>
              <a:rPr lang="en-US"/>
              <a:t>package for representing a point in a two-dimensional plane.</a:t>
            </a:r>
            <a:endParaRPr/>
          </a:p>
        </p:txBody>
      </p:sp>
      <p:pic>
        <p:nvPicPr>
          <p:cNvPr descr="A left side text box shows the Point 2D Class. For long description in Notes pane, press F6." id="440" name="Google Shape;440;p40"/>
          <p:cNvPicPr preferRelativeResize="0"/>
          <p:nvPr/>
        </p:nvPicPr>
        <p:blipFill rotWithShape="1">
          <a:blip r:embed="rId3">
            <a:alphaModFix/>
          </a:blip>
          <a:srcRect b="0" l="0" r="0" t="0"/>
          <a:stretch/>
        </p:blipFill>
        <p:spPr>
          <a:xfrm>
            <a:off x="624698" y="3185318"/>
            <a:ext cx="7894603" cy="1687530"/>
          </a:xfrm>
          <a:prstGeom prst="rect">
            <a:avLst/>
          </a:prstGeom>
          <a:noFill/>
          <a:ln>
            <a:noFill/>
          </a:ln>
        </p:spPr>
      </p:pic>
      <p:sp>
        <p:nvSpPr>
          <p:cNvPr id="441" name="Google Shape;441;p40"/>
          <p:cNvSpPr txBox="1"/>
          <p:nvPr>
            <p:ph idx="8" type="body"/>
          </p:nvPr>
        </p:nvSpPr>
        <p:spPr>
          <a:xfrm>
            <a:off x="6700345" y="5666609"/>
            <a:ext cx="1986455" cy="547924"/>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4"/>
              </a:rPr>
              <a:t>TestPoint2D</a:t>
            </a:r>
            <a:endParaRPr u="sng">
              <a:solidFill>
                <a:schemeClr val="hlink"/>
              </a:solidFill>
              <a:hlinkClick r:id="rId5"/>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1"/>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Instance Variables, and Methods</a:t>
            </a:r>
            <a:endParaRPr/>
          </a:p>
        </p:txBody>
      </p:sp>
      <p:sp>
        <p:nvSpPr>
          <p:cNvPr id="448" name="Google Shape;448;p41"/>
          <p:cNvSpPr txBox="1"/>
          <p:nvPr>
            <p:ph idx="1" type="body"/>
          </p:nvPr>
        </p:nvSpPr>
        <p:spPr>
          <a:xfrm>
            <a:off x="457201" y="1554921"/>
            <a:ext cx="8218488" cy="1097279"/>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Instance variables belong to a specific instance.</a:t>
            </a:r>
            <a:endParaRPr/>
          </a:p>
          <a:p>
            <a:pPr indent="0" lvl="0" marL="432" rtl="0" algn="l">
              <a:lnSpc>
                <a:spcPct val="100000"/>
              </a:lnSpc>
              <a:spcBef>
                <a:spcPts val="1500"/>
              </a:spcBef>
              <a:spcAft>
                <a:spcPts val="0"/>
              </a:spcAft>
              <a:buSzPts val="2400"/>
              <a:buNone/>
            </a:pPr>
            <a:r>
              <a:rPr lang="en-US"/>
              <a:t>Instance methods are invoked by an instance of the class.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2"/>
          <p:cNvSpPr txBox="1"/>
          <p:nvPr>
            <p:ph type="title"/>
          </p:nvPr>
        </p:nvSpPr>
        <p:spPr>
          <a:xfrm>
            <a:off x="457200" y="215371"/>
            <a:ext cx="8037443"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200"/>
              <a:buFont typeface="Times New Roman"/>
              <a:buNone/>
            </a:pPr>
            <a:r>
              <a:rPr lang="en-US" sz="3200"/>
              <a:t>Static Variables, Constants, and Methods </a:t>
            </a:r>
            <a:r>
              <a:rPr b="0" lang="en-US" sz="2000"/>
              <a:t>(1 of 3)</a:t>
            </a:r>
            <a:endParaRPr b="0" sz="3200"/>
          </a:p>
        </p:txBody>
      </p:sp>
      <p:sp>
        <p:nvSpPr>
          <p:cNvPr id="455" name="Google Shape;455;p42"/>
          <p:cNvSpPr txBox="1"/>
          <p:nvPr>
            <p:ph idx="1" type="body"/>
          </p:nvPr>
        </p:nvSpPr>
        <p:spPr>
          <a:xfrm>
            <a:off x="457201" y="1554921"/>
            <a:ext cx="8218488" cy="2115931"/>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Static variables are shared by all the instances of the class.</a:t>
            </a:r>
            <a:endParaRPr/>
          </a:p>
          <a:p>
            <a:pPr indent="0" lvl="0" marL="432" rtl="0" algn="l">
              <a:lnSpc>
                <a:spcPct val="100000"/>
              </a:lnSpc>
              <a:spcBef>
                <a:spcPts val="1500"/>
              </a:spcBef>
              <a:spcAft>
                <a:spcPts val="0"/>
              </a:spcAft>
              <a:buSzPts val="2400"/>
              <a:buNone/>
            </a:pPr>
            <a:r>
              <a:rPr lang="en-US"/>
              <a:t>Static methods are not tied to a specific object.</a:t>
            </a:r>
            <a:endParaRPr/>
          </a:p>
          <a:p>
            <a:pPr indent="0" lvl="0" marL="432" rtl="0" algn="l">
              <a:lnSpc>
                <a:spcPct val="100000"/>
              </a:lnSpc>
              <a:spcBef>
                <a:spcPts val="1500"/>
              </a:spcBef>
              <a:spcAft>
                <a:spcPts val="0"/>
              </a:spcAft>
              <a:buSzPts val="2400"/>
              <a:buNone/>
            </a:pPr>
            <a:r>
              <a:rPr lang="en-US"/>
              <a:t>Static constants are final variables shared by all the instances of the class.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3"/>
          <p:cNvSpPr txBox="1"/>
          <p:nvPr>
            <p:ph type="title"/>
          </p:nvPr>
        </p:nvSpPr>
        <p:spPr>
          <a:xfrm>
            <a:off x="457200" y="215371"/>
            <a:ext cx="8050696"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200"/>
              <a:buFont typeface="Times New Roman"/>
              <a:buNone/>
            </a:pPr>
            <a:r>
              <a:rPr lang="en-US" sz="3200"/>
              <a:t>Static Variables, Constants, and Methods </a:t>
            </a:r>
            <a:r>
              <a:rPr b="0" lang="en-US" sz="2000"/>
              <a:t>(2 of 3)</a:t>
            </a:r>
            <a:endParaRPr b="0"/>
          </a:p>
        </p:txBody>
      </p:sp>
      <p:sp>
        <p:nvSpPr>
          <p:cNvPr id="462" name="Google Shape;462;p43"/>
          <p:cNvSpPr txBox="1"/>
          <p:nvPr>
            <p:ph idx="1" type="body"/>
          </p:nvPr>
        </p:nvSpPr>
        <p:spPr>
          <a:xfrm>
            <a:off x="457200" y="1554921"/>
            <a:ext cx="8232775" cy="1002750"/>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To declare static variables, constants, and methods, use the static modifier.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4"/>
          <p:cNvSpPr txBox="1"/>
          <p:nvPr>
            <p:ph type="title"/>
          </p:nvPr>
        </p:nvSpPr>
        <p:spPr>
          <a:xfrm>
            <a:off x="457200" y="215371"/>
            <a:ext cx="8037443"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200"/>
              <a:buFont typeface="Times New Roman"/>
              <a:buNone/>
            </a:pPr>
            <a:r>
              <a:rPr lang="en-US" sz="3200"/>
              <a:t>Static Variables, Constants, and Methods </a:t>
            </a:r>
            <a:r>
              <a:rPr b="0" lang="en-US" sz="2000"/>
              <a:t>(3 of 3)</a:t>
            </a:r>
            <a:endParaRPr b="0"/>
          </a:p>
        </p:txBody>
      </p:sp>
      <p:pic>
        <p:nvPicPr>
          <p:cNvPr descr="An illustration titled, Static Variables, Constants, and Methods. For long description in Notes pane, press F6." id="469" name="Google Shape;469;p44"/>
          <p:cNvPicPr preferRelativeResize="0"/>
          <p:nvPr/>
        </p:nvPicPr>
        <p:blipFill rotWithShape="1">
          <a:blip r:embed="rId3">
            <a:alphaModFix/>
          </a:blip>
          <a:srcRect b="0" l="0" r="0" t="0"/>
          <a:stretch/>
        </p:blipFill>
        <p:spPr>
          <a:xfrm>
            <a:off x="497841" y="2241083"/>
            <a:ext cx="8148316" cy="237583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200"/>
              <a:buFont typeface="Times New Roman"/>
              <a:buNone/>
            </a:pPr>
            <a:r>
              <a:rPr lang="en-US" sz="3200"/>
              <a:t>Example of Using Instance and Class Variables and Method</a:t>
            </a:r>
            <a:endParaRPr/>
          </a:p>
        </p:txBody>
      </p:sp>
      <p:sp>
        <p:nvSpPr>
          <p:cNvPr id="476" name="Google Shape;476;p45"/>
          <p:cNvSpPr txBox="1"/>
          <p:nvPr>
            <p:ph idx="1" type="body"/>
          </p:nvPr>
        </p:nvSpPr>
        <p:spPr>
          <a:xfrm>
            <a:off x="457200" y="1552575"/>
            <a:ext cx="8229600" cy="1695122"/>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Objective: Demonstrate the roles of instance and class variables and their uses. This example adds a class variable </a:t>
            </a:r>
            <a:r>
              <a:rPr lang="en-US">
                <a:latin typeface="Courier New"/>
                <a:ea typeface="Courier New"/>
                <a:cs typeface="Courier New"/>
                <a:sym typeface="Courier New"/>
              </a:rPr>
              <a:t>numberOfObjects</a:t>
            </a:r>
            <a:r>
              <a:rPr lang="en-US"/>
              <a:t> to track the number of Circle objects created.</a:t>
            </a:r>
            <a:endParaRPr/>
          </a:p>
        </p:txBody>
      </p:sp>
      <p:sp>
        <p:nvSpPr>
          <p:cNvPr id="477" name="Google Shape;477;p45"/>
          <p:cNvSpPr txBox="1"/>
          <p:nvPr>
            <p:ph idx="8" type="body"/>
          </p:nvPr>
        </p:nvSpPr>
        <p:spPr>
          <a:xfrm>
            <a:off x="4452732" y="4831493"/>
            <a:ext cx="4225159" cy="497709"/>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3"/>
              </a:rPr>
              <a:t>CircleWithStaticMembers</a:t>
            </a:r>
            <a:endParaRPr u="sng">
              <a:solidFill>
                <a:schemeClr val="hlink"/>
              </a:solidFill>
              <a:hlinkClick r:id="rId4"/>
            </a:endParaRPr>
          </a:p>
        </p:txBody>
      </p:sp>
      <p:sp>
        <p:nvSpPr>
          <p:cNvPr id="478" name="Google Shape;478;p45"/>
          <p:cNvSpPr txBox="1"/>
          <p:nvPr>
            <p:ph idx="9" type="body"/>
          </p:nvPr>
        </p:nvSpPr>
        <p:spPr>
          <a:xfrm>
            <a:off x="4452732" y="5467970"/>
            <a:ext cx="4225159" cy="497709"/>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5"/>
              </a:rPr>
              <a:t>TestCircleWithStaticMembers</a:t>
            </a:r>
            <a:endParaRPr u="sng">
              <a:solidFill>
                <a:schemeClr val="hlink"/>
              </a:solidFill>
              <a:hlinkClick r:id="rId6"/>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000"/>
              <a:buFont typeface="Times New Roman"/>
              <a:buNone/>
            </a:pPr>
            <a:r>
              <a:rPr lang="en-US" sz="3000"/>
              <a:t>Visibility Modifiers and Accessor/Mutator Methods </a:t>
            </a:r>
            <a:r>
              <a:rPr b="0" lang="en-US" sz="2000"/>
              <a:t>(1 of 3)</a:t>
            </a:r>
            <a:endParaRPr sz="2000"/>
          </a:p>
        </p:txBody>
      </p:sp>
      <p:sp>
        <p:nvSpPr>
          <p:cNvPr id="485" name="Google Shape;485;p46"/>
          <p:cNvSpPr txBox="1"/>
          <p:nvPr>
            <p:ph idx="1" type="body"/>
          </p:nvPr>
        </p:nvSpPr>
        <p:spPr>
          <a:xfrm>
            <a:off x="457200" y="1435008"/>
            <a:ext cx="8229600" cy="1386568"/>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By default, the class, variable, or method can be accessed by any class in the same package.</a:t>
            </a:r>
            <a:endParaRPr/>
          </a:p>
          <a:p>
            <a:pPr indent="-255600" lvl="0" marL="256032" marR="0" rtl="0" algn="l">
              <a:lnSpc>
                <a:spcPct val="100000"/>
              </a:lnSpc>
              <a:spcBef>
                <a:spcPts val="1500"/>
              </a:spcBef>
              <a:spcAft>
                <a:spcPts val="0"/>
              </a:spcAft>
              <a:buClr>
                <a:srgbClr val="007FA3"/>
              </a:buClr>
              <a:buSzPts val="2400"/>
              <a:buChar char="•"/>
            </a:pPr>
            <a:r>
              <a:rPr lang="en-US">
                <a:latin typeface="Courier New"/>
                <a:ea typeface="Courier New"/>
                <a:cs typeface="Courier New"/>
                <a:sym typeface="Courier New"/>
              </a:rPr>
              <a:t>Public</a:t>
            </a:r>
            <a:endParaRPr/>
          </a:p>
        </p:txBody>
      </p:sp>
      <p:sp>
        <p:nvSpPr>
          <p:cNvPr id="486" name="Google Shape;486;p46"/>
          <p:cNvSpPr txBox="1"/>
          <p:nvPr>
            <p:ph idx="2" type="body"/>
          </p:nvPr>
        </p:nvSpPr>
        <p:spPr>
          <a:xfrm>
            <a:off x="457200" y="2889560"/>
            <a:ext cx="8229600" cy="1447307"/>
          </a:xfrm>
          <a:prstGeom prst="rect">
            <a:avLst/>
          </a:prstGeom>
          <a:noFill/>
          <a:ln>
            <a:noFill/>
          </a:ln>
        </p:spPr>
        <p:txBody>
          <a:bodyPr anchorCtr="0" anchor="t" bIns="91425" lIns="91425" spcFirstLastPara="1" rIns="91425" wrap="square" tIns="91425">
            <a:noAutofit/>
          </a:bodyPr>
          <a:lstStyle/>
          <a:p>
            <a:pPr indent="0" lvl="0" marL="255600" rtl="0" algn="l">
              <a:lnSpc>
                <a:spcPct val="100000"/>
              </a:lnSpc>
              <a:spcBef>
                <a:spcPts val="0"/>
              </a:spcBef>
              <a:spcAft>
                <a:spcPts val="0"/>
              </a:spcAft>
              <a:buSzPts val="2400"/>
              <a:buNone/>
            </a:pPr>
            <a:r>
              <a:rPr lang="en-US"/>
              <a:t>The class, data, or method is visible to any class in any package.</a:t>
            </a:r>
            <a:endParaRPr/>
          </a:p>
          <a:p>
            <a:pPr indent="-255600" lvl="0" marL="256032" marR="0" rtl="0" algn="l">
              <a:lnSpc>
                <a:spcPct val="100000"/>
              </a:lnSpc>
              <a:spcBef>
                <a:spcPts val="1500"/>
              </a:spcBef>
              <a:spcAft>
                <a:spcPts val="0"/>
              </a:spcAft>
              <a:buClr>
                <a:srgbClr val="007FA3"/>
              </a:buClr>
              <a:buSzPts val="2400"/>
              <a:buChar char="•"/>
            </a:pPr>
            <a:r>
              <a:rPr lang="en-US">
                <a:latin typeface="Courier New"/>
                <a:ea typeface="Courier New"/>
                <a:cs typeface="Courier New"/>
                <a:sym typeface="Courier New"/>
              </a:rPr>
              <a:t>Private</a:t>
            </a:r>
            <a:endParaRPr/>
          </a:p>
        </p:txBody>
      </p:sp>
      <p:sp>
        <p:nvSpPr>
          <p:cNvPr id="487" name="Google Shape;487;p46"/>
          <p:cNvSpPr txBox="1"/>
          <p:nvPr>
            <p:ph idx="4" type="body"/>
          </p:nvPr>
        </p:nvSpPr>
        <p:spPr>
          <a:xfrm>
            <a:off x="457200" y="4424264"/>
            <a:ext cx="8229600" cy="1832845"/>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The data or methods can be accessed only by the declaring class.</a:t>
            </a:r>
            <a:endParaRPr/>
          </a:p>
          <a:p>
            <a:pPr indent="0" lvl="0" marL="432" rtl="0" algn="l">
              <a:lnSpc>
                <a:spcPct val="100000"/>
              </a:lnSpc>
              <a:spcBef>
                <a:spcPts val="1500"/>
              </a:spcBef>
              <a:spcAft>
                <a:spcPts val="0"/>
              </a:spcAft>
              <a:buSzPts val="2400"/>
              <a:buNone/>
            </a:pPr>
            <a:r>
              <a:rPr lang="en-US"/>
              <a:t>The get and set methods are used to read and modify private properties.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7"/>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000"/>
              <a:buFont typeface="Times New Roman"/>
              <a:buNone/>
            </a:pPr>
            <a:r>
              <a:rPr lang="en-US" sz="3000"/>
              <a:t>Visibility Modifiers and Accessor/Mutator Methods </a:t>
            </a:r>
            <a:r>
              <a:rPr b="0" lang="en-US" sz="2000"/>
              <a:t>(2 of 3)</a:t>
            </a:r>
            <a:endParaRPr/>
          </a:p>
        </p:txBody>
      </p:sp>
      <p:pic>
        <p:nvPicPr>
          <p:cNvPr descr="A left side text box shows the private modifier restricts access to within a class. For long description in Notes pane, press F6." id="494" name="Google Shape;494;p47"/>
          <p:cNvPicPr preferRelativeResize="0"/>
          <p:nvPr/>
        </p:nvPicPr>
        <p:blipFill rotWithShape="1">
          <a:blip r:embed="rId3">
            <a:alphaModFix/>
          </a:blip>
          <a:srcRect b="0" l="0" r="0" t="0"/>
          <a:stretch/>
        </p:blipFill>
        <p:spPr>
          <a:xfrm>
            <a:off x="601321" y="1687283"/>
            <a:ext cx="7941357" cy="2767815"/>
          </a:xfrm>
          <a:prstGeom prst="rect">
            <a:avLst/>
          </a:prstGeom>
          <a:noFill/>
          <a:ln>
            <a:noFill/>
          </a:ln>
        </p:spPr>
      </p:pic>
      <p:sp>
        <p:nvSpPr>
          <p:cNvPr id="495" name="Google Shape;495;p47"/>
          <p:cNvSpPr txBox="1"/>
          <p:nvPr>
            <p:ph idx="2" type="body"/>
          </p:nvPr>
        </p:nvSpPr>
        <p:spPr>
          <a:xfrm>
            <a:off x="457200" y="4740731"/>
            <a:ext cx="8229600" cy="128423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The private modifier restricts access to within a class, the default modifier restricts access to within a package, and the public modifier enables unrestricted access.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000"/>
              <a:buFont typeface="Times New Roman"/>
              <a:buNone/>
            </a:pPr>
            <a:r>
              <a:rPr lang="en-US" sz="3000"/>
              <a:t>Visibility Modifiers and Accessor/Mutator Methods </a:t>
            </a:r>
            <a:r>
              <a:rPr b="0" lang="en-US" sz="2000"/>
              <a:t>(3 of 3)</a:t>
            </a:r>
            <a:endParaRPr sz="3000"/>
          </a:p>
        </p:txBody>
      </p:sp>
      <p:pic>
        <p:nvPicPr>
          <p:cNvPr descr="A left side text box shows the default modifier on a class restricts access to within a package. For long description in Notes pane, press F6." id="502" name="Google Shape;502;p48"/>
          <p:cNvPicPr preferRelativeResize="0"/>
          <p:nvPr/>
        </p:nvPicPr>
        <p:blipFill rotWithShape="1">
          <a:blip r:embed="rId3">
            <a:alphaModFix/>
          </a:blip>
          <a:srcRect b="0" l="0" r="0" t="0"/>
          <a:stretch/>
        </p:blipFill>
        <p:spPr>
          <a:xfrm>
            <a:off x="497841" y="1764183"/>
            <a:ext cx="8148316" cy="1500846"/>
          </a:xfrm>
          <a:prstGeom prst="rect">
            <a:avLst/>
          </a:prstGeom>
          <a:noFill/>
          <a:ln>
            <a:noFill/>
          </a:ln>
        </p:spPr>
      </p:pic>
      <p:sp>
        <p:nvSpPr>
          <p:cNvPr id="503" name="Google Shape;503;p48"/>
          <p:cNvSpPr txBox="1"/>
          <p:nvPr>
            <p:ph idx="2" type="body"/>
          </p:nvPr>
        </p:nvSpPr>
        <p:spPr>
          <a:xfrm>
            <a:off x="457200" y="3603168"/>
            <a:ext cx="8229600" cy="128423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The default modifier on a class restricts access to within a package, and the public modifier enables unrestricted access.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Note</a:t>
            </a:r>
            <a:endParaRPr/>
          </a:p>
        </p:txBody>
      </p:sp>
      <p:sp>
        <p:nvSpPr>
          <p:cNvPr id="510" name="Google Shape;510;p49"/>
          <p:cNvSpPr txBox="1"/>
          <p:nvPr>
            <p:ph idx="1" type="body"/>
          </p:nvPr>
        </p:nvSpPr>
        <p:spPr>
          <a:xfrm>
            <a:off x="457200" y="1556327"/>
            <a:ext cx="8229600" cy="1281466"/>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An object cannot access its private members, as shown in (b). It is </a:t>
            </a:r>
            <a:r>
              <a:rPr b="1" lang="en-US"/>
              <a:t>Ok</a:t>
            </a:r>
            <a:r>
              <a:rPr lang="en-US"/>
              <a:t>, however, if the object is declared in its own class, as shown in (a).</a:t>
            </a:r>
            <a:endParaRPr/>
          </a:p>
        </p:txBody>
      </p:sp>
      <p:pic>
        <p:nvPicPr>
          <p:cNvPr descr="A text box (a) shows the object is declared in its own class. For long description in Notes pane, press F6." id="511" name="Google Shape;511;p49"/>
          <p:cNvPicPr preferRelativeResize="0"/>
          <p:nvPr/>
        </p:nvPicPr>
        <p:blipFill rotWithShape="1">
          <a:blip r:embed="rId3">
            <a:alphaModFix/>
          </a:blip>
          <a:srcRect b="0" l="0" r="0" t="0"/>
          <a:stretch/>
        </p:blipFill>
        <p:spPr>
          <a:xfrm>
            <a:off x="525185" y="3040033"/>
            <a:ext cx="8093629" cy="260673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Why Data Fields Should Be Private?</a:t>
            </a:r>
            <a:endParaRPr/>
          </a:p>
        </p:txBody>
      </p:sp>
      <p:sp>
        <p:nvSpPr>
          <p:cNvPr id="517" name="Google Shape;517;p50"/>
          <p:cNvSpPr txBox="1"/>
          <p:nvPr>
            <p:ph idx="1" type="body"/>
          </p:nvPr>
        </p:nvSpPr>
        <p:spPr>
          <a:xfrm>
            <a:off x="457201" y="1554921"/>
            <a:ext cx="8218488" cy="1097280"/>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To protect data.</a:t>
            </a:r>
            <a:endParaRPr/>
          </a:p>
          <a:p>
            <a:pPr indent="0" lvl="0" marL="432" rtl="0" algn="l">
              <a:lnSpc>
                <a:spcPct val="100000"/>
              </a:lnSpc>
              <a:spcBef>
                <a:spcPts val="1500"/>
              </a:spcBef>
              <a:spcAft>
                <a:spcPts val="0"/>
              </a:spcAft>
              <a:buSzPts val="2400"/>
              <a:buNone/>
            </a:pPr>
            <a:r>
              <a:rPr lang="en-US"/>
              <a:t>To make code easy to maintain.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1"/>
          <p:cNvSpPr txBox="1"/>
          <p:nvPr>
            <p:ph type="title"/>
          </p:nvPr>
        </p:nvSpPr>
        <p:spPr>
          <a:xfrm>
            <a:off x="457199" y="215371"/>
            <a:ext cx="8218489"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Example of Data Field Encapsulation</a:t>
            </a:r>
            <a:endParaRPr/>
          </a:p>
        </p:txBody>
      </p:sp>
      <p:pic>
        <p:nvPicPr>
          <p:cNvPr descr="A text box shows the Data Field Encapsulation. For long description in Notes pane, press F6." id="524" name="Google Shape;524;p51"/>
          <p:cNvPicPr preferRelativeResize="0"/>
          <p:nvPr/>
        </p:nvPicPr>
        <p:blipFill rotWithShape="1">
          <a:blip r:embed="rId3">
            <a:alphaModFix/>
          </a:blip>
          <a:srcRect b="0" l="0" r="0" t="0"/>
          <a:stretch/>
        </p:blipFill>
        <p:spPr>
          <a:xfrm>
            <a:off x="512359" y="1738236"/>
            <a:ext cx="8145787" cy="2930961"/>
          </a:xfrm>
          <a:prstGeom prst="rect">
            <a:avLst/>
          </a:prstGeom>
          <a:noFill/>
          <a:ln>
            <a:noFill/>
          </a:ln>
        </p:spPr>
      </p:pic>
      <p:sp>
        <p:nvSpPr>
          <p:cNvPr id="525" name="Google Shape;525;p51"/>
          <p:cNvSpPr txBox="1"/>
          <p:nvPr>
            <p:ph idx="8" type="body"/>
          </p:nvPr>
        </p:nvSpPr>
        <p:spPr>
          <a:xfrm>
            <a:off x="4067504" y="4954259"/>
            <a:ext cx="4619296" cy="55855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4"/>
              </a:rPr>
              <a:t>CircleWithPrivateDataFields</a:t>
            </a:r>
            <a:endParaRPr u="sng">
              <a:solidFill>
                <a:schemeClr val="hlink"/>
              </a:solidFill>
              <a:hlinkClick r:id="rId5"/>
            </a:endParaRPr>
          </a:p>
        </p:txBody>
      </p:sp>
      <p:sp>
        <p:nvSpPr>
          <p:cNvPr id="526" name="Google Shape;526;p51"/>
          <p:cNvSpPr txBox="1"/>
          <p:nvPr>
            <p:ph idx="9" type="body"/>
          </p:nvPr>
        </p:nvSpPr>
        <p:spPr>
          <a:xfrm>
            <a:off x="4014494" y="5665348"/>
            <a:ext cx="4670097" cy="55855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6"/>
              </a:rPr>
              <a:t>TestCircleWithPrivateDataFields</a:t>
            </a:r>
            <a:endParaRPr u="sng">
              <a:solidFill>
                <a:schemeClr val="hlink"/>
              </a:solidFill>
              <a:hlinkClick r:id="rId7"/>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id="532" name="Google Shape;532;g381b73b2b03_0_0" title="CQ3Pt.png"/>
          <p:cNvPicPr preferRelativeResize="0"/>
          <p:nvPr/>
        </p:nvPicPr>
        <p:blipFill>
          <a:blip r:embed="rId3">
            <a:alphaModFix/>
          </a:blip>
          <a:stretch>
            <a:fillRect/>
          </a:stretch>
        </p:blipFill>
        <p:spPr>
          <a:xfrm>
            <a:off x="152400" y="1219200"/>
            <a:ext cx="8839200" cy="4419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2"/>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Passing Objects to Methods </a:t>
            </a:r>
            <a:r>
              <a:rPr b="0" lang="en-US" sz="2000"/>
              <a:t>(1 of 2)</a:t>
            </a:r>
            <a:endParaRPr b="0"/>
          </a:p>
        </p:txBody>
      </p:sp>
      <p:sp>
        <p:nvSpPr>
          <p:cNvPr id="539" name="Google Shape;539;p52"/>
          <p:cNvSpPr txBox="1"/>
          <p:nvPr>
            <p:ph idx="1" type="body"/>
          </p:nvPr>
        </p:nvSpPr>
        <p:spPr>
          <a:xfrm>
            <a:off x="457200" y="1552574"/>
            <a:ext cx="8229600" cy="1876425"/>
          </a:xfrm>
          <a:prstGeom prst="rect">
            <a:avLst/>
          </a:prstGeom>
          <a:noFill/>
          <a:ln>
            <a:noFill/>
          </a:ln>
        </p:spPr>
        <p:txBody>
          <a:bodyPr anchorCtr="0" anchor="t" bIns="91425" lIns="91425" spcFirstLastPara="1" rIns="91425" wrap="square" tIns="91425">
            <a:noAutofit/>
          </a:bodyPr>
          <a:lstStyle/>
          <a:p>
            <a:pPr indent="-255600" lvl="0" marL="256032" marR="0" rtl="0" algn="l">
              <a:lnSpc>
                <a:spcPct val="100000"/>
              </a:lnSpc>
              <a:spcBef>
                <a:spcPts val="0"/>
              </a:spcBef>
              <a:spcAft>
                <a:spcPts val="0"/>
              </a:spcAft>
              <a:buClr>
                <a:srgbClr val="007FA3"/>
              </a:buClr>
              <a:buSzPts val="2400"/>
              <a:buChar char="•"/>
            </a:pPr>
            <a:r>
              <a:rPr lang="en-US"/>
              <a:t>Passing by value for primitive type value (the value is passed to the parameter)</a:t>
            </a:r>
            <a:endParaRPr/>
          </a:p>
          <a:p>
            <a:pPr indent="-255600" lvl="0" marL="256032" marR="0" rtl="0" algn="l">
              <a:lnSpc>
                <a:spcPct val="100000"/>
              </a:lnSpc>
              <a:spcBef>
                <a:spcPts val="1500"/>
              </a:spcBef>
              <a:spcAft>
                <a:spcPts val="0"/>
              </a:spcAft>
              <a:buClr>
                <a:srgbClr val="007FA3"/>
              </a:buClr>
              <a:buSzPts val="2400"/>
              <a:buChar char="•"/>
            </a:pPr>
            <a:r>
              <a:rPr lang="en-US"/>
              <a:t>Passing by value for reference type value (the value is the reference to the object)</a:t>
            </a:r>
            <a:endParaRPr/>
          </a:p>
        </p:txBody>
      </p:sp>
      <p:sp>
        <p:nvSpPr>
          <p:cNvPr id="540" name="Google Shape;540;p52"/>
          <p:cNvSpPr txBox="1"/>
          <p:nvPr>
            <p:ph idx="8" type="body"/>
          </p:nvPr>
        </p:nvSpPr>
        <p:spPr>
          <a:xfrm>
            <a:off x="6290440" y="5554990"/>
            <a:ext cx="2396359" cy="55855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3"/>
              </a:rPr>
              <a:t>TestPassObject</a:t>
            </a:r>
            <a:endParaRPr u="sng">
              <a:solidFill>
                <a:schemeClr val="hlink"/>
              </a:solidFill>
              <a:hlinkClick r:id="rId4"/>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3"/>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Passing Objects to Methods </a:t>
            </a:r>
            <a:r>
              <a:rPr b="0" lang="en-US" sz="2000"/>
              <a:t>(2 of 2)</a:t>
            </a:r>
            <a:endParaRPr b="0"/>
          </a:p>
        </p:txBody>
      </p:sp>
      <p:pic>
        <p:nvPicPr>
          <p:cNvPr descr="Stack. Activation for the printArea method. int times, 5. Circle c, reference. For long description in Notes pane, press F6." id="547" name="Google Shape;547;p53"/>
          <p:cNvPicPr preferRelativeResize="0"/>
          <p:nvPr/>
        </p:nvPicPr>
        <p:blipFill rotWithShape="1">
          <a:blip r:embed="rId3">
            <a:alphaModFix/>
          </a:blip>
          <a:srcRect b="0" l="0" r="0" t="0"/>
          <a:stretch/>
        </p:blipFill>
        <p:spPr>
          <a:xfrm>
            <a:off x="530623" y="2003361"/>
            <a:ext cx="8082755" cy="285127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Array of Objects </a:t>
            </a:r>
            <a:r>
              <a:rPr b="0" lang="en-US" sz="2000"/>
              <a:t>(1 of 3)</a:t>
            </a:r>
            <a:endParaRPr b="0"/>
          </a:p>
        </p:txBody>
      </p:sp>
      <p:sp>
        <p:nvSpPr>
          <p:cNvPr id="554" name="Google Shape;554;p54"/>
          <p:cNvSpPr txBox="1"/>
          <p:nvPr>
            <p:ph idx="1" type="body"/>
          </p:nvPr>
        </p:nvSpPr>
        <p:spPr>
          <a:xfrm>
            <a:off x="457201" y="1554921"/>
            <a:ext cx="8218488" cy="2672522"/>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latin typeface="Courier New"/>
                <a:ea typeface="Courier New"/>
                <a:cs typeface="Courier New"/>
                <a:sym typeface="Courier New"/>
              </a:rPr>
              <a:t>Circle[] circleArray = new Circle[10];</a:t>
            </a:r>
            <a:endParaRPr/>
          </a:p>
          <a:p>
            <a:pPr indent="0" lvl="0" marL="432" rtl="0" algn="l">
              <a:lnSpc>
                <a:spcPct val="100000"/>
              </a:lnSpc>
              <a:spcBef>
                <a:spcPts val="1500"/>
              </a:spcBef>
              <a:spcAft>
                <a:spcPts val="0"/>
              </a:spcAft>
              <a:buSzPts val="2400"/>
              <a:buNone/>
            </a:pPr>
            <a:r>
              <a:rPr lang="en-US"/>
              <a:t>An array of objects is actually an </a:t>
            </a:r>
            <a:r>
              <a:rPr b="1" lang="en-US"/>
              <a:t>array of reference variables</a:t>
            </a:r>
            <a:r>
              <a:rPr lang="en-US"/>
              <a:t>. So invoking </a:t>
            </a:r>
            <a:r>
              <a:rPr lang="en-US">
                <a:latin typeface="Courier New"/>
                <a:ea typeface="Courier New"/>
                <a:cs typeface="Courier New"/>
                <a:sym typeface="Courier New"/>
              </a:rPr>
              <a:t>circleArray[1].getArea() </a:t>
            </a:r>
            <a:r>
              <a:rPr lang="en-US"/>
              <a:t>involves two levels of referencing as shown in the next figure. </a:t>
            </a:r>
            <a:r>
              <a:rPr lang="en-US">
                <a:latin typeface="Courier New"/>
                <a:ea typeface="Courier New"/>
                <a:cs typeface="Courier New"/>
                <a:sym typeface="Courier New"/>
              </a:rPr>
              <a:t>circleArray</a:t>
            </a:r>
            <a:r>
              <a:rPr lang="en-US"/>
              <a:t> references to the entire array. </a:t>
            </a:r>
            <a:r>
              <a:rPr lang="en-US">
                <a:latin typeface="Courier New"/>
                <a:ea typeface="Courier New"/>
                <a:cs typeface="Courier New"/>
                <a:sym typeface="Courier New"/>
              </a:rPr>
              <a:t>circleArray[1]</a:t>
            </a:r>
            <a:r>
              <a:rPr lang="en-US"/>
              <a:t> references to a </a:t>
            </a:r>
            <a:r>
              <a:rPr lang="en-US">
                <a:latin typeface="Courier New"/>
                <a:ea typeface="Courier New"/>
                <a:cs typeface="Courier New"/>
                <a:sym typeface="Courier New"/>
              </a:rPr>
              <a:t>Circle</a:t>
            </a:r>
            <a:r>
              <a:rPr lang="en-US"/>
              <a:t> object.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Array of Objects </a:t>
            </a:r>
            <a:r>
              <a:rPr b="0" lang="en-US" sz="2000"/>
              <a:t>(2 of 3)</a:t>
            </a:r>
            <a:endParaRPr b="0"/>
          </a:p>
        </p:txBody>
      </p:sp>
      <p:sp>
        <p:nvSpPr>
          <p:cNvPr id="561" name="Google Shape;561;p55"/>
          <p:cNvSpPr txBox="1"/>
          <p:nvPr>
            <p:ph idx="1" type="body"/>
          </p:nvPr>
        </p:nvSpPr>
        <p:spPr>
          <a:xfrm>
            <a:off x="457200" y="1628898"/>
            <a:ext cx="8229600" cy="572018"/>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latin typeface="Courier New"/>
                <a:ea typeface="Courier New"/>
                <a:cs typeface="Courier New"/>
                <a:sym typeface="Courier New"/>
              </a:rPr>
              <a:t>Circle[] circleArray = new Circle[10];</a:t>
            </a:r>
            <a:endParaRPr/>
          </a:p>
        </p:txBody>
      </p:sp>
      <p:pic>
        <p:nvPicPr>
          <p:cNvPr descr="CircleArray, reference leads to three arrays as follows.&#10;circleArray 0 which leads to circle object 0.&#10;circleArray 1 which leads to circle object 1.&#10;Ellipsis&#10;circleArray 9 which leads to circle object 9." id="562" name="Google Shape;562;p55"/>
          <p:cNvPicPr preferRelativeResize="0"/>
          <p:nvPr/>
        </p:nvPicPr>
        <p:blipFill rotWithShape="1">
          <a:blip r:embed="rId3">
            <a:alphaModFix/>
          </a:blip>
          <a:srcRect b="0" l="0" r="0" t="0"/>
          <a:stretch/>
        </p:blipFill>
        <p:spPr>
          <a:xfrm>
            <a:off x="511093" y="2396868"/>
            <a:ext cx="8148316" cy="201125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Array of Objects </a:t>
            </a:r>
            <a:r>
              <a:rPr b="0" lang="en-US" sz="2000"/>
              <a:t>(3 of 3)</a:t>
            </a:r>
            <a:endParaRPr/>
          </a:p>
        </p:txBody>
      </p:sp>
      <p:sp>
        <p:nvSpPr>
          <p:cNvPr id="569" name="Google Shape;569;p56"/>
          <p:cNvSpPr txBox="1"/>
          <p:nvPr>
            <p:ph idx="1" type="body"/>
          </p:nvPr>
        </p:nvSpPr>
        <p:spPr>
          <a:xfrm>
            <a:off x="457200" y="1552574"/>
            <a:ext cx="8229600" cy="55855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Summarizing the areas of the circles</a:t>
            </a:r>
            <a:endParaRPr/>
          </a:p>
        </p:txBody>
      </p:sp>
      <p:sp>
        <p:nvSpPr>
          <p:cNvPr id="570" name="Google Shape;570;p56"/>
          <p:cNvSpPr txBox="1"/>
          <p:nvPr>
            <p:ph idx="8" type="body"/>
          </p:nvPr>
        </p:nvSpPr>
        <p:spPr>
          <a:xfrm>
            <a:off x="6936828" y="5554990"/>
            <a:ext cx="1749971" cy="55855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u="sng">
                <a:solidFill>
                  <a:schemeClr val="hlink"/>
                </a:solidFill>
                <a:hlinkClick r:id="rId3"/>
              </a:rPr>
              <a:t>TotalArea</a:t>
            </a:r>
            <a:endParaRPr u="sng">
              <a:solidFill>
                <a:schemeClr val="hlink"/>
              </a:solidFill>
              <a:hlinkClick r:id="rId4"/>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7"/>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Immutable Objects and Classes</a:t>
            </a:r>
            <a:endParaRPr/>
          </a:p>
        </p:txBody>
      </p:sp>
      <p:sp>
        <p:nvSpPr>
          <p:cNvPr id="577" name="Google Shape;577;p57"/>
          <p:cNvSpPr txBox="1"/>
          <p:nvPr>
            <p:ph idx="1" type="body"/>
          </p:nvPr>
        </p:nvSpPr>
        <p:spPr>
          <a:xfrm>
            <a:off x="470451" y="1554920"/>
            <a:ext cx="8209723" cy="4196523"/>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If the contents of an object cannot be changed once the object is created, the object is called an </a:t>
            </a:r>
            <a:r>
              <a:rPr b="1" lang="en-US"/>
              <a:t>immutable object </a:t>
            </a:r>
            <a:r>
              <a:rPr lang="en-US"/>
              <a:t>and its class is called an </a:t>
            </a:r>
            <a:r>
              <a:rPr b="1" lang="en-US"/>
              <a:t>immutable class</a:t>
            </a:r>
            <a:r>
              <a:rPr lang="en-US"/>
              <a:t>. If you delete the set method in the Circle class in Listing 8.10, the class would be immutable because radius is private and cannot be changed without a set method.</a:t>
            </a:r>
            <a:endParaRPr/>
          </a:p>
          <a:p>
            <a:pPr indent="0" lvl="0" marL="432" rtl="0" algn="l">
              <a:lnSpc>
                <a:spcPct val="100000"/>
              </a:lnSpc>
              <a:spcBef>
                <a:spcPts val="1500"/>
              </a:spcBef>
              <a:spcAft>
                <a:spcPts val="0"/>
              </a:spcAft>
              <a:buSzPts val="2400"/>
              <a:buNone/>
            </a:pPr>
            <a:r>
              <a:rPr lang="en-US"/>
              <a:t>A class with all private data fields and without mutators is not necessarily immutable. For example, the following class Student has all private data fields and no mutators, but it is mutable.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Example </a:t>
            </a:r>
            <a:r>
              <a:rPr b="0" lang="en-US" sz="2000"/>
              <a:t>(2 of 3)</a:t>
            </a:r>
            <a:endParaRPr b="0"/>
          </a:p>
        </p:txBody>
      </p:sp>
      <p:sp>
        <p:nvSpPr>
          <p:cNvPr id="584" name="Google Shape;584;p58"/>
          <p:cNvSpPr txBox="1"/>
          <p:nvPr>
            <p:ph idx="1" type="body"/>
          </p:nvPr>
        </p:nvSpPr>
        <p:spPr>
          <a:xfrm>
            <a:off x="457200" y="1556328"/>
            <a:ext cx="3988676" cy="475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US" sz="1600">
                <a:latin typeface="Courier New"/>
                <a:ea typeface="Courier New"/>
                <a:cs typeface="Courier New"/>
                <a:sym typeface="Courier New"/>
              </a:rPr>
              <a:t>public class Student {</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private int id;</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private BirthDate birthDate;</a:t>
            </a:r>
            <a:endParaRPr/>
          </a:p>
          <a:p>
            <a:pPr indent="0" lvl="0" marL="180000" rtl="0" algn="l">
              <a:lnSpc>
                <a:spcPct val="100000"/>
              </a:lnSpc>
              <a:spcBef>
                <a:spcPts val="600"/>
              </a:spcBef>
              <a:spcAft>
                <a:spcPts val="0"/>
              </a:spcAft>
              <a:buSzPts val="1600"/>
              <a:buNone/>
            </a:pPr>
            <a:r>
              <a:rPr lang="en-US" sz="1600">
                <a:latin typeface="Courier New"/>
                <a:ea typeface="Courier New"/>
                <a:cs typeface="Courier New"/>
                <a:sym typeface="Courier New"/>
              </a:rPr>
              <a:t>public Student(int ssn,</a:t>
            </a:r>
            <a:endParaRPr/>
          </a:p>
          <a:p>
            <a:pPr indent="0" lvl="0" marL="360000" rtl="0" algn="l">
              <a:lnSpc>
                <a:spcPct val="100000"/>
              </a:lnSpc>
              <a:spcBef>
                <a:spcPts val="0"/>
              </a:spcBef>
              <a:spcAft>
                <a:spcPts val="0"/>
              </a:spcAft>
              <a:buSzPts val="1600"/>
              <a:buNone/>
            </a:pPr>
            <a:r>
              <a:rPr lang="en-US" sz="1600">
                <a:latin typeface="Courier New"/>
                <a:ea typeface="Courier New"/>
                <a:cs typeface="Courier New"/>
                <a:sym typeface="Courier New"/>
              </a:rPr>
              <a:t>int year, int month, int</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day) {</a:t>
            </a:r>
            <a:endParaRPr/>
          </a:p>
          <a:p>
            <a:pPr indent="0" lvl="0" marL="360000" rtl="0" algn="l">
              <a:lnSpc>
                <a:spcPct val="100000"/>
              </a:lnSpc>
              <a:spcBef>
                <a:spcPts val="0"/>
              </a:spcBef>
              <a:spcAft>
                <a:spcPts val="0"/>
              </a:spcAft>
              <a:buSzPts val="1600"/>
              <a:buNone/>
            </a:pPr>
            <a:r>
              <a:rPr lang="en-US" sz="1600">
                <a:latin typeface="Courier New"/>
                <a:ea typeface="Courier New"/>
                <a:cs typeface="Courier New"/>
                <a:sym typeface="Courier New"/>
              </a:rPr>
              <a:t>id = ssn;</a:t>
            </a:r>
            <a:endParaRPr/>
          </a:p>
          <a:p>
            <a:pPr indent="0" lvl="0" marL="360000" rtl="0" algn="l">
              <a:lnSpc>
                <a:spcPct val="100000"/>
              </a:lnSpc>
              <a:spcBef>
                <a:spcPts val="0"/>
              </a:spcBef>
              <a:spcAft>
                <a:spcPts val="0"/>
              </a:spcAft>
              <a:buSzPts val="1600"/>
              <a:buNone/>
            </a:pPr>
            <a:r>
              <a:rPr lang="en-US" sz="1600">
                <a:latin typeface="Courier New"/>
                <a:ea typeface="Courier New"/>
                <a:cs typeface="Courier New"/>
                <a:sym typeface="Courier New"/>
              </a:rPr>
              <a:t>birthDate = new</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BirthDate(year, month, day);</a:t>
            </a:r>
            <a:endParaRPr/>
          </a:p>
          <a:p>
            <a:pPr indent="0" lvl="0" marL="360000" rtl="0" algn="l">
              <a:lnSpc>
                <a:spcPct val="100000"/>
              </a:lnSpc>
              <a:spcBef>
                <a:spcPts val="0"/>
              </a:spcBef>
              <a:spcAft>
                <a:spcPts val="0"/>
              </a:spcAft>
              <a:buSzPts val="1600"/>
              <a:buNone/>
            </a:pPr>
            <a:r>
              <a:rPr lang="en-US" sz="1600">
                <a:latin typeface="Courier New"/>
                <a:ea typeface="Courier New"/>
                <a:cs typeface="Courier New"/>
                <a:sym typeface="Courier New"/>
              </a:rPr>
              <a:t>}</a:t>
            </a:r>
            <a:endParaRPr/>
          </a:p>
          <a:p>
            <a:pPr indent="0" lvl="0" marL="180000" rtl="0" algn="l">
              <a:lnSpc>
                <a:spcPct val="100000"/>
              </a:lnSpc>
              <a:spcBef>
                <a:spcPts val="600"/>
              </a:spcBef>
              <a:spcAft>
                <a:spcPts val="0"/>
              </a:spcAft>
              <a:buSzPts val="1600"/>
              <a:buNone/>
            </a:pPr>
            <a:r>
              <a:rPr lang="en-US" sz="1600">
                <a:latin typeface="Courier New"/>
                <a:ea typeface="Courier New"/>
                <a:cs typeface="Courier New"/>
                <a:sym typeface="Courier New"/>
              </a:rPr>
              <a:t>public int getId() {</a:t>
            </a:r>
            <a:endParaRPr/>
          </a:p>
          <a:p>
            <a:pPr indent="0" lvl="0" marL="360000" rtl="0" algn="l">
              <a:lnSpc>
                <a:spcPct val="100000"/>
              </a:lnSpc>
              <a:spcBef>
                <a:spcPts val="0"/>
              </a:spcBef>
              <a:spcAft>
                <a:spcPts val="0"/>
              </a:spcAft>
              <a:buSzPts val="1600"/>
              <a:buNone/>
            </a:pPr>
            <a:r>
              <a:rPr lang="en-US" sz="1600">
                <a:latin typeface="Courier New"/>
                <a:ea typeface="Courier New"/>
                <a:cs typeface="Courier New"/>
                <a:sym typeface="Courier New"/>
              </a:rPr>
              <a:t>return id;</a:t>
            </a:r>
            <a:endParaRPr/>
          </a:p>
          <a:p>
            <a:pPr indent="0" lvl="0" marL="360000" rtl="0" algn="l">
              <a:lnSpc>
                <a:spcPct val="100000"/>
              </a:lnSpc>
              <a:spcBef>
                <a:spcPts val="0"/>
              </a:spcBef>
              <a:spcAft>
                <a:spcPts val="0"/>
              </a:spcAft>
              <a:buSzPts val="1600"/>
              <a:buNone/>
            </a:pPr>
            <a:r>
              <a:rPr lang="en-US" sz="1600">
                <a:latin typeface="Courier New"/>
                <a:ea typeface="Courier New"/>
                <a:cs typeface="Courier New"/>
                <a:sym typeface="Courier New"/>
              </a:rPr>
              <a:t>}</a:t>
            </a:r>
            <a:endParaRPr/>
          </a:p>
          <a:p>
            <a:pPr indent="0" lvl="0" marL="180000" rtl="0" algn="l">
              <a:lnSpc>
                <a:spcPct val="100000"/>
              </a:lnSpc>
              <a:spcBef>
                <a:spcPts val="600"/>
              </a:spcBef>
              <a:spcAft>
                <a:spcPts val="0"/>
              </a:spcAft>
              <a:buSzPts val="1600"/>
              <a:buNone/>
            </a:pPr>
            <a:r>
              <a:rPr lang="en-US" sz="1600">
                <a:latin typeface="Courier New"/>
                <a:ea typeface="Courier New"/>
                <a:cs typeface="Courier New"/>
                <a:sym typeface="Courier New"/>
              </a:rPr>
              <a:t>public BirthDate getBirthDate() {</a:t>
            </a:r>
            <a:endParaRPr/>
          </a:p>
          <a:p>
            <a:pPr indent="0" lvl="0" marL="360000" rtl="0" algn="l">
              <a:lnSpc>
                <a:spcPct val="100000"/>
              </a:lnSpc>
              <a:spcBef>
                <a:spcPts val="0"/>
              </a:spcBef>
              <a:spcAft>
                <a:spcPts val="0"/>
              </a:spcAft>
              <a:buSzPts val="1600"/>
              <a:buNone/>
            </a:pPr>
            <a:r>
              <a:rPr lang="en-US" sz="1600">
                <a:latin typeface="Courier New"/>
                <a:ea typeface="Courier New"/>
                <a:cs typeface="Courier New"/>
                <a:sym typeface="Courier New"/>
              </a:rPr>
              <a:t>return birthDate;</a:t>
            </a:r>
            <a:endParaRPr/>
          </a:p>
          <a:p>
            <a:pPr indent="0" lvl="0" marL="360000" rtl="0" algn="l">
              <a:lnSpc>
                <a:spcPct val="100000"/>
              </a:lnSpc>
              <a:spcBef>
                <a:spcPts val="0"/>
              </a:spcBef>
              <a:spcAft>
                <a:spcPts val="0"/>
              </a:spcAft>
              <a:buSzPts val="1600"/>
              <a:buNone/>
            </a:pPr>
            <a:r>
              <a:rPr lang="en-US" sz="1600">
                <a:latin typeface="Courier New"/>
                <a:ea typeface="Courier New"/>
                <a:cs typeface="Courier New"/>
                <a:sym typeface="Courier New"/>
              </a:rPr>
              <a:t>}</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a:t>
            </a:r>
            <a:endParaRPr/>
          </a:p>
        </p:txBody>
      </p:sp>
      <p:sp>
        <p:nvSpPr>
          <p:cNvPr id="585" name="Google Shape;585;p58"/>
          <p:cNvSpPr txBox="1"/>
          <p:nvPr>
            <p:ph idx="2" type="body"/>
          </p:nvPr>
        </p:nvSpPr>
        <p:spPr>
          <a:xfrm>
            <a:off x="4659084" y="1556326"/>
            <a:ext cx="4106520" cy="4595092"/>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1600"/>
              <a:buNone/>
            </a:pPr>
            <a:r>
              <a:rPr lang="en-US" sz="1600">
                <a:latin typeface="Courier New"/>
                <a:ea typeface="Courier New"/>
                <a:cs typeface="Courier New"/>
                <a:sym typeface="Courier New"/>
              </a:rPr>
              <a:t>public class BirthDate {</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private int year;</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private int month;</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private int day;</a:t>
            </a:r>
            <a:endParaRPr/>
          </a:p>
          <a:p>
            <a:pPr indent="0" lvl="0" marL="180000" rtl="0" algn="l">
              <a:lnSpc>
                <a:spcPct val="100000"/>
              </a:lnSpc>
              <a:spcBef>
                <a:spcPts val="0"/>
              </a:spcBef>
              <a:spcAft>
                <a:spcPts val="0"/>
              </a:spcAft>
              <a:buSzPts val="1600"/>
              <a:buNone/>
            </a:pPr>
            <a:r>
              <a:t/>
            </a:r>
            <a:endParaRPr sz="1600">
              <a:latin typeface="Courier New"/>
              <a:ea typeface="Courier New"/>
              <a:cs typeface="Courier New"/>
              <a:sym typeface="Courier New"/>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public BirthDate(int newYear,</a:t>
            </a:r>
            <a:endParaRPr/>
          </a:p>
          <a:p>
            <a:pPr indent="0" lvl="0" marL="720000" rtl="0" algn="l">
              <a:lnSpc>
                <a:spcPct val="100000"/>
              </a:lnSpc>
              <a:spcBef>
                <a:spcPts val="0"/>
              </a:spcBef>
              <a:spcAft>
                <a:spcPts val="0"/>
              </a:spcAft>
              <a:buSzPts val="1600"/>
              <a:buNone/>
            </a:pPr>
            <a:r>
              <a:rPr lang="en-US" sz="1600">
                <a:latin typeface="Courier New"/>
                <a:ea typeface="Courier New"/>
                <a:cs typeface="Courier New"/>
                <a:sym typeface="Courier New"/>
              </a:rPr>
              <a:t>int newMonth, int newDay) {</a:t>
            </a:r>
            <a:endParaRPr/>
          </a:p>
          <a:p>
            <a:pPr indent="0" lvl="0" marL="540000" rtl="0" algn="l">
              <a:lnSpc>
                <a:spcPct val="100000"/>
              </a:lnSpc>
              <a:spcBef>
                <a:spcPts val="0"/>
              </a:spcBef>
              <a:spcAft>
                <a:spcPts val="0"/>
              </a:spcAft>
              <a:buSzPts val="1600"/>
              <a:buNone/>
            </a:pPr>
            <a:r>
              <a:rPr lang="en-US" sz="1600">
                <a:latin typeface="Courier New"/>
                <a:ea typeface="Courier New"/>
                <a:cs typeface="Courier New"/>
                <a:sym typeface="Courier New"/>
              </a:rPr>
              <a:t>year = newYear;</a:t>
            </a:r>
            <a:endParaRPr/>
          </a:p>
          <a:p>
            <a:pPr indent="0" lvl="0" marL="540000" rtl="0" algn="l">
              <a:lnSpc>
                <a:spcPct val="100000"/>
              </a:lnSpc>
              <a:spcBef>
                <a:spcPts val="0"/>
              </a:spcBef>
              <a:spcAft>
                <a:spcPts val="0"/>
              </a:spcAft>
              <a:buSzPts val="1600"/>
              <a:buNone/>
            </a:pPr>
            <a:r>
              <a:rPr lang="en-US" sz="1600">
                <a:latin typeface="Courier New"/>
                <a:ea typeface="Courier New"/>
                <a:cs typeface="Courier New"/>
                <a:sym typeface="Courier New"/>
              </a:rPr>
              <a:t>month = newMonth;</a:t>
            </a:r>
            <a:endParaRPr/>
          </a:p>
          <a:p>
            <a:pPr indent="0" lvl="0" marL="540000" rtl="0" algn="l">
              <a:lnSpc>
                <a:spcPct val="100000"/>
              </a:lnSpc>
              <a:spcBef>
                <a:spcPts val="0"/>
              </a:spcBef>
              <a:spcAft>
                <a:spcPts val="0"/>
              </a:spcAft>
              <a:buSzPts val="1600"/>
              <a:buNone/>
            </a:pPr>
            <a:r>
              <a:rPr lang="en-US" sz="1600">
                <a:latin typeface="Courier New"/>
                <a:ea typeface="Courier New"/>
                <a:cs typeface="Courier New"/>
                <a:sym typeface="Courier New"/>
              </a:rPr>
              <a:t>day = newDay;</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a:t>
            </a:r>
            <a:endParaRPr/>
          </a:p>
          <a:p>
            <a:pPr indent="0" lvl="0" marL="180000" rtl="0" algn="l">
              <a:lnSpc>
                <a:spcPct val="100000"/>
              </a:lnSpc>
              <a:spcBef>
                <a:spcPts val="0"/>
              </a:spcBef>
              <a:spcAft>
                <a:spcPts val="0"/>
              </a:spcAft>
              <a:buSzPts val="1600"/>
              <a:buNone/>
            </a:pPr>
            <a:r>
              <a:t/>
            </a:r>
            <a:endParaRPr sz="1600">
              <a:latin typeface="Courier New"/>
              <a:ea typeface="Courier New"/>
              <a:cs typeface="Courier New"/>
              <a:sym typeface="Courier New"/>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public void setYear(int newYear) {</a:t>
            </a:r>
            <a:endParaRPr/>
          </a:p>
          <a:p>
            <a:pPr indent="0" lvl="0" marL="540000" rtl="0" algn="l">
              <a:lnSpc>
                <a:spcPct val="100000"/>
              </a:lnSpc>
              <a:spcBef>
                <a:spcPts val="0"/>
              </a:spcBef>
              <a:spcAft>
                <a:spcPts val="0"/>
              </a:spcAft>
              <a:buSzPts val="1600"/>
              <a:buNone/>
            </a:pPr>
            <a:r>
              <a:rPr lang="en-US" sz="1600">
                <a:latin typeface="Courier New"/>
                <a:ea typeface="Courier New"/>
                <a:cs typeface="Courier New"/>
                <a:sym typeface="Courier New"/>
              </a:rPr>
              <a:t>year = newYear;</a:t>
            </a:r>
            <a:endParaRPr/>
          </a:p>
          <a:p>
            <a:pPr indent="0" lvl="0" marL="180000" rtl="0" algn="l">
              <a:lnSpc>
                <a:spcPct val="100000"/>
              </a:lnSpc>
              <a:spcBef>
                <a:spcPts val="0"/>
              </a:spcBef>
              <a:spcAft>
                <a:spcPts val="0"/>
              </a:spcAft>
              <a:buSzPts val="1600"/>
              <a:buNone/>
            </a:pPr>
            <a:r>
              <a:rPr lang="en-US" sz="1600">
                <a:latin typeface="Courier New"/>
                <a:ea typeface="Courier New"/>
                <a:cs typeface="Courier New"/>
                <a:sym typeface="Courier New"/>
              </a:rPr>
              <a:t>}</a:t>
            </a:r>
            <a:endParaRPr/>
          </a:p>
          <a:p>
            <a:pPr indent="0" lvl="0" marL="0" rtl="0" algn="l">
              <a:lnSpc>
                <a:spcPct val="100000"/>
              </a:lnSpc>
              <a:spcBef>
                <a:spcPts val="0"/>
              </a:spcBef>
              <a:spcAft>
                <a:spcPts val="0"/>
              </a:spcAft>
              <a:buSzPts val="1600"/>
              <a:buNone/>
            </a:pPr>
            <a:r>
              <a:rPr lang="en-US" sz="1600">
                <a:latin typeface="Courier New"/>
                <a:ea typeface="Courier New"/>
                <a:cs typeface="Courier New"/>
                <a:sym typeface="Courier New"/>
              </a:rPr>
              <a: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Example </a:t>
            </a:r>
            <a:r>
              <a:rPr b="0" lang="en-US" sz="2000"/>
              <a:t>(3 of 3)</a:t>
            </a:r>
            <a:endParaRPr b="0"/>
          </a:p>
        </p:txBody>
      </p:sp>
      <p:sp>
        <p:nvSpPr>
          <p:cNvPr id="592" name="Google Shape;592;p59"/>
          <p:cNvSpPr txBox="1"/>
          <p:nvPr>
            <p:ph idx="1" type="body"/>
          </p:nvPr>
        </p:nvSpPr>
        <p:spPr>
          <a:xfrm>
            <a:off x="470451" y="1556328"/>
            <a:ext cx="8205237" cy="3466246"/>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latin typeface="Courier New"/>
                <a:ea typeface="Courier New"/>
                <a:cs typeface="Courier New"/>
                <a:sym typeface="Courier New"/>
              </a:rPr>
              <a:t>public class Test {</a:t>
            </a:r>
            <a:endParaRPr/>
          </a:p>
          <a:p>
            <a:pPr indent="0" lvl="0" marL="360000" rtl="0" algn="l">
              <a:lnSpc>
                <a:spcPct val="100000"/>
              </a:lnSpc>
              <a:spcBef>
                <a:spcPts val="0"/>
              </a:spcBef>
              <a:spcAft>
                <a:spcPts val="0"/>
              </a:spcAft>
              <a:buSzPts val="2400"/>
              <a:buNone/>
            </a:pPr>
            <a:r>
              <a:rPr lang="en-US">
                <a:latin typeface="Courier New"/>
                <a:ea typeface="Courier New"/>
                <a:cs typeface="Courier New"/>
                <a:sym typeface="Courier New"/>
              </a:rPr>
              <a:t>public static void main(String[] args) {</a:t>
            </a:r>
            <a:endParaRPr/>
          </a:p>
          <a:p>
            <a:pPr indent="0" lvl="0" marL="540000" rtl="0" algn="l">
              <a:lnSpc>
                <a:spcPct val="100000"/>
              </a:lnSpc>
              <a:spcBef>
                <a:spcPts val="0"/>
              </a:spcBef>
              <a:spcAft>
                <a:spcPts val="0"/>
              </a:spcAft>
              <a:buSzPts val="2400"/>
              <a:buNone/>
            </a:pPr>
            <a:r>
              <a:rPr lang="en-US">
                <a:latin typeface="Courier New"/>
                <a:ea typeface="Courier New"/>
                <a:cs typeface="Courier New"/>
                <a:sym typeface="Courier New"/>
              </a:rPr>
              <a:t>Student student = new Student(111223333, 1970, 5, 3);</a:t>
            </a:r>
            <a:endParaRPr/>
          </a:p>
          <a:p>
            <a:pPr indent="0" lvl="0" marL="540000" rtl="0" algn="l">
              <a:lnSpc>
                <a:spcPct val="100000"/>
              </a:lnSpc>
              <a:spcBef>
                <a:spcPts val="0"/>
              </a:spcBef>
              <a:spcAft>
                <a:spcPts val="0"/>
              </a:spcAft>
              <a:buSzPts val="2400"/>
              <a:buNone/>
            </a:pPr>
            <a:r>
              <a:rPr lang="en-US">
                <a:latin typeface="Courier New"/>
                <a:ea typeface="Courier New"/>
                <a:cs typeface="Courier New"/>
                <a:sym typeface="Courier New"/>
              </a:rPr>
              <a:t>BirthDate date = student.getBirthDate(); date.setYear(2010); // Now the student birth year is changed!</a:t>
            </a:r>
            <a:endParaRPr/>
          </a:p>
          <a:p>
            <a:pPr indent="0" lvl="0" marL="360000" rtl="0" algn="l">
              <a:lnSpc>
                <a:spcPct val="100000"/>
              </a:lnSpc>
              <a:spcBef>
                <a:spcPts val="0"/>
              </a:spcBef>
              <a:spcAft>
                <a:spcPts val="0"/>
              </a:spcAft>
              <a:buSzPts val="2400"/>
              <a:buNone/>
            </a:pPr>
            <a:r>
              <a:rPr lang="en-US">
                <a:latin typeface="Courier New"/>
                <a:ea typeface="Courier New"/>
                <a:cs typeface="Courier New"/>
                <a:sym typeface="Courier New"/>
              </a:rPr>
              <a:t>}</a:t>
            </a:r>
            <a:endParaRPr/>
          </a:p>
          <a:p>
            <a:pPr indent="0" lvl="0" marL="0" rtl="0" algn="l">
              <a:lnSpc>
                <a:spcPct val="100000"/>
              </a:lnSpc>
              <a:spcBef>
                <a:spcPts val="0"/>
              </a:spcBef>
              <a:spcAft>
                <a:spcPts val="0"/>
              </a:spcAft>
              <a:buSzPts val="2400"/>
              <a:buNone/>
            </a:pPr>
            <a:r>
              <a:rPr lang="en-US">
                <a:latin typeface="Courier New"/>
                <a:ea typeface="Courier New"/>
                <a:cs typeface="Courier New"/>
                <a:sym typeface="Courier New"/>
              </a:rPr>
              <a: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What Class Is Immutable?</a:t>
            </a:r>
            <a:endParaRPr/>
          </a:p>
        </p:txBody>
      </p:sp>
      <p:sp>
        <p:nvSpPr>
          <p:cNvPr id="599" name="Google Shape;599;p60"/>
          <p:cNvSpPr txBox="1"/>
          <p:nvPr>
            <p:ph idx="1" type="body"/>
          </p:nvPr>
        </p:nvSpPr>
        <p:spPr>
          <a:xfrm>
            <a:off x="457201" y="1554921"/>
            <a:ext cx="8218488" cy="1874080"/>
          </a:xfrm>
          <a:prstGeom prst="rect">
            <a:avLst/>
          </a:prstGeom>
          <a:noFill/>
          <a:ln>
            <a:noFill/>
          </a:ln>
        </p:spPr>
        <p:txBody>
          <a:bodyPr anchorCtr="0" anchor="t" bIns="91425" lIns="91425" spcFirstLastPara="1" rIns="91425" wrap="square" tIns="91425">
            <a:noAutofit/>
          </a:bodyPr>
          <a:lstStyle/>
          <a:p>
            <a:pPr indent="0" lvl="0" marL="432" rtl="0" algn="l">
              <a:lnSpc>
                <a:spcPct val="100000"/>
              </a:lnSpc>
              <a:spcBef>
                <a:spcPts val="0"/>
              </a:spcBef>
              <a:spcAft>
                <a:spcPts val="0"/>
              </a:spcAft>
              <a:buSzPts val="2400"/>
              <a:buNone/>
            </a:pPr>
            <a:r>
              <a:rPr lang="en-US"/>
              <a:t>For a class to be immutable, it must mark all data fields private and provide no mutator methods and no accessor methods that would return a reference to a mutable data field object.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61"/>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Scope of Variables</a:t>
            </a:r>
            <a:endParaRPr/>
          </a:p>
        </p:txBody>
      </p:sp>
      <p:sp>
        <p:nvSpPr>
          <p:cNvPr id="606" name="Google Shape;606;p61"/>
          <p:cNvSpPr txBox="1"/>
          <p:nvPr>
            <p:ph idx="1" type="body"/>
          </p:nvPr>
        </p:nvSpPr>
        <p:spPr>
          <a:xfrm>
            <a:off x="457201" y="1554921"/>
            <a:ext cx="8218488" cy="2831550"/>
          </a:xfrm>
          <a:prstGeom prst="rect">
            <a:avLst/>
          </a:prstGeom>
          <a:noFill/>
          <a:ln>
            <a:noFill/>
          </a:ln>
        </p:spPr>
        <p:txBody>
          <a:bodyPr anchorCtr="0" anchor="t" bIns="91425" lIns="91425" spcFirstLastPara="1" rIns="91425" wrap="square" tIns="91425">
            <a:noAutofit/>
          </a:bodyPr>
          <a:lstStyle/>
          <a:p>
            <a:pPr indent="-255600" lvl="0" marL="256032" rtl="0" algn="l">
              <a:lnSpc>
                <a:spcPct val="100000"/>
              </a:lnSpc>
              <a:spcBef>
                <a:spcPts val="0"/>
              </a:spcBef>
              <a:spcAft>
                <a:spcPts val="0"/>
              </a:spcAft>
              <a:buSzPts val="2400"/>
              <a:buChar char="•"/>
            </a:pPr>
            <a:r>
              <a:rPr lang="en-US"/>
              <a:t>The scope of instance and static variables is the entire class. They can be declared anywhere inside a class.</a:t>
            </a:r>
            <a:endParaRPr/>
          </a:p>
          <a:p>
            <a:pPr indent="-255600" lvl="0" marL="256032" rtl="0" algn="l">
              <a:lnSpc>
                <a:spcPct val="100000"/>
              </a:lnSpc>
              <a:spcBef>
                <a:spcPts val="1500"/>
              </a:spcBef>
              <a:spcAft>
                <a:spcPts val="0"/>
              </a:spcAft>
              <a:buSzPts val="2400"/>
              <a:buChar char="•"/>
            </a:pPr>
            <a:r>
              <a:rPr lang="en-US"/>
              <a:t>The scope of a local variable starts from its declaration and continues to the end of the block that contains the variable. A local variable must be initialized explicitly before it can be used.</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2"/>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The </a:t>
            </a:r>
            <a:r>
              <a:rPr lang="en-US">
                <a:latin typeface="Courier New"/>
                <a:ea typeface="Courier New"/>
                <a:cs typeface="Courier New"/>
                <a:sym typeface="Courier New"/>
              </a:rPr>
              <a:t>this</a:t>
            </a:r>
            <a:r>
              <a:rPr lang="en-US"/>
              <a:t> Keyword</a:t>
            </a:r>
            <a:endParaRPr/>
          </a:p>
        </p:txBody>
      </p:sp>
      <p:sp>
        <p:nvSpPr>
          <p:cNvPr id="613" name="Google Shape;613;p62"/>
          <p:cNvSpPr txBox="1"/>
          <p:nvPr>
            <p:ph idx="1" type="body"/>
          </p:nvPr>
        </p:nvSpPr>
        <p:spPr>
          <a:xfrm>
            <a:off x="457201" y="1554920"/>
            <a:ext cx="8218488" cy="2818297"/>
          </a:xfrm>
          <a:prstGeom prst="rect">
            <a:avLst/>
          </a:prstGeom>
          <a:noFill/>
          <a:ln>
            <a:noFill/>
          </a:ln>
        </p:spPr>
        <p:txBody>
          <a:bodyPr anchorCtr="0" anchor="t" bIns="91425" lIns="91425" spcFirstLastPara="1" rIns="91425" wrap="square" tIns="91425">
            <a:noAutofit/>
          </a:bodyPr>
          <a:lstStyle/>
          <a:p>
            <a:pPr indent="-255600" lvl="0" marL="256032" rtl="0" algn="l">
              <a:lnSpc>
                <a:spcPct val="100000"/>
              </a:lnSpc>
              <a:spcBef>
                <a:spcPts val="0"/>
              </a:spcBef>
              <a:spcAft>
                <a:spcPts val="0"/>
              </a:spcAft>
              <a:buSzPts val="2400"/>
              <a:buChar char="•"/>
            </a:pPr>
            <a:r>
              <a:rPr lang="en-US"/>
              <a:t>The </a:t>
            </a:r>
            <a:r>
              <a:rPr b="1" lang="en-US">
                <a:latin typeface="Courier New"/>
                <a:ea typeface="Courier New"/>
                <a:cs typeface="Courier New"/>
                <a:sym typeface="Courier New"/>
              </a:rPr>
              <a:t>this</a:t>
            </a:r>
            <a:r>
              <a:rPr lang="en-US"/>
              <a:t> keyword is the name of a reference that refers to an object itself. One common use of the </a:t>
            </a:r>
            <a:r>
              <a:rPr b="1" lang="en-US">
                <a:latin typeface="Courier New"/>
                <a:ea typeface="Courier New"/>
                <a:cs typeface="Courier New"/>
                <a:sym typeface="Courier New"/>
              </a:rPr>
              <a:t>this</a:t>
            </a:r>
            <a:r>
              <a:rPr lang="en-US"/>
              <a:t> keyword is reference a class’s </a:t>
            </a:r>
            <a:r>
              <a:rPr b="1" lang="en-US"/>
              <a:t>hidden data fields</a:t>
            </a:r>
            <a:r>
              <a:rPr lang="en-US"/>
              <a:t>.</a:t>
            </a:r>
            <a:endParaRPr/>
          </a:p>
          <a:p>
            <a:pPr indent="-255600" lvl="0" marL="256032" rtl="0" algn="l">
              <a:lnSpc>
                <a:spcPct val="100000"/>
              </a:lnSpc>
              <a:spcBef>
                <a:spcPts val="1500"/>
              </a:spcBef>
              <a:spcAft>
                <a:spcPts val="0"/>
              </a:spcAft>
              <a:buSzPts val="2400"/>
              <a:buChar char="•"/>
            </a:pPr>
            <a:r>
              <a:rPr lang="en-US"/>
              <a:t>Another common use of the </a:t>
            </a:r>
            <a:r>
              <a:rPr b="1" lang="en-US">
                <a:latin typeface="Courier New"/>
                <a:ea typeface="Courier New"/>
                <a:cs typeface="Courier New"/>
                <a:sym typeface="Courier New"/>
              </a:rPr>
              <a:t>this</a:t>
            </a:r>
            <a:r>
              <a:rPr lang="en-US"/>
              <a:t> keyword to enable a constructor to invoke another constructor of the same class.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3"/>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Reference the Hidden Data Fields</a:t>
            </a:r>
            <a:endParaRPr/>
          </a:p>
        </p:txBody>
      </p:sp>
      <p:pic>
        <p:nvPicPr>
          <p:cNvPr descr="A Left side text box shows reference the Hidden Data Fields. For long description in Notes pane, press F6." id="620" name="Google Shape;620;p63"/>
          <p:cNvPicPr preferRelativeResize="0"/>
          <p:nvPr/>
        </p:nvPicPr>
        <p:blipFill rotWithShape="1">
          <a:blip r:embed="rId3">
            <a:alphaModFix/>
          </a:blip>
          <a:srcRect b="0" l="0" r="0" t="0"/>
          <a:stretch/>
        </p:blipFill>
        <p:spPr>
          <a:xfrm>
            <a:off x="534940" y="2135108"/>
            <a:ext cx="8074120" cy="2587782"/>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6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Calling Overloaded Constructor</a:t>
            </a:r>
            <a:endParaRPr/>
          </a:p>
        </p:txBody>
      </p:sp>
      <p:pic>
        <p:nvPicPr>
          <p:cNvPr descr="A text box shows the Calling Overloaded Constructor. For long description in Notes pane, press F6." id="627" name="Google Shape;627;p64"/>
          <p:cNvPicPr preferRelativeResize="0"/>
          <p:nvPr/>
        </p:nvPicPr>
        <p:blipFill rotWithShape="1">
          <a:blip r:embed="rId3">
            <a:alphaModFix/>
          </a:blip>
          <a:srcRect b="0" l="0" r="0" t="0"/>
          <a:stretch/>
        </p:blipFill>
        <p:spPr>
          <a:xfrm>
            <a:off x="786056" y="1563563"/>
            <a:ext cx="7571888" cy="4419983"/>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6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600"/>
              <a:buFont typeface="Times New Roman"/>
              <a:buNone/>
            </a:pPr>
            <a:r>
              <a:rPr lang="en-US"/>
              <a:t>Copyright</a:t>
            </a:r>
            <a:endParaRPr/>
          </a:p>
        </p:txBody>
      </p:sp>
      <p:pic>
        <p:nvPicPr>
          <p:cNvPr descr="Warning" id="634" name="Google Shape;634;p65"/>
          <p:cNvPicPr preferRelativeResize="0"/>
          <p:nvPr/>
        </p:nvPicPr>
        <p:blipFill rotWithShape="1">
          <a:blip r:embed="rId3">
            <a:alphaModFix/>
          </a:blip>
          <a:srcRect b="0" l="0" r="0" t="0"/>
          <a:stretch/>
        </p:blipFill>
        <p:spPr>
          <a:xfrm>
            <a:off x="246184" y="2317359"/>
            <a:ext cx="1277815" cy="1434026"/>
          </a:xfrm>
          <a:prstGeom prst="rect">
            <a:avLst/>
          </a:prstGeom>
          <a:noFill/>
          <a:ln>
            <a:noFill/>
          </a:ln>
        </p:spPr>
      </p:pic>
      <p:sp>
        <p:nvSpPr>
          <p:cNvPr id="635" name="Google Shape;635;p65"/>
          <p:cNvSpPr txBox="1"/>
          <p:nvPr>
            <p:ph idx="4294967295" type="body"/>
          </p:nvPr>
        </p:nvSpPr>
        <p:spPr>
          <a:xfrm>
            <a:off x="1606061" y="1852246"/>
            <a:ext cx="6858001" cy="2854836"/>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182875" lIns="182875" spcFirstLastPara="1" rIns="182875" wrap="square" tIns="182875">
            <a:noAutofit/>
          </a:bodyPr>
          <a:lstStyle/>
          <a:p>
            <a:pPr indent="0" lvl="0" marL="101600" rtl="0" algn="l">
              <a:lnSpc>
                <a:spcPct val="100000"/>
              </a:lnSpc>
              <a:spcBef>
                <a:spcPts val="0"/>
              </a:spcBef>
              <a:spcAft>
                <a:spcPts val="0"/>
              </a:spcAft>
              <a:buSzPts val="1600"/>
              <a:buNone/>
            </a:pPr>
            <a:r>
              <a:rPr b="1" lang="en-US">
                <a:solidFill>
                  <a:schemeClr val="dk1"/>
                </a:solidFill>
                <a:latin typeface="Arial"/>
                <a:ea typeface="Arial"/>
                <a:cs typeface="Arial"/>
                <a:sym typeface="Aria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Liang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