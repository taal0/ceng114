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65"/>
  </p:notesMasterIdLst>
  <p:handoutMasterIdLst>
    <p:handoutMasterId r:id="rId66"/>
  </p:handoutMasterIdLst>
  <p:sldIdLst>
    <p:sldId id="330" r:id="rId6"/>
    <p:sldId id="408" r:id="rId7"/>
    <p:sldId id="409" r:id="rId8"/>
    <p:sldId id="464" r:id="rId9"/>
    <p:sldId id="410" r:id="rId10"/>
    <p:sldId id="411" r:id="rId11"/>
    <p:sldId id="412" r:id="rId12"/>
    <p:sldId id="413" r:id="rId13"/>
    <p:sldId id="414" r:id="rId14"/>
    <p:sldId id="415" r:id="rId15"/>
    <p:sldId id="416" r:id="rId16"/>
    <p:sldId id="417" r:id="rId17"/>
    <p:sldId id="418" r:id="rId18"/>
    <p:sldId id="419" r:id="rId19"/>
    <p:sldId id="420" r:id="rId20"/>
    <p:sldId id="421" r:id="rId21"/>
    <p:sldId id="422" r:id="rId22"/>
    <p:sldId id="423" r:id="rId23"/>
    <p:sldId id="424" r:id="rId24"/>
    <p:sldId id="425" r:id="rId25"/>
    <p:sldId id="426" r:id="rId26"/>
    <p:sldId id="427" r:id="rId27"/>
    <p:sldId id="428" r:id="rId28"/>
    <p:sldId id="429" r:id="rId29"/>
    <p:sldId id="430" r:id="rId30"/>
    <p:sldId id="431" r:id="rId31"/>
    <p:sldId id="432" r:id="rId32"/>
    <p:sldId id="433" r:id="rId33"/>
    <p:sldId id="434" r:id="rId34"/>
    <p:sldId id="463" r:id="rId35"/>
    <p:sldId id="436" r:id="rId36"/>
    <p:sldId id="437" r:id="rId37"/>
    <p:sldId id="438" r:id="rId38"/>
    <p:sldId id="439" r:id="rId39"/>
    <p:sldId id="440" r:id="rId40"/>
    <p:sldId id="441" r:id="rId41"/>
    <p:sldId id="442" r:id="rId42"/>
    <p:sldId id="443" r:id="rId43"/>
    <p:sldId id="444" r:id="rId44"/>
    <p:sldId id="445" r:id="rId45"/>
    <p:sldId id="446" r:id="rId46"/>
    <p:sldId id="447" r:id="rId47"/>
    <p:sldId id="448" r:id="rId48"/>
    <p:sldId id="449" r:id="rId49"/>
    <p:sldId id="450" r:id="rId50"/>
    <p:sldId id="451" r:id="rId51"/>
    <p:sldId id="452" r:id="rId52"/>
    <p:sldId id="453" r:id="rId53"/>
    <p:sldId id="454" r:id="rId54"/>
    <p:sldId id="455" r:id="rId55"/>
    <p:sldId id="456" r:id="rId56"/>
    <p:sldId id="457" r:id="rId57"/>
    <p:sldId id="458" r:id="rId58"/>
    <p:sldId id="459" r:id="rId59"/>
    <p:sldId id="465" r:id="rId60"/>
    <p:sldId id="466" r:id="rId61"/>
    <p:sldId id="461" r:id="rId62"/>
    <p:sldId id="462" r:id="rId63"/>
    <p:sldId id="298" r:id="rId64"/>
  </p:sldIdLst>
  <p:sldSz cx="9144000" cy="6858000" type="screen4x3"/>
  <p:notesSz cx="6858000" cy="9144000"/>
  <p:embeddedFontLst>
    <p:embeddedFont>
      <p:font typeface="Noto Sans Symbols" panose="020B0604020202020204" charset="0"/>
      <p:regular r:id="rId67"/>
      <p:bold r:id="rId68"/>
      <p:italic r:id="rId69"/>
      <p:boldItalic r:id="rId70"/>
    </p:embeddedFont>
    <p:embeddedFont>
      <p:font typeface="Verdana" panose="020B060403050404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63"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58" userDrawn="1">
          <p15:clr>
            <a:srgbClr val="A4A3A4"/>
          </p15:clr>
        </p15:guide>
        <p15:guide id="7" pos="5465" userDrawn="1">
          <p15:clr>
            <a:srgbClr val="A4A3A4"/>
          </p15:clr>
        </p15:guide>
        <p15:guide id="8" pos="172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79201" autoAdjust="0"/>
  </p:normalViewPr>
  <p:slideViewPr>
    <p:cSldViewPr snapToGrid="0" snapToObjects="1">
      <p:cViewPr varScale="1">
        <p:scale>
          <a:sx n="86" d="100"/>
          <a:sy n="86" d="100"/>
        </p:scale>
        <p:origin x="2334" y="96"/>
      </p:cViewPr>
      <p:guideLst>
        <p:guide orient="horz" pos="2863"/>
        <p:guide pos="295"/>
        <p:guide orient="horz" pos="4178"/>
        <p:guide orient="horz" pos="119"/>
        <p:guide orient="horz" pos="822"/>
        <p:guide orient="horz" pos="958"/>
        <p:guide pos="5465"/>
        <p:guide pos="1723"/>
      </p:guideLst>
    </p:cSldViewPr>
  </p:slideViewPr>
  <p:outlineViewPr>
    <p:cViewPr>
      <p:scale>
        <a:sx n="33" d="100"/>
        <a:sy n="33" d="100"/>
      </p:scale>
      <p:origin x="0" y="-3825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font" Target="fonts/font2.fntdata"/><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handoutMaster" Target="handoutMasters/handoutMaster1.xml"/><Relationship Id="rId74" Type="http://schemas.openxmlformats.org/officeDocument/2006/relationships/font" Target="fonts/font8.fntdata"/><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font" Target="fonts/font3.fntdata"/><Relationship Id="rId77"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1.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4.fntdata"/><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73" Type="http://schemas.openxmlformats.org/officeDocument/2006/relationships/font" Target="fonts/font7.fntdata"/><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font" Target="fonts/font5.fntdata"/><Relationship Id="rId2" Type="http://schemas.openxmlformats.org/officeDocument/2006/relationships/customXml" Target="../customXml/item2.xml"/><Relationship Id="rId29"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5/19/2023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veexample.pearsoncmg.com/html/Loan.html"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liveexample.pearsoncmg.com/html/TestLoanClass.html"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iveexample.pearsoncmg.com/html/BMI.html"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liveexample.pearsoncmg.com/html/UseBMIClass.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iveexample.pearsoncmg.com/html/Course.html"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liveexample.pearsoncmg.com/html/TestCourse.html"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iveexample.pearsoncmg.com/html/TestStackOfInteger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html/StackOfIntegers.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iveexample.pearsoncmg.com/html/LargeFactorial.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iveexample.pearsoncmg.com/html/PalindromeIgnoreNonAlphanumeric.html"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Next to this box is a box with text, class contacts (Signatures of public methods and public constants). There is a two way arrow between this box and a box to the right. The text in the box on the right reads, clients use the class through the contact of the class.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1519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annuallnterestRate colon double. The annual interest rate of the loan (default, 2.5).</a:t>
            </a:r>
          </a:p>
          <a:p>
            <a:r>
              <a:rPr lang="en-US" dirty="0"/>
              <a:t>Row 2. </a:t>
            </a:r>
            <a:r>
              <a:rPr lang="en-US" dirty="0" err="1"/>
              <a:t>numberOfYears</a:t>
            </a:r>
            <a:r>
              <a:rPr lang="en-US" dirty="0"/>
              <a:t> colon int. The number of years for the loan (default, 1).</a:t>
            </a:r>
          </a:p>
          <a:p>
            <a:r>
              <a:rPr lang="en-US" dirty="0"/>
              <a:t>Row 3. </a:t>
            </a:r>
            <a:r>
              <a:rPr lang="en-US" dirty="0" err="1"/>
              <a:t>loanAmount</a:t>
            </a:r>
            <a:r>
              <a:rPr lang="en-US" dirty="0"/>
              <a:t> colon double. The loan amount (default, 1000).</a:t>
            </a:r>
          </a:p>
          <a:p>
            <a:r>
              <a:rPr lang="en-US" dirty="0"/>
              <a:t>Row 4. </a:t>
            </a:r>
            <a:r>
              <a:rPr lang="en-US" dirty="0" err="1"/>
              <a:t>loanDate</a:t>
            </a:r>
            <a:r>
              <a:rPr lang="en-US" dirty="0"/>
              <a:t> colon Date. The date this loan was created.</a:t>
            </a:r>
          </a:p>
          <a:p>
            <a:r>
              <a:rPr lang="en-US" dirty="0"/>
              <a:t>Row 5. +Loan left parenthesis right parenthesis. Constructs a default Loan object.</a:t>
            </a:r>
          </a:p>
          <a:p>
            <a:r>
              <a:rPr lang="en-US" dirty="0"/>
              <a:t>Row 6. +Loan left parenthesis </a:t>
            </a:r>
            <a:r>
              <a:rPr lang="en-US" dirty="0" err="1"/>
              <a:t>annualInterestRate</a:t>
            </a:r>
            <a:r>
              <a:rPr lang="en-US" dirty="0"/>
              <a:t> colon double, </a:t>
            </a:r>
            <a:r>
              <a:rPr lang="en-US" dirty="0" err="1"/>
              <a:t>numberOfYears</a:t>
            </a:r>
            <a:r>
              <a:rPr lang="en-US" dirty="0"/>
              <a:t> colon int, </a:t>
            </a:r>
            <a:r>
              <a:rPr lang="en-US" dirty="0" err="1"/>
              <a:t>loanAmount</a:t>
            </a:r>
            <a:r>
              <a:rPr lang="en-US" dirty="0"/>
              <a:t> colon double right parenthesis. Constructs a loan with specified interest rate, years, and loan amount.</a:t>
            </a:r>
          </a:p>
          <a:p>
            <a:r>
              <a:rPr lang="en-US" dirty="0"/>
              <a:t>Row 7. +</a:t>
            </a:r>
            <a:r>
              <a:rPr lang="en-US" dirty="0" err="1"/>
              <a:t>getAnnuallnterestRate</a:t>
            </a:r>
            <a:r>
              <a:rPr lang="en-US" dirty="0"/>
              <a:t> left parenthesis right parenthesis colon double. Returns the annual interest rate of this loan. </a:t>
            </a:r>
          </a:p>
          <a:p>
            <a:r>
              <a:rPr lang="en-US" dirty="0"/>
              <a:t>Row 8. +</a:t>
            </a:r>
            <a:r>
              <a:rPr lang="en-US" dirty="0" err="1"/>
              <a:t>getNumberOfYears</a:t>
            </a:r>
            <a:r>
              <a:rPr lang="en-US" dirty="0"/>
              <a:t> left parenthesis right parenthesis colon int. Returns the number of the years of this loan.</a:t>
            </a:r>
          </a:p>
          <a:p>
            <a:r>
              <a:rPr lang="en-US" dirty="0"/>
              <a:t>Row 9. +</a:t>
            </a:r>
            <a:r>
              <a:rPr lang="en-US" dirty="0" err="1"/>
              <a:t>getLoanAmount</a:t>
            </a:r>
            <a:r>
              <a:rPr lang="en-US" dirty="0"/>
              <a:t> left parenthesis right parenthesis colon double. Returns the amount of this loan.</a:t>
            </a:r>
          </a:p>
          <a:p>
            <a:r>
              <a:rPr lang="en-US" dirty="0"/>
              <a:t>Row 10. +</a:t>
            </a:r>
            <a:r>
              <a:rPr lang="en-US" dirty="0" err="1"/>
              <a:t>getLoanDate</a:t>
            </a:r>
            <a:r>
              <a:rPr lang="en-US" dirty="0"/>
              <a:t> left parenthesis right parenthesis colon Date. Returns the date of the creation of this loan.</a:t>
            </a:r>
          </a:p>
          <a:p>
            <a:r>
              <a:rPr lang="en-US" dirty="0"/>
              <a:t>Row 11. +</a:t>
            </a:r>
            <a:r>
              <a:rPr lang="en-US" dirty="0" err="1"/>
              <a:t>setAnnualInterestRate</a:t>
            </a:r>
            <a:r>
              <a:rPr lang="en-US" dirty="0"/>
              <a:t> left parenthesis </a:t>
            </a:r>
            <a:r>
              <a:rPr lang="en-US" dirty="0" err="1"/>
              <a:t>annuallnterestRatecolon</a:t>
            </a:r>
            <a:r>
              <a:rPr lang="en-US" dirty="0"/>
              <a:t> double right parenthesis colon void. Sets a new annual interest rate to this loan.</a:t>
            </a:r>
          </a:p>
          <a:p>
            <a:r>
              <a:rPr lang="en-US" dirty="0"/>
              <a:t>Row 12. +</a:t>
            </a:r>
            <a:r>
              <a:rPr lang="en-US" dirty="0" err="1"/>
              <a:t>setNumberOfYears</a:t>
            </a:r>
            <a:r>
              <a:rPr lang="en-US" dirty="0"/>
              <a:t> left parenthesis </a:t>
            </a:r>
            <a:r>
              <a:rPr lang="en-US" dirty="0" err="1"/>
              <a:t>numberOfYearscolon</a:t>
            </a:r>
            <a:r>
              <a:rPr lang="en-US" dirty="0"/>
              <a:t> int right parenthesis colon void. Sets a new number of years to this loan. </a:t>
            </a:r>
          </a:p>
          <a:p>
            <a:r>
              <a:rPr lang="en-US" dirty="0"/>
              <a:t>Row 13. +</a:t>
            </a:r>
            <a:r>
              <a:rPr lang="en-US" dirty="0" err="1"/>
              <a:t>setLoanAmount</a:t>
            </a:r>
            <a:r>
              <a:rPr lang="en-US" dirty="0"/>
              <a:t> left parenthesis </a:t>
            </a:r>
            <a:r>
              <a:rPr lang="en-US" dirty="0" err="1"/>
              <a:t>loanAmountcolon</a:t>
            </a:r>
            <a:r>
              <a:rPr lang="en-US" dirty="0"/>
              <a:t> double right parenthesis colon void. Sets a new amount to this loan.</a:t>
            </a:r>
          </a:p>
          <a:p>
            <a:r>
              <a:rPr lang="en-US" dirty="0"/>
              <a:t>Row 14. +</a:t>
            </a:r>
            <a:r>
              <a:rPr lang="en-US" dirty="0" err="1"/>
              <a:t>getMonthlyPayment</a:t>
            </a:r>
            <a:r>
              <a:rPr lang="en-US" dirty="0"/>
              <a:t> left parenthesis right parenthesis colon double. Returns the monthly payment of this loan.</a:t>
            </a:r>
          </a:p>
          <a:p>
            <a:r>
              <a:rPr lang="en-US" dirty="0"/>
              <a:t>Row 15. +</a:t>
            </a:r>
            <a:r>
              <a:rPr lang="en-US" dirty="0" err="1"/>
              <a:t>getTotalPayrnent</a:t>
            </a:r>
            <a:r>
              <a:rPr lang="en-US" dirty="0"/>
              <a:t> left parenthesis right parenthesis colon double. Returns the total payment of this loan.</a:t>
            </a:r>
          </a:p>
          <a:p>
            <a:endParaRPr lang="en-US" dirty="0"/>
          </a:p>
          <a:p>
            <a:r>
              <a:rPr lang="en-US" dirty="0"/>
              <a:t>Loan: </a:t>
            </a:r>
            <a:r>
              <a:rPr lang="en-IN" dirty="0">
                <a:hlinkClick r:id="rId3"/>
              </a:rPr>
              <a:t>https://liveexample.pearsoncmg.com/html/Loan.html</a:t>
            </a:r>
            <a:endParaRPr lang="en-IN" dirty="0"/>
          </a:p>
          <a:p>
            <a:endParaRPr lang="en-IN" dirty="0"/>
          </a:p>
          <a:p>
            <a:r>
              <a:rPr lang="en-IN" dirty="0"/>
              <a:t>TestLoanClass: </a:t>
            </a:r>
            <a:r>
              <a:rPr lang="en-IN" dirty="0">
                <a:hlinkClick r:id="rId4"/>
              </a:rPr>
              <a:t>https://liveexample.pearsoncmg.com/html/TestLoanClass.html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97263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name colon String. The name of the person.</a:t>
            </a:r>
          </a:p>
          <a:p>
            <a:r>
              <a:rPr lang="en-US" dirty="0"/>
              <a:t>Row 2. age colon int. The age of the person.</a:t>
            </a:r>
          </a:p>
          <a:p>
            <a:r>
              <a:rPr lang="en-US" dirty="0"/>
              <a:t>Row 3. weight colon double. The weight of the person in pounds.</a:t>
            </a:r>
          </a:p>
          <a:p>
            <a:r>
              <a:rPr lang="en-US" dirty="0"/>
              <a:t>Row 4. height colon double. The height of the person in inches. </a:t>
            </a:r>
          </a:p>
          <a:p>
            <a:r>
              <a:rPr lang="en-US" dirty="0"/>
              <a:t>Row 5. +BMI left parenthesis name colon String, age colon int, weight colon double, height colon double right parenthesis. Creates a BMI object with the specified name, age, weight, and height.</a:t>
            </a:r>
          </a:p>
          <a:p>
            <a:r>
              <a:rPr lang="en-US" dirty="0"/>
              <a:t>Row 6. +BMI left parenthesis name colon String, weight colon double, height colon double right parenthesis. Creates a BMI object with the specified name, weight, height, and a default age 20.</a:t>
            </a:r>
          </a:p>
          <a:p>
            <a:r>
              <a:rPr lang="en-US" dirty="0"/>
              <a:t>Row 7. +</a:t>
            </a:r>
            <a:r>
              <a:rPr lang="en-US" dirty="0" err="1"/>
              <a:t>getBMI</a:t>
            </a:r>
            <a:r>
              <a:rPr lang="en-US" dirty="0"/>
              <a:t> left parenthesis right parenthesis colon double. Returns the BMI.</a:t>
            </a:r>
          </a:p>
          <a:p>
            <a:r>
              <a:rPr lang="en-US" dirty="0"/>
              <a:t>Row 8. +</a:t>
            </a:r>
            <a:r>
              <a:rPr lang="en-US" dirty="0" err="1"/>
              <a:t>getStatus</a:t>
            </a:r>
            <a:r>
              <a:rPr lang="en-US" dirty="0"/>
              <a:t> left parenthesis right parenthesis colon String. Returns the BMI status (for example, normal, overweight, etc.)</a:t>
            </a:r>
          </a:p>
          <a:p>
            <a:r>
              <a:rPr lang="en-US" dirty="0"/>
              <a:t>The text reads, the get methods for these data fields are /provided in the class, but omitted in the UML diagram for brevity.</a:t>
            </a:r>
          </a:p>
          <a:p>
            <a:endParaRPr lang="en-US" dirty="0"/>
          </a:p>
          <a:p>
            <a:r>
              <a:rPr lang="en-US" dirty="0"/>
              <a:t>BMI: </a:t>
            </a:r>
            <a:r>
              <a:rPr lang="en-IN" dirty="0">
                <a:hlinkClick r:id="rId3"/>
              </a:rPr>
              <a:t>https://liveexample.pearsoncmg.com/html/BMI.html</a:t>
            </a:r>
            <a:endParaRPr lang="en-IN" dirty="0"/>
          </a:p>
          <a:p>
            <a:endParaRPr lang="en-IN" dirty="0"/>
          </a:p>
          <a:p>
            <a:r>
              <a:rPr lang="en-IN" dirty="0"/>
              <a:t>UseBMIClass: </a:t>
            </a:r>
            <a:r>
              <a:rPr lang="en-IN" dirty="0">
                <a:hlinkClick r:id="rId4"/>
              </a:rPr>
              <a:t>https://liveexample.pearsoncmg.com/html/UseBMIClass.html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83157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is labeled, 5.60 near the student end and asterisk symbol near the course end. The text reads, take followed by a right arrow. Another line connects box for course to the box for faculty. The line is labeled, 0.3 near course end and 1 near faculty end. The text reads, teach followed by a left arrow. The text teacher is written below faculty.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78936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is labeled, 1 near each end. A shaded rhombus attached to the box for student on the left side is labeled, composition. Another line connects box for student to fox for address. The line is labeled, 1.3 near student end and 1 near address end. A rhombus attached to the box for student on the right side is labeled, aggregation.</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44812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has 3 lines. Line 1, public class Name open braces. Line 2, period </a:t>
            </a:r>
            <a:r>
              <a:rPr lang="en-IN" dirty="0" err="1"/>
              <a:t>period</a:t>
            </a:r>
            <a:r>
              <a:rPr lang="en-IN" dirty="0"/>
              <a:t> </a:t>
            </a:r>
            <a:r>
              <a:rPr lang="en-IN" dirty="0" err="1"/>
              <a:t>period</a:t>
            </a:r>
            <a:r>
              <a:rPr lang="en-IN" dirty="0"/>
              <a:t>. Line 3, close braces. </a:t>
            </a:r>
          </a:p>
          <a:p>
            <a:r>
              <a:rPr lang="en-IN" dirty="0"/>
              <a:t>A middle computer code shows the Aggregating class. The computer code has 5 lines. Line 1, public class Student open braces. Line 2, private Name </a:t>
            </a:r>
            <a:r>
              <a:rPr lang="en-IN" dirty="0" err="1"/>
              <a:t>name</a:t>
            </a:r>
            <a:r>
              <a:rPr lang="en-IN" dirty="0"/>
              <a:t> semicolon. Line 3, private Address </a:t>
            </a:r>
            <a:r>
              <a:rPr lang="en-IN" dirty="0" err="1"/>
              <a:t>address</a:t>
            </a:r>
            <a:r>
              <a:rPr lang="en-IN" dirty="0"/>
              <a:t> semicolon. Line 4, period </a:t>
            </a:r>
            <a:r>
              <a:rPr lang="en-IN" dirty="0" err="1"/>
              <a:t>period</a:t>
            </a:r>
            <a:r>
              <a:rPr lang="en-IN" dirty="0"/>
              <a:t> </a:t>
            </a:r>
            <a:r>
              <a:rPr lang="en-IN" dirty="0" err="1"/>
              <a:t>period</a:t>
            </a:r>
            <a:r>
              <a:rPr lang="en-IN" dirty="0"/>
              <a:t>. Line 5, close braces.  </a:t>
            </a:r>
          </a:p>
          <a:p>
            <a:r>
              <a:rPr lang="en-IN" dirty="0"/>
              <a:t>The right side computer code shows the Aggregated class. The computer code has 3 lines. Line 1, public class Address open braces. Line 2, period </a:t>
            </a:r>
            <a:r>
              <a:rPr lang="en-IN" dirty="0" err="1"/>
              <a:t>period</a:t>
            </a:r>
            <a:r>
              <a:rPr lang="en-IN" dirty="0"/>
              <a:t> </a:t>
            </a:r>
            <a:r>
              <a:rPr lang="en-IN" dirty="0" err="1"/>
              <a:t>period</a:t>
            </a:r>
            <a:r>
              <a:rPr lang="en-IN" dirty="0"/>
              <a:t>. Line 3, close braces.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0977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9473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90090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rhombus is attached to the box for person on the right side. The top side of the box for supervisor is labeled, 1 and the side on the left is labeled, m. The code reads as follows.</a:t>
            </a:r>
          </a:p>
          <a:p>
            <a:r>
              <a:rPr lang="en-US" dirty="0"/>
              <a:t>Public class Person left brace</a:t>
            </a:r>
          </a:p>
          <a:p>
            <a:r>
              <a:rPr lang="en-US" dirty="0"/>
              <a:t>Ellipsis</a:t>
            </a:r>
          </a:p>
          <a:p>
            <a:r>
              <a:rPr lang="en-US" dirty="0"/>
              <a:t>private Person left bracket right bracket supervisor semi colon</a:t>
            </a:r>
          </a:p>
          <a:p>
            <a:r>
              <a:rPr lang="en-US" dirty="0"/>
              <a:t>right brace.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63918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courseName colon String. The name of the course.</a:t>
            </a:r>
          </a:p>
          <a:p>
            <a:r>
              <a:rPr lang="en-US" dirty="0"/>
              <a:t>Row 2. students colon String left bracket right bracket. An array to store the students for the course.</a:t>
            </a:r>
          </a:p>
          <a:p>
            <a:r>
              <a:rPr lang="en-US" dirty="0"/>
              <a:t>Row 3. numberOfStudents colon int. The number of students (default colon 0).</a:t>
            </a:r>
          </a:p>
          <a:p>
            <a:r>
              <a:rPr lang="en-US" dirty="0"/>
              <a:t>Row 4. +Course left parenthesis courseName colon String right parenthesis. Creates a course with the specified name.</a:t>
            </a:r>
          </a:p>
          <a:p>
            <a:r>
              <a:rPr lang="en-US" dirty="0"/>
              <a:t>Row 5. +</a:t>
            </a:r>
            <a:r>
              <a:rPr lang="en-US" dirty="0" err="1"/>
              <a:t>getCourseName</a:t>
            </a:r>
            <a:r>
              <a:rPr lang="en-US" dirty="0"/>
              <a:t> left parenthesis right parenthesis colon String. Returns the course name.</a:t>
            </a:r>
          </a:p>
          <a:p>
            <a:r>
              <a:rPr lang="en-US" dirty="0"/>
              <a:t>Row 6. +</a:t>
            </a:r>
            <a:r>
              <a:rPr lang="en-US" dirty="0" err="1"/>
              <a:t>addStudent</a:t>
            </a:r>
            <a:r>
              <a:rPr lang="en-US" dirty="0"/>
              <a:t> left parenthesis student colon String right parenthesis colon void. Adds a new student to the course.</a:t>
            </a:r>
          </a:p>
          <a:p>
            <a:r>
              <a:rPr lang="en-US" dirty="0"/>
              <a:t>Row 7. +</a:t>
            </a:r>
            <a:r>
              <a:rPr lang="en-US" dirty="0" err="1"/>
              <a:t>dropStudent</a:t>
            </a:r>
            <a:r>
              <a:rPr lang="en-US" dirty="0"/>
              <a:t> left parenthesis student colon String right parenthesis colon void. Drops a student from the course.</a:t>
            </a:r>
          </a:p>
          <a:p>
            <a:r>
              <a:rPr lang="en-US" dirty="0"/>
              <a:t>Row 8. +</a:t>
            </a:r>
            <a:r>
              <a:rPr lang="en-US" dirty="0" err="1"/>
              <a:t>getStudents</a:t>
            </a:r>
            <a:r>
              <a:rPr lang="en-US" dirty="0"/>
              <a:t> left parenthesis right parenthesis colon String left bracket right bracket. Returns the students in the course.</a:t>
            </a:r>
          </a:p>
          <a:p>
            <a:r>
              <a:rPr lang="en-US" dirty="0"/>
              <a:t>Row 9. +</a:t>
            </a:r>
            <a:r>
              <a:rPr lang="en-US" dirty="0" err="1"/>
              <a:t>getNumberOfStudents</a:t>
            </a:r>
            <a:r>
              <a:rPr lang="en-US" dirty="0"/>
              <a:t> left parenthesis right parenthesis colon int. Returns the number of students in the course.</a:t>
            </a:r>
          </a:p>
          <a:p>
            <a:endParaRPr lang="en-US" dirty="0"/>
          </a:p>
          <a:p>
            <a:r>
              <a:rPr lang="en-US" dirty="0"/>
              <a:t>Course: </a:t>
            </a:r>
            <a:r>
              <a:rPr lang="en-IN" dirty="0">
                <a:hlinkClick r:id="rId3"/>
              </a:rPr>
              <a:t>https://liveexample.pearsoncmg.com/html/Course.html</a:t>
            </a:r>
            <a:endParaRPr lang="en-IN" dirty="0"/>
          </a:p>
          <a:p>
            <a:endParaRPr lang="en-IN" dirty="0"/>
          </a:p>
          <a:p>
            <a:r>
              <a:rPr lang="en-IN" dirty="0" err="1"/>
              <a:t>TestCourse</a:t>
            </a:r>
            <a:r>
              <a:rPr lang="en-IN" dirty="0"/>
              <a:t>: </a:t>
            </a:r>
            <a:r>
              <a:rPr lang="en-IN" dirty="0">
                <a:hlinkClick r:id="rId4"/>
              </a:rPr>
              <a:t>https://liveexample.pearsoncmg.com/html/TestCourse.html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66460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elements colon int left bracket right bracket. An array to store integers in the stack.</a:t>
            </a:r>
          </a:p>
          <a:p>
            <a:r>
              <a:rPr lang="en-US" dirty="0"/>
              <a:t>Row 2. size colon int. The number of integers in the stack.</a:t>
            </a:r>
          </a:p>
          <a:p>
            <a:r>
              <a:rPr lang="en-US" dirty="0"/>
              <a:t>Row 3. +StackOfIntegers left parenthesis right parenthesis. Constructs an empty stack with a default capacity of 16.</a:t>
            </a:r>
          </a:p>
          <a:p>
            <a:r>
              <a:rPr lang="en-US" dirty="0"/>
              <a:t>Row 4. +</a:t>
            </a:r>
            <a:r>
              <a:rPr lang="en-US" dirty="0" err="1"/>
              <a:t>StackOflntegers</a:t>
            </a:r>
            <a:r>
              <a:rPr lang="en-US" dirty="0"/>
              <a:t> left parenthesis capacity colon int right parenthesis. Constructs an empty stack with a specified capacity.</a:t>
            </a:r>
          </a:p>
          <a:p>
            <a:r>
              <a:rPr lang="en-US" dirty="0"/>
              <a:t>Row 5. +empty left parenthesis right parenthesis colon Boolean. Returns true if the stack is empty.</a:t>
            </a:r>
          </a:p>
          <a:p>
            <a:r>
              <a:rPr lang="en-US" dirty="0"/>
              <a:t>Row 6. +peek left parenthesis right parenthesis colon int. Returns the integer at the top of the stack without removing it from the stack.</a:t>
            </a:r>
          </a:p>
          <a:p>
            <a:r>
              <a:rPr lang="en-US" dirty="0"/>
              <a:t>Row 7. +push left parenthesis value colon int right parenthesis colon int. Stores an integer into the top of the stack.</a:t>
            </a:r>
          </a:p>
          <a:p>
            <a:r>
              <a:rPr lang="en-US" dirty="0"/>
              <a:t>Row 8. +pop left parenthesis right parenthesis colon int. Removes the integer at the top of the stack and returns it.</a:t>
            </a:r>
          </a:p>
          <a:p>
            <a:r>
              <a:rPr lang="en-US" dirty="0"/>
              <a:t>Row 9. +</a:t>
            </a:r>
            <a:r>
              <a:rPr lang="en-US" dirty="0" err="1"/>
              <a:t>getSize</a:t>
            </a:r>
            <a:r>
              <a:rPr lang="en-US" dirty="0"/>
              <a:t> left parenthesis right parenthesis colon int. Returns the number of elements in the stack.</a:t>
            </a:r>
          </a:p>
          <a:p>
            <a:endParaRPr lang="en-US" dirty="0"/>
          </a:p>
          <a:p>
            <a:r>
              <a:rPr lang="en-US" dirty="0"/>
              <a:t>TestStackOfIntegers: </a:t>
            </a:r>
            <a:r>
              <a:rPr lang="en-IN" dirty="0">
                <a:hlinkClick r:id="rId3"/>
              </a:rPr>
              <a:t>https://liveexample.pearsoncmg.com/html/TestStackOfIntegers.html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01454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2399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elements array for size minus 1 is labeled, top and last box is labeled, bottom. The boxes from the box labeled, top to box labeled, bottom are labeled, size. The whole vertical column is labeled, capacity.</a:t>
            </a:r>
          </a:p>
          <a:p>
            <a:endParaRPr lang="en-US" dirty="0"/>
          </a:p>
          <a:p>
            <a:r>
              <a:rPr lang="en-US" dirty="0"/>
              <a:t>StackOfIntegers: </a:t>
            </a:r>
            <a:r>
              <a:rPr lang="en-IN" dirty="0">
                <a:hlinkClick r:id="rId3"/>
              </a:rPr>
              <a:t>https://liveexample.pearsoncmg.com/html/StackOfIntegers.html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60889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is divided into 2 boxes. The left box shows the java period </a:t>
            </a:r>
            <a:r>
              <a:rPr lang="en-IN" dirty="0" err="1"/>
              <a:t>lang</a:t>
            </a:r>
            <a:r>
              <a:rPr lang="en-IN" dirty="0"/>
              <a:t> period Integer. The computer code has of  14 lines. </a:t>
            </a:r>
          </a:p>
          <a:p>
            <a:r>
              <a:rPr lang="en-IN" dirty="0"/>
              <a:t>Line1, minus value colon </a:t>
            </a:r>
            <a:r>
              <a:rPr lang="en-IN" dirty="0" err="1"/>
              <a:t>int</a:t>
            </a:r>
            <a:endParaRPr lang="en-IN" dirty="0"/>
          </a:p>
          <a:p>
            <a:r>
              <a:rPr lang="en-IN" dirty="0"/>
              <a:t>Line 2, plus MAX_VALUE colon </a:t>
            </a:r>
            <a:r>
              <a:rPr lang="en-IN" dirty="0" err="1"/>
              <a:t>int</a:t>
            </a:r>
            <a:endParaRPr lang="en-IN" dirty="0"/>
          </a:p>
          <a:p>
            <a:r>
              <a:rPr lang="en-IN" dirty="0"/>
              <a:t>Line 3, plus MIN_VALUE colon </a:t>
            </a:r>
            <a:r>
              <a:rPr lang="en-IN" dirty="0" err="1"/>
              <a:t>int</a:t>
            </a:r>
            <a:endParaRPr lang="en-IN" dirty="0"/>
          </a:p>
          <a:p>
            <a:r>
              <a:rPr lang="en-IN" dirty="0"/>
              <a:t>Line 4, plus Integer open parenthesis value colon </a:t>
            </a:r>
            <a:r>
              <a:rPr lang="en-IN" dirty="0" err="1"/>
              <a:t>int</a:t>
            </a:r>
            <a:r>
              <a:rPr lang="en-IN" dirty="0"/>
              <a:t> close parenthesis</a:t>
            </a:r>
          </a:p>
          <a:p>
            <a:r>
              <a:rPr lang="en-IN" dirty="0"/>
              <a:t>Line 5, plus Integer open </a:t>
            </a:r>
            <a:r>
              <a:rPr lang="en-IN" dirty="0" err="1"/>
              <a:t>parenthesiss</a:t>
            </a:r>
            <a:r>
              <a:rPr lang="en-IN" dirty="0"/>
              <a:t> colon String close parenthesis</a:t>
            </a:r>
          </a:p>
          <a:p>
            <a:r>
              <a:rPr lang="en-IN" dirty="0"/>
              <a:t>Line 6, plus byte Value open parenthesis close parenthesis colon byte</a:t>
            </a:r>
          </a:p>
          <a:p>
            <a:r>
              <a:rPr lang="en-IN" dirty="0"/>
              <a:t>Line 7, plus short Value open parenthesis close parenthesis colon short</a:t>
            </a:r>
          </a:p>
          <a:p>
            <a:r>
              <a:rPr lang="en-IN" dirty="0"/>
              <a:t>Line 8, plus </a:t>
            </a:r>
            <a:r>
              <a:rPr lang="en-IN" dirty="0" err="1"/>
              <a:t>intValue</a:t>
            </a:r>
            <a:r>
              <a:rPr lang="en-IN" dirty="0"/>
              <a:t> open parenthesis close parenthesis colon </a:t>
            </a:r>
            <a:r>
              <a:rPr lang="en-IN" dirty="0" err="1"/>
              <a:t>int</a:t>
            </a:r>
            <a:endParaRPr lang="en-IN" dirty="0"/>
          </a:p>
          <a:p>
            <a:r>
              <a:rPr lang="en-IN" dirty="0"/>
              <a:t>Line 9, plus </a:t>
            </a:r>
            <a:r>
              <a:rPr lang="en-IN" dirty="0" err="1"/>
              <a:t>longValue</a:t>
            </a:r>
            <a:r>
              <a:rPr lang="en-IN" dirty="0"/>
              <a:t> open parenthesis close parenthesis colon long</a:t>
            </a:r>
          </a:p>
          <a:p>
            <a:r>
              <a:rPr lang="en-IN" dirty="0"/>
              <a:t>Line 10, plus float Value open parenthesis close parenthesis colon float</a:t>
            </a:r>
          </a:p>
          <a:p>
            <a:r>
              <a:rPr lang="en-IN" dirty="0"/>
              <a:t>Line 11, plus double Value open parenthesis close parenthesis colon double</a:t>
            </a:r>
          </a:p>
          <a:p>
            <a:r>
              <a:rPr lang="en-IN" dirty="0"/>
              <a:t>Line 12, plus compare To open parenthesis colon Integer close parenthesis colon </a:t>
            </a:r>
            <a:r>
              <a:rPr lang="en-IN" dirty="0" err="1"/>
              <a:t>int</a:t>
            </a:r>
            <a:r>
              <a:rPr lang="en-IN" dirty="0"/>
              <a:t> </a:t>
            </a:r>
          </a:p>
          <a:p>
            <a:r>
              <a:rPr lang="en-IN" dirty="0"/>
              <a:t>Line 13, plus to String open parenthesis close parenthesis colon String</a:t>
            </a:r>
          </a:p>
          <a:p>
            <a:r>
              <a:rPr lang="en-IN" dirty="0"/>
              <a:t>Line 14, plus value Of open parenthesis colon String close parenthesis colon Integer</a:t>
            </a:r>
          </a:p>
          <a:p>
            <a:r>
              <a:rPr lang="en-IN" dirty="0"/>
              <a:t>Line 15, plus value Of open parenthesis colon String, radix colon </a:t>
            </a:r>
            <a:r>
              <a:rPr lang="en-IN" dirty="0" err="1"/>
              <a:t>int</a:t>
            </a:r>
            <a:r>
              <a:rPr lang="en-IN" dirty="0"/>
              <a:t> close parenthesis colon Integer</a:t>
            </a:r>
          </a:p>
          <a:p>
            <a:r>
              <a:rPr lang="en-IN" dirty="0"/>
              <a:t>Line 16, plus </a:t>
            </a:r>
            <a:r>
              <a:rPr lang="en-IN" dirty="0" err="1"/>
              <a:t>parseInt</a:t>
            </a:r>
            <a:r>
              <a:rPr lang="en-IN" dirty="0"/>
              <a:t> open parenthesis colon String close parenthesis colon </a:t>
            </a:r>
            <a:r>
              <a:rPr lang="en-IN" dirty="0" err="1"/>
              <a:t>int</a:t>
            </a:r>
            <a:endParaRPr lang="en-IN" dirty="0"/>
          </a:p>
          <a:p>
            <a:r>
              <a:rPr lang="en-IN" dirty="0"/>
              <a:t>Line 17, plus </a:t>
            </a:r>
            <a:r>
              <a:rPr lang="en-IN" dirty="0" err="1"/>
              <a:t>parseInt</a:t>
            </a:r>
            <a:r>
              <a:rPr lang="en-IN" dirty="0"/>
              <a:t> open parenthesis colon String, radix colon </a:t>
            </a:r>
            <a:r>
              <a:rPr lang="en-IN" dirty="0" err="1"/>
              <a:t>int</a:t>
            </a:r>
            <a:r>
              <a:rPr lang="en-IN" dirty="0"/>
              <a:t> close parenthesis colon </a:t>
            </a:r>
            <a:r>
              <a:rPr lang="en-IN" dirty="0" err="1"/>
              <a:t>int</a:t>
            </a:r>
            <a:endParaRPr lang="en-IN" dirty="0"/>
          </a:p>
          <a:p>
            <a:endParaRPr lang="en-IN" dirty="0"/>
          </a:p>
          <a:p>
            <a:r>
              <a:rPr lang="en-IN" dirty="0"/>
              <a:t>The Right box shows java period </a:t>
            </a:r>
            <a:r>
              <a:rPr lang="en-IN" dirty="0" err="1"/>
              <a:t>lang</a:t>
            </a:r>
            <a:r>
              <a:rPr lang="en-IN" dirty="0"/>
              <a:t> period Double. </a:t>
            </a:r>
          </a:p>
          <a:p>
            <a:r>
              <a:rPr lang="en-IN" dirty="0"/>
              <a:t>The computer code has of  17 lines. </a:t>
            </a:r>
          </a:p>
          <a:p>
            <a:r>
              <a:rPr lang="en-IN" dirty="0"/>
              <a:t>Line1, minus value colon double</a:t>
            </a:r>
          </a:p>
          <a:p>
            <a:r>
              <a:rPr lang="en-IN" dirty="0"/>
              <a:t>Line 2, plus MAX_VALUE colon double</a:t>
            </a:r>
          </a:p>
          <a:p>
            <a:r>
              <a:rPr lang="en-IN" dirty="0"/>
              <a:t>Line 3, plus MIN_VALUE colon double</a:t>
            </a:r>
          </a:p>
          <a:p>
            <a:r>
              <a:rPr lang="en-IN" dirty="0"/>
              <a:t>Line 4, plus Double open parenthesis value colon double close parenthesis</a:t>
            </a:r>
          </a:p>
          <a:p>
            <a:r>
              <a:rPr lang="en-IN" dirty="0"/>
              <a:t>Line 5, plus Double open parenthesis colon String close parenthesis</a:t>
            </a:r>
          </a:p>
          <a:p>
            <a:r>
              <a:rPr lang="en-IN" dirty="0"/>
              <a:t>Line 6, plus byte Value open parenthesis close parenthesis colon byte</a:t>
            </a:r>
          </a:p>
          <a:p>
            <a:r>
              <a:rPr lang="en-IN" dirty="0"/>
              <a:t>Line 7, plus short Value open parenthesis close parenthesis colon short</a:t>
            </a:r>
          </a:p>
          <a:p>
            <a:r>
              <a:rPr lang="en-IN" dirty="0"/>
              <a:t>Line 8, plus </a:t>
            </a:r>
            <a:r>
              <a:rPr lang="en-IN" dirty="0" err="1"/>
              <a:t>intValue</a:t>
            </a:r>
            <a:r>
              <a:rPr lang="en-IN" dirty="0"/>
              <a:t> open parenthesis close parenthesis colon </a:t>
            </a:r>
            <a:r>
              <a:rPr lang="en-IN" dirty="0" err="1"/>
              <a:t>int</a:t>
            </a:r>
            <a:endParaRPr lang="en-IN" dirty="0"/>
          </a:p>
          <a:p>
            <a:r>
              <a:rPr lang="en-IN" dirty="0"/>
              <a:t>Line 9, plus </a:t>
            </a:r>
            <a:r>
              <a:rPr lang="en-IN" dirty="0" err="1"/>
              <a:t>longValue</a:t>
            </a:r>
            <a:r>
              <a:rPr lang="en-IN" dirty="0"/>
              <a:t> open parenthesis close parenthesis colon long</a:t>
            </a:r>
          </a:p>
          <a:p>
            <a:r>
              <a:rPr lang="en-IN" dirty="0"/>
              <a:t>Line 10, plus float Value open parenthesis close parenthesis colon float</a:t>
            </a:r>
          </a:p>
          <a:p>
            <a:r>
              <a:rPr lang="en-IN" dirty="0"/>
              <a:t>Line 11, plus double Value open parenthesis close parenthesis colon double</a:t>
            </a:r>
          </a:p>
          <a:p>
            <a:r>
              <a:rPr lang="en-IN" dirty="0"/>
              <a:t>Line 12, plus compare To open parenthesis colon Double close parenthesis colon into </a:t>
            </a:r>
          </a:p>
          <a:p>
            <a:r>
              <a:rPr lang="en-IN" dirty="0"/>
              <a:t>Line 13, plus to String open parenthesis close parenthesis colon String</a:t>
            </a:r>
          </a:p>
          <a:p>
            <a:r>
              <a:rPr lang="en-IN" dirty="0"/>
              <a:t>Line 14, plus value Of open parenthesis colon String close parenthesis colon Double</a:t>
            </a:r>
          </a:p>
          <a:p>
            <a:r>
              <a:rPr lang="en-IN" dirty="0"/>
              <a:t>Line 15, plus value Of open parenthesis colon String, radix colon </a:t>
            </a:r>
            <a:r>
              <a:rPr lang="en-IN" dirty="0" err="1"/>
              <a:t>int</a:t>
            </a:r>
            <a:r>
              <a:rPr lang="en-IN" dirty="0"/>
              <a:t> close parenthesis colon Double</a:t>
            </a:r>
          </a:p>
          <a:p>
            <a:r>
              <a:rPr lang="en-IN" dirty="0"/>
              <a:t>Line 16, plus parse Double open parenthesis colon String close parenthesis colon double</a:t>
            </a:r>
          </a:p>
          <a:p>
            <a:r>
              <a:rPr lang="en-IN" dirty="0"/>
              <a:t>Line 17, plus parse Double open parenthesis colon String, radix colon </a:t>
            </a:r>
            <a:r>
              <a:rPr lang="en-IN" dirty="0" err="1"/>
              <a:t>int</a:t>
            </a:r>
            <a:r>
              <a:rPr lang="en-IN" dirty="0"/>
              <a:t> close parenthesis colon double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04915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left computer code shows the coding of Integer open bracket close bracket int Array equals to open braces new Integer open parenthesis 2 close parenthesis comma  new Integer open parenthesis 4 close parenthesis, new Integer open parenthesis3 close parenthesis close braces semicolon which is equivalent to right computer code that shows the Integer open bracket close bracket int Array equals to open braces 2, 4, 3 close braces semicolon are New JDK 1.5 boxing.</a:t>
            </a:r>
          </a:p>
          <a:p>
            <a:endParaRPr lang="en-IN" dirty="0"/>
          </a:p>
          <a:p>
            <a:r>
              <a:rPr lang="en-US" dirty="0" err="1"/>
              <a:t>System.out.prinln</a:t>
            </a:r>
            <a:r>
              <a:rPr lang="en-US" dirty="0"/>
              <a:t> left parenthesis </a:t>
            </a:r>
            <a:r>
              <a:rPr lang="en-US" dirty="0" err="1"/>
              <a:t>intArray</a:t>
            </a:r>
            <a:r>
              <a:rPr lang="en-US" dirty="0"/>
              <a:t> left bracket 0 right bracket + </a:t>
            </a:r>
            <a:r>
              <a:rPr lang="en-US" dirty="0" err="1"/>
              <a:t>intArray</a:t>
            </a:r>
            <a:r>
              <a:rPr lang="en-US" dirty="0"/>
              <a:t> left bracket 1 right bracket + </a:t>
            </a:r>
            <a:r>
              <a:rPr lang="en-US" dirty="0" err="1"/>
              <a:t>intArray</a:t>
            </a:r>
            <a:r>
              <a:rPr lang="en-US" dirty="0"/>
              <a:t> left bracket 2 right bracket. The arrays are together labeled, unboxing.</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98136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LargeFactorial: </a:t>
            </a:r>
            <a:r>
              <a:rPr lang="en-IN" dirty="0">
                <a:hlinkClick r:id="rId3"/>
              </a:rPr>
              <a:t>https://liveexample.pearsoncmg.com/html/LargeFactorial.html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38665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Line 1, String s equal to double quote Java double quote semicolon. Line 2, s equal to double quote HTML double quote semicolon. </a:t>
            </a:r>
          </a:p>
          <a:p>
            <a:r>
              <a:rPr lang="en-IN" dirty="0"/>
              <a:t>The left downward side computer code shows the Trace code. It has 3 lines. Line 1, After executing String s equal to double quote Java double quote semicolon. Line 2, shows the one box which is for s and it's represent an arrow which shows the another box which has 2 rows. Row 1, colon String. Row 2, String object for double quote Java double quote and this row shows the Contents cannot be changed. </a:t>
            </a:r>
          </a:p>
          <a:p>
            <a:r>
              <a:rPr lang="en-IN" dirty="0"/>
              <a:t>The left rightward side computer code shows the Trace code. It has 5 lines. Line 1, After executing s equal to double quote HTML double quote semicolon. Line 2, shows the one box which is for s and it's represent two arrows which shows the two boxes that is one box has 2 rows and another box also has 2 rows. So, the one box shows the 2 rows coding. Row 1, colon String. Row 2, String object for double quote Java double quote. Now, the another box also has two rows which shows the coding. Row 1, colon String. Row 2, String object for double quote HTML double quote.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7384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Line 1, String s equal to double quote Java double quote semicolon. Line 2, s equal to double quote HTML double quote semicolon. </a:t>
            </a:r>
          </a:p>
          <a:p>
            <a:r>
              <a:rPr lang="en-IN" dirty="0"/>
              <a:t>The left downward side computer code shows the Trace code. It has 3 lines. Line 1, After executing String s equal to double quote Java double quote semicolon. Line 2, shows the one box which is for s and it's represent an arrow which shows the another box which has 2 rows. Row 1, colon String. Row 2, String object for double quote Java double quote and this row shows the Contents cannot be changed. </a:t>
            </a:r>
          </a:p>
          <a:p>
            <a:r>
              <a:rPr lang="en-IN" dirty="0"/>
              <a:t>The left rightward side computer code shows the Trace code. It has 5 lines. Line 1, After executing s equal to double quote HTML double quote semicolon. Line 2, shows the one box which is for s and it's represent two arrows which shows the two boxes that is one box has 2 rows and another box also has 2 rows. So, the one box shows the 2 rows coding. Row 1, colon String. Row 2, String object for double quote Java double quote. Now, the another box also has two rows which shows the coding. Row 1, colon String. Row 2, String object for double quote HTML double quote."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30988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s2 = new String left parenthesis start double quotation marks Welcome to Java end double quotation marks right parenthesis semi colon</a:t>
            </a:r>
          </a:p>
          <a:p>
            <a:r>
              <a:rPr lang="en-US" dirty="0"/>
              <a:t>String s3 = Start double quotation marks Welcome to Java end double quotation marks semi colon</a:t>
            </a:r>
          </a:p>
          <a:p>
            <a:r>
              <a:rPr lang="en-US" dirty="0"/>
              <a:t>System.out.println left parenthesis start double quotation marks s1 == s2 is end double quotation marks + left parenthesis s1 == s2 right parenthesis, right parenthesis semi colon</a:t>
            </a:r>
          </a:p>
          <a:p>
            <a:r>
              <a:rPr lang="en-US" dirty="0"/>
              <a:t>System.out.println left parenthesis start double quotation marks s1 == s3 is end double quotation marks + left parenthesis s1 == s3 right parenthesis, right parenthesis semi colon</a:t>
            </a:r>
          </a:p>
          <a:p>
            <a:r>
              <a:rPr lang="en-US" dirty="0"/>
              <a:t>An illustration shows two boxes each </a:t>
            </a:r>
            <a:r>
              <a:rPr lang="en-US" dirty="0" err="1"/>
              <a:t>labaled</a:t>
            </a:r>
            <a:r>
              <a:rPr lang="en-US" dirty="0"/>
              <a:t>, String. The text in the top box reads, Interned string object for start double quotation marks Welcome to Java end double quotation marks. The box is labeled, s1 and s3.</a:t>
            </a:r>
          </a:p>
          <a:p>
            <a:r>
              <a:rPr lang="en-US" dirty="0"/>
              <a:t>The text in the bottom box reads, a string object for start double quotation marks Welcome to Java end double quotation marks. The box is labeled, s2.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60791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s2 = new String left parenthesis start double quotation marks Welcome to Java end double quotation marks right parenthesis semi colon</a:t>
            </a:r>
          </a:p>
          <a:p>
            <a:r>
              <a:rPr lang="en-US" dirty="0"/>
              <a:t>String s3 = Start double quotation marks Welcome to Java end double quotation marks semi colon</a:t>
            </a:r>
          </a:p>
          <a:p>
            <a:r>
              <a:rPr lang="en-US" dirty="0"/>
              <a:t>An illustration shows boxes each </a:t>
            </a:r>
            <a:r>
              <a:rPr lang="en-US" dirty="0" err="1"/>
              <a:t>labaled</a:t>
            </a:r>
            <a:r>
              <a:rPr lang="en-US" dirty="0"/>
              <a:t>, String. The text in the box reads, Interned string object for start double quotation marks Welcome to Java end double quotation marks. The box is labeled, s1.</a:t>
            </a:r>
          </a:p>
          <a:p>
            <a:r>
              <a:rPr lang="en-US" dirty="0"/>
              <a:t>The code for string s1 and the box are highlighted.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438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s2 = new String left parenthesis start double quotation marks Welcome to Java end double quotation marks right parenthesis semi colon</a:t>
            </a:r>
          </a:p>
          <a:p>
            <a:r>
              <a:rPr lang="en-US" dirty="0"/>
              <a:t>String s3 = Start double quotation marks Welcome to Java end double quotation marks semi colon</a:t>
            </a:r>
          </a:p>
          <a:p>
            <a:r>
              <a:rPr lang="en-US" dirty="0"/>
              <a:t>An illustration shows two boxes each </a:t>
            </a:r>
            <a:r>
              <a:rPr lang="en-US" dirty="0" err="1"/>
              <a:t>labaled</a:t>
            </a:r>
            <a:r>
              <a:rPr lang="en-US" dirty="0"/>
              <a:t>, String. The text in the top box reads, Interned string object for start double quotation marks Welcome to Java end double quotation marks. The box is labeled, s1.</a:t>
            </a:r>
          </a:p>
          <a:p>
            <a:r>
              <a:rPr lang="en-US" dirty="0"/>
              <a:t>The text in the bottom box reads, a string object for start double quotation marks Welcome to Java end double quotation marks. The box is labeled, s2.</a:t>
            </a:r>
          </a:p>
          <a:p>
            <a:r>
              <a:rPr lang="en-US" dirty="0"/>
              <a:t>The code and box for s2 are highlighted.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67213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s2 = new String left parenthesis start double quotation marks Welcome to Java end double quotation marks right parenthesis semi colon</a:t>
            </a:r>
          </a:p>
          <a:p>
            <a:r>
              <a:rPr lang="en-US" dirty="0"/>
              <a:t>String s3 = Start double quotation marks Welcome to Java end double quotation marks semi colon</a:t>
            </a:r>
          </a:p>
          <a:p>
            <a:r>
              <a:rPr lang="en-US" dirty="0"/>
              <a:t>System.out.println left parenthesis start double quotation marks s1 == s2 is end double quotation marks + left parenthesis s1 == s2 right parenthesis, right parenthesis semi colon</a:t>
            </a:r>
          </a:p>
          <a:p>
            <a:r>
              <a:rPr lang="en-US" dirty="0"/>
              <a:t>System.out.println left parenthesis start double quotation marks s1 == s3 is end double quotation marks + left parenthesis s1 == s3 right parenthesis, right parenthesis semi colon</a:t>
            </a:r>
          </a:p>
          <a:p>
            <a:r>
              <a:rPr lang="en-US" dirty="0"/>
              <a:t>An illustration shows two boxes each </a:t>
            </a:r>
            <a:r>
              <a:rPr lang="en-US" dirty="0" err="1"/>
              <a:t>labaled</a:t>
            </a:r>
            <a:r>
              <a:rPr lang="en-US" dirty="0"/>
              <a:t>, String. The text in the top box reads, Interned string object for start double quotation marks Welcome to Java end double quotation marks. The box is labeled, s1 and s3.</a:t>
            </a:r>
          </a:p>
          <a:p>
            <a:r>
              <a:rPr lang="en-US" dirty="0"/>
              <a:t>The text in the bottom box reads, a string object for start double quotation marks Welcome to Java end double quotation marks. The box is labeled, s2.</a:t>
            </a:r>
          </a:p>
          <a:p>
            <a:r>
              <a:rPr lang="en-US" dirty="0"/>
              <a:t>The code and box for s3 are highlighted.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6017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+replace left parenthesis </a:t>
            </a:r>
            <a:r>
              <a:rPr lang="en-US" dirty="0" err="1"/>
              <a:t>oldChar</a:t>
            </a:r>
            <a:r>
              <a:rPr lang="en-US" dirty="0"/>
              <a:t> colon char, </a:t>
            </a:r>
            <a:r>
              <a:rPr lang="en-US" dirty="0" err="1"/>
              <a:t>newChar</a:t>
            </a:r>
            <a:r>
              <a:rPr lang="en-US" dirty="0"/>
              <a:t> colon char right parenthesis colon String. Returns a new string that replaces all matching character in this string with the new character.</a:t>
            </a:r>
          </a:p>
          <a:p>
            <a:r>
              <a:rPr lang="en-US" dirty="0"/>
              <a:t>Row 2. +replaceFirst left parenthesis </a:t>
            </a:r>
            <a:r>
              <a:rPr lang="en-US" dirty="0" err="1"/>
              <a:t>oldString</a:t>
            </a:r>
            <a:r>
              <a:rPr lang="en-US" dirty="0"/>
              <a:t> colon String, newString colon String right parenthesis colon String. Returns a new string that replaces the first matching substring in this string with the new substring.</a:t>
            </a:r>
          </a:p>
          <a:p>
            <a:r>
              <a:rPr lang="en-US" dirty="0"/>
              <a:t>Row 3. +replaceAll left parenthesis </a:t>
            </a:r>
            <a:r>
              <a:rPr lang="en-US" dirty="0" err="1"/>
              <a:t>oldString</a:t>
            </a:r>
            <a:r>
              <a:rPr lang="en-US" dirty="0"/>
              <a:t> colon String, newString colon String right parenthesis colon String. Returns a new string that replace all matching substrings in this string with the new substring.</a:t>
            </a:r>
          </a:p>
          <a:p>
            <a:r>
              <a:rPr lang="en-US" dirty="0"/>
              <a:t>Row 4. +split left parenthesis delimiter colon String right parenthesis colon String left bracket right bracket. Returns an array of strings consisting of the substrings split by the delimiter.</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230882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+StringBuilder left parenthesis right parenthesis. Constructs an empty string builder with capacity 16.</a:t>
            </a:r>
          </a:p>
          <a:p>
            <a:r>
              <a:rPr lang="en-US" dirty="0"/>
              <a:t>Row 2. +StringBuilder left parenthesis capacity colon int right parenthesis. Constructs a string builder with the specified capacity.</a:t>
            </a:r>
          </a:p>
          <a:p>
            <a:r>
              <a:rPr lang="en-US" dirty="0"/>
              <a:t>Row 3. +StringBuilder left parenthesis S colon String right parenthesis. </a:t>
            </a:r>
            <a:r>
              <a:rPr lang="en-US" dirty="0" err="1"/>
              <a:t>Construcyts</a:t>
            </a:r>
            <a:r>
              <a:rPr lang="en-US" dirty="0"/>
              <a:t> a string builder with the specified string.</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794144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+append left parenthesis data colon char left bracket right bracket right parenthesis colon StringBuilder. Appends a char array into this string builder.</a:t>
            </a:r>
          </a:p>
          <a:p>
            <a:r>
              <a:rPr lang="en-US" dirty="0"/>
              <a:t>Row 2. +append left parenthesis data colon char left bracket right bracket, offset colon int, </a:t>
            </a:r>
            <a:r>
              <a:rPr lang="en-US" dirty="0" err="1"/>
              <a:t>len</a:t>
            </a:r>
            <a:r>
              <a:rPr lang="en-US" dirty="0"/>
              <a:t> colon int right parenthesis colon StringBuilder. Appends a subarray in data into this string builder.</a:t>
            </a:r>
          </a:p>
          <a:p>
            <a:r>
              <a:rPr lang="en-US" dirty="0"/>
              <a:t>Row 3. +append left parenthesis v colon </a:t>
            </a:r>
            <a:r>
              <a:rPr lang="en-US" dirty="0" err="1"/>
              <a:t>aPrimitiveType</a:t>
            </a:r>
            <a:r>
              <a:rPr lang="en-US" dirty="0"/>
              <a:t> right parenthesis colon String Builder. Appends a primitive type value as a string to this builder.</a:t>
            </a:r>
          </a:p>
          <a:p>
            <a:r>
              <a:rPr lang="en-US" dirty="0"/>
              <a:t>Row 4. +append left parenthesis s colon String right parenthesis colon StringBuilder. Appends a string to this string builder.</a:t>
            </a:r>
          </a:p>
          <a:p>
            <a:r>
              <a:rPr lang="en-US" dirty="0"/>
              <a:t>Row 5. +delete left parenthesis </a:t>
            </a:r>
            <a:r>
              <a:rPr lang="en-US" dirty="0" err="1"/>
              <a:t>startIndex</a:t>
            </a:r>
            <a:r>
              <a:rPr lang="en-US" dirty="0"/>
              <a:t> colon int, </a:t>
            </a:r>
            <a:r>
              <a:rPr lang="en-US" dirty="0" err="1"/>
              <a:t>endlndex</a:t>
            </a:r>
            <a:r>
              <a:rPr lang="en-US" dirty="0"/>
              <a:t> colon int right parenthesis colon StringBuilder. Deletes characters from </a:t>
            </a:r>
            <a:r>
              <a:rPr lang="en-US" dirty="0" err="1"/>
              <a:t>startlndex</a:t>
            </a:r>
            <a:r>
              <a:rPr lang="en-US" dirty="0"/>
              <a:t> to </a:t>
            </a:r>
            <a:r>
              <a:rPr lang="en-US" dirty="0" err="1"/>
              <a:t>endlndex</a:t>
            </a:r>
            <a:r>
              <a:rPr lang="en-US" dirty="0"/>
              <a:t>.</a:t>
            </a:r>
          </a:p>
          <a:p>
            <a:r>
              <a:rPr lang="en-US" dirty="0"/>
              <a:t>Row 6. +</a:t>
            </a:r>
            <a:r>
              <a:rPr lang="en-US" dirty="0" err="1"/>
              <a:t>deleteCharAt</a:t>
            </a:r>
            <a:r>
              <a:rPr lang="en-US" dirty="0"/>
              <a:t> left parenthesis index colon int right parenthesis colon StringBuilder. Deletes a character at the specified index.</a:t>
            </a:r>
          </a:p>
          <a:p>
            <a:r>
              <a:rPr lang="en-US" dirty="0"/>
              <a:t>Row 7. +insert left parenthesis index colon int, data colon char left bracket right bracket, offset colon int, </a:t>
            </a:r>
            <a:r>
              <a:rPr lang="en-US" dirty="0" err="1"/>
              <a:t>len</a:t>
            </a:r>
            <a:r>
              <a:rPr lang="en-US" dirty="0"/>
              <a:t> colon int right parenthesis colon StringBuilder. Inserts a subarray of the data in the array to the builder at the specified index.</a:t>
            </a:r>
          </a:p>
          <a:p>
            <a:r>
              <a:rPr lang="en-US" dirty="0"/>
              <a:t>Row 8. +insert left parenthesis offset colon int, data colon char left bracket right bracket right parenthesis colon StringBuilder. Inserts data into this builder at the position offset.</a:t>
            </a:r>
          </a:p>
          <a:p>
            <a:r>
              <a:rPr lang="en-US" dirty="0"/>
              <a:t>Row 9. +insert left parenthesis offset colon int, b colon </a:t>
            </a:r>
            <a:r>
              <a:rPr lang="en-US" dirty="0" err="1"/>
              <a:t>aPrimitiveType</a:t>
            </a:r>
            <a:r>
              <a:rPr lang="en-US" dirty="0"/>
              <a:t> right parenthesis colon StringBuilder. Inserts a value converted to a string into this builder.</a:t>
            </a:r>
          </a:p>
          <a:p>
            <a:r>
              <a:rPr lang="en-US" dirty="0"/>
              <a:t>Row 10. +insert left parenthesis offset colon int, s colon String right parenthesis colon StringBuilder. Inserts a string into this builder at the position offset.</a:t>
            </a:r>
          </a:p>
          <a:p>
            <a:r>
              <a:rPr lang="en-US" dirty="0"/>
              <a:t>Row 11. +replace left parenthesis </a:t>
            </a:r>
            <a:r>
              <a:rPr lang="en-US" dirty="0" err="1"/>
              <a:t>startlndex</a:t>
            </a:r>
            <a:r>
              <a:rPr lang="en-US" dirty="0"/>
              <a:t> colon int, </a:t>
            </a:r>
            <a:r>
              <a:rPr lang="en-US" dirty="0" err="1"/>
              <a:t>endlndex</a:t>
            </a:r>
            <a:r>
              <a:rPr lang="en-US" dirty="0"/>
              <a:t> colon int, s colon String right parenthesis colon StringBuilder. Replaces the characters in this builder from </a:t>
            </a:r>
            <a:r>
              <a:rPr lang="en-US" dirty="0" err="1"/>
              <a:t>startlndex</a:t>
            </a:r>
            <a:r>
              <a:rPr lang="en-US" dirty="0"/>
              <a:t> to </a:t>
            </a:r>
            <a:r>
              <a:rPr lang="en-US" dirty="0" err="1"/>
              <a:t>endlndex</a:t>
            </a:r>
            <a:r>
              <a:rPr lang="en-US" dirty="0"/>
              <a:t> with the specified string.</a:t>
            </a:r>
          </a:p>
          <a:p>
            <a:r>
              <a:rPr lang="en-US" dirty="0"/>
              <a:t>Row 12. +reverse left parenthesis right parenthesis colon StringBuilder. Reverses the characters in the builder.</a:t>
            </a:r>
          </a:p>
          <a:p>
            <a:r>
              <a:rPr lang="en-US" dirty="0"/>
              <a:t>Row 13. +</a:t>
            </a:r>
            <a:r>
              <a:rPr lang="en-US" dirty="0" err="1"/>
              <a:t>setCharAt</a:t>
            </a:r>
            <a:r>
              <a:rPr lang="en-US" dirty="0"/>
              <a:t> left parenthesis index colon int, </a:t>
            </a:r>
            <a:r>
              <a:rPr lang="en-US" dirty="0" err="1"/>
              <a:t>ch</a:t>
            </a:r>
            <a:r>
              <a:rPr lang="en-US" dirty="0"/>
              <a:t> colon char right parenthesis colon void. Sets a new character at the specified index in this builder.</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19116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+toString left parenthesis right parenthesis colon String. Returns a string object from the string builder.</a:t>
            </a:r>
          </a:p>
          <a:p>
            <a:r>
              <a:rPr lang="en-US" dirty="0"/>
              <a:t>Row 2. +capacity left parenthesis right parenthesis colon int. Returns the capacity of this string builder.</a:t>
            </a:r>
          </a:p>
          <a:p>
            <a:r>
              <a:rPr lang="en-US" dirty="0"/>
              <a:t>Row 3. +charAt left parenthesis index colon int right parenthesis colon char. Returns the character at the specified index.</a:t>
            </a:r>
          </a:p>
          <a:p>
            <a:r>
              <a:rPr lang="en-US" dirty="0"/>
              <a:t>Row 4. +length left parenthesis right parenthesis colon int. Returns the number of characters in this builder.</a:t>
            </a:r>
          </a:p>
          <a:p>
            <a:r>
              <a:rPr lang="en-US" dirty="0"/>
              <a:t>Row 5. +setLength left parenthesis </a:t>
            </a:r>
            <a:r>
              <a:rPr lang="en-US" dirty="0" err="1"/>
              <a:t>newLength</a:t>
            </a:r>
            <a:r>
              <a:rPr lang="en-US" dirty="0"/>
              <a:t> colon int right parenthesis colon void. Sets a new length in this builder.</a:t>
            </a:r>
          </a:p>
          <a:p>
            <a:r>
              <a:rPr lang="en-US" dirty="0"/>
              <a:t>Row 6. +substring left parenthesis </a:t>
            </a:r>
            <a:r>
              <a:rPr lang="en-US" dirty="0" err="1"/>
              <a:t>startlndex</a:t>
            </a:r>
            <a:r>
              <a:rPr lang="en-US" dirty="0"/>
              <a:t> colon int right parenthesis colon String. Returns a substring starting at </a:t>
            </a:r>
            <a:r>
              <a:rPr lang="en-US" dirty="0" err="1"/>
              <a:t>startlndex</a:t>
            </a:r>
            <a:r>
              <a:rPr lang="en-US" dirty="0"/>
              <a:t>.</a:t>
            </a:r>
          </a:p>
          <a:p>
            <a:r>
              <a:rPr lang="en-US" dirty="0"/>
              <a:t>Row 7. +substring left parenthesis </a:t>
            </a:r>
            <a:r>
              <a:rPr lang="en-US" dirty="0" err="1"/>
              <a:t>startlndex</a:t>
            </a:r>
            <a:r>
              <a:rPr lang="en-US" dirty="0"/>
              <a:t> colon int, </a:t>
            </a:r>
            <a:r>
              <a:rPr lang="en-US" dirty="0" err="1"/>
              <a:t>endlndex</a:t>
            </a:r>
            <a:r>
              <a:rPr lang="en-US" dirty="0"/>
              <a:t> colon int right parenthesis colon String. Returns a substring from </a:t>
            </a:r>
            <a:r>
              <a:rPr lang="en-US" dirty="0" err="1"/>
              <a:t>startlndex</a:t>
            </a:r>
            <a:r>
              <a:rPr lang="en-US" dirty="0"/>
              <a:t> to </a:t>
            </a:r>
            <a:r>
              <a:rPr lang="en-US" dirty="0" err="1"/>
              <a:t>endlndex</a:t>
            </a:r>
            <a:r>
              <a:rPr lang="en-US" dirty="0"/>
              <a:t> 1.</a:t>
            </a:r>
          </a:p>
          <a:p>
            <a:r>
              <a:rPr lang="en-US" dirty="0"/>
              <a:t>Row 8. +</a:t>
            </a:r>
            <a:r>
              <a:rPr lang="en-US" dirty="0" err="1"/>
              <a:t>trimToSize</a:t>
            </a:r>
            <a:r>
              <a:rPr lang="en-US" dirty="0"/>
              <a:t> left parenthesis right parenthesis colon void. Reduces the storage size used for the string builder.</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3851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PalindromeIgnoreNonAlphanumeric: </a:t>
            </a:r>
            <a:r>
              <a:rPr lang="en-IN" dirty="0">
                <a:hlinkClick r:id="rId3"/>
              </a:rPr>
              <a:t>https://liveexample.pearsoncmg.com/html/PalindromeIgnoreNonAlphanumeric.html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065075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+matches left parenthesis regex colon String right parenthesis colon Boolean. Returns true if this string matches the pattern.</a:t>
            </a:r>
          </a:p>
          <a:p>
            <a:r>
              <a:rPr lang="en-US" dirty="0"/>
              <a:t>Row 2. +replaceAll left parenthesis regex colon String, replacement colon String right parenthesis colon String. Returns a new string that replaces all matching substrings with the replacement.</a:t>
            </a:r>
          </a:p>
          <a:p>
            <a:r>
              <a:rPr lang="en-US" dirty="0"/>
              <a:t>Row 3. +replaceFirst left parenthesis regex colon String, replacement colon String right parenthesis colon String. Returns a new string that replaces the first matching substring with the replacement.</a:t>
            </a:r>
          </a:p>
          <a:p>
            <a:r>
              <a:rPr lang="en-US" dirty="0"/>
              <a:t>Row 4. +split left parenthesis regex colon String right parenthesis colon String. Returns an array of strings consisting of the substrings split by the matches.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36779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hyperlink" Target="https://liveexample.pearsoncmg.com/html/TestLoanClass.html" TargetMode="External"/><Relationship Id="rId4" Type="http://schemas.openxmlformats.org/officeDocument/2006/relationships/hyperlink" Target="https://liveexample.pearsoncmg.com/html/Loa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hyperlink" Target="https://liveexample.pearsoncmg.com/html/UseBMIClass.html" TargetMode="External"/><Relationship Id="rId4" Type="http://schemas.openxmlformats.org/officeDocument/2006/relationships/hyperlink" Target="https://liveexample.pearsoncmg.com/html/BMI.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hyperlink" Target="https://liveexample.pearsoncmg.com/html/TestCourse.html" TargetMode="External"/><Relationship Id="rId4" Type="http://schemas.openxmlformats.org/officeDocument/2006/relationships/hyperlink" Target="https://liveexample.pearsoncmg.com/html/Course.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hyperlink" Target="https://liveexample.pearsoncmg.com/html/TestStackOfIntegers.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hyperlink" Target="https://liveexample.pearsoncmg.com/html/StackOfInteger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liveexample.pearsoncmg.com/html/LargeFactorial.html"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bin"/><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s://liveexample.pearsoncmg.com/html/PalindromeIgnoreNonAlphanumeric.html" TargetMode="Externa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046721"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C9CF1B25-0F39-4E38-92C8-BAF387D68FC4}"/>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10</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589177"/>
          </a:xfrm>
        </p:spPr>
        <p:txBody>
          <a:bodyPr/>
          <a:lstStyle/>
          <a:p>
            <a:r>
              <a:rPr lang="en-US" dirty="0"/>
              <a:t>Thinking in Objects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Motivations</a:t>
            </a:r>
          </a:p>
        </p:txBody>
      </p:sp>
      <p:sp>
        <p:nvSpPr>
          <p:cNvPr id="3" name="Content Placeholder 2"/>
          <p:cNvSpPr>
            <a:spLocks noGrp="1"/>
          </p:cNvSpPr>
          <p:nvPr>
            <p:ph sz="quarter" idx="13"/>
          </p:nvPr>
        </p:nvSpPr>
        <p:spPr>
          <a:xfrm>
            <a:off x="457200" y="1554920"/>
            <a:ext cx="8232775" cy="1413363"/>
          </a:xfrm>
        </p:spPr>
        <p:txBody>
          <a:bodyPr/>
          <a:lstStyle/>
          <a:p>
            <a:pPr marL="432" indent="0">
              <a:buNone/>
            </a:pPr>
            <a:r>
              <a:rPr lang="en-US" dirty="0"/>
              <a:t>You see the advantages of object-oriented programming from the preceding chapter. This chapter will demonstrate how to solve problems using the object-oriented paradigm.</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7A284-DC1D-47B2-845D-10CC223F0753}"/>
              </a:ext>
            </a:extLst>
          </p:cNvPr>
          <p:cNvSpPr>
            <a:spLocks noGrp="1"/>
          </p:cNvSpPr>
          <p:nvPr>
            <p:ph type="title"/>
          </p:nvPr>
        </p:nvSpPr>
        <p:spPr/>
        <p:txBody>
          <a:bodyPr/>
          <a:lstStyle/>
          <a:p>
            <a:r>
              <a:rPr lang="en-US"/>
              <a:t>Objectives </a:t>
            </a:r>
            <a:r>
              <a:rPr lang="en-US" sz="2000" b="0"/>
              <a:t>(1 of 2)</a:t>
            </a:r>
          </a:p>
        </p:txBody>
      </p:sp>
      <p:sp>
        <p:nvSpPr>
          <p:cNvPr id="3" name="Content Placeholder 2">
            <a:extLst>
              <a:ext uri="{FF2B5EF4-FFF2-40B4-BE49-F238E27FC236}">
                <a16:creationId xmlns:a16="http://schemas.microsoft.com/office/drawing/2014/main" id="{C1BF73B7-211C-4DD2-ABFB-94532E0B98D8}"/>
              </a:ext>
            </a:extLst>
          </p:cNvPr>
          <p:cNvSpPr>
            <a:spLocks noGrp="1"/>
          </p:cNvSpPr>
          <p:nvPr>
            <p:ph sz="quarter" idx="13"/>
          </p:nvPr>
        </p:nvSpPr>
        <p:spPr>
          <a:xfrm>
            <a:off x="457200" y="1551607"/>
            <a:ext cx="8244000" cy="4356000"/>
          </a:xfrm>
        </p:spPr>
        <p:txBody>
          <a:bodyPr/>
          <a:lstStyle/>
          <a:p>
            <a:pPr marL="432" indent="0">
              <a:buNone/>
            </a:pPr>
            <a:r>
              <a:rPr lang="en-US" sz="1800" b="1" dirty="0">
                <a:solidFill>
                  <a:srgbClr val="007FA3"/>
                </a:solidFill>
              </a:rPr>
              <a:t>10.1</a:t>
            </a:r>
            <a:r>
              <a:rPr lang="en-US" sz="1800" dirty="0"/>
              <a:t> To apply class abstraction to develop software (§10.2).</a:t>
            </a:r>
          </a:p>
          <a:p>
            <a:pPr marL="432" indent="0">
              <a:buNone/>
            </a:pPr>
            <a:r>
              <a:rPr lang="en-US" sz="1800" b="1" dirty="0">
                <a:solidFill>
                  <a:srgbClr val="007FA3"/>
                </a:solidFill>
              </a:rPr>
              <a:t>10.2</a:t>
            </a:r>
            <a:r>
              <a:rPr lang="en-US" sz="1800" dirty="0"/>
              <a:t> To explore the differences between the procedural paradigm and object-oriented paradigm (§10.3).</a:t>
            </a:r>
          </a:p>
          <a:p>
            <a:pPr marL="432" indent="0">
              <a:buNone/>
            </a:pPr>
            <a:r>
              <a:rPr lang="en-US" sz="1800" b="1" dirty="0">
                <a:solidFill>
                  <a:srgbClr val="007FA3"/>
                </a:solidFill>
              </a:rPr>
              <a:t>10.3</a:t>
            </a:r>
            <a:r>
              <a:rPr lang="en-US" sz="1800" dirty="0"/>
              <a:t> To discover the relationships between classes (§10.4).</a:t>
            </a:r>
          </a:p>
          <a:p>
            <a:pPr marL="432" indent="0">
              <a:buNone/>
            </a:pPr>
            <a:r>
              <a:rPr lang="en-US" sz="1800" b="1" dirty="0">
                <a:solidFill>
                  <a:srgbClr val="007FA3"/>
                </a:solidFill>
              </a:rPr>
              <a:t>10.4</a:t>
            </a:r>
            <a:r>
              <a:rPr lang="en-US" sz="1800" dirty="0"/>
              <a:t> To design programs using the object-oriented paradigm (§§10.5–10.6).</a:t>
            </a:r>
          </a:p>
          <a:p>
            <a:pPr marL="432" indent="0">
              <a:buNone/>
            </a:pPr>
            <a:r>
              <a:rPr lang="en-US" sz="1800" b="1" dirty="0">
                <a:solidFill>
                  <a:srgbClr val="007FA3"/>
                </a:solidFill>
              </a:rPr>
              <a:t>10.5</a:t>
            </a:r>
            <a:r>
              <a:rPr lang="en-US" sz="1800" dirty="0"/>
              <a:t> To create objects for primitive values using the wrapper classes (</a:t>
            </a:r>
            <a:r>
              <a:rPr lang="en-US" sz="1800" b="1" dirty="0">
                <a:latin typeface="Courier New" panose="02070309020205020404" pitchFamily="49" charset="0"/>
                <a:cs typeface="Courier New" panose="02070309020205020404" pitchFamily="49" charset="0"/>
              </a:rPr>
              <a:t>Byte</a:t>
            </a:r>
            <a:r>
              <a:rPr lang="en-US" sz="1800" dirty="0"/>
              <a:t>, </a:t>
            </a:r>
            <a:r>
              <a:rPr lang="en-US" sz="1800" b="1" dirty="0">
                <a:latin typeface="Courier New" panose="02070309020205020404" pitchFamily="49" charset="0"/>
                <a:cs typeface="Courier New" panose="02070309020205020404" pitchFamily="49" charset="0"/>
              </a:rPr>
              <a:t>Short</a:t>
            </a:r>
            <a:r>
              <a:rPr lang="en-US" sz="1800" dirty="0"/>
              <a:t>, </a:t>
            </a:r>
            <a:r>
              <a:rPr lang="en-US" sz="1800" b="1" dirty="0">
                <a:latin typeface="Courier New" panose="02070309020205020404" pitchFamily="49" charset="0"/>
                <a:cs typeface="Courier New" panose="02070309020205020404" pitchFamily="49" charset="0"/>
              </a:rPr>
              <a:t>Integer</a:t>
            </a:r>
            <a:r>
              <a:rPr lang="en-US" sz="1800" dirty="0"/>
              <a:t>, </a:t>
            </a:r>
            <a:r>
              <a:rPr lang="en-US" sz="1800" b="1" dirty="0">
                <a:latin typeface="Courier New" panose="02070309020205020404" pitchFamily="49" charset="0"/>
                <a:cs typeface="Courier New" panose="02070309020205020404" pitchFamily="49" charset="0"/>
              </a:rPr>
              <a:t>Long</a:t>
            </a:r>
            <a:r>
              <a:rPr lang="en-US" sz="1800" dirty="0"/>
              <a:t>, </a:t>
            </a:r>
            <a:r>
              <a:rPr lang="en-US" sz="1800" b="1" dirty="0">
                <a:latin typeface="Courier New" panose="02070309020205020404" pitchFamily="49" charset="0"/>
                <a:cs typeface="Courier New" panose="02070309020205020404" pitchFamily="49" charset="0"/>
              </a:rPr>
              <a:t>Float</a:t>
            </a:r>
            <a:r>
              <a:rPr lang="en-US" sz="1800" dirty="0"/>
              <a:t>, </a:t>
            </a:r>
            <a:r>
              <a:rPr lang="en-US" sz="1800" b="1" dirty="0">
                <a:latin typeface="Courier New" panose="02070309020205020404" pitchFamily="49" charset="0"/>
                <a:cs typeface="Courier New" panose="02070309020205020404" pitchFamily="49" charset="0"/>
              </a:rPr>
              <a:t>Double</a:t>
            </a:r>
            <a:r>
              <a:rPr lang="en-US" sz="1800" dirty="0"/>
              <a:t>, </a:t>
            </a:r>
            <a:r>
              <a:rPr lang="en-US" sz="1800" b="1" dirty="0">
                <a:latin typeface="Courier New" panose="02070309020205020404" pitchFamily="49" charset="0"/>
                <a:cs typeface="Courier New" panose="02070309020205020404" pitchFamily="49" charset="0"/>
              </a:rPr>
              <a:t>Character</a:t>
            </a:r>
            <a:r>
              <a:rPr lang="en-US" sz="1800" dirty="0"/>
              <a:t>, and </a:t>
            </a:r>
            <a:r>
              <a:rPr lang="en-US" sz="1800" b="1" dirty="0">
                <a:latin typeface="Courier New" panose="02070309020205020404" pitchFamily="49" charset="0"/>
                <a:cs typeface="Courier New" panose="02070309020205020404" pitchFamily="49" charset="0"/>
              </a:rPr>
              <a:t>Boolean</a:t>
            </a:r>
            <a:r>
              <a:rPr lang="en-US" sz="1800" dirty="0"/>
              <a:t>) (§10.7).</a:t>
            </a:r>
          </a:p>
          <a:p>
            <a:pPr marL="432" indent="0">
              <a:buNone/>
            </a:pPr>
            <a:r>
              <a:rPr lang="en-US" sz="1800" b="1" dirty="0">
                <a:solidFill>
                  <a:srgbClr val="007FA3"/>
                </a:solidFill>
              </a:rPr>
              <a:t>10.6</a:t>
            </a:r>
            <a:r>
              <a:rPr lang="en-US" sz="1800" dirty="0"/>
              <a:t> To simplify programming using automatic conversion between primitive types and wrapper class types (§10.8).</a:t>
            </a:r>
          </a:p>
          <a:p>
            <a:pPr marL="432" indent="0">
              <a:buNone/>
            </a:pPr>
            <a:r>
              <a:rPr lang="en-US" sz="1800" b="1" dirty="0">
                <a:solidFill>
                  <a:srgbClr val="007FA3"/>
                </a:solidFill>
              </a:rPr>
              <a:t>10.7</a:t>
            </a:r>
            <a:r>
              <a:rPr lang="en-US" sz="1800" dirty="0"/>
              <a:t> To use the </a:t>
            </a:r>
            <a:r>
              <a:rPr lang="en-US" sz="1800" b="1" dirty="0">
                <a:latin typeface="Courier New" panose="02070309020205020404" pitchFamily="49" charset="0"/>
                <a:cs typeface="Courier New" panose="02070309020205020404" pitchFamily="49" charset="0"/>
              </a:rPr>
              <a:t>BigInteger</a:t>
            </a:r>
            <a:r>
              <a:rPr lang="en-US" sz="1800" dirty="0"/>
              <a:t> and </a:t>
            </a:r>
            <a:r>
              <a:rPr lang="en-US" sz="1800" b="1" dirty="0">
                <a:latin typeface="Courier New" panose="02070309020205020404" pitchFamily="49" charset="0"/>
                <a:cs typeface="Courier New" panose="02070309020205020404" pitchFamily="49" charset="0"/>
              </a:rPr>
              <a:t>BigDecimal</a:t>
            </a:r>
            <a:r>
              <a:rPr lang="en-US" sz="1800" dirty="0"/>
              <a:t> classes for computing very large numbers with arbitrary precisions (§10.9).</a:t>
            </a:r>
          </a:p>
        </p:txBody>
      </p:sp>
    </p:spTree>
    <p:extLst>
      <p:ext uri="{BB962C8B-B14F-4D97-AF65-F5344CB8AC3E}">
        <p14:creationId xmlns:p14="http://schemas.microsoft.com/office/powerpoint/2010/main" val="1865633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7A284-DC1D-47B2-845D-10CC223F0753}"/>
              </a:ext>
            </a:extLst>
          </p:cNvPr>
          <p:cNvSpPr>
            <a:spLocks noGrp="1"/>
          </p:cNvSpPr>
          <p:nvPr>
            <p:ph type="title"/>
          </p:nvPr>
        </p:nvSpPr>
        <p:spPr/>
        <p:txBody>
          <a:bodyPr/>
          <a:lstStyle/>
          <a:p>
            <a:r>
              <a:rPr lang="en-US"/>
              <a:t>Objectives </a:t>
            </a:r>
            <a:r>
              <a:rPr lang="en-US" sz="2000" b="0"/>
              <a:t>(2 of 2)</a:t>
            </a:r>
            <a:endParaRPr lang="en-US" sz="2000"/>
          </a:p>
        </p:txBody>
      </p:sp>
      <p:sp>
        <p:nvSpPr>
          <p:cNvPr id="3" name="Content Placeholder 2">
            <a:extLst>
              <a:ext uri="{FF2B5EF4-FFF2-40B4-BE49-F238E27FC236}">
                <a16:creationId xmlns:a16="http://schemas.microsoft.com/office/drawing/2014/main" id="{C1BF73B7-211C-4DD2-ABFB-94532E0B98D8}"/>
              </a:ext>
            </a:extLst>
          </p:cNvPr>
          <p:cNvSpPr>
            <a:spLocks noGrp="1"/>
          </p:cNvSpPr>
          <p:nvPr>
            <p:ph sz="quarter" idx="13"/>
          </p:nvPr>
        </p:nvSpPr>
        <p:spPr>
          <a:xfrm>
            <a:off x="457200" y="1547632"/>
            <a:ext cx="8208000" cy="1828359"/>
          </a:xfrm>
        </p:spPr>
        <p:txBody>
          <a:bodyPr/>
          <a:lstStyle/>
          <a:p>
            <a:pPr marL="432" indent="0">
              <a:buNone/>
            </a:pPr>
            <a:r>
              <a:rPr lang="en-US" b="1" dirty="0">
                <a:solidFill>
                  <a:srgbClr val="007FA3"/>
                </a:solidFill>
              </a:rPr>
              <a:t>10.8</a:t>
            </a:r>
            <a:r>
              <a:rPr lang="en-US" dirty="0"/>
              <a:t> To use the </a:t>
            </a:r>
            <a:r>
              <a:rPr lang="en-US" b="1" dirty="0">
                <a:latin typeface="Courier New" panose="02070309020205020404" pitchFamily="49" charset="0"/>
                <a:cs typeface="Courier New" panose="02070309020205020404" pitchFamily="49" charset="0"/>
              </a:rPr>
              <a:t>String</a:t>
            </a:r>
            <a:r>
              <a:rPr lang="en-US" dirty="0"/>
              <a:t> class to process immutable strings (§10.10).</a:t>
            </a:r>
          </a:p>
          <a:p>
            <a:pPr marL="432" indent="0">
              <a:buNone/>
            </a:pPr>
            <a:r>
              <a:rPr lang="en-US" b="1" dirty="0">
                <a:solidFill>
                  <a:srgbClr val="007FA3"/>
                </a:solidFill>
              </a:rPr>
              <a:t>10.9</a:t>
            </a:r>
            <a:r>
              <a:rPr lang="en-US" dirty="0"/>
              <a:t> To use the </a:t>
            </a:r>
            <a:r>
              <a:rPr lang="en-US" b="1" dirty="0">
                <a:latin typeface="Courier New" panose="02070309020205020404" pitchFamily="49" charset="0"/>
                <a:cs typeface="Courier New" panose="02070309020205020404" pitchFamily="49" charset="0"/>
              </a:rPr>
              <a:t>StringBuilder</a:t>
            </a:r>
            <a:r>
              <a:rPr lang="en-US" dirty="0"/>
              <a:t> and </a:t>
            </a:r>
            <a:r>
              <a:rPr lang="en-US" b="1" dirty="0">
                <a:latin typeface="Courier New" panose="02070309020205020404" pitchFamily="49" charset="0"/>
                <a:cs typeface="Courier New" panose="02070309020205020404" pitchFamily="49" charset="0"/>
              </a:rPr>
              <a:t>StringBuffer</a:t>
            </a:r>
            <a:r>
              <a:rPr lang="en-US" dirty="0"/>
              <a:t> classes to process mutable strings (§10.11).</a:t>
            </a:r>
          </a:p>
        </p:txBody>
      </p:sp>
    </p:spTree>
    <p:extLst>
      <p:ext uri="{BB962C8B-B14F-4D97-AF65-F5344CB8AC3E}">
        <p14:creationId xmlns:p14="http://schemas.microsoft.com/office/powerpoint/2010/main" val="3000350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C1D42-CFE6-4299-B80E-5DD363A3EF3C}"/>
              </a:ext>
            </a:extLst>
          </p:cNvPr>
          <p:cNvSpPr>
            <a:spLocks noGrp="1"/>
          </p:cNvSpPr>
          <p:nvPr>
            <p:ph type="title"/>
          </p:nvPr>
        </p:nvSpPr>
        <p:spPr/>
        <p:txBody>
          <a:bodyPr/>
          <a:lstStyle/>
          <a:p>
            <a:r>
              <a:rPr lang="en-US" sz="3000"/>
              <a:t>Class </a:t>
            </a:r>
            <a:r>
              <a:rPr lang="en-US" sz="3000">
                <a:latin typeface="Courier New" panose="02070309020205020404" pitchFamily="49" charset="0"/>
                <a:cs typeface="Courier New" panose="02070309020205020404" pitchFamily="49" charset="0"/>
              </a:rPr>
              <a:t>Abstraction</a:t>
            </a:r>
            <a:r>
              <a:rPr lang="en-US" sz="3000"/>
              <a:t> and </a:t>
            </a:r>
            <a:r>
              <a:rPr lang="en-US" sz="3000">
                <a:latin typeface="Courier New" panose="02070309020205020404" pitchFamily="49" charset="0"/>
                <a:cs typeface="Courier New" panose="02070309020205020404" pitchFamily="49" charset="0"/>
              </a:rPr>
              <a:t>Encapsulation</a:t>
            </a:r>
          </a:p>
        </p:txBody>
      </p:sp>
      <p:sp>
        <p:nvSpPr>
          <p:cNvPr id="3" name="Content Placeholder 2">
            <a:extLst>
              <a:ext uri="{FF2B5EF4-FFF2-40B4-BE49-F238E27FC236}">
                <a16:creationId xmlns:a16="http://schemas.microsoft.com/office/drawing/2014/main" id="{93E5468D-BCB4-44EE-8E8E-B1BD793F9C22}"/>
              </a:ext>
            </a:extLst>
          </p:cNvPr>
          <p:cNvSpPr>
            <a:spLocks noGrp="1"/>
          </p:cNvSpPr>
          <p:nvPr>
            <p:ph sz="quarter" idx="13"/>
          </p:nvPr>
        </p:nvSpPr>
        <p:spPr>
          <a:xfrm>
            <a:off x="457200" y="1556326"/>
            <a:ext cx="8229600" cy="2369287"/>
          </a:xfrm>
        </p:spPr>
        <p:txBody>
          <a:bodyPr/>
          <a:lstStyle/>
          <a:p>
            <a:pPr marL="432" indent="0">
              <a:buNone/>
            </a:pPr>
            <a:r>
              <a:rPr lang="en-US" dirty="0"/>
              <a:t>Class abstraction means to separate class implementation from the use of the class. The creator of the class provides a description of the class and let the user know how the class can be used. The user of the class does not need to know how the class is implemented. The detail of implementation is encapsulated and hidden from the user.</a:t>
            </a:r>
          </a:p>
        </p:txBody>
      </p:sp>
      <p:pic>
        <p:nvPicPr>
          <p:cNvPr id="8" name="Picture 7" descr="A box for class is shaded and labeled, class implementation is like a black box hidden from the clients. For long description in Notes pane, press F6.">
            <a:extLst>
              <a:ext uri="{FF2B5EF4-FFF2-40B4-BE49-F238E27FC236}">
                <a16:creationId xmlns:a16="http://schemas.microsoft.com/office/drawing/2014/main" id="{9DC352CC-F4F3-426C-831B-EB050F3437DB}"/>
              </a:ext>
            </a:extLst>
          </p:cNvPr>
          <p:cNvPicPr>
            <a:picLocks noChangeAspect="1"/>
          </p:cNvPicPr>
          <p:nvPr/>
        </p:nvPicPr>
        <p:blipFill>
          <a:blip r:embed="rId3"/>
          <a:stretch>
            <a:fillRect/>
          </a:stretch>
        </p:blipFill>
        <p:spPr>
          <a:xfrm>
            <a:off x="617758" y="4268773"/>
            <a:ext cx="7908484" cy="1359087"/>
          </a:xfrm>
          <a:prstGeom prst="rect">
            <a:avLst/>
          </a:prstGeom>
        </p:spPr>
      </p:pic>
    </p:spTree>
    <p:extLst>
      <p:ext uri="{BB962C8B-B14F-4D97-AF65-F5344CB8AC3E}">
        <p14:creationId xmlns:p14="http://schemas.microsoft.com/office/powerpoint/2010/main" val="1880356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EAC0-8349-41A2-B354-C653ECDB5B44}"/>
              </a:ext>
            </a:extLst>
          </p:cNvPr>
          <p:cNvSpPr>
            <a:spLocks noGrp="1"/>
          </p:cNvSpPr>
          <p:nvPr>
            <p:ph type="title"/>
          </p:nvPr>
        </p:nvSpPr>
        <p:spPr/>
        <p:txBody>
          <a:bodyPr/>
          <a:lstStyle/>
          <a:p>
            <a:r>
              <a:rPr lang="en-US"/>
              <a:t>Designing the </a:t>
            </a:r>
            <a:r>
              <a:rPr lang="en-US">
                <a:latin typeface="Courier New" panose="02070309020205020404" pitchFamily="49" charset="0"/>
                <a:cs typeface="Courier New" panose="02070309020205020404" pitchFamily="49" charset="0"/>
              </a:rPr>
              <a:t>Loan</a:t>
            </a:r>
            <a:r>
              <a:rPr lang="en-US"/>
              <a:t> Class</a:t>
            </a:r>
          </a:p>
        </p:txBody>
      </p:sp>
      <p:pic>
        <p:nvPicPr>
          <p:cNvPr id="6" name="Picture 5" descr="Fifteen rows of codes and descriptions for loan as follows. For long description in Notes pane, press F6.">
            <a:extLst>
              <a:ext uri="{FF2B5EF4-FFF2-40B4-BE49-F238E27FC236}">
                <a16:creationId xmlns:a16="http://schemas.microsoft.com/office/drawing/2014/main" id="{AEE8A6E4-3E3D-4C84-8C0C-D03C58B4B2C1}"/>
              </a:ext>
            </a:extLst>
          </p:cNvPr>
          <p:cNvPicPr>
            <a:picLocks noChangeAspect="1"/>
          </p:cNvPicPr>
          <p:nvPr/>
        </p:nvPicPr>
        <p:blipFill>
          <a:blip r:embed="rId3"/>
          <a:stretch>
            <a:fillRect/>
          </a:stretch>
        </p:blipFill>
        <p:spPr>
          <a:xfrm>
            <a:off x="2075145" y="1566822"/>
            <a:ext cx="4993710" cy="4159452"/>
          </a:xfrm>
          <a:prstGeom prst="rect">
            <a:avLst/>
          </a:prstGeom>
        </p:spPr>
      </p:pic>
      <p:sp>
        <p:nvSpPr>
          <p:cNvPr id="10" name="Text Placeholder 9">
            <a:extLst>
              <a:ext uri="{FF2B5EF4-FFF2-40B4-BE49-F238E27FC236}">
                <a16:creationId xmlns:a16="http://schemas.microsoft.com/office/drawing/2014/main" id="{76A55960-6373-4D76-A9D0-DC1885862E59}"/>
              </a:ext>
            </a:extLst>
          </p:cNvPr>
          <p:cNvSpPr>
            <a:spLocks noGrp="1"/>
          </p:cNvSpPr>
          <p:nvPr>
            <p:ph type="body" sz="quarter" idx="20"/>
          </p:nvPr>
        </p:nvSpPr>
        <p:spPr>
          <a:xfrm>
            <a:off x="5233664" y="5859063"/>
            <a:ext cx="930167" cy="497287"/>
          </a:xfrm>
        </p:spPr>
        <p:txBody>
          <a:bodyPr/>
          <a:lstStyle/>
          <a:p>
            <a:pPr marL="432" indent="0">
              <a:buNone/>
            </a:pPr>
            <a:r>
              <a:rPr lang="en-US" dirty="0">
                <a:hlinkClick r:id="rId4" tooltip="https://liveexample.pearsoncmg.com/html/Loan.html"/>
              </a:rPr>
              <a:t>Loan</a:t>
            </a:r>
            <a:endParaRPr lang="en-US" dirty="0">
              <a:hlinkClick r:id="rId4"/>
            </a:endParaRPr>
          </a:p>
        </p:txBody>
      </p:sp>
      <p:sp>
        <p:nvSpPr>
          <p:cNvPr id="11" name="Text Placeholder 10">
            <a:extLst>
              <a:ext uri="{FF2B5EF4-FFF2-40B4-BE49-F238E27FC236}">
                <a16:creationId xmlns:a16="http://schemas.microsoft.com/office/drawing/2014/main" id="{3B999C41-D56D-4F54-A40C-919928B10731}"/>
              </a:ext>
            </a:extLst>
          </p:cNvPr>
          <p:cNvSpPr>
            <a:spLocks noGrp="1"/>
          </p:cNvSpPr>
          <p:nvPr>
            <p:ph type="body" sz="quarter" idx="21"/>
          </p:nvPr>
        </p:nvSpPr>
        <p:spPr>
          <a:xfrm>
            <a:off x="6309114" y="5859064"/>
            <a:ext cx="2288252" cy="497286"/>
          </a:xfrm>
        </p:spPr>
        <p:txBody>
          <a:bodyPr/>
          <a:lstStyle/>
          <a:p>
            <a:pPr marL="432" indent="0">
              <a:buNone/>
            </a:pPr>
            <a:r>
              <a:rPr lang="en-US" dirty="0">
                <a:hlinkClick r:id="rId5" tooltip="https://liveexample.pearsoncmg.com/html/TestLoanClass.html"/>
              </a:rPr>
              <a:t>TestLoanClass</a:t>
            </a:r>
            <a:endParaRPr lang="en-US" dirty="0">
              <a:hlinkClick r:id="rId5"/>
            </a:endParaRPr>
          </a:p>
        </p:txBody>
      </p:sp>
    </p:spTree>
    <p:extLst>
      <p:ext uri="{BB962C8B-B14F-4D97-AF65-F5344CB8AC3E}">
        <p14:creationId xmlns:p14="http://schemas.microsoft.com/office/powerpoint/2010/main" val="1081568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895F6-1AC4-48DF-8C54-8A42A1C82582}"/>
              </a:ext>
            </a:extLst>
          </p:cNvPr>
          <p:cNvSpPr>
            <a:spLocks noGrp="1"/>
          </p:cNvSpPr>
          <p:nvPr>
            <p:ph type="title"/>
          </p:nvPr>
        </p:nvSpPr>
        <p:spPr/>
        <p:txBody>
          <a:bodyPr/>
          <a:lstStyle/>
          <a:p>
            <a:r>
              <a:rPr lang="en-US"/>
              <a:t>Object-Oriented Thinking</a:t>
            </a:r>
          </a:p>
        </p:txBody>
      </p:sp>
      <p:sp>
        <p:nvSpPr>
          <p:cNvPr id="3" name="Content Placeholder 2">
            <a:extLst>
              <a:ext uri="{FF2B5EF4-FFF2-40B4-BE49-F238E27FC236}">
                <a16:creationId xmlns:a16="http://schemas.microsoft.com/office/drawing/2014/main" id="{6899FC1F-D0C2-44D8-BCA9-94201B3F0291}"/>
              </a:ext>
            </a:extLst>
          </p:cNvPr>
          <p:cNvSpPr>
            <a:spLocks noGrp="1"/>
          </p:cNvSpPr>
          <p:nvPr>
            <p:ph sz="quarter" idx="13"/>
          </p:nvPr>
        </p:nvSpPr>
        <p:spPr>
          <a:xfrm>
            <a:off x="457200" y="1554921"/>
            <a:ext cx="8339959" cy="4212834"/>
          </a:xfrm>
        </p:spPr>
        <p:txBody>
          <a:bodyPr/>
          <a:lstStyle/>
          <a:p>
            <a:pPr marL="432" indent="0">
              <a:buNone/>
            </a:pPr>
            <a:r>
              <a:rPr lang="en-US" dirty="0"/>
              <a:t>Chapters 1-8 introduced fundamental programming techniques for problem solving using loops, methods, and arrays. The studies of these techniques lay a solid foundation for object-oriented programming. Classes provide more flexibility and modularity for building reusable software. This section improves the solution for a problem introduced in Chapter 3 using the object-oriented approach. From the improvements, you will gain the insight on the differences between the procedural programming and object-oriented programming and see the benefits of developing reusable code using objects and classes.</a:t>
            </a:r>
          </a:p>
        </p:txBody>
      </p:sp>
    </p:spTree>
    <p:extLst>
      <p:ext uri="{BB962C8B-B14F-4D97-AF65-F5344CB8AC3E}">
        <p14:creationId xmlns:p14="http://schemas.microsoft.com/office/powerpoint/2010/main" val="406264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EAC0-8349-41A2-B354-C653ECDB5B44}"/>
              </a:ext>
            </a:extLst>
          </p:cNvPr>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BMI</a:t>
            </a:r>
            <a:r>
              <a:rPr lang="en-US" dirty="0"/>
              <a:t> Class</a:t>
            </a:r>
          </a:p>
        </p:txBody>
      </p:sp>
      <p:pic>
        <p:nvPicPr>
          <p:cNvPr id="6" name="Picture 5" descr="Eight rows of codes and descriptions for BMI as follows. For long description in Notes pane, press F6.">
            <a:extLst>
              <a:ext uri="{FF2B5EF4-FFF2-40B4-BE49-F238E27FC236}">
                <a16:creationId xmlns:a16="http://schemas.microsoft.com/office/drawing/2014/main" id="{842C92E3-19F8-4F7F-8546-0FF704EDAB98}"/>
              </a:ext>
            </a:extLst>
          </p:cNvPr>
          <p:cNvPicPr>
            <a:picLocks noChangeAspect="1"/>
          </p:cNvPicPr>
          <p:nvPr/>
        </p:nvPicPr>
        <p:blipFill>
          <a:blip r:embed="rId3"/>
          <a:stretch>
            <a:fillRect/>
          </a:stretch>
        </p:blipFill>
        <p:spPr>
          <a:xfrm>
            <a:off x="1706389" y="1670404"/>
            <a:ext cx="5731223" cy="3945241"/>
          </a:xfrm>
          <a:prstGeom prst="rect">
            <a:avLst/>
          </a:prstGeom>
        </p:spPr>
      </p:pic>
      <p:sp>
        <p:nvSpPr>
          <p:cNvPr id="10" name="Text Placeholder 9">
            <a:extLst>
              <a:ext uri="{FF2B5EF4-FFF2-40B4-BE49-F238E27FC236}">
                <a16:creationId xmlns:a16="http://schemas.microsoft.com/office/drawing/2014/main" id="{76A55960-6373-4D76-A9D0-DC1885862E59}"/>
              </a:ext>
            </a:extLst>
          </p:cNvPr>
          <p:cNvSpPr>
            <a:spLocks noGrp="1"/>
          </p:cNvSpPr>
          <p:nvPr>
            <p:ph type="body" sz="quarter" idx="20"/>
          </p:nvPr>
        </p:nvSpPr>
        <p:spPr>
          <a:xfrm>
            <a:off x="5360276" y="5859063"/>
            <a:ext cx="930167" cy="503637"/>
          </a:xfrm>
        </p:spPr>
        <p:txBody>
          <a:bodyPr/>
          <a:lstStyle/>
          <a:p>
            <a:pPr marL="432" indent="0">
              <a:buNone/>
            </a:pPr>
            <a:r>
              <a:rPr lang="en-US" dirty="0">
                <a:hlinkClick r:id="rId4" tooltip="https://liveexample.pearsoncmg.com/html/BMI.html"/>
              </a:rPr>
              <a:t>BMI</a:t>
            </a:r>
            <a:endParaRPr lang="en-US" dirty="0">
              <a:hlinkClick r:id="rId4"/>
            </a:endParaRPr>
          </a:p>
        </p:txBody>
      </p:sp>
      <p:sp>
        <p:nvSpPr>
          <p:cNvPr id="11" name="Text Placeholder 10">
            <a:extLst>
              <a:ext uri="{FF2B5EF4-FFF2-40B4-BE49-F238E27FC236}">
                <a16:creationId xmlns:a16="http://schemas.microsoft.com/office/drawing/2014/main" id="{3B999C41-D56D-4F54-A40C-919928B10731}"/>
              </a:ext>
            </a:extLst>
          </p:cNvPr>
          <p:cNvSpPr>
            <a:spLocks noGrp="1"/>
          </p:cNvSpPr>
          <p:nvPr>
            <p:ph type="body" sz="quarter" idx="21"/>
          </p:nvPr>
        </p:nvSpPr>
        <p:spPr>
          <a:xfrm>
            <a:off x="6463862" y="5859064"/>
            <a:ext cx="2222938" cy="483679"/>
          </a:xfrm>
        </p:spPr>
        <p:txBody>
          <a:bodyPr/>
          <a:lstStyle/>
          <a:p>
            <a:pPr marL="432" indent="0">
              <a:buNone/>
            </a:pPr>
            <a:r>
              <a:rPr lang="en-US">
                <a:hlinkClick r:id="rId5" tooltip="https://liveexample.pearsoncmg.com/html/UseBMIClass.html"/>
              </a:rPr>
              <a:t>UseBMIClass</a:t>
            </a:r>
            <a:endParaRPr lang="en-US">
              <a:hlinkClick r:id="rId5"/>
            </a:endParaRPr>
          </a:p>
        </p:txBody>
      </p:sp>
    </p:spTree>
    <p:extLst>
      <p:ext uri="{BB962C8B-B14F-4D97-AF65-F5344CB8AC3E}">
        <p14:creationId xmlns:p14="http://schemas.microsoft.com/office/powerpoint/2010/main" val="1292916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51F1A-F645-4FCE-A579-AC0E26F572A2}"/>
              </a:ext>
            </a:extLst>
          </p:cNvPr>
          <p:cNvSpPr>
            <a:spLocks noGrp="1"/>
          </p:cNvSpPr>
          <p:nvPr>
            <p:ph type="title"/>
          </p:nvPr>
        </p:nvSpPr>
        <p:spPr/>
        <p:txBody>
          <a:bodyPr/>
          <a:lstStyle/>
          <a:p>
            <a:r>
              <a:rPr lang="en-US"/>
              <a:t>Class Relationships</a:t>
            </a:r>
          </a:p>
        </p:txBody>
      </p:sp>
      <p:sp>
        <p:nvSpPr>
          <p:cNvPr id="3" name="Content Placeholder 2">
            <a:extLst>
              <a:ext uri="{FF2B5EF4-FFF2-40B4-BE49-F238E27FC236}">
                <a16:creationId xmlns:a16="http://schemas.microsoft.com/office/drawing/2014/main" id="{1C2A48C3-FF9D-42C4-B0C8-381E701AD813}"/>
              </a:ext>
            </a:extLst>
          </p:cNvPr>
          <p:cNvSpPr>
            <a:spLocks noGrp="1"/>
          </p:cNvSpPr>
          <p:nvPr>
            <p:ph sz="quarter" idx="13"/>
          </p:nvPr>
        </p:nvSpPr>
        <p:spPr>
          <a:xfrm>
            <a:off x="457200" y="1556327"/>
            <a:ext cx="8229600" cy="2763425"/>
          </a:xfrm>
        </p:spPr>
        <p:txBody>
          <a:bodyPr/>
          <a:lstStyle/>
          <a:p>
            <a:pPr marL="432" indent="0">
              <a:buNone/>
            </a:pPr>
            <a:r>
              <a:rPr lang="en-US" sz="2000" dirty="0"/>
              <a:t>Association</a:t>
            </a:r>
          </a:p>
          <a:p>
            <a:pPr marL="432" indent="0">
              <a:buNone/>
            </a:pPr>
            <a:r>
              <a:rPr lang="en-US" sz="2000" dirty="0"/>
              <a:t>Aggregation</a:t>
            </a:r>
          </a:p>
          <a:p>
            <a:pPr marL="432" indent="0">
              <a:buNone/>
            </a:pPr>
            <a:r>
              <a:rPr lang="en-US" sz="2000" dirty="0"/>
              <a:t>Composition</a:t>
            </a:r>
          </a:p>
          <a:p>
            <a:pPr marL="432" indent="0">
              <a:buNone/>
            </a:pPr>
            <a:r>
              <a:rPr lang="en-US" sz="2000" dirty="0"/>
              <a:t>Inheritance (Chapter 13)</a:t>
            </a:r>
          </a:p>
          <a:p>
            <a:pPr marL="432" indent="0">
              <a:buNone/>
            </a:pPr>
            <a:r>
              <a:rPr lang="en-US" sz="2000" dirty="0"/>
              <a:t>Association: is a general binary relationship that describes an activity between two classes.</a:t>
            </a:r>
          </a:p>
        </p:txBody>
      </p:sp>
      <p:pic>
        <p:nvPicPr>
          <p:cNvPr id="8" name="Picture 7" descr="A diagram shows a line connecting box for student on the left to box for course on the right. For long description in Notes pane, press F6.">
            <a:extLst>
              <a:ext uri="{FF2B5EF4-FFF2-40B4-BE49-F238E27FC236}">
                <a16:creationId xmlns:a16="http://schemas.microsoft.com/office/drawing/2014/main" id="{CF34B86E-F0FF-4D0B-92DE-2E60E2F2BC86}"/>
              </a:ext>
            </a:extLst>
          </p:cNvPr>
          <p:cNvPicPr>
            <a:picLocks noChangeAspect="1"/>
          </p:cNvPicPr>
          <p:nvPr/>
        </p:nvPicPr>
        <p:blipFill>
          <a:blip r:embed="rId3"/>
          <a:stretch>
            <a:fillRect/>
          </a:stretch>
        </p:blipFill>
        <p:spPr>
          <a:xfrm>
            <a:off x="617662" y="4589856"/>
            <a:ext cx="7908675" cy="1061567"/>
          </a:xfrm>
          <a:prstGeom prst="rect">
            <a:avLst/>
          </a:prstGeom>
        </p:spPr>
      </p:pic>
    </p:spTree>
    <p:extLst>
      <p:ext uri="{BB962C8B-B14F-4D97-AF65-F5344CB8AC3E}">
        <p14:creationId xmlns:p14="http://schemas.microsoft.com/office/powerpoint/2010/main" val="1266271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7DDD-6D47-4079-A501-62B37519E067}"/>
              </a:ext>
            </a:extLst>
          </p:cNvPr>
          <p:cNvSpPr>
            <a:spLocks noGrp="1"/>
          </p:cNvSpPr>
          <p:nvPr>
            <p:ph type="title"/>
          </p:nvPr>
        </p:nvSpPr>
        <p:spPr/>
        <p:txBody>
          <a:bodyPr/>
          <a:lstStyle/>
          <a:p>
            <a:r>
              <a:rPr lang="en-US"/>
              <a:t>Object Composition</a:t>
            </a:r>
          </a:p>
        </p:txBody>
      </p:sp>
      <p:sp>
        <p:nvSpPr>
          <p:cNvPr id="3" name="Content Placeholder 2">
            <a:extLst>
              <a:ext uri="{FF2B5EF4-FFF2-40B4-BE49-F238E27FC236}">
                <a16:creationId xmlns:a16="http://schemas.microsoft.com/office/drawing/2014/main" id="{2D55E332-ED66-4EC9-AE30-1209FDE04048}"/>
              </a:ext>
            </a:extLst>
          </p:cNvPr>
          <p:cNvSpPr>
            <a:spLocks noGrp="1"/>
          </p:cNvSpPr>
          <p:nvPr>
            <p:ph sz="quarter" idx="13"/>
          </p:nvPr>
        </p:nvSpPr>
        <p:spPr>
          <a:xfrm>
            <a:off x="457200" y="1556327"/>
            <a:ext cx="8244000" cy="2700000"/>
          </a:xfrm>
        </p:spPr>
        <p:txBody>
          <a:bodyPr/>
          <a:lstStyle/>
          <a:p>
            <a:pPr marL="432" indent="0">
              <a:buNone/>
            </a:pPr>
            <a:r>
              <a:rPr lang="en-US" dirty="0"/>
              <a:t>Composition is actually a special case of the aggregation relationship. Aggregation models </a:t>
            </a:r>
            <a:r>
              <a:rPr lang="en-US" b="1" dirty="0">
                <a:latin typeface="Courier New" panose="02070309020205020404" pitchFamily="49" charset="0"/>
                <a:cs typeface="Courier New" panose="02070309020205020404" pitchFamily="49" charset="0"/>
              </a:rPr>
              <a:t>has-a</a:t>
            </a:r>
            <a:r>
              <a:rPr lang="en-US" dirty="0"/>
              <a:t> relationships and represents an ownership relationship between two objects. The owner object is called an </a:t>
            </a:r>
            <a:r>
              <a:rPr lang="en-US" b="1" dirty="0">
                <a:latin typeface="Courier New" panose="02070309020205020404" pitchFamily="49" charset="0"/>
                <a:cs typeface="Courier New" panose="02070309020205020404" pitchFamily="49" charset="0"/>
              </a:rPr>
              <a:t>aggregating object</a:t>
            </a:r>
            <a:r>
              <a:rPr lang="en-US" dirty="0">
                <a:latin typeface="Courier New" panose="02070309020205020404" pitchFamily="49" charset="0"/>
                <a:cs typeface="Courier New" panose="02070309020205020404" pitchFamily="49" charset="0"/>
              </a:rPr>
              <a:t> </a:t>
            </a:r>
            <a:r>
              <a:rPr lang="en-US" dirty="0"/>
              <a:t>and its class an </a:t>
            </a:r>
            <a:r>
              <a:rPr lang="en-US" b="1" dirty="0">
                <a:latin typeface="Courier New" panose="02070309020205020404" pitchFamily="49" charset="0"/>
                <a:cs typeface="Courier New" panose="02070309020205020404" pitchFamily="49" charset="0"/>
              </a:rPr>
              <a:t>aggregating class</a:t>
            </a:r>
            <a:r>
              <a:rPr lang="en-US" dirty="0"/>
              <a:t>. The subject object is called an </a:t>
            </a:r>
            <a:r>
              <a:rPr lang="en-US" b="1" dirty="0">
                <a:latin typeface="Courier New" panose="02070309020205020404" pitchFamily="49" charset="0"/>
                <a:cs typeface="Courier New" panose="02070309020205020404" pitchFamily="49" charset="0"/>
              </a:rPr>
              <a:t>aggregated object </a:t>
            </a:r>
            <a:r>
              <a:rPr lang="en-US" dirty="0"/>
              <a:t>and its class an </a:t>
            </a:r>
            <a:r>
              <a:rPr lang="en-US" b="1" dirty="0">
                <a:latin typeface="Courier New" panose="02070309020205020404" pitchFamily="49" charset="0"/>
                <a:cs typeface="Courier New" panose="02070309020205020404" pitchFamily="49" charset="0"/>
              </a:rPr>
              <a:t>aggregated class</a:t>
            </a:r>
            <a:r>
              <a:rPr lang="en-US" dirty="0"/>
              <a:t>.</a:t>
            </a:r>
          </a:p>
        </p:txBody>
      </p:sp>
      <p:pic>
        <p:nvPicPr>
          <p:cNvPr id="8" name="Picture 7" descr="A diagram shows a line connecting box for name on the left to box for student on the right. For long description in Notes pane, press F6.">
            <a:extLst>
              <a:ext uri="{FF2B5EF4-FFF2-40B4-BE49-F238E27FC236}">
                <a16:creationId xmlns:a16="http://schemas.microsoft.com/office/drawing/2014/main" id="{2EAFB76A-4A2F-4A98-A9CB-7E1535E05748}"/>
              </a:ext>
            </a:extLst>
          </p:cNvPr>
          <p:cNvPicPr>
            <a:picLocks noChangeAspect="1"/>
          </p:cNvPicPr>
          <p:nvPr/>
        </p:nvPicPr>
        <p:blipFill>
          <a:blip r:embed="rId3"/>
          <a:stretch>
            <a:fillRect/>
          </a:stretch>
        </p:blipFill>
        <p:spPr>
          <a:xfrm>
            <a:off x="595966" y="4466305"/>
            <a:ext cx="7952068" cy="1674431"/>
          </a:xfrm>
          <a:prstGeom prst="rect">
            <a:avLst/>
          </a:prstGeom>
        </p:spPr>
      </p:pic>
    </p:spTree>
    <p:extLst>
      <p:ext uri="{BB962C8B-B14F-4D97-AF65-F5344CB8AC3E}">
        <p14:creationId xmlns:p14="http://schemas.microsoft.com/office/powerpoint/2010/main" val="2417710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8950-1F75-44C7-A5EA-ACE330056FE6}"/>
              </a:ext>
            </a:extLst>
          </p:cNvPr>
          <p:cNvSpPr>
            <a:spLocks noGrp="1"/>
          </p:cNvSpPr>
          <p:nvPr>
            <p:ph type="title"/>
          </p:nvPr>
        </p:nvSpPr>
        <p:spPr/>
        <p:txBody>
          <a:bodyPr/>
          <a:lstStyle/>
          <a:p>
            <a:r>
              <a:rPr lang="en-US"/>
              <a:t>Class Representation</a:t>
            </a:r>
          </a:p>
        </p:txBody>
      </p:sp>
      <p:sp>
        <p:nvSpPr>
          <p:cNvPr id="3" name="Content Placeholder 2">
            <a:extLst>
              <a:ext uri="{FF2B5EF4-FFF2-40B4-BE49-F238E27FC236}">
                <a16:creationId xmlns:a16="http://schemas.microsoft.com/office/drawing/2014/main" id="{4F502F63-288F-46A6-B613-42F28B7A5575}"/>
              </a:ext>
            </a:extLst>
          </p:cNvPr>
          <p:cNvSpPr>
            <a:spLocks noGrp="1"/>
          </p:cNvSpPr>
          <p:nvPr>
            <p:ph sz="quarter" idx="13"/>
          </p:nvPr>
        </p:nvSpPr>
        <p:spPr>
          <a:xfrm>
            <a:off x="457200" y="1556327"/>
            <a:ext cx="8229600" cy="1281466"/>
          </a:xfrm>
        </p:spPr>
        <p:txBody>
          <a:bodyPr/>
          <a:lstStyle/>
          <a:p>
            <a:pPr marL="432" indent="0">
              <a:buNone/>
            </a:pPr>
            <a:r>
              <a:rPr lang="en-US"/>
              <a:t>An aggregation relationship is usually represented as a data field in the aggregating class. For example, the relationship in Figure 10.6 can be represented as follows:</a:t>
            </a:r>
          </a:p>
        </p:txBody>
      </p:sp>
      <p:pic>
        <p:nvPicPr>
          <p:cNvPr id="8" name="Picture 7" descr="The left side Computer code shows the Aggregated class. For long description in Notes pane, press F6.">
            <a:extLst>
              <a:ext uri="{FF2B5EF4-FFF2-40B4-BE49-F238E27FC236}">
                <a16:creationId xmlns:a16="http://schemas.microsoft.com/office/drawing/2014/main" id="{A743488C-90B1-434B-ACAF-AF760ED40631}"/>
              </a:ext>
            </a:extLst>
          </p:cNvPr>
          <p:cNvPicPr>
            <a:picLocks noChangeAspect="1"/>
          </p:cNvPicPr>
          <p:nvPr/>
        </p:nvPicPr>
        <p:blipFill>
          <a:blip r:embed="rId3"/>
          <a:stretch>
            <a:fillRect/>
          </a:stretch>
        </p:blipFill>
        <p:spPr>
          <a:xfrm>
            <a:off x="536448" y="2983992"/>
            <a:ext cx="8071104" cy="2170176"/>
          </a:xfrm>
          <a:prstGeom prst="rect">
            <a:avLst/>
          </a:prstGeom>
        </p:spPr>
      </p:pic>
    </p:spTree>
    <p:extLst>
      <p:ext uri="{BB962C8B-B14F-4D97-AF65-F5344CB8AC3E}">
        <p14:creationId xmlns:p14="http://schemas.microsoft.com/office/powerpoint/2010/main" val="1449021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33CD-939F-48C7-8881-A2F67130B584}"/>
              </a:ext>
            </a:extLst>
          </p:cNvPr>
          <p:cNvSpPr>
            <a:spLocks noGrp="1"/>
          </p:cNvSpPr>
          <p:nvPr>
            <p:ph type="title"/>
          </p:nvPr>
        </p:nvSpPr>
        <p:spPr/>
        <p:txBody>
          <a:bodyPr/>
          <a:lstStyle/>
          <a:p>
            <a:r>
              <a:rPr lang="en-US"/>
              <a:t>Aggregation or Composition</a:t>
            </a:r>
          </a:p>
        </p:txBody>
      </p:sp>
      <p:sp>
        <p:nvSpPr>
          <p:cNvPr id="3" name="Content Placeholder 2">
            <a:extLst>
              <a:ext uri="{FF2B5EF4-FFF2-40B4-BE49-F238E27FC236}">
                <a16:creationId xmlns:a16="http://schemas.microsoft.com/office/drawing/2014/main" id="{4922C975-9AA0-4A8E-89C8-20C8E6EDF7CB}"/>
              </a:ext>
            </a:extLst>
          </p:cNvPr>
          <p:cNvSpPr>
            <a:spLocks noGrp="1"/>
          </p:cNvSpPr>
          <p:nvPr>
            <p:ph sz="quarter" idx="13"/>
          </p:nvPr>
        </p:nvSpPr>
        <p:spPr>
          <a:xfrm>
            <a:off x="457200" y="1554921"/>
            <a:ext cx="8232775" cy="1447360"/>
          </a:xfrm>
        </p:spPr>
        <p:txBody>
          <a:bodyPr/>
          <a:lstStyle/>
          <a:p>
            <a:pPr marL="432" indent="0">
              <a:buNone/>
            </a:pPr>
            <a:r>
              <a:rPr lang="en-US" dirty="0"/>
              <a:t>Since aggregation and composition relationships are represented using classes in similar ways, many texts don’t differentiate them and call both compositions.</a:t>
            </a:r>
          </a:p>
        </p:txBody>
      </p:sp>
    </p:spTree>
    <p:extLst>
      <p:ext uri="{BB962C8B-B14F-4D97-AF65-F5344CB8AC3E}">
        <p14:creationId xmlns:p14="http://schemas.microsoft.com/office/powerpoint/2010/main" val="1244422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1D909-1C6F-4657-9D79-F3EE3425170A}"/>
              </a:ext>
            </a:extLst>
          </p:cNvPr>
          <p:cNvSpPr>
            <a:spLocks noGrp="1"/>
          </p:cNvSpPr>
          <p:nvPr>
            <p:ph type="title"/>
          </p:nvPr>
        </p:nvSpPr>
        <p:spPr/>
        <p:txBody>
          <a:bodyPr/>
          <a:lstStyle/>
          <a:p>
            <a:r>
              <a:rPr lang="en-US" sz="3200"/>
              <a:t>Aggregation Between Same Class </a:t>
            </a:r>
            <a:r>
              <a:rPr lang="en-US" sz="2000" b="0"/>
              <a:t>(1 of 2)</a:t>
            </a:r>
            <a:endParaRPr lang="en-US" b="0"/>
          </a:p>
        </p:txBody>
      </p:sp>
      <p:sp>
        <p:nvSpPr>
          <p:cNvPr id="3" name="Content Placeholder 2">
            <a:extLst>
              <a:ext uri="{FF2B5EF4-FFF2-40B4-BE49-F238E27FC236}">
                <a16:creationId xmlns:a16="http://schemas.microsoft.com/office/drawing/2014/main" id="{9272160C-7526-4803-9A56-C6D0357231D4}"/>
              </a:ext>
            </a:extLst>
          </p:cNvPr>
          <p:cNvSpPr>
            <a:spLocks noGrp="1"/>
          </p:cNvSpPr>
          <p:nvPr>
            <p:ph sz="quarter" idx="13"/>
          </p:nvPr>
        </p:nvSpPr>
        <p:spPr>
          <a:xfrm>
            <a:off x="457200" y="1552575"/>
            <a:ext cx="8229600" cy="843784"/>
          </a:xfrm>
        </p:spPr>
        <p:txBody>
          <a:bodyPr/>
          <a:lstStyle/>
          <a:p>
            <a:pPr marL="432" indent="0">
              <a:buNone/>
            </a:pPr>
            <a:r>
              <a:rPr lang="en-US" sz="2200" dirty="0"/>
              <a:t>Aggregation may exist between objects of the same class. For example, a person may have a supervisor.</a:t>
            </a:r>
          </a:p>
        </p:txBody>
      </p:sp>
      <p:pic>
        <p:nvPicPr>
          <p:cNvPr id="7" name="Picture 6" descr="A diagram shows box for person attached to a larger box for supervisor near top left corner. The sides of the box for supervisor are labeled, 1.">
            <a:extLst>
              <a:ext uri="{FF2B5EF4-FFF2-40B4-BE49-F238E27FC236}">
                <a16:creationId xmlns:a16="http://schemas.microsoft.com/office/drawing/2014/main" id="{CC69AB75-4FE1-4DF9-9BEC-824B4BEB6875}"/>
              </a:ext>
            </a:extLst>
          </p:cNvPr>
          <p:cNvPicPr>
            <a:picLocks noChangeAspect="1"/>
          </p:cNvPicPr>
          <p:nvPr/>
        </p:nvPicPr>
        <p:blipFill>
          <a:blip r:embed="rId3"/>
          <a:stretch>
            <a:fillRect/>
          </a:stretch>
        </p:blipFill>
        <p:spPr>
          <a:xfrm>
            <a:off x="2179320" y="2539912"/>
            <a:ext cx="4785360" cy="1725168"/>
          </a:xfrm>
          <a:prstGeom prst="rect">
            <a:avLst/>
          </a:prstGeom>
        </p:spPr>
      </p:pic>
      <p:sp>
        <p:nvSpPr>
          <p:cNvPr id="9" name="Content Placeholder 8">
            <a:extLst>
              <a:ext uri="{FF2B5EF4-FFF2-40B4-BE49-F238E27FC236}">
                <a16:creationId xmlns:a16="http://schemas.microsoft.com/office/drawing/2014/main" id="{EEF3DC22-64A3-4883-8162-97C546F45387}"/>
              </a:ext>
            </a:extLst>
          </p:cNvPr>
          <p:cNvSpPr>
            <a:spLocks noGrp="1"/>
          </p:cNvSpPr>
          <p:nvPr>
            <p:ph sz="quarter" idx="15"/>
          </p:nvPr>
        </p:nvSpPr>
        <p:spPr>
          <a:xfrm>
            <a:off x="457200" y="4398579"/>
            <a:ext cx="8229600" cy="1860934"/>
          </a:xfrm>
        </p:spPr>
        <p:txBody>
          <a:bodyPr/>
          <a:lstStyle/>
          <a:p>
            <a:pPr marL="432" indent="0">
              <a:spcBef>
                <a:spcPts val="0"/>
              </a:spcBef>
              <a:buNone/>
            </a:pPr>
            <a:r>
              <a:rPr lang="en-US" sz="2200" b="1" dirty="0">
                <a:latin typeface="Courier New" panose="02070309020205020404" pitchFamily="49" charset="0"/>
                <a:cs typeface="Courier New" panose="02070309020205020404" pitchFamily="49" charset="0"/>
              </a:rPr>
              <a:t>public class </a:t>
            </a:r>
            <a:r>
              <a:rPr lang="en-US" sz="2200" dirty="0">
                <a:latin typeface="Courier New" panose="02070309020205020404" pitchFamily="49" charset="0"/>
                <a:cs typeface="Courier New" panose="02070309020205020404" pitchFamily="49" charset="0"/>
              </a:rPr>
              <a:t>Person {</a:t>
            </a:r>
          </a:p>
          <a:p>
            <a:pPr marL="180000" indent="0">
              <a:spcBef>
                <a:spcPts val="0"/>
              </a:spcBef>
              <a:buNone/>
            </a:pPr>
            <a:r>
              <a:rPr lang="en-US" sz="2200" dirty="0">
                <a:latin typeface="Courier New" panose="02070309020205020404" pitchFamily="49" charset="0"/>
                <a:cs typeface="Courier New" panose="02070309020205020404" pitchFamily="49" charset="0"/>
              </a:rPr>
              <a:t>// The type for the data is the class itself</a:t>
            </a:r>
          </a:p>
          <a:p>
            <a:pPr marL="180000" indent="0">
              <a:spcBef>
                <a:spcPts val="0"/>
              </a:spcBef>
              <a:buNone/>
            </a:pPr>
            <a:r>
              <a:rPr lang="en-US" sz="2200" b="1" dirty="0">
                <a:latin typeface="Courier New" panose="02070309020205020404" pitchFamily="49" charset="0"/>
                <a:cs typeface="Courier New" panose="02070309020205020404" pitchFamily="49" charset="0"/>
              </a:rPr>
              <a:t>private</a:t>
            </a:r>
            <a:r>
              <a:rPr lang="en-US" sz="2200" dirty="0">
                <a:latin typeface="Courier New" panose="02070309020205020404" pitchFamily="49" charset="0"/>
                <a:cs typeface="Courier New" panose="02070309020205020404" pitchFamily="49" charset="0"/>
              </a:rPr>
              <a:t> Person supervisor;</a:t>
            </a:r>
          </a:p>
          <a:p>
            <a:pPr marL="180000" indent="0">
              <a:spcBef>
                <a:spcPts val="0"/>
              </a:spcBef>
              <a:buNone/>
            </a:pPr>
            <a:r>
              <a:rPr lang="en-US" sz="2200" dirty="0">
                <a:latin typeface="Courier New" panose="02070309020205020404" pitchFamily="49" charset="0"/>
                <a:cs typeface="Courier New" panose="02070309020205020404" pitchFamily="49" charset="0"/>
              </a:rPr>
              <a:t>...</a:t>
            </a:r>
          </a:p>
          <a:p>
            <a:pPr marL="432" indent="0">
              <a:spcBef>
                <a:spcPts val="0"/>
              </a:spcBef>
              <a:buNone/>
            </a:pPr>
            <a:r>
              <a:rPr lang="en-US" sz="2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17287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79D50-F2CB-4C70-A2BA-BB52D6AE57F1}"/>
              </a:ext>
            </a:extLst>
          </p:cNvPr>
          <p:cNvSpPr>
            <a:spLocks noGrp="1"/>
          </p:cNvSpPr>
          <p:nvPr>
            <p:ph type="title"/>
          </p:nvPr>
        </p:nvSpPr>
        <p:spPr/>
        <p:txBody>
          <a:bodyPr/>
          <a:lstStyle/>
          <a:p>
            <a:r>
              <a:rPr lang="en-US" sz="3200"/>
              <a:t>Aggregation Between Same Class </a:t>
            </a:r>
            <a:r>
              <a:rPr lang="en-US" sz="2000" b="0"/>
              <a:t>(2 of 2)</a:t>
            </a:r>
            <a:endParaRPr lang="en-US" sz="3200" b="0"/>
          </a:p>
        </p:txBody>
      </p:sp>
      <p:sp>
        <p:nvSpPr>
          <p:cNvPr id="4" name="Content Placeholder 3">
            <a:extLst>
              <a:ext uri="{FF2B5EF4-FFF2-40B4-BE49-F238E27FC236}">
                <a16:creationId xmlns:a16="http://schemas.microsoft.com/office/drawing/2014/main" id="{D67D80D4-47FF-4334-88C4-23BA878BB6D7}"/>
              </a:ext>
            </a:extLst>
          </p:cNvPr>
          <p:cNvSpPr>
            <a:spLocks noGrp="1"/>
          </p:cNvSpPr>
          <p:nvPr>
            <p:ph sz="quarter" idx="13"/>
          </p:nvPr>
        </p:nvSpPr>
        <p:spPr>
          <a:xfrm>
            <a:off x="457200" y="1556327"/>
            <a:ext cx="8229600" cy="572018"/>
          </a:xfrm>
        </p:spPr>
        <p:txBody>
          <a:bodyPr/>
          <a:lstStyle/>
          <a:p>
            <a:pPr marL="432" indent="0">
              <a:buNone/>
            </a:pPr>
            <a:r>
              <a:rPr lang="en-US"/>
              <a:t>What happens if a person has several supervisors?</a:t>
            </a:r>
          </a:p>
        </p:txBody>
      </p:sp>
      <p:pic>
        <p:nvPicPr>
          <p:cNvPr id="8" name="Picture 7" descr="A diagram shows box for person attached to a larger box for supervisor near top left corner. For long description in Notes pane, press F6.">
            <a:extLst>
              <a:ext uri="{FF2B5EF4-FFF2-40B4-BE49-F238E27FC236}">
                <a16:creationId xmlns:a16="http://schemas.microsoft.com/office/drawing/2014/main" id="{1C96E1E2-EF3A-4AB0-86E1-406BDC2E4E79}"/>
              </a:ext>
            </a:extLst>
          </p:cNvPr>
          <p:cNvPicPr>
            <a:picLocks noChangeAspect="1"/>
          </p:cNvPicPr>
          <p:nvPr/>
        </p:nvPicPr>
        <p:blipFill>
          <a:blip r:embed="rId3"/>
          <a:stretch>
            <a:fillRect/>
          </a:stretch>
        </p:blipFill>
        <p:spPr>
          <a:xfrm>
            <a:off x="538179" y="2628402"/>
            <a:ext cx="8067640" cy="3369037"/>
          </a:xfrm>
          <a:prstGeom prst="rect">
            <a:avLst/>
          </a:prstGeom>
        </p:spPr>
      </p:pic>
    </p:spTree>
    <p:extLst>
      <p:ext uri="{BB962C8B-B14F-4D97-AF65-F5344CB8AC3E}">
        <p14:creationId xmlns:p14="http://schemas.microsoft.com/office/powerpoint/2010/main" val="2250711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US" dirty="0"/>
              <a:t>Example: The </a:t>
            </a:r>
            <a:r>
              <a:rPr lang="en-US" dirty="0">
                <a:latin typeface="Courier New" panose="02070309020205020404" pitchFamily="49" charset="0"/>
                <a:cs typeface="Courier New" panose="02070309020205020404" pitchFamily="49" charset="0"/>
              </a:rPr>
              <a:t>Course</a:t>
            </a:r>
            <a:r>
              <a:rPr lang="en-US" dirty="0"/>
              <a:t> Class</a:t>
            </a:r>
          </a:p>
        </p:txBody>
      </p:sp>
      <p:pic>
        <p:nvPicPr>
          <p:cNvPr id="6" name="Picture 5" descr="Nine rows of codes and descriptions for course as follows. For long description in Notes pane, press F6.">
            <a:extLst>
              <a:ext uri="{FF2B5EF4-FFF2-40B4-BE49-F238E27FC236}">
                <a16:creationId xmlns:a16="http://schemas.microsoft.com/office/drawing/2014/main" id="{C5886662-9800-4797-9C2A-76DA64D224EE}"/>
              </a:ext>
            </a:extLst>
          </p:cNvPr>
          <p:cNvPicPr>
            <a:picLocks noChangeAspect="1"/>
          </p:cNvPicPr>
          <p:nvPr/>
        </p:nvPicPr>
        <p:blipFill>
          <a:blip r:embed="rId3"/>
          <a:stretch>
            <a:fillRect/>
          </a:stretch>
        </p:blipFill>
        <p:spPr>
          <a:xfrm>
            <a:off x="522083" y="1963697"/>
            <a:ext cx="8099834" cy="3204927"/>
          </a:xfrm>
          <a:prstGeom prst="rect">
            <a:avLst/>
          </a:prstGeom>
        </p:spPr>
      </p:pic>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5013436" y="5561115"/>
            <a:ext cx="1296000" cy="543435"/>
          </a:xfrm>
        </p:spPr>
        <p:txBody>
          <a:bodyPr/>
          <a:lstStyle/>
          <a:p>
            <a:pPr marL="432" indent="0">
              <a:buNone/>
            </a:pPr>
            <a:r>
              <a:rPr lang="en-US" dirty="0">
                <a:hlinkClick r:id="rId4" tooltip="https://liveexample.pearsoncmg.com/html/Course.html"/>
              </a:rPr>
              <a:t>Course</a:t>
            </a:r>
            <a:endParaRPr lang="en-US" dirty="0">
              <a:hlinkClick r:id="rId4"/>
            </a:endParaRPr>
          </a:p>
        </p:txBody>
      </p:sp>
      <p:sp>
        <p:nvSpPr>
          <p:cNvPr id="11" name="Text Placeholder 10">
            <a:extLst>
              <a:ext uri="{FF2B5EF4-FFF2-40B4-BE49-F238E27FC236}">
                <a16:creationId xmlns:a16="http://schemas.microsoft.com/office/drawing/2014/main" id="{759A18C0-B08B-45DD-8E61-F6B1D4E86AD6}"/>
              </a:ext>
            </a:extLst>
          </p:cNvPr>
          <p:cNvSpPr>
            <a:spLocks noGrp="1"/>
          </p:cNvSpPr>
          <p:nvPr>
            <p:ph type="body" sz="quarter" idx="21"/>
          </p:nvPr>
        </p:nvSpPr>
        <p:spPr>
          <a:xfrm>
            <a:off x="6801793" y="5561115"/>
            <a:ext cx="1845567" cy="543435"/>
          </a:xfrm>
        </p:spPr>
        <p:txBody>
          <a:bodyPr/>
          <a:lstStyle/>
          <a:p>
            <a:pPr marL="432" indent="0">
              <a:buNone/>
            </a:pPr>
            <a:r>
              <a:rPr lang="en-US" dirty="0">
                <a:hlinkClick r:id="rId5" tooltip="https://liveexample.pearsoncmg.com/html/TestCourse.html"/>
              </a:rPr>
              <a:t>TestCourse</a:t>
            </a:r>
            <a:endParaRPr lang="en-US" dirty="0">
              <a:hlinkClick r:id="rId5"/>
            </a:endParaRPr>
          </a:p>
        </p:txBody>
      </p:sp>
    </p:spTree>
    <p:extLst>
      <p:ext uri="{BB962C8B-B14F-4D97-AF65-F5344CB8AC3E}">
        <p14:creationId xmlns:p14="http://schemas.microsoft.com/office/powerpoint/2010/main" val="2399254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US" sz="3200" dirty="0"/>
              <a:t>Example: The </a:t>
            </a:r>
            <a:r>
              <a:rPr lang="en-US" sz="3200" dirty="0">
                <a:latin typeface="Courier New" panose="02070309020205020404" pitchFamily="49" charset="0"/>
                <a:cs typeface="Courier New" panose="02070309020205020404" pitchFamily="49" charset="0"/>
              </a:rPr>
              <a:t>Stackofintegers</a:t>
            </a:r>
            <a:r>
              <a:rPr lang="en-US" sz="3200" dirty="0"/>
              <a:t> Class</a:t>
            </a:r>
          </a:p>
        </p:txBody>
      </p:sp>
      <p:pic>
        <p:nvPicPr>
          <p:cNvPr id="7" name="Picture 6" descr="Nine rows of codes and description for StackOfIntegers as follows. For long description in Notes pane, press F6.">
            <a:extLst>
              <a:ext uri="{FF2B5EF4-FFF2-40B4-BE49-F238E27FC236}">
                <a16:creationId xmlns:a16="http://schemas.microsoft.com/office/drawing/2014/main" id="{3D842B09-F23C-41CA-AA1B-CF5BCE311BD7}"/>
              </a:ext>
            </a:extLst>
          </p:cNvPr>
          <p:cNvPicPr>
            <a:picLocks noChangeAspect="1"/>
          </p:cNvPicPr>
          <p:nvPr/>
        </p:nvPicPr>
        <p:blipFill>
          <a:blip r:embed="rId3"/>
          <a:stretch>
            <a:fillRect/>
          </a:stretch>
        </p:blipFill>
        <p:spPr>
          <a:xfrm>
            <a:off x="530352" y="1813560"/>
            <a:ext cx="8083296" cy="3688080"/>
          </a:xfrm>
          <a:prstGeom prst="rect">
            <a:avLst/>
          </a:prstGeom>
        </p:spPr>
      </p:pic>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5612523" y="5651596"/>
            <a:ext cx="3067019" cy="543435"/>
          </a:xfrm>
        </p:spPr>
        <p:txBody>
          <a:bodyPr/>
          <a:lstStyle/>
          <a:p>
            <a:pPr marL="432" indent="0">
              <a:buNone/>
            </a:pPr>
            <a:r>
              <a:rPr lang="en-US" dirty="0">
                <a:hlinkClick r:id="rId4" tooltip="https://liveexample.pearsoncmg.com/html/TestStackOfIntegers.html"/>
              </a:rPr>
              <a:t>TestStackOfIntegers</a:t>
            </a:r>
            <a:endParaRPr lang="en-US" dirty="0">
              <a:hlinkClick r:id="rId4"/>
            </a:endParaRPr>
          </a:p>
        </p:txBody>
      </p:sp>
    </p:spTree>
    <p:extLst>
      <p:ext uri="{BB962C8B-B14F-4D97-AF65-F5344CB8AC3E}">
        <p14:creationId xmlns:p14="http://schemas.microsoft.com/office/powerpoint/2010/main" val="1819008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8D82-DBE9-4FF2-B033-DBB63C7A4042}"/>
              </a:ext>
            </a:extLst>
          </p:cNvPr>
          <p:cNvSpPr>
            <a:spLocks noGrp="1"/>
          </p:cNvSpPr>
          <p:nvPr>
            <p:ph type="title"/>
          </p:nvPr>
        </p:nvSpPr>
        <p:spPr/>
        <p:txBody>
          <a:bodyPr/>
          <a:lstStyle/>
          <a:p>
            <a:r>
              <a:rPr lang="en-US" sz="3200" dirty="0"/>
              <a:t>Designing the </a:t>
            </a:r>
            <a:r>
              <a:rPr lang="en-US" sz="3200" dirty="0">
                <a:latin typeface="Courier New" panose="02070309020205020404" pitchFamily="49" charset="0"/>
                <a:cs typeface="Courier New" panose="02070309020205020404" pitchFamily="49" charset="0"/>
              </a:rPr>
              <a:t>Stackofintegers</a:t>
            </a:r>
            <a:r>
              <a:rPr lang="en-US" sz="3200" dirty="0"/>
              <a:t> Class</a:t>
            </a:r>
          </a:p>
        </p:txBody>
      </p:sp>
      <p:pic>
        <p:nvPicPr>
          <p:cNvPr id="7" name="Picture 6" descr="An illustraton shows a stake of integers in an array. Data 1 is stored first, data 2 Is stored above data 2, and data 3 is stored above data 2. While retrieving the data, data 3 is retrieved first, then data 2 is retrieved, and finally data 1 is retrived.">
            <a:extLst>
              <a:ext uri="{FF2B5EF4-FFF2-40B4-BE49-F238E27FC236}">
                <a16:creationId xmlns:a16="http://schemas.microsoft.com/office/drawing/2014/main" id="{56762649-3F5F-4195-8604-AB2D8C5A19EB}"/>
              </a:ext>
            </a:extLst>
          </p:cNvPr>
          <p:cNvPicPr>
            <a:picLocks noChangeAspect="1"/>
          </p:cNvPicPr>
          <p:nvPr/>
        </p:nvPicPr>
        <p:blipFill>
          <a:blip r:embed="rId3"/>
          <a:stretch>
            <a:fillRect/>
          </a:stretch>
        </p:blipFill>
        <p:spPr>
          <a:xfrm>
            <a:off x="578118" y="2006584"/>
            <a:ext cx="7987762" cy="3210592"/>
          </a:xfrm>
          <a:prstGeom prst="rect">
            <a:avLst/>
          </a:prstGeom>
        </p:spPr>
      </p:pic>
    </p:spTree>
    <p:extLst>
      <p:ext uri="{BB962C8B-B14F-4D97-AF65-F5344CB8AC3E}">
        <p14:creationId xmlns:p14="http://schemas.microsoft.com/office/powerpoint/2010/main" val="3828153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US" sz="3200" dirty="0"/>
              <a:t>Implementing </a:t>
            </a:r>
            <a:r>
              <a:rPr lang="en-US" sz="3200" dirty="0">
                <a:latin typeface="Courier New" panose="02070309020205020404" pitchFamily="49" charset="0"/>
                <a:cs typeface="Courier New" panose="02070309020205020404" pitchFamily="49" charset="0"/>
              </a:rPr>
              <a:t>Stackofintegers</a:t>
            </a:r>
            <a:r>
              <a:rPr lang="en-US" sz="3200" dirty="0"/>
              <a:t> Class</a:t>
            </a:r>
          </a:p>
        </p:txBody>
      </p:sp>
      <p:pic>
        <p:nvPicPr>
          <p:cNvPr id="7" name="Picture 6" descr="An illustration shows a vertical column with six boxes labeled from top to bottom as elements array for capacity minus 1, vertical ellipsis elements array for size minus 1, vertical ellipsis, element array 1, element array 0. For long description in Notes pane, press F6.">
            <a:extLst>
              <a:ext uri="{FF2B5EF4-FFF2-40B4-BE49-F238E27FC236}">
                <a16:creationId xmlns:a16="http://schemas.microsoft.com/office/drawing/2014/main" id="{62A48588-BD4F-44E2-B612-16EDBBBB3FEE}"/>
              </a:ext>
            </a:extLst>
          </p:cNvPr>
          <p:cNvPicPr>
            <a:picLocks noChangeAspect="1"/>
          </p:cNvPicPr>
          <p:nvPr/>
        </p:nvPicPr>
        <p:blipFill>
          <a:blip r:embed="rId3"/>
          <a:stretch>
            <a:fillRect/>
          </a:stretch>
        </p:blipFill>
        <p:spPr>
          <a:xfrm>
            <a:off x="527677" y="1843893"/>
            <a:ext cx="8088646" cy="3688374"/>
          </a:xfrm>
          <a:prstGeom prst="rect">
            <a:avLst/>
          </a:prstGeom>
        </p:spPr>
      </p:pic>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6195848" y="5651596"/>
            <a:ext cx="2414876" cy="543435"/>
          </a:xfrm>
        </p:spPr>
        <p:txBody>
          <a:bodyPr/>
          <a:lstStyle/>
          <a:p>
            <a:pPr marL="432" indent="0">
              <a:buNone/>
            </a:pPr>
            <a:r>
              <a:rPr lang="en-US" dirty="0">
                <a:hlinkClick r:id="rId4" tooltip="https://liveexample.pearsoncmg.com/html/StackOfIntegers.html"/>
              </a:rPr>
              <a:t>StackOfIntegers</a:t>
            </a:r>
            <a:endParaRPr lang="en-US" dirty="0">
              <a:hlinkClick r:id="rId4"/>
            </a:endParaRPr>
          </a:p>
        </p:txBody>
      </p:sp>
    </p:spTree>
    <p:extLst>
      <p:ext uri="{BB962C8B-B14F-4D97-AF65-F5344CB8AC3E}">
        <p14:creationId xmlns:p14="http://schemas.microsoft.com/office/powerpoint/2010/main" val="306610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64797-420D-4B2B-B1A3-C0ADCB02F5D6}"/>
              </a:ext>
            </a:extLst>
          </p:cNvPr>
          <p:cNvSpPr>
            <a:spLocks noGrp="1"/>
          </p:cNvSpPr>
          <p:nvPr>
            <p:ph type="title"/>
          </p:nvPr>
        </p:nvSpPr>
        <p:spPr/>
        <p:txBody>
          <a:bodyPr/>
          <a:lstStyle/>
          <a:p>
            <a:r>
              <a:rPr lang="en-US" dirty="0"/>
              <a:t>Wrapper Classes</a:t>
            </a:r>
          </a:p>
        </p:txBody>
      </p:sp>
      <p:sp>
        <p:nvSpPr>
          <p:cNvPr id="3" name="Content Placeholder 2">
            <a:extLst>
              <a:ext uri="{FF2B5EF4-FFF2-40B4-BE49-F238E27FC236}">
                <a16:creationId xmlns:a16="http://schemas.microsoft.com/office/drawing/2014/main" id="{58BAC428-D3E2-41E6-8784-8751D1C38A1E}"/>
              </a:ext>
            </a:extLst>
          </p:cNvPr>
          <p:cNvSpPr>
            <a:spLocks noGrp="1"/>
          </p:cNvSpPr>
          <p:nvPr>
            <p:ph sz="quarter" idx="13"/>
          </p:nvPr>
        </p:nvSpPr>
        <p:spPr>
          <a:xfrm>
            <a:off x="470451" y="1552575"/>
            <a:ext cx="2268000" cy="4438650"/>
          </a:xfrm>
        </p:spPr>
        <p:txBody>
          <a:bodyPr/>
          <a:lstStyle/>
          <a:p>
            <a:r>
              <a:rPr lang="en-US" dirty="0">
                <a:latin typeface="Courier New" panose="02070309020205020404" pitchFamily="49" charset="0"/>
                <a:cs typeface="Courier New" panose="02070309020205020404" pitchFamily="49" charset="0"/>
              </a:rPr>
              <a:t>Boolean</a:t>
            </a:r>
          </a:p>
          <a:p>
            <a:r>
              <a:rPr lang="en-US" dirty="0">
                <a:latin typeface="Courier New" panose="02070309020205020404" pitchFamily="49" charset="0"/>
                <a:cs typeface="Courier New" panose="02070309020205020404" pitchFamily="49" charset="0"/>
              </a:rPr>
              <a:t>Character</a:t>
            </a:r>
          </a:p>
          <a:p>
            <a:r>
              <a:rPr lang="en-US" dirty="0">
                <a:latin typeface="Courier New" panose="02070309020205020404" pitchFamily="49" charset="0"/>
                <a:cs typeface="Courier New" panose="02070309020205020404" pitchFamily="49" charset="0"/>
              </a:rPr>
              <a:t>Short</a:t>
            </a:r>
          </a:p>
          <a:p>
            <a:r>
              <a:rPr lang="en-US" dirty="0">
                <a:latin typeface="Courier New" panose="02070309020205020404" pitchFamily="49" charset="0"/>
                <a:cs typeface="Courier New" panose="02070309020205020404" pitchFamily="49" charset="0"/>
              </a:rPr>
              <a:t>Byte</a:t>
            </a:r>
          </a:p>
          <a:p>
            <a:r>
              <a:rPr lang="en-US" dirty="0">
                <a:latin typeface="Courier New" panose="02070309020205020404" pitchFamily="49" charset="0"/>
                <a:cs typeface="Courier New" panose="02070309020205020404" pitchFamily="49" charset="0"/>
              </a:rPr>
              <a:t>Integer</a:t>
            </a:r>
          </a:p>
          <a:p>
            <a:r>
              <a:rPr lang="en-US" dirty="0">
                <a:latin typeface="Courier New" panose="02070309020205020404" pitchFamily="49" charset="0"/>
                <a:cs typeface="Courier New" panose="02070309020205020404" pitchFamily="49" charset="0"/>
              </a:rPr>
              <a:t>Long</a:t>
            </a:r>
          </a:p>
          <a:p>
            <a:r>
              <a:rPr lang="en-US" dirty="0">
                <a:latin typeface="Courier New" panose="02070309020205020404" pitchFamily="49" charset="0"/>
                <a:cs typeface="Courier New" panose="02070309020205020404" pitchFamily="49" charset="0"/>
              </a:rPr>
              <a:t>Float</a:t>
            </a:r>
          </a:p>
          <a:p>
            <a:r>
              <a:rPr lang="en-US" dirty="0">
                <a:latin typeface="Courier New" panose="02070309020205020404" pitchFamily="49" charset="0"/>
                <a:cs typeface="Courier New" panose="02070309020205020404" pitchFamily="49" charset="0"/>
              </a:rPr>
              <a:t>Double</a:t>
            </a:r>
          </a:p>
        </p:txBody>
      </p:sp>
      <p:sp>
        <p:nvSpPr>
          <p:cNvPr id="4" name="Content Placeholder 3">
            <a:extLst>
              <a:ext uri="{FF2B5EF4-FFF2-40B4-BE49-F238E27FC236}">
                <a16:creationId xmlns:a16="http://schemas.microsoft.com/office/drawing/2014/main" id="{F299B70A-AE06-4411-B6FE-BB3A1B623A69}"/>
              </a:ext>
            </a:extLst>
          </p:cNvPr>
          <p:cNvSpPr>
            <a:spLocks noGrp="1"/>
          </p:cNvSpPr>
          <p:nvPr>
            <p:ph sz="quarter" idx="14"/>
          </p:nvPr>
        </p:nvSpPr>
        <p:spPr>
          <a:xfrm>
            <a:off x="4694832" y="2222773"/>
            <a:ext cx="3996000" cy="3096000"/>
          </a:xfrm>
        </p:spPr>
        <p:txBody>
          <a:bodyPr/>
          <a:lstStyle/>
          <a:p>
            <a:pPr marL="432" indent="0">
              <a:buNone/>
            </a:pPr>
            <a:r>
              <a:rPr lang="en-US" b="1" dirty="0"/>
              <a:t>Note: </a:t>
            </a:r>
            <a:r>
              <a:rPr lang="en-US" dirty="0"/>
              <a:t>(1) The wrapper classes do not have no-</a:t>
            </a:r>
            <a:r>
              <a:rPr lang="en-US" dirty="0" err="1"/>
              <a:t>arg</a:t>
            </a:r>
            <a:r>
              <a:rPr lang="en-US" dirty="0"/>
              <a:t> constructors. (2) The instances of all wrapper classes are immutable, i.e., their internal values cannot be changed once the objects are created.</a:t>
            </a:r>
          </a:p>
        </p:txBody>
      </p:sp>
    </p:spTree>
    <p:extLst>
      <p:ext uri="{BB962C8B-B14F-4D97-AF65-F5344CB8AC3E}">
        <p14:creationId xmlns:p14="http://schemas.microsoft.com/office/powerpoint/2010/main" val="3608809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58A17-9A27-43D8-874B-12FED14547AE}"/>
              </a:ext>
            </a:extLst>
          </p:cNvPr>
          <p:cNvSpPr>
            <a:spLocks noGrp="1"/>
          </p:cNvSpPr>
          <p:nvPr>
            <p:ph type="title"/>
          </p:nvPr>
        </p:nvSpPr>
        <p:spPr/>
        <p:txBody>
          <a:bodyPr/>
          <a:lstStyle/>
          <a:p>
            <a:r>
              <a:rPr lang="en-US"/>
              <a:t>The </a:t>
            </a:r>
            <a:r>
              <a:rPr lang="en-US">
                <a:latin typeface="Courier New" panose="02070309020205020404" pitchFamily="49" charset="0"/>
                <a:cs typeface="Courier New" panose="02070309020205020404" pitchFamily="49" charset="0"/>
              </a:rPr>
              <a:t>Integer</a:t>
            </a:r>
            <a:r>
              <a:rPr lang="en-US"/>
              <a:t> and </a:t>
            </a:r>
            <a:r>
              <a:rPr lang="en-US">
                <a:latin typeface="Courier New" panose="02070309020205020404" pitchFamily="49" charset="0"/>
                <a:cs typeface="Courier New" panose="02070309020205020404" pitchFamily="49" charset="0"/>
              </a:rPr>
              <a:t>Double</a:t>
            </a:r>
            <a:r>
              <a:rPr lang="en-US"/>
              <a:t> Classes</a:t>
            </a:r>
          </a:p>
        </p:txBody>
      </p:sp>
      <p:pic>
        <p:nvPicPr>
          <p:cNvPr id="7" name="Picture 6" descr="The computer code shows The Integer and Double Classes. For long description in Notes pane, press F6.">
            <a:extLst>
              <a:ext uri="{FF2B5EF4-FFF2-40B4-BE49-F238E27FC236}">
                <a16:creationId xmlns:a16="http://schemas.microsoft.com/office/drawing/2014/main" id="{1918004C-170C-4ED5-B542-CD18ED2528D1}"/>
              </a:ext>
            </a:extLst>
          </p:cNvPr>
          <p:cNvPicPr>
            <a:picLocks noChangeAspect="1"/>
          </p:cNvPicPr>
          <p:nvPr/>
        </p:nvPicPr>
        <p:blipFill>
          <a:blip r:embed="rId3"/>
          <a:stretch>
            <a:fillRect/>
          </a:stretch>
        </p:blipFill>
        <p:spPr>
          <a:xfrm>
            <a:off x="654009" y="1728811"/>
            <a:ext cx="7835982" cy="4263099"/>
          </a:xfrm>
          <a:prstGeom prst="rect">
            <a:avLst/>
          </a:prstGeom>
        </p:spPr>
      </p:pic>
    </p:spTree>
    <p:extLst>
      <p:ext uri="{BB962C8B-B14F-4D97-AF65-F5344CB8AC3E}">
        <p14:creationId xmlns:p14="http://schemas.microsoft.com/office/powerpoint/2010/main" val="3649455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B28C4-42FC-4EE3-97DC-3B5F6E26FF2B}"/>
              </a:ext>
            </a:extLst>
          </p:cNvPr>
          <p:cNvSpPr>
            <a:spLocks noGrp="1"/>
          </p:cNvSpPr>
          <p:nvPr>
            <p:ph type="title"/>
          </p:nvPr>
        </p:nvSpPr>
        <p:spPr/>
        <p:txBody>
          <a:bodyPr/>
          <a:lstStyle/>
          <a:p>
            <a:r>
              <a:rPr lang="en-US" sz="3200"/>
              <a:t>The </a:t>
            </a:r>
            <a:r>
              <a:rPr lang="en-US" sz="3200">
                <a:latin typeface="Courier New" panose="02070309020205020404" pitchFamily="49" charset="0"/>
                <a:cs typeface="Courier New" panose="02070309020205020404" pitchFamily="49" charset="0"/>
              </a:rPr>
              <a:t>Integer</a:t>
            </a:r>
            <a:r>
              <a:rPr lang="en-US" sz="3200"/>
              <a:t> Class and the </a:t>
            </a:r>
            <a:r>
              <a:rPr lang="en-US" sz="3200">
                <a:latin typeface="Courier New" panose="02070309020205020404" pitchFamily="49" charset="0"/>
                <a:cs typeface="Courier New" panose="02070309020205020404" pitchFamily="49" charset="0"/>
              </a:rPr>
              <a:t>Double</a:t>
            </a:r>
            <a:r>
              <a:rPr lang="en-US" sz="3200"/>
              <a:t> Class</a:t>
            </a:r>
          </a:p>
        </p:txBody>
      </p:sp>
      <p:sp>
        <p:nvSpPr>
          <p:cNvPr id="3" name="Content Placeholder 2">
            <a:extLst>
              <a:ext uri="{FF2B5EF4-FFF2-40B4-BE49-F238E27FC236}">
                <a16:creationId xmlns:a16="http://schemas.microsoft.com/office/drawing/2014/main" id="{61D80A31-4A43-4BCF-A2D6-1522DFDB0007}"/>
              </a:ext>
            </a:extLst>
          </p:cNvPr>
          <p:cNvSpPr>
            <a:spLocks noGrp="1"/>
          </p:cNvSpPr>
          <p:nvPr>
            <p:ph sz="quarter" idx="13"/>
          </p:nvPr>
        </p:nvSpPr>
        <p:spPr>
          <a:xfrm>
            <a:off x="457200" y="1554921"/>
            <a:ext cx="8232775" cy="1874080"/>
          </a:xfrm>
        </p:spPr>
        <p:txBody>
          <a:bodyPr/>
          <a:lstStyle/>
          <a:p>
            <a:r>
              <a:rPr lang="en-US" dirty="0"/>
              <a:t>Constructors</a:t>
            </a:r>
          </a:p>
          <a:p>
            <a:r>
              <a:rPr lang="en-US" dirty="0"/>
              <a:t>Class Constants </a:t>
            </a:r>
            <a:r>
              <a:rPr lang="en-US" dirty="0">
                <a:latin typeface="Courier New" panose="02070309020205020404" pitchFamily="49" charset="0"/>
                <a:cs typeface="Courier New" panose="02070309020205020404" pitchFamily="49" charset="0"/>
              </a:rPr>
              <a:t>MAX_VALUE</a:t>
            </a:r>
            <a:r>
              <a:rPr lang="en-US" dirty="0"/>
              <a:t>, </a:t>
            </a:r>
            <a:r>
              <a:rPr lang="en-US" dirty="0">
                <a:latin typeface="Courier New" panose="02070309020205020404" pitchFamily="49" charset="0"/>
                <a:cs typeface="Courier New" panose="02070309020205020404" pitchFamily="49" charset="0"/>
              </a:rPr>
              <a:t>MIN_VALUE</a:t>
            </a:r>
          </a:p>
          <a:p>
            <a:r>
              <a:rPr lang="en-US" dirty="0"/>
              <a:t>Conversion Methods</a:t>
            </a:r>
          </a:p>
        </p:txBody>
      </p:sp>
    </p:spTree>
    <p:extLst>
      <p:ext uri="{BB962C8B-B14F-4D97-AF65-F5344CB8AC3E}">
        <p14:creationId xmlns:p14="http://schemas.microsoft.com/office/powerpoint/2010/main" val="1830325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CF160-17CE-4C2D-9A87-AB5E4A0524BB}"/>
              </a:ext>
            </a:extLst>
          </p:cNvPr>
          <p:cNvSpPr>
            <a:spLocks noGrp="1"/>
          </p:cNvSpPr>
          <p:nvPr>
            <p:ph type="title"/>
          </p:nvPr>
        </p:nvSpPr>
        <p:spPr/>
        <p:txBody>
          <a:bodyPr/>
          <a:lstStyle/>
          <a:p>
            <a:r>
              <a:rPr lang="en-US" sz="3200"/>
              <a:t>Numeric Wrapper Class Constructors</a:t>
            </a:r>
          </a:p>
        </p:txBody>
      </p:sp>
      <p:sp>
        <p:nvSpPr>
          <p:cNvPr id="3" name="Content Placeholder 2">
            <a:extLst>
              <a:ext uri="{FF2B5EF4-FFF2-40B4-BE49-F238E27FC236}">
                <a16:creationId xmlns:a16="http://schemas.microsoft.com/office/drawing/2014/main" id="{24BA03AB-831D-4911-88E0-03C7BB470B2E}"/>
              </a:ext>
            </a:extLst>
          </p:cNvPr>
          <p:cNvSpPr>
            <a:spLocks noGrp="1"/>
          </p:cNvSpPr>
          <p:nvPr>
            <p:ph sz="quarter" idx="13"/>
          </p:nvPr>
        </p:nvSpPr>
        <p:spPr>
          <a:xfrm>
            <a:off x="457200" y="1556327"/>
            <a:ext cx="8229600" cy="3549073"/>
          </a:xfrm>
        </p:spPr>
        <p:txBody>
          <a:bodyPr/>
          <a:lstStyle/>
          <a:p>
            <a:pPr marL="487350" lvl="1" indent="0">
              <a:buNone/>
            </a:pPr>
            <a:r>
              <a:rPr lang="en-US" dirty="0"/>
              <a:t>You can construct a wrapper object either from a primitive data type value or from a string representing the numeric value. The constructors for </a:t>
            </a:r>
            <a:r>
              <a:rPr lang="en-US" dirty="0">
                <a:latin typeface="Courier New" panose="02070309020205020404" pitchFamily="49" charset="0"/>
                <a:cs typeface="Courier New" panose="02070309020205020404" pitchFamily="49" charset="0"/>
              </a:rPr>
              <a:t>Integer</a:t>
            </a:r>
            <a:r>
              <a:rPr lang="en-US" dirty="0"/>
              <a:t> and </a:t>
            </a:r>
            <a:r>
              <a:rPr lang="en-US" dirty="0">
                <a:latin typeface="Courier New" panose="02070309020205020404" pitchFamily="49" charset="0"/>
                <a:cs typeface="Courier New" panose="02070309020205020404" pitchFamily="49" charset="0"/>
              </a:rPr>
              <a:t>Double</a:t>
            </a:r>
            <a:r>
              <a:rPr lang="en-US" dirty="0"/>
              <a:t> are:</a:t>
            </a:r>
          </a:p>
          <a:p>
            <a:pPr marL="742518" lvl="1" indent="0">
              <a:buNone/>
            </a:pPr>
            <a:r>
              <a:rPr lang="en-US" dirty="0">
                <a:latin typeface="Courier New" panose="02070309020205020404" pitchFamily="49" charset="0"/>
                <a:cs typeface="Courier New" panose="02070309020205020404" pitchFamily="49" charset="0"/>
              </a:rPr>
              <a:t>public Integer(int value)</a:t>
            </a:r>
          </a:p>
          <a:p>
            <a:pPr marL="742518" lvl="1" indent="0">
              <a:buNone/>
            </a:pPr>
            <a:r>
              <a:rPr lang="en-US" dirty="0">
                <a:latin typeface="Courier New" panose="02070309020205020404" pitchFamily="49" charset="0"/>
                <a:cs typeface="Courier New" panose="02070309020205020404" pitchFamily="49" charset="0"/>
              </a:rPr>
              <a:t>public Integer(String s)</a:t>
            </a:r>
          </a:p>
          <a:p>
            <a:pPr marL="742518" lvl="1" indent="0">
              <a:buNone/>
            </a:pPr>
            <a:r>
              <a:rPr lang="en-US" dirty="0">
                <a:latin typeface="Courier New" panose="02070309020205020404" pitchFamily="49" charset="0"/>
                <a:cs typeface="Courier New" panose="02070309020205020404" pitchFamily="49" charset="0"/>
              </a:rPr>
              <a:t>public Double(double value)</a:t>
            </a:r>
          </a:p>
          <a:p>
            <a:pPr marL="742518" lvl="1" indent="0">
              <a:buNone/>
            </a:pPr>
            <a:r>
              <a:rPr lang="en-US" dirty="0">
                <a:latin typeface="Courier New" panose="02070309020205020404" pitchFamily="49" charset="0"/>
                <a:cs typeface="Courier New" panose="02070309020205020404" pitchFamily="49" charset="0"/>
              </a:rPr>
              <a:t>public Double(String s)</a:t>
            </a:r>
          </a:p>
        </p:txBody>
      </p:sp>
    </p:spTree>
    <p:extLst>
      <p:ext uri="{BB962C8B-B14F-4D97-AF65-F5344CB8AC3E}">
        <p14:creationId xmlns:p14="http://schemas.microsoft.com/office/powerpoint/2010/main" val="3270968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253A-DC16-4B47-842E-02CB7CDC5F1E}"/>
              </a:ext>
            </a:extLst>
          </p:cNvPr>
          <p:cNvSpPr>
            <a:spLocks noGrp="1"/>
          </p:cNvSpPr>
          <p:nvPr>
            <p:ph type="title"/>
          </p:nvPr>
        </p:nvSpPr>
        <p:spPr/>
        <p:txBody>
          <a:bodyPr/>
          <a:lstStyle/>
          <a:p>
            <a:r>
              <a:rPr lang="en-US"/>
              <a:t>Numeric Wrapper Class Constants</a:t>
            </a:r>
          </a:p>
        </p:txBody>
      </p:sp>
      <p:sp>
        <p:nvSpPr>
          <p:cNvPr id="3" name="Content Placeholder 2">
            <a:extLst>
              <a:ext uri="{FF2B5EF4-FFF2-40B4-BE49-F238E27FC236}">
                <a16:creationId xmlns:a16="http://schemas.microsoft.com/office/drawing/2014/main" id="{D85E87AB-AB2D-4ADF-8698-8CF58640B3F3}"/>
              </a:ext>
            </a:extLst>
          </p:cNvPr>
          <p:cNvSpPr>
            <a:spLocks noGrp="1"/>
          </p:cNvSpPr>
          <p:nvPr>
            <p:ph sz="quarter" idx="13"/>
          </p:nvPr>
        </p:nvSpPr>
        <p:spPr>
          <a:xfrm>
            <a:off x="457200" y="1554921"/>
            <a:ext cx="8232775" cy="4221040"/>
          </a:xfrm>
        </p:spPr>
        <p:txBody>
          <a:bodyPr/>
          <a:lstStyle/>
          <a:p>
            <a:pPr marL="432" indent="0">
              <a:buNone/>
            </a:pPr>
            <a:r>
              <a:rPr lang="en-US" dirty="0"/>
              <a:t>Each numerical wrapper class has the constants </a:t>
            </a:r>
            <a:r>
              <a:rPr lang="en-US" b="1" dirty="0">
                <a:latin typeface="Courier New" panose="02070309020205020404" pitchFamily="49" charset="0"/>
                <a:cs typeface="Courier New" panose="02070309020205020404" pitchFamily="49" charset="0"/>
              </a:rPr>
              <a:t>MAX_VALUE</a:t>
            </a:r>
            <a:r>
              <a:rPr lang="en-US" dirty="0"/>
              <a:t> and </a:t>
            </a:r>
            <a:r>
              <a:rPr lang="en-US" b="1" dirty="0">
                <a:latin typeface="Courier New" panose="02070309020205020404" pitchFamily="49" charset="0"/>
                <a:cs typeface="Courier New" panose="02070309020205020404" pitchFamily="49" charset="0"/>
              </a:rPr>
              <a:t>MIN_VALUE</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MAX_VALUE</a:t>
            </a:r>
            <a:r>
              <a:rPr lang="en-US" dirty="0">
                <a:latin typeface="Courier New" panose="02070309020205020404" pitchFamily="49" charset="0"/>
                <a:cs typeface="Courier New" panose="02070309020205020404" pitchFamily="49" charset="0"/>
              </a:rPr>
              <a:t> </a:t>
            </a:r>
            <a:r>
              <a:rPr lang="en-US" dirty="0"/>
              <a:t>represents the maximum value of the corresponding primitive data type. For </a:t>
            </a:r>
            <a:r>
              <a:rPr lang="en-US" b="1" dirty="0">
                <a:latin typeface="Courier New" panose="02070309020205020404" pitchFamily="49" charset="0"/>
                <a:cs typeface="Courier New" panose="02070309020205020404" pitchFamily="49" charset="0"/>
              </a:rPr>
              <a:t>Byte</a:t>
            </a:r>
            <a:r>
              <a:rPr lang="en-US" dirty="0"/>
              <a:t>, </a:t>
            </a:r>
            <a:r>
              <a:rPr lang="en-US" b="1" dirty="0">
                <a:latin typeface="Courier New" panose="02070309020205020404" pitchFamily="49" charset="0"/>
                <a:cs typeface="Courier New" panose="02070309020205020404" pitchFamily="49" charset="0"/>
              </a:rPr>
              <a:t>Short</a:t>
            </a:r>
            <a:r>
              <a:rPr lang="en-US" dirty="0"/>
              <a:t>, </a:t>
            </a:r>
            <a:r>
              <a:rPr lang="en-US" b="1" dirty="0">
                <a:latin typeface="Courier New" panose="02070309020205020404" pitchFamily="49" charset="0"/>
                <a:cs typeface="Courier New" panose="02070309020205020404" pitchFamily="49" charset="0"/>
              </a:rPr>
              <a:t>Integer</a:t>
            </a:r>
            <a:r>
              <a:rPr lang="en-US" dirty="0"/>
              <a:t>, and </a:t>
            </a:r>
            <a:r>
              <a:rPr lang="en-US" b="1" dirty="0">
                <a:latin typeface="Courier New" panose="02070309020205020404" pitchFamily="49" charset="0"/>
                <a:cs typeface="Courier New" panose="02070309020205020404" pitchFamily="49" charset="0"/>
              </a:rPr>
              <a:t>Long</a:t>
            </a:r>
            <a:r>
              <a:rPr lang="en-US" dirty="0"/>
              <a:t>, </a:t>
            </a:r>
            <a:r>
              <a:rPr lang="en-US" b="1" dirty="0">
                <a:latin typeface="Courier New" panose="02070309020205020404" pitchFamily="49" charset="0"/>
                <a:cs typeface="Courier New" panose="02070309020205020404" pitchFamily="49" charset="0"/>
              </a:rPr>
              <a:t>MIN_VALUE</a:t>
            </a:r>
            <a:r>
              <a:rPr lang="en-US" dirty="0"/>
              <a:t> represents the minimum </a:t>
            </a:r>
            <a:r>
              <a:rPr lang="en-US" b="1" dirty="0">
                <a:latin typeface="Courier New" panose="02070309020205020404" pitchFamily="49" charset="0"/>
                <a:cs typeface="Courier New" panose="02070309020205020404" pitchFamily="49" charset="0"/>
              </a:rPr>
              <a:t>byte</a:t>
            </a:r>
            <a:r>
              <a:rPr lang="en-US" dirty="0"/>
              <a:t>, </a:t>
            </a:r>
            <a:r>
              <a:rPr lang="en-US" b="1" dirty="0">
                <a:latin typeface="Courier New" panose="02070309020205020404" pitchFamily="49" charset="0"/>
                <a:cs typeface="Courier New" panose="02070309020205020404" pitchFamily="49" charset="0"/>
              </a:rPr>
              <a:t>short</a:t>
            </a:r>
            <a:r>
              <a:rPr lang="en-US" dirty="0"/>
              <a:t>, </a:t>
            </a:r>
            <a:r>
              <a:rPr lang="en-US" b="1" dirty="0">
                <a:latin typeface="Courier New" panose="02070309020205020404" pitchFamily="49" charset="0"/>
                <a:cs typeface="Courier New" panose="02070309020205020404" pitchFamily="49" charset="0"/>
              </a:rPr>
              <a:t>int</a:t>
            </a:r>
            <a:r>
              <a:rPr lang="en-US" dirty="0"/>
              <a:t>, and </a:t>
            </a:r>
            <a:r>
              <a:rPr lang="en-US" b="1" dirty="0">
                <a:latin typeface="Courier New" panose="02070309020205020404" pitchFamily="49" charset="0"/>
                <a:cs typeface="Courier New" panose="02070309020205020404" pitchFamily="49" charset="0"/>
              </a:rPr>
              <a:t>long</a:t>
            </a:r>
            <a:r>
              <a:rPr lang="en-US" dirty="0"/>
              <a:t> values. For </a:t>
            </a:r>
            <a:r>
              <a:rPr lang="en-US" b="1" dirty="0">
                <a:latin typeface="Courier New" panose="02070309020205020404" pitchFamily="49" charset="0"/>
                <a:cs typeface="Courier New" panose="02070309020205020404" pitchFamily="49" charset="0"/>
              </a:rPr>
              <a:t>Float</a:t>
            </a:r>
            <a:r>
              <a:rPr lang="en-US" dirty="0"/>
              <a:t> and </a:t>
            </a:r>
            <a:r>
              <a:rPr lang="en-US" b="1" dirty="0">
                <a:latin typeface="Courier New" panose="02070309020205020404" pitchFamily="49" charset="0"/>
                <a:cs typeface="Courier New" panose="02070309020205020404" pitchFamily="49" charset="0"/>
              </a:rPr>
              <a:t>Double</a:t>
            </a:r>
            <a:r>
              <a:rPr lang="en-US" dirty="0"/>
              <a:t>, </a:t>
            </a:r>
            <a:r>
              <a:rPr lang="en-US" b="1" dirty="0">
                <a:latin typeface="Courier New" panose="02070309020205020404" pitchFamily="49" charset="0"/>
                <a:cs typeface="Courier New" panose="02070309020205020404" pitchFamily="49" charset="0"/>
              </a:rPr>
              <a:t>MIN_VALUE</a:t>
            </a:r>
            <a:r>
              <a:rPr lang="en-US" dirty="0"/>
              <a:t> represents the minimum </a:t>
            </a:r>
            <a:r>
              <a:rPr lang="en-US" b="1" dirty="0"/>
              <a:t>positive</a:t>
            </a:r>
            <a:r>
              <a:rPr lang="en-US" dirty="0"/>
              <a:t> </a:t>
            </a:r>
            <a:r>
              <a:rPr lang="en-US" b="1" dirty="0">
                <a:latin typeface="Courier New" panose="02070309020205020404" pitchFamily="49" charset="0"/>
                <a:cs typeface="Courier New" panose="02070309020205020404" pitchFamily="49" charset="0"/>
              </a:rPr>
              <a:t>float</a:t>
            </a:r>
            <a:r>
              <a:rPr lang="en-US" dirty="0"/>
              <a:t> and </a:t>
            </a:r>
            <a:r>
              <a:rPr lang="en-US" b="1" dirty="0">
                <a:latin typeface="Courier New" panose="02070309020205020404" pitchFamily="49" charset="0"/>
                <a:cs typeface="Courier New" panose="02070309020205020404" pitchFamily="49" charset="0"/>
              </a:rPr>
              <a:t>double</a:t>
            </a:r>
            <a:r>
              <a:rPr lang="en-US" dirty="0"/>
              <a:t> values. The following statements display the maximum integer (2,147,483,647), the minimum positive float (1.4E-45), and the maximum double floating-point number (1.79769313486231570e+308d).</a:t>
            </a:r>
          </a:p>
        </p:txBody>
      </p:sp>
    </p:spTree>
    <p:extLst>
      <p:ext uri="{BB962C8B-B14F-4D97-AF65-F5344CB8AC3E}">
        <p14:creationId xmlns:p14="http://schemas.microsoft.com/office/powerpoint/2010/main" val="3231964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B50DF-45FC-4E5D-BA64-796681B3261D}"/>
              </a:ext>
            </a:extLst>
          </p:cNvPr>
          <p:cNvSpPr>
            <a:spLocks noGrp="1"/>
          </p:cNvSpPr>
          <p:nvPr>
            <p:ph type="title"/>
          </p:nvPr>
        </p:nvSpPr>
        <p:spPr/>
        <p:txBody>
          <a:bodyPr/>
          <a:lstStyle/>
          <a:p>
            <a:r>
              <a:rPr lang="en-US"/>
              <a:t>Conversion Methods</a:t>
            </a:r>
          </a:p>
        </p:txBody>
      </p:sp>
      <p:sp>
        <p:nvSpPr>
          <p:cNvPr id="3" name="Content Placeholder 2">
            <a:extLst>
              <a:ext uri="{FF2B5EF4-FFF2-40B4-BE49-F238E27FC236}">
                <a16:creationId xmlns:a16="http://schemas.microsoft.com/office/drawing/2014/main" id="{98B1A866-6E03-4C00-992C-8A2DE6BC4CB0}"/>
              </a:ext>
            </a:extLst>
          </p:cNvPr>
          <p:cNvSpPr>
            <a:spLocks noGrp="1"/>
          </p:cNvSpPr>
          <p:nvPr>
            <p:ph sz="quarter" idx="13"/>
          </p:nvPr>
        </p:nvSpPr>
        <p:spPr>
          <a:xfrm>
            <a:off x="457200" y="1554921"/>
            <a:ext cx="8232775" cy="2088000"/>
          </a:xfrm>
        </p:spPr>
        <p:txBody>
          <a:bodyPr/>
          <a:lstStyle/>
          <a:p>
            <a:pPr marL="432" indent="0">
              <a:buNone/>
            </a:pPr>
            <a:r>
              <a:rPr lang="en-US" dirty="0"/>
              <a:t>Each numeric wrapper class implements the abstract methods </a:t>
            </a:r>
            <a:r>
              <a:rPr lang="en-US" b="1" dirty="0">
                <a:latin typeface="Courier New" panose="02070309020205020404" pitchFamily="49" charset="0"/>
                <a:cs typeface="Courier New" panose="02070309020205020404" pitchFamily="49" charset="0"/>
              </a:rPr>
              <a:t>doubleValue</a:t>
            </a:r>
            <a:r>
              <a:rPr lang="en-US" dirty="0"/>
              <a:t>, </a:t>
            </a:r>
            <a:r>
              <a:rPr lang="en-US" b="1" dirty="0">
                <a:latin typeface="Courier New" panose="02070309020205020404" pitchFamily="49" charset="0"/>
                <a:cs typeface="Courier New" panose="02070309020205020404" pitchFamily="49" charset="0"/>
              </a:rPr>
              <a:t>floatValue</a:t>
            </a:r>
            <a:r>
              <a:rPr lang="en-US" dirty="0"/>
              <a:t>, </a:t>
            </a:r>
            <a:r>
              <a:rPr lang="en-US" b="1" dirty="0">
                <a:latin typeface="Courier New" panose="02070309020205020404" pitchFamily="49" charset="0"/>
                <a:cs typeface="Courier New" panose="02070309020205020404" pitchFamily="49" charset="0"/>
              </a:rPr>
              <a:t>intValue</a:t>
            </a:r>
            <a:r>
              <a:rPr lang="en-US" dirty="0"/>
              <a:t>, </a:t>
            </a:r>
            <a:r>
              <a:rPr lang="en-US" b="1" dirty="0">
                <a:latin typeface="Courier New" panose="02070309020205020404" pitchFamily="49" charset="0"/>
                <a:cs typeface="Courier New" panose="02070309020205020404" pitchFamily="49" charset="0"/>
              </a:rPr>
              <a:t>longValue</a:t>
            </a:r>
            <a:r>
              <a:rPr lang="en-US" dirty="0"/>
              <a:t>, and </a:t>
            </a:r>
            <a:r>
              <a:rPr lang="en-US" b="1" dirty="0">
                <a:latin typeface="Courier New" panose="02070309020205020404" pitchFamily="49" charset="0"/>
                <a:cs typeface="Courier New" panose="02070309020205020404" pitchFamily="49" charset="0"/>
              </a:rPr>
              <a:t>shortValue</a:t>
            </a:r>
            <a:r>
              <a:rPr lang="en-US" dirty="0"/>
              <a:t>, which are defined in the </a:t>
            </a:r>
            <a:r>
              <a:rPr lang="en-US" b="1" dirty="0">
                <a:latin typeface="Courier New" panose="02070309020205020404" pitchFamily="49" charset="0"/>
                <a:cs typeface="Courier New" panose="02070309020205020404" pitchFamily="49" charset="0"/>
              </a:rPr>
              <a:t>Number</a:t>
            </a:r>
            <a:r>
              <a:rPr lang="en-US" dirty="0"/>
              <a:t> class. These methods “convert” objects into primitive type values.</a:t>
            </a:r>
          </a:p>
        </p:txBody>
      </p:sp>
    </p:spTree>
    <p:extLst>
      <p:ext uri="{BB962C8B-B14F-4D97-AF65-F5344CB8AC3E}">
        <p14:creationId xmlns:p14="http://schemas.microsoft.com/office/powerpoint/2010/main" val="595107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64F0-DD39-4B01-BDBD-08042A61AED6}"/>
              </a:ext>
            </a:extLst>
          </p:cNvPr>
          <p:cNvSpPr>
            <a:spLocks noGrp="1"/>
          </p:cNvSpPr>
          <p:nvPr>
            <p:ph type="title"/>
          </p:nvPr>
        </p:nvSpPr>
        <p:spPr/>
        <p:txBody>
          <a:bodyPr/>
          <a:lstStyle/>
          <a:p>
            <a:r>
              <a:rPr lang="en-US" dirty="0"/>
              <a:t>The Static </a:t>
            </a:r>
            <a:r>
              <a:rPr lang="en-US" dirty="0">
                <a:latin typeface="Courier New" panose="02070309020205020404" pitchFamily="49" charset="0"/>
                <a:cs typeface="Courier New" panose="02070309020205020404" pitchFamily="49" charset="0"/>
              </a:rPr>
              <a:t>valueof</a:t>
            </a:r>
            <a:r>
              <a:rPr lang="en-US" dirty="0"/>
              <a:t> Methods</a:t>
            </a:r>
          </a:p>
        </p:txBody>
      </p:sp>
      <p:sp>
        <p:nvSpPr>
          <p:cNvPr id="3" name="Content Placeholder 2">
            <a:extLst>
              <a:ext uri="{FF2B5EF4-FFF2-40B4-BE49-F238E27FC236}">
                <a16:creationId xmlns:a16="http://schemas.microsoft.com/office/drawing/2014/main" id="{3810BFA2-CCF4-4C2A-B3C7-FFF22B2E89DB}"/>
              </a:ext>
            </a:extLst>
          </p:cNvPr>
          <p:cNvSpPr>
            <a:spLocks noGrp="1"/>
          </p:cNvSpPr>
          <p:nvPr>
            <p:ph sz="quarter" idx="13"/>
          </p:nvPr>
        </p:nvSpPr>
        <p:spPr>
          <a:xfrm>
            <a:off x="470451" y="1554921"/>
            <a:ext cx="8280000" cy="2619514"/>
          </a:xfrm>
        </p:spPr>
        <p:txBody>
          <a:bodyPr/>
          <a:lstStyle/>
          <a:p>
            <a:pPr marL="432" indent="0">
              <a:buNone/>
            </a:pPr>
            <a:r>
              <a:rPr lang="en-US" sz="2200" dirty="0"/>
              <a:t>The numeric wrapper classes have a useful class method, </a:t>
            </a:r>
            <a:r>
              <a:rPr lang="en-US" sz="2200" dirty="0">
                <a:latin typeface="Courier New" panose="02070309020205020404" pitchFamily="49" charset="0"/>
                <a:cs typeface="Courier New" panose="02070309020205020404" pitchFamily="49" charset="0"/>
              </a:rPr>
              <a:t>valueOf(String s)</a:t>
            </a:r>
            <a:r>
              <a:rPr lang="en-US" sz="2200" dirty="0"/>
              <a:t>. This method creates a new object initialized to the value represented by the specified string. For example:</a:t>
            </a:r>
          </a:p>
          <a:p>
            <a:pPr marL="255600" indent="0">
              <a:buNone/>
            </a:pPr>
            <a:r>
              <a:rPr lang="en-US" sz="2200" dirty="0">
                <a:latin typeface="Courier New" panose="02070309020205020404" pitchFamily="49" charset="0"/>
                <a:cs typeface="Courier New" panose="02070309020205020404" pitchFamily="49" charset="0"/>
              </a:rPr>
              <a:t>Double doubleObject = Double.valueOf("12.4");</a:t>
            </a:r>
          </a:p>
          <a:p>
            <a:pPr marL="255600" indent="0">
              <a:buNone/>
            </a:pPr>
            <a:r>
              <a:rPr lang="en-US" sz="2200" dirty="0">
                <a:latin typeface="Courier New" panose="02070309020205020404" pitchFamily="49" charset="0"/>
                <a:cs typeface="Courier New" panose="02070309020205020404" pitchFamily="49" charset="0"/>
              </a:rPr>
              <a:t>Integer integerObject = Integer.valueOf("12");</a:t>
            </a:r>
          </a:p>
        </p:txBody>
      </p:sp>
    </p:spTree>
    <p:extLst>
      <p:ext uri="{BB962C8B-B14F-4D97-AF65-F5344CB8AC3E}">
        <p14:creationId xmlns:p14="http://schemas.microsoft.com/office/powerpoint/2010/main" val="4054153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0444-DDA9-4DD0-BA60-CB58FD354087}"/>
              </a:ext>
            </a:extLst>
          </p:cNvPr>
          <p:cNvSpPr>
            <a:spLocks noGrp="1"/>
          </p:cNvSpPr>
          <p:nvPr>
            <p:ph type="title"/>
          </p:nvPr>
        </p:nvSpPr>
        <p:spPr/>
        <p:txBody>
          <a:bodyPr/>
          <a:lstStyle/>
          <a:p>
            <a:r>
              <a:rPr lang="en-US" sz="3200"/>
              <a:t>The Methods for Parsing Strings Into Numbers</a:t>
            </a:r>
          </a:p>
        </p:txBody>
      </p:sp>
      <p:sp>
        <p:nvSpPr>
          <p:cNvPr id="3" name="Content Placeholder 2">
            <a:extLst>
              <a:ext uri="{FF2B5EF4-FFF2-40B4-BE49-F238E27FC236}">
                <a16:creationId xmlns:a16="http://schemas.microsoft.com/office/drawing/2014/main" id="{E403A8F2-D49C-4C7D-AD84-09C554ED9F13}"/>
              </a:ext>
            </a:extLst>
          </p:cNvPr>
          <p:cNvSpPr>
            <a:spLocks noGrp="1"/>
          </p:cNvSpPr>
          <p:nvPr>
            <p:ph sz="quarter" idx="13"/>
          </p:nvPr>
        </p:nvSpPr>
        <p:spPr>
          <a:xfrm>
            <a:off x="457200" y="1554921"/>
            <a:ext cx="8232775" cy="2437960"/>
          </a:xfrm>
        </p:spPr>
        <p:txBody>
          <a:bodyPr/>
          <a:lstStyle/>
          <a:p>
            <a:pPr marL="432" indent="0">
              <a:buNone/>
            </a:pPr>
            <a:r>
              <a:rPr lang="en-US" dirty="0"/>
              <a:t>You have used the </a:t>
            </a:r>
            <a:r>
              <a:rPr lang="en-US" dirty="0">
                <a:latin typeface="Courier New" panose="02070309020205020404" pitchFamily="49" charset="0"/>
                <a:cs typeface="Courier New" panose="02070309020205020404" pitchFamily="49" charset="0"/>
              </a:rPr>
              <a:t>parseInt</a:t>
            </a:r>
            <a:r>
              <a:rPr lang="en-US" dirty="0"/>
              <a:t> method in the Integer class to parse a numeric string into an int value and the </a:t>
            </a:r>
            <a:r>
              <a:rPr lang="en-US" dirty="0">
                <a:latin typeface="Courier New" panose="02070309020205020404" pitchFamily="49" charset="0"/>
                <a:cs typeface="Courier New" panose="02070309020205020404" pitchFamily="49" charset="0"/>
              </a:rPr>
              <a:t>parseDouble</a:t>
            </a:r>
            <a:r>
              <a:rPr lang="en-US" dirty="0"/>
              <a:t> method in the Double class to parse a numeric string into a double value. Each numeric wrapper class has two overloaded parsing methods to parse a numeric string into an appropriate numeric value.</a:t>
            </a:r>
          </a:p>
        </p:txBody>
      </p:sp>
    </p:spTree>
    <p:extLst>
      <p:ext uri="{BB962C8B-B14F-4D97-AF65-F5344CB8AC3E}">
        <p14:creationId xmlns:p14="http://schemas.microsoft.com/office/powerpoint/2010/main" val="2843516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DA1703-96F8-4923-B6F9-2930FA46BADA}"/>
              </a:ext>
            </a:extLst>
          </p:cNvPr>
          <p:cNvSpPr>
            <a:spLocks noGrp="1"/>
          </p:cNvSpPr>
          <p:nvPr>
            <p:ph type="title"/>
          </p:nvPr>
        </p:nvSpPr>
        <p:spPr/>
        <p:txBody>
          <a:bodyPr/>
          <a:lstStyle/>
          <a:p>
            <a:r>
              <a:rPr lang="en-US" sz="3200">
                <a:cs typeface="Courier New" panose="02070309020205020404" pitchFamily="49" charset="0"/>
              </a:rPr>
              <a:t>Automatic Conversion Between Primitive Types and Wrapper Class Types</a:t>
            </a:r>
          </a:p>
        </p:txBody>
      </p:sp>
      <p:sp>
        <p:nvSpPr>
          <p:cNvPr id="5" name="Content Placeholder 4">
            <a:extLst>
              <a:ext uri="{FF2B5EF4-FFF2-40B4-BE49-F238E27FC236}">
                <a16:creationId xmlns:a16="http://schemas.microsoft.com/office/drawing/2014/main" id="{DFDB429D-9E0A-4196-8ABD-6A7759823DC1}"/>
              </a:ext>
            </a:extLst>
          </p:cNvPr>
          <p:cNvSpPr>
            <a:spLocks noGrp="1"/>
          </p:cNvSpPr>
          <p:nvPr>
            <p:ph sz="quarter" idx="13"/>
          </p:nvPr>
        </p:nvSpPr>
        <p:spPr>
          <a:xfrm>
            <a:off x="470451" y="1552575"/>
            <a:ext cx="8229599" cy="1285218"/>
          </a:xfrm>
        </p:spPr>
        <p:txBody>
          <a:bodyPr/>
          <a:lstStyle/>
          <a:p>
            <a:pPr marL="432" indent="0">
              <a:buNone/>
            </a:pPr>
            <a:r>
              <a:rPr lang="en-US" dirty="0"/>
              <a:t>J</a:t>
            </a:r>
            <a:r>
              <a:rPr lang="en-US" sz="100" dirty="0"/>
              <a:t> </a:t>
            </a:r>
            <a:r>
              <a:rPr lang="en-US" dirty="0"/>
              <a:t>D</a:t>
            </a:r>
            <a:r>
              <a:rPr lang="en-US" sz="100" dirty="0"/>
              <a:t> </a:t>
            </a:r>
            <a:r>
              <a:rPr lang="en-US" dirty="0"/>
              <a:t>K 1.5 allows primitive type and wrapper classes to be converted automatically. For example, the following statement in (a) can be simplified as in (b):</a:t>
            </a:r>
          </a:p>
        </p:txBody>
      </p:sp>
      <p:pic>
        <p:nvPicPr>
          <p:cNvPr id="11" name="Picture 10" descr="The computer code shows the Automatic Conversion Between Primitive Types and Wrapper Class Types. For long description in Notes pane, press F6.">
            <a:extLst>
              <a:ext uri="{FF2B5EF4-FFF2-40B4-BE49-F238E27FC236}">
                <a16:creationId xmlns:a16="http://schemas.microsoft.com/office/drawing/2014/main" id="{0BA43F98-EF22-4E3C-98BF-C9974B94BAD2}"/>
              </a:ext>
            </a:extLst>
          </p:cNvPr>
          <p:cNvPicPr>
            <a:picLocks noChangeAspect="1"/>
          </p:cNvPicPr>
          <p:nvPr/>
        </p:nvPicPr>
        <p:blipFill>
          <a:blip r:embed="rId3"/>
          <a:stretch>
            <a:fillRect/>
          </a:stretch>
        </p:blipFill>
        <p:spPr>
          <a:xfrm>
            <a:off x="466344" y="3021760"/>
            <a:ext cx="8211312" cy="1133856"/>
          </a:xfrm>
          <a:prstGeom prst="rect">
            <a:avLst/>
          </a:prstGeom>
        </p:spPr>
      </p:pic>
      <p:pic>
        <p:nvPicPr>
          <p:cNvPr id="13" name="Picture 12" descr="Integer left bracket right bracket Array = left brace 1, 2, 3 right brace semi colon. For long description in Notes pane, press F6.">
            <a:extLst>
              <a:ext uri="{FF2B5EF4-FFF2-40B4-BE49-F238E27FC236}">
                <a16:creationId xmlns:a16="http://schemas.microsoft.com/office/drawing/2014/main" id="{BA97AE88-C864-4F1E-9860-61DCADB0B7DE}"/>
              </a:ext>
            </a:extLst>
          </p:cNvPr>
          <p:cNvPicPr>
            <a:picLocks noChangeAspect="1"/>
          </p:cNvPicPr>
          <p:nvPr/>
        </p:nvPicPr>
        <p:blipFill>
          <a:blip r:embed="rId4"/>
          <a:stretch>
            <a:fillRect/>
          </a:stretch>
        </p:blipFill>
        <p:spPr>
          <a:xfrm>
            <a:off x="578118" y="4384752"/>
            <a:ext cx="7987762" cy="1608273"/>
          </a:xfrm>
          <a:prstGeom prst="rect">
            <a:avLst/>
          </a:prstGeom>
        </p:spPr>
      </p:pic>
    </p:spTree>
    <p:extLst>
      <p:ext uri="{BB962C8B-B14F-4D97-AF65-F5344CB8AC3E}">
        <p14:creationId xmlns:p14="http://schemas.microsoft.com/office/powerpoint/2010/main" val="1710879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C74D6-0FEB-4D43-9F1D-38C51F68BAB2}"/>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Biginteger</a:t>
            </a:r>
            <a:r>
              <a:rPr lang="en-US" dirty="0"/>
              <a:t> and </a:t>
            </a:r>
            <a:r>
              <a:rPr lang="en-US" dirty="0">
                <a:latin typeface="Courier New" panose="02070309020205020404" pitchFamily="49" charset="0"/>
                <a:cs typeface="Courier New" panose="02070309020205020404" pitchFamily="49" charset="0"/>
              </a:rPr>
              <a:t>Bigdecimal</a:t>
            </a:r>
            <a:r>
              <a:rPr lang="en-US" dirty="0"/>
              <a:t> </a:t>
            </a:r>
            <a:r>
              <a:rPr lang="en-US" sz="2000" b="0" dirty="0"/>
              <a:t>(1 of 2)</a:t>
            </a:r>
          </a:p>
        </p:txBody>
      </p:sp>
      <p:sp>
        <p:nvSpPr>
          <p:cNvPr id="3" name="Content Placeholder 2">
            <a:extLst>
              <a:ext uri="{FF2B5EF4-FFF2-40B4-BE49-F238E27FC236}">
                <a16:creationId xmlns:a16="http://schemas.microsoft.com/office/drawing/2014/main" id="{DCDC3C5B-B881-42AF-91C6-FC60E86D111D}"/>
              </a:ext>
            </a:extLst>
          </p:cNvPr>
          <p:cNvSpPr>
            <a:spLocks noGrp="1"/>
          </p:cNvSpPr>
          <p:nvPr>
            <p:ph sz="quarter" idx="13"/>
          </p:nvPr>
        </p:nvSpPr>
        <p:spPr>
          <a:xfrm>
            <a:off x="457200" y="1554921"/>
            <a:ext cx="8294914" cy="2239840"/>
          </a:xfrm>
        </p:spPr>
        <p:txBody>
          <a:bodyPr/>
          <a:lstStyle/>
          <a:p>
            <a:pPr marL="432" indent="0">
              <a:buNone/>
            </a:pPr>
            <a:r>
              <a:rPr lang="en-US" dirty="0"/>
              <a:t>If you need to compute with very large integers or high precision floating-point values, you can use the </a:t>
            </a:r>
            <a:r>
              <a:rPr lang="en-US" b="1" dirty="0">
                <a:latin typeface="Courier New" panose="02070309020205020404" pitchFamily="49" charset="0"/>
                <a:cs typeface="Courier New" panose="02070309020205020404" pitchFamily="49" charset="0"/>
              </a:rPr>
              <a:t>BigInteger</a:t>
            </a:r>
            <a:r>
              <a:rPr lang="en-US" dirty="0"/>
              <a:t> and </a:t>
            </a:r>
            <a:r>
              <a:rPr lang="en-US" b="1" dirty="0">
                <a:latin typeface="Courier New" panose="02070309020205020404" pitchFamily="49" charset="0"/>
                <a:cs typeface="Courier New" panose="02070309020205020404" pitchFamily="49" charset="0"/>
              </a:rPr>
              <a:t>BigDecimal</a:t>
            </a:r>
            <a:r>
              <a:rPr lang="en-US" b="1" dirty="0"/>
              <a:t> </a:t>
            </a:r>
            <a:r>
              <a:rPr lang="en-US" dirty="0"/>
              <a:t>classes in the </a:t>
            </a:r>
            <a:r>
              <a:rPr lang="en-US" b="1" dirty="0">
                <a:latin typeface="Courier New" panose="02070309020205020404" pitchFamily="49" charset="0"/>
                <a:cs typeface="Courier New" panose="02070309020205020404" pitchFamily="49" charset="0"/>
              </a:rPr>
              <a:t>java.math</a:t>
            </a:r>
            <a:r>
              <a:rPr lang="en-US" dirty="0">
                <a:latin typeface="Courier New" panose="02070309020205020404" pitchFamily="49" charset="0"/>
                <a:cs typeface="Courier New" panose="02070309020205020404" pitchFamily="49" charset="0"/>
              </a:rPr>
              <a:t> </a:t>
            </a:r>
            <a:r>
              <a:rPr lang="en-US" dirty="0"/>
              <a:t>package. Both are </a:t>
            </a:r>
            <a:r>
              <a:rPr lang="en-US" b="1" dirty="0">
                <a:latin typeface="Courier New" panose="02070309020205020404" pitchFamily="49" charset="0"/>
                <a:cs typeface="Courier New" panose="02070309020205020404" pitchFamily="49" charset="0"/>
              </a:rPr>
              <a:t>immutable</a:t>
            </a:r>
            <a:r>
              <a:rPr lang="en-US" dirty="0"/>
              <a:t>. Both extend the </a:t>
            </a:r>
            <a:r>
              <a:rPr lang="en-US" b="1" dirty="0">
                <a:latin typeface="Courier New" panose="02070309020205020404" pitchFamily="49" charset="0"/>
                <a:cs typeface="Courier New" panose="02070309020205020404" pitchFamily="49" charset="0"/>
              </a:rPr>
              <a:t>Number</a:t>
            </a:r>
            <a:r>
              <a:rPr lang="en-US" dirty="0"/>
              <a:t> class and implement the </a:t>
            </a:r>
            <a:r>
              <a:rPr lang="en-US" b="1" dirty="0">
                <a:latin typeface="Courier New" panose="02070309020205020404" pitchFamily="49" charset="0"/>
                <a:cs typeface="Courier New" panose="02070309020205020404" pitchFamily="49" charset="0"/>
              </a:rPr>
              <a:t>Comparable</a:t>
            </a:r>
            <a:r>
              <a:rPr lang="en-US" dirty="0"/>
              <a:t> interface.</a:t>
            </a:r>
          </a:p>
        </p:txBody>
      </p:sp>
    </p:spTree>
    <p:extLst>
      <p:ext uri="{BB962C8B-B14F-4D97-AF65-F5344CB8AC3E}">
        <p14:creationId xmlns:p14="http://schemas.microsoft.com/office/powerpoint/2010/main" val="1983377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28795-AA3A-4C2F-B930-3F15D1624FA5}"/>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Biginteger</a:t>
            </a:r>
            <a:r>
              <a:rPr lang="en-US" dirty="0"/>
              <a:t> and </a:t>
            </a:r>
            <a:r>
              <a:rPr lang="en-US" dirty="0">
                <a:latin typeface="Courier New" panose="02070309020205020404" pitchFamily="49" charset="0"/>
                <a:cs typeface="Courier New" panose="02070309020205020404" pitchFamily="49" charset="0"/>
              </a:rPr>
              <a:t>Bigdecimal</a:t>
            </a:r>
            <a:r>
              <a:rPr lang="en-US" dirty="0"/>
              <a:t> </a:t>
            </a:r>
            <a:r>
              <a:rPr lang="en-US" sz="2000" b="0" dirty="0"/>
              <a:t>(2 of 2)</a:t>
            </a:r>
          </a:p>
        </p:txBody>
      </p:sp>
      <p:sp>
        <p:nvSpPr>
          <p:cNvPr id="3" name="Content Placeholder 2">
            <a:extLst>
              <a:ext uri="{FF2B5EF4-FFF2-40B4-BE49-F238E27FC236}">
                <a16:creationId xmlns:a16="http://schemas.microsoft.com/office/drawing/2014/main" id="{DC4BCC60-FAEC-44DE-A943-6F45441271B3}"/>
              </a:ext>
            </a:extLst>
          </p:cNvPr>
          <p:cNvSpPr>
            <a:spLocks noGrp="1"/>
          </p:cNvSpPr>
          <p:nvPr>
            <p:ph sz="quarter" idx="13"/>
          </p:nvPr>
        </p:nvSpPr>
        <p:spPr>
          <a:xfrm>
            <a:off x="457200" y="1552575"/>
            <a:ext cx="8229600" cy="1800000"/>
          </a:xfrm>
        </p:spPr>
        <p:txBody>
          <a:bodyPr/>
          <a:lstStyle/>
          <a:p>
            <a:pPr marL="432" indent="0">
              <a:buNone/>
            </a:pPr>
            <a:r>
              <a:rPr lang="en-US" sz="1800" dirty="0">
                <a:latin typeface="Courier New" panose="02070309020205020404" pitchFamily="49" charset="0"/>
                <a:cs typeface="Courier New" panose="02070309020205020404" pitchFamily="49" charset="0"/>
              </a:rPr>
              <a:t>BigInteger a = </a:t>
            </a:r>
            <a:r>
              <a:rPr lang="en-US" sz="1800" b="1" dirty="0">
                <a:latin typeface="Courier New" panose="02070309020205020404" pitchFamily="49" charset="0"/>
                <a:cs typeface="Courier New" panose="02070309020205020404" pitchFamily="49" charset="0"/>
              </a:rPr>
              <a:t>new</a:t>
            </a:r>
            <a:r>
              <a:rPr lang="en-US" sz="1800" dirty="0">
                <a:latin typeface="Courier New" panose="02070309020205020404" pitchFamily="49" charset="0"/>
                <a:cs typeface="Courier New" panose="02070309020205020404" pitchFamily="49" charset="0"/>
              </a:rPr>
              <a:t> BigInteger("9223372036854775807");</a:t>
            </a:r>
          </a:p>
          <a:p>
            <a:pPr marL="432" indent="0">
              <a:buNone/>
            </a:pPr>
            <a:r>
              <a:rPr lang="en-US" sz="1800" dirty="0">
                <a:latin typeface="Courier New" panose="02070309020205020404" pitchFamily="49" charset="0"/>
                <a:cs typeface="Courier New" panose="02070309020205020404" pitchFamily="49" charset="0"/>
              </a:rPr>
              <a:t>BigInteger b = </a:t>
            </a:r>
            <a:r>
              <a:rPr lang="en-US" sz="1800" b="1" dirty="0">
                <a:latin typeface="Courier New" panose="02070309020205020404" pitchFamily="49" charset="0"/>
                <a:cs typeface="Courier New" panose="02070309020205020404" pitchFamily="49" charset="0"/>
              </a:rPr>
              <a:t>new</a:t>
            </a:r>
            <a:r>
              <a:rPr lang="en-US" sz="1800" dirty="0">
                <a:latin typeface="Courier New" panose="02070309020205020404" pitchFamily="49" charset="0"/>
                <a:cs typeface="Courier New" panose="02070309020205020404" pitchFamily="49" charset="0"/>
              </a:rPr>
              <a:t> BigInteger("2");</a:t>
            </a:r>
          </a:p>
          <a:p>
            <a:pPr marL="432" indent="0">
              <a:buNone/>
            </a:pPr>
            <a:r>
              <a:rPr lang="en-US" sz="1800" dirty="0">
                <a:latin typeface="Courier New" panose="02070309020205020404" pitchFamily="49" charset="0"/>
                <a:cs typeface="Courier New" panose="02070309020205020404" pitchFamily="49" charset="0"/>
              </a:rPr>
              <a:t>BigInteger c = a.multiply(b); // 9223372036854775807 * 2</a:t>
            </a:r>
          </a:p>
          <a:p>
            <a:pPr marL="432" indent="0">
              <a:buNone/>
            </a:pPr>
            <a:r>
              <a:rPr lang="en-US" sz="1800" dirty="0">
                <a:latin typeface="Courier New" panose="02070309020205020404" pitchFamily="49" charset="0"/>
                <a:cs typeface="Courier New" panose="02070309020205020404" pitchFamily="49" charset="0"/>
              </a:rPr>
              <a:t>System.out.println(c);</a:t>
            </a:r>
          </a:p>
        </p:txBody>
      </p:sp>
      <p:sp>
        <p:nvSpPr>
          <p:cNvPr id="4" name="Content Placeholder 3">
            <a:extLst>
              <a:ext uri="{FF2B5EF4-FFF2-40B4-BE49-F238E27FC236}">
                <a16:creationId xmlns:a16="http://schemas.microsoft.com/office/drawing/2014/main" id="{13DD9D4B-9076-446A-9EAE-E1B1C8E81933}"/>
              </a:ext>
            </a:extLst>
          </p:cNvPr>
          <p:cNvSpPr>
            <a:spLocks noGrp="1"/>
          </p:cNvSpPr>
          <p:nvPr>
            <p:ph sz="quarter" idx="14"/>
          </p:nvPr>
        </p:nvSpPr>
        <p:spPr>
          <a:xfrm>
            <a:off x="457200" y="3558699"/>
            <a:ext cx="8229600" cy="2086928"/>
          </a:xfrm>
        </p:spPr>
        <p:txBody>
          <a:bodyPr/>
          <a:lstStyle/>
          <a:p>
            <a:pPr marL="432" indent="0">
              <a:buNone/>
            </a:pPr>
            <a:r>
              <a:rPr lang="en-US" sz="1800" dirty="0">
                <a:latin typeface="Courier New" panose="02070309020205020404" pitchFamily="49" charset="0"/>
                <a:cs typeface="Courier New" panose="02070309020205020404" pitchFamily="49" charset="0"/>
              </a:rPr>
              <a:t>BigDecimal a = </a:t>
            </a:r>
            <a:r>
              <a:rPr lang="en-US" sz="1800" b="1" dirty="0">
                <a:latin typeface="Courier New" panose="02070309020205020404" pitchFamily="49" charset="0"/>
                <a:cs typeface="Courier New" panose="02070309020205020404" pitchFamily="49" charset="0"/>
              </a:rPr>
              <a:t>new</a:t>
            </a:r>
            <a:r>
              <a:rPr lang="en-US" sz="1800" dirty="0">
                <a:latin typeface="Courier New" panose="02070309020205020404" pitchFamily="49" charset="0"/>
                <a:cs typeface="Courier New" panose="02070309020205020404" pitchFamily="49" charset="0"/>
              </a:rPr>
              <a:t> BigDecimal(1.0);</a:t>
            </a:r>
          </a:p>
          <a:p>
            <a:pPr marL="432" indent="0">
              <a:buNone/>
            </a:pPr>
            <a:r>
              <a:rPr lang="en-US" sz="1800" dirty="0">
                <a:latin typeface="Courier New" panose="02070309020205020404" pitchFamily="49" charset="0"/>
                <a:cs typeface="Courier New" panose="02070309020205020404" pitchFamily="49" charset="0"/>
              </a:rPr>
              <a:t>BigDecimal b = </a:t>
            </a:r>
            <a:r>
              <a:rPr lang="en-US" sz="1800" b="1" dirty="0">
                <a:latin typeface="Courier New" panose="02070309020205020404" pitchFamily="49" charset="0"/>
                <a:cs typeface="Courier New" panose="02070309020205020404" pitchFamily="49" charset="0"/>
              </a:rPr>
              <a:t>new</a:t>
            </a:r>
            <a:r>
              <a:rPr lang="en-US" sz="1800" dirty="0">
                <a:latin typeface="Courier New" panose="02070309020205020404" pitchFamily="49" charset="0"/>
                <a:cs typeface="Courier New" panose="02070309020205020404" pitchFamily="49" charset="0"/>
              </a:rPr>
              <a:t> BigDecimal(3);</a:t>
            </a:r>
          </a:p>
          <a:p>
            <a:pPr marL="432" indent="0">
              <a:buNone/>
            </a:pPr>
            <a:r>
              <a:rPr lang="en-US" sz="1800" dirty="0">
                <a:latin typeface="Courier New" panose="02070309020205020404" pitchFamily="49" charset="0"/>
                <a:cs typeface="Courier New" panose="02070309020205020404" pitchFamily="49" charset="0"/>
              </a:rPr>
              <a:t>BigDecimal c = a.divide(b, 20, BigDecimal.ROUND_UP);</a:t>
            </a:r>
          </a:p>
          <a:p>
            <a:pPr marL="432" indent="0">
              <a:buNone/>
            </a:pPr>
            <a:r>
              <a:rPr lang="en-US" sz="1800" dirty="0">
                <a:latin typeface="Courier New" panose="02070309020205020404" pitchFamily="49" charset="0"/>
                <a:cs typeface="Courier New" panose="02070309020205020404" pitchFamily="49" charset="0"/>
              </a:rPr>
              <a:t>System.out.println(c);</a:t>
            </a:r>
          </a:p>
        </p:txBody>
      </p:sp>
      <p:sp>
        <p:nvSpPr>
          <p:cNvPr id="10" name="Text Placeholder 9">
            <a:extLst>
              <a:ext uri="{FF2B5EF4-FFF2-40B4-BE49-F238E27FC236}">
                <a16:creationId xmlns:a16="http://schemas.microsoft.com/office/drawing/2014/main" id="{EF788956-B7FD-4ACE-965D-6B9DB16E8D88}"/>
              </a:ext>
            </a:extLst>
          </p:cNvPr>
          <p:cNvSpPr>
            <a:spLocks noGrp="1"/>
          </p:cNvSpPr>
          <p:nvPr>
            <p:ph type="body" sz="quarter" idx="20"/>
          </p:nvPr>
        </p:nvSpPr>
        <p:spPr>
          <a:xfrm>
            <a:off x="6507480" y="5746298"/>
            <a:ext cx="2124000" cy="494030"/>
          </a:xfrm>
        </p:spPr>
        <p:txBody>
          <a:bodyPr/>
          <a:lstStyle/>
          <a:p>
            <a:pPr marL="432" indent="0">
              <a:buNone/>
            </a:pPr>
            <a:r>
              <a:rPr lang="en-US" sz="1800" dirty="0">
                <a:hlinkClick r:id="rId3" tooltip="https://liveexample.pearsoncmg.com/html/LargeFactorial.html"/>
              </a:rPr>
              <a:t>LargeFactorial</a:t>
            </a:r>
            <a:endParaRPr lang="en-US" sz="1800" dirty="0">
              <a:hlinkClick r:id="rId3"/>
            </a:endParaRPr>
          </a:p>
        </p:txBody>
      </p:sp>
    </p:spTree>
    <p:extLst>
      <p:ext uri="{BB962C8B-B14F-4D97-AF65-F5344CB8AC3E}">
        <p14:creationId xmlns:p14="http://schemas.microsoft.com/office/powerpoint/2010/main" val="2194157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EC0BB3-97DE-445D-8C91-F0A36753D6CF}"/>
              </a:ext>
            </a:extLst>
          </p:cNvPr>
          <p:cNvSpPr>
            <a:spLocks noGrp="1"/>
          </p:cNvSpPr>
          <p:nvPr>
            <p:ph type="title"/>
          </p:nvPr>
        </p:nvSpPr>
        <p:spPr/>
        <p:txBody>
          <a:bodyPr/>
          <a:lstStyle/>
          <a:p>
            <a:r>
              <a:rPr lang="en-US"/>
              <a:t>The </a:t>
            </a:r>
            <a:r>
              <a:rPr lang="en-US">
                <a:latin typeface="Courier New" panose="02070309020205020404" pitchFamily="49" charset="0"/>
                <a:cs typeface="Courier New" panose="02070309020205020404" pitchFamily="49" charset="0"/>
              </a:rPr>
              <a:t>String</a:t>
            </a:r>
            <a:r>
              <a:rPr lang="en-US"/>
              <a:t> Class</a:t>
            </a:r>
          </a:p>
        </p:txBody>
      </p:sp>
      <p:sp>
        <p:nvSpPr>
          <p:cNvPr id="6" name="Content Placeholder 5">
            <a:extLst>
              <a:ext uri="{FF2B5EF4-FFF2-40B4-BE49-F238E27FC236}">
                <a16:creationId xmlns:a16="http://schemas.microsoft.com/office/drawing/2014/main" id="{9FF2C537-5267-4B4C-A628-19F94C9AB32B}"/>
              </a:ext>
            </a:extLst>
          </p:cNvPr>
          <p:cNvSpPr>
            <a:spLocks noGrp="1"/>
          </p:cNvSpPr>
          <p:nvPr>
            <p:ph sz="quarter" idx="13"/>
          </p:nvPr>
        </p:nvSpPr>
        <p:spPr>
          <a:xfrm>
            <a:off x="457200" y="1552575"/>
            <a:ext cx="6346178" cy="432000"/>
          </a:xfrm>
        </p:spPr>
        <p:txBody>
          <a:bodyPr/>
          <a:lstStyle/>
          <a:p>
            <a:pPr>
              <a:spcBef>
                <a:spcPts val="1000"/>
              </a:spcBef>
            </a:pPr>
            <a:r>
              <a:rPr lang="en-US" sz="1800" dirty="0"/>
              <a:t>Constructing a </a:t>
            </a:r>
            <a:r>
              <a:rPr lang="en-US" sz="1800" dirty="0">
                <a:latin typeface="Courier New" panose="02070309020205020404" pitchFamily="49" charset="0"/>
                <a:cs typeface="Courier New" panose="02070309020205020404" pitchFamily="49" charset="0"/>
              </a:rPr>
              <a:t>String</a:t>
            </a:r>
            <a:r>
              <a:rPr lang="en-US" sz="1800" dirty="0"/>
              <a:t>:</a:t>
            </a:r>
          </a:p>
        </p:txBody>
      </p:sp>
      <p:sp>
        <p:nvSpPr>
          <p:cNvPr id="7" name="Content Placeholder 6">
            <a:extLst>
              <a:ext uri="{FF2B5EF4-FFF2-40B4-BE49-F238E27FC236}">
                <a16:creationId xmlns:a16="http://schemas.microsoft.com/office/drawing/2014/main" id="{787CB9CC-B88F-48DF-9E7B-C9861AAC60A7}"/>
              </a:ext>
            </a:extLst>
          </p:cNvPr>
          <p:cNvSpPr>
            <a:spLocks noGrp="1"/>
          </p:cNvSpPr>
          <p:nvPr>
            <p:ph sz="quarter" idx="14"/>
          </p:nvPr>
        </p:nvSpPr>
        <p:spPr>
          <a:xfrm>
            <a:off x="457200" y="2063554"/>
            <a:ext cx="8388220" cy="1044000"/>
          </a:xfrm>
        </p:spPr>
        <p:txBody>
          <a:bodyPr tIns="0"/>
          <a:lstStyle/>
          <a:p>
            <a:pPr marL="255600" lvl="1" indent="0">
              <a:buNone/>
            </a:pPr>
            <a:r>
              <a:rPr lang="en-US" sz="1800" dirty="0">
                <a:latin typeface="Courier New" panose="02070309020205020404" pitchFamily="49" charset="0"/>
                <a:cs typeface="Courier New" panose="02070309020205020404" pitchFamily="49" charset="0"/>
              </a:rPr>
              <a:t>String message = "Welcome to Java“;</a:t>
            </a:r>
          </a:p>
          <a:p>
            <a:pPr marL="255600" lvl="1" indent="0">
              <a:buNone/>
            </a:pPr>
            <a:r>
              <a:rPr lang="en-US" sz="1800" dirty="0">
                <a:latin typeface="Courier New" panose="02070309020205020404" pitchFamily="49" charset="0"/>
                <a:cs typeface="Courier New" panose="02070309020205020404" pitchFamily="49" charset="0"/>
              </a:rPr>
              <a:t>String message = new String("Welcome to Java“);</a:t>
            </a:r>
          </a:p>
          <a:p>
            <a:pPr marL="255600" lvl="1" indent="0">
              <a:buNone/>
            </a:pPr>
            <a:r>
              <a:rPr lang="en-US" sz="1800" dirty="0">
                <a:latin typeface="Courier New" panose="02070309020205020404" pitchFamily="49" charset="0"/>
                <a:cs typeface="Courier New" panose="02070309020205020404" pitchFamily="49" charset="0"/>
              </a:rPr>
              <a:t>String s = new String();</a:t>
            </a:r>
            <a:endParaRPr lang="en-US" sz="1800" dirty="0"/>
          </a:p>
        </p:txBody>
      </p:sp>
      <p:sp>
        <p:nvSpPr>
          <p:cNvPr id="8" name="Content Placeholder 7">
            <a:extLst>
              <a:ext uri="{FF2B5EF4-FFF2-40B4-BE49-F238E27FC236}">
                <a16:creationId xmlns:a16="http://schemas.microsoft.com/office/drawing/2014/main" id="{E8576952-2B46-4BD3-8B23-935AFC422F27}"/>
              </a:ext>
            </a:extLst>
          </p:cNvPr>
          <p:cNvSpPr>
            <a:spLocks noGrp="1"/>
          </p:cNvSpPr>
          <p:nvPr>
            <p:ph sz="quarter" idx="15"/>
          </p:nvPr>
        </p:nvSpPr>
        <p:spPr>
          <a:xfrm>
            <a:off x="457200" y="3207974"/>
            <a:ext cx="8218488" cy="3132000"/>
          </a:xfrm>
        </p:spPr>
        <p:txBody>
          <a:bodyPr lIns="90000" tIns="0"/>
          <a:lstStyle/>
          <a:p>
            <a:pPr>
              <a:spcBef>
                <a:spcPts val="1000"/>
              </a:spcBef>
            </a:pPr>
            <a:r>
              <a:rPr lang="en-US" sz="1800" dirty="0"/>
              <a:t>Obtaining </a:t>
            </a:r>
            <a:r>
              <a:rPr lang="en-US" sz="1800" dirty="0">
                <a:cs typeface="Courier New" panose="02070309020205020404" pitchFamily="49" charset="0"/>
              </a:rPr>
              <a:t>String</a:t>
            </a:r>
            <a:r>
              <a:rPr lang="en-US" sz="1800" dirty="0"/>
              <a:t> length and Retrieving Individual Characters in a </a:t>
            </a:r>
            <a:r>
              <a:rPr lang="en-US" sz="1800" dirty="0">
                <a:cs typeface="Courier New" panose="02070309020205020404" pitchFamily="49" charset="0"/>
              </a:rPr>
              <a:t>string</a:t>
            </a:r>
          </a:p>
          <a:p>
            <a:pPr>
              <a:spcBef>
                <a:spcPts val="1000"/>
              </a:spcBef>
            </a:pPr>
            <a:r>
              <a:rPr lang="en-US" sz="1800" dirty="0">
                <a:cs typeface="Courier New" panose="02070309020205020404" pitchFamily="49" charset="0"/>
              </a:rPr>
              <a:t>String</a:t>
            </a:r>
            <a:r>
              <a:rPr lang="en-US" sz="1800" dirty="0"/>
              <a:t> Concatenation (concat)</a:t>
            </a:r>
          </a:p>
          <a:p>
            <a:pPr>
              <a:spcBef>
                <a:spcPts val="1000"/>
              </a:spcBef>
            </a:pPr>
            <a:r>
              <a:rPr lang="en-US" sz="1800" dirty="0"/>
              <a:t>Substrings (</a:t>
            </a:r>
            <a:r>
              <a:rPr lang="en-US" sz="1800" dirty="0">
                <a:latin typeface="Courier New" panose="02070309020205020404" pitchFamily="49" charset="0"/>
                <a:cs typeface="Courier New" panose="02070309020205020404" pitchFamily="49" charset="0"/>
              </a:rPr>
              <a:t>substring(index), substring(start, end)</a:t>
            </a:r>
            <a:r>
              <a:rPr lang="en-US" sz="1800" dirty="0"/>
              <a:t>)</a:t>
            </a:r>
          </a:p>
          <a:p>
            <a:pPr>
              <a:spcBef>
                <a:spcPts val="1000"/>
              </a:spcBef>
            </a:pPr>
            <a:r>
              <a:rPr lang="en-US" sz="1800" dirty="0"/>
              <a:t>Comparisons (equals, compareTo)</a:t>
            </a:r>
          </a:p>
          <a:p>
            <a:pPr>
              <a:spcBef>
                <a:spcPts val="1000"/>
              </a:spcBef>
            </a:pPr>
            <a:r>
              <a:rPr lang="en-US" sz="1800" dirty="0">
                <a:cs typeface="Courier New" panose="02070309020205020404" pitchFamily="49" charset="0"/>
              </a:rPr>
              <a:t>String</a:t>
            </a:r>
            <a:r>
              <a:rPr lang="en-US" sz="1800" dirty="0"/>
              <a:t> Conversions</a:t>
            </a:r>
          </a:p>
          <a:p>
            <a:pPr>
              <a:spcBef>
                <a:spcPts val="1000"/>
              </a:spcBef>
            </a:pPr>
            <a:r>
              <a:rPr lang="en-US" sz="1800" dirty="0"/>
              <a:t>Finding a </a:t>
            </a:r>
            <a:r>
              <a:rPr lang="en-US" sz="1800" dirty="0">
                <a:latin typeface="Courier New" panose="02070309020205020404" pitchFamily="49" charset="0"/>
                <a:cs typeface="Courier New" panose="02070309020205020404" pitchFamily="49" charset="0"/>
              </a:rPr>
              <a:t>Character</a:t>
            </a:r>
            <a:r>
              <a:rPr lang="en-US" sz="1800" dirty="0"/>
              <a:t> or a </a:t>
            </a:r>
            <a:r>
              <a:rPr lang="en-US" sz="1800" dirty="0">
                <a:latin typeface="Courier New" panose="02070309020205020404" pitchFamily="49" charset="0"/>
                <a:cs typeface="Courier New" panose="02070309020205020404" pitchFamily="49" charset="0"/>
              </a:rPr>
              <a:t>Substring</a:t>
            </a:r>
            <a:r>
              <a:rPr lang="en-US" sz="1800" dirty="0"/>
              <a:t> in a </a:t>
            </a:r>
            <a:r>
              <a:rPr lang="en-US" sz="1800" dirty="0">
                <a:latin typeface="Courier New" panose="02070309020205020404" pitchFamily="49" charset="0"/>
                <a:cs typeface="Courier New" panose="02070309020205020404" pitchFamily="49" charset="0"/>
              </a:rPr>
              <a:t>String</a:t>
            </a:r>
          </a:p>
          <a:p>
            <a:pPr>
              <a:spcBef>
                <a:spcPts val="1000"/>
              </a:spcBef>
            </a:pPr>
            <a:r>
              <a:rPr lang="en-US" sz="1800" dirty="0"/>
              <a:t>Conversions between </a:t>
            </a:r>
            <a:r>
              <a:rPr lang="en-US" sz="1800" dirty="0">
                <a:cs typeface="Courier New" panose="02070309020205020404" pitchFamily="49" charset="0"/>
              </a:rPr>
              <a:t>Strings</a:t>
            </a:r>
            <a:r>
              <a:rPr lang="en-US" sz="1800" dirty="0"/>
              <a:t> and </a:t>
            </a:r>
            <a:r>
              <a:rPr lang="en-US" sz="1800" dirty="0">
                <a:cs typeface="Courier New" panose="02070309020205020404" pitchFamily="49" charset="0"/>
              </a:rPr>
              <a:t>Arrays</a:t>
            </a:r>
          </a:p>
          <a:p>
            <a:pPr>
              <a:spcBef>
                <a:spcPts val="1000"/>
              </a:spcBef>
            </a:pPr>
            <a:r>
              <a:rPr lang="en-US" sz="1800" dirty="0"/>
              <a:t>Converting Characters and Numeric Values to </a:t>
            </a:r>
            <a:r>
              <a:rPr lang="en-US" sz="1800" dirty="0">
                <a:cs typeface="Courier New" panose="02070309020205020404" pitchFamily="49" charset="0"/>
              </a:rPr>
              <a:t>Strings</a:t>
            </a:r>
          </a:p>
        </p:txBody>
      </p:sp>
    </p:spTree>
    <p:extLst>
      <p:ext uri="{BB962C8B-B14F-4D97-AF65-F5344CB8AC3E}">
        <p14:creationId xmlns:p14="http://schemas.microsoft.com/office/powerpoint/2010/main" val="2353316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7D7BA-5EC6-4F4C-8692-3391C8FA571C}"/>
              </a:ext>
            </a:extLst>
          </p:cNvPr>
          <p:cNvSpPr>
            <a:spLocks noGrp="1"/>
          </p:cNvSpPr>
          <p:nvPr>
            <p:ph type="title"/>
          </p:nvPr>
        </p:nvSpPr>
        <p:spPr/>
        <p:txBody>
          <a:bodyPr/>
          <a:lstStyle/>
          <a:p>
            <a:r>
              <a:rPr lang="en-US"/>
              <a:t>Constructing </a:t>
            </a:r>
            <a:r>
              <a:rPr lang="en-US">
                <a:cs typeface="Courier New" panose="02070309020205020404" pitchFamily="49" charset="0"/>
              </a:rPr>
              <a:t>Strings</a:t>
            </a:r>
          </a:p>
        </p:txBody>
      </p:sp>
      <p:sp>
        <p:nvSpPr>
          <p:cNvPr id="3" name="Content Placeholder 2">
            <a:extLst>
              <a:ext uri="{FF2B5EF4-FFF2-40B4-BE49-F238E27FC236}">
                <a16:creationId xmlns:a16="http://schemas.microsoft.com/office/drawing/2014/main" id="{F56A1FA2-F41D-4064-B927-EB2F24C579F8}"/>
              </a:ext>
            </a:extLst>
          </p:cNvPr>
          <p:cNvSpPr>
            <a:spLocks noGrp="1"/>
          </p:cNvSpPr>
          <p:nvPr>
            <p:ph sz="quarter" idx="13"/>
          </p:nvPr>
        </p:nvSpPr>
        <p:spPr>
          <a:xfrm>
            <a:off x="457200" y="1554921"/>
            <a:ext cx="8232775" cy="2500244"/>
          </a:xfrm>
        </p:spPr>
        <p:txBody>
          <a:bodyPr/>
          <a:lstStyle/>
          <a:p>
            <a:pPr marL="432" indent="0">
              <a:buNone/>
            </a:pPr>
            <a:r>
              <a:rPr lang="en-US" sz="2200" dirty="0">
                <a:latin typeface="Courier New" panose="02070309020205020404" pitchFamily="49" charset="0"/>
                <a:cs typeface="Courier New" panose="02070309020205020404" pitchFamily="49" charset="0"/>
              </a:rPr>
              <a:t>String newString = new String(stringLiteral);</a:t>
            </a:r>
          </a:p>
          <a:p>
            <a:pPr marL="432" indent="0">
              <a:buNone/>
            </a:pPr>
            <a:r>
              <a:rPr lang="en-US" sz="2200" dirty="0">
                <a:latin typeface="Courier New" panose="02070309020205020404" pitchFamily="49" charset="0"/>
                <a:cs typeface="Courier New" panose="02070309020205020404" pitchFamily="49" charset="0"/>
              </a:rPr>
              <a:t>String message = new String("Welcome to Java");</a:t>
            </a:r>
          </a:p>
          <a:p>
            <a:pPr marL="432" indent="0">
              <a:buNone/>
            </a:pPr>
            <a:r>
              <a:rPr lang="en-US" sz="2200" dirty="0"/>
              <a:t>Since </a:t>
            </a:r>
            <a:r>
              <a:rPr lang="en-US" sz="2200" dirty="0">
                <a:cs typeface="Courier New" panose="02070309020205020404" pitchFamily="49" charset="0"/>
              </a:rPr>
              <a:t>strings</a:t>
            </a:r>
            <a:r>
              <a:rPr lang="en-US" sz="2200" dirty="0"/>
              <a:t> are used frequently, Java provides a shorthand initializer for creating a </a:t>
            </a:r>
            <a:r>
              <a:rPr lang="en-US" sz="2200" dirty="0">
                <a:cs typeface="Courier New" panose="02070309020205020404" pitchFamily="49" charset="0"/>
              </a:rPr>
              <a:t>string</a:t>
            </a:r>
            <a:r>
              <a:rPr lang="en-US" sz="2200" dirty="0"/>
              <a:t>:</a:t>
            </a:r>
          </a:p>
          <a:p>
            <a:pPr marL="432" indent="0">
              <a:buNone/>
            </a:pPr>
            <a:r>
              <a:rPr lang="en-US" sz="2200" dirty="0">
                <a:latin typeface="Courier New" panose="02070309020205020404" pitchFamily="49" charset="0"/>
                <a:cs typeface="Courier New" panose="02070309020205020404" pitchFamily="49" charset="0"/>
              </a:rPr>
              <a:t>String message = "Welcome to Java";</a:t>
            </a:r>
          </a:p>
        </p:txBody>
      </p:sp>
    </p:spTree>
    <p:extLst>
      <p:ext uri="{BB962C8B-B14F-4D97-AF65-F5344CB8AC3E}">
        <p14:creationId xmlns:p14="http://schemas.microsoft.com/office/powerpoint/2010/main" val="4138095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38626-0714-4B3A-816F-4408DC8B8A78}"/>
              </a:ext>
            </a:extLst>
          </p:cNvPr>
          <p:cNvSpPr>
            <a:spLocks noGrp="1"/>
          </p:cNvSpPr>
          <p:nvPr>
            <p:ph type="title"/>
          </p:nvPr>
        </p:nvSpPr>
        <p:spPr/>
        <p:txBody>
          <a:bodyPr/>
          <a:lstStyle/>
          <a:p>
            <a:r>
              <a:rPr lang="en-US">
                <a:cs typeface="Courier New" panose="02070309020205020404" pitchFamily="49" charset="0"/>
              </a:rPr>
              <a:t>Strings</a:t>
            </a:r>
            <a:r>
              <a:rPr lang="en-US"/>
              <a:t> Are Immutable</a:t>
            </a:r>
          </a:p>
        </p:txBody>
      </p:sp>
      <p:sp>
        <p:nvSpPr>
          <p:cNvPr id="3" name="Content Placeholder 2">
            <a:extLst>
              <a:ext uri="{FF2B5EF4-FFF2-40B4-BE49-F238E27FC236}">
                <a16:creationId xmlns:a16="http://schemas.microsoft.com/office/drawing/2014/main" id="{C5332750-4A6E-4649-AD15-5F2358A21909}"/>
              </a:ext>
            </a:extLst>
          </p:cNvPr>
          <p:cNvSpPr>
            <a:spLocks noGrp="1"/>
          </p:cNvSpPr>
          <p:nvPr>
            <p:ph sz="quarter" idx="13"/>
          </p:nvPr>
        </p:nvSpPr>
        <p:spPr>
          <a:xfrm>
            <a:off x="457200" y="1554921"/>
            <a:ext cx="8232775" cy="2559880"/>
          </a:xfrm>
        </p:spPr>
        <p:txBody>
          <a:bodyPr/>
          <a:lstStyle/>
          <a:p>
            <a:pPr marL="432" indent="0">
              <a:buNone/>
            </a:pPr>
            <a:r>
              <a:rPr lang="en-US" dirty="0"/>
              <a:t>A </a:t>
            </a:r>
            <a:r>
              <a:rPr lang="en-US" dirty="0">
                <a:cs typeface="Courier New" panose="02070309020205020404" pitchFamily="49" charset="0"/>
              </a:rPr>
              <a:t>String</a:t>
            </a:r>
            <a:r>
              <a:rPr lang="en-US" dirty="0"/>
              <a:t> object is immutable; its contents cannot be changed. Does the following code change the contents of the </a:t>
            </a:r>
            <a:r>
              <a:rPr lang="en-US" dirty="0">
                <a:cs typeface="Courier New" panose="02070309020205020404" pitchFamily="49" charset="0"/>
              </a:rPr>
              <a:t>string</a:t>
            </a:r>
            <a:r>
              <a:rPr lang="en-US" dirty="0"/>
              <a:t>?</a:t>
            </a:r>
          </a:p>
          <a:p>
            <a:pPr marL="255600" indent="0">
              <a:buNone/>
            </a:pPr>
            <a:r>
              <a:rPr lang="en-US" dirty="0">
                <a:latin typeface="Courier New" panose="02070309020205020404" pitchFamily="49" charset="0"/>
                <a:cs typeface="Courier New" panose="02070309020205020404" pitchFamily="49" charset="0"/>
              </a:rPr>
              <a:t>String s = "Java";</a:t>
            </a:r>
          </a:p>
          <a:p>
            <a:pPr marL="255600" indent="0">
              <a:buNone/>
            </a:pPr>
            <a:r>
              <a:rPr lang="en-US" dirty="0">
                <a:latin typeface="Courier New" panose="02070309020205020404" pitchFamily="49" charset="0"/>
                <a:cs typeface="Courier New" panose="02070309020205020404" pitchFamily="49" charset="0"/>
              </a:rPr>
              <a:t>s = "HTML";</a:t>
            </a:r>
          </a:p>
        </p:txBody>
      </p:sp>
    </p:spTree>
    <p:extLst>
      <p:ext uri="{BB962C8B-B14F-4D97-AF65-F5344CB8AC3E}">
        <p14:creationId xmlns:p14="http://schemas.microsoft.com/office/powerpoint/2010/main" val="633593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A2AA-9C76-4080-ADE6-FF5A2AD883BE}"/>
              </a:ext>
            </a:extLst>
          </p:cNvPr>
          <p:cNvSpPr>
            <a:spLocks noGrp="1"/>
          </p:cNvSpPr>
          <p:nvPr>
            <p:ph type="title"/>
          </p:nvPr>
        </p:nvSpPr>
        <p:spPr/>
        <p:txBody>
          <a:bodyPr/>
          <a:lstStyle/>
          <a:p>
            <a:r>
              <a:rPr lang="en-US"/>
              <a:t>Trace Code </a:t>
            </a:r>
            <a:r>
              <a:rPr lang="en-US" sz="2000" b="0"/>
              <a:t>(1 of 5)</a:t>
            </a:r>
            <a:endParaRPr lang="en-US" b="0"/>
          </a:p>
        </p:txBody>
      </p:sp>
      <p:pic>
        <p:nvPicPr>
          <p:cNvPr id="8" name="Picture 7" descr="The computer code shows the Strings Are Immutable. The computer code has 2 lines. Line 1, String s  equals to   double quotes Java double quotes semi colon. Line 2,  s  equals to double quotes HTML double quotes semi colon . ">
            <a:extLst>
              <a:ext uri="{FF2B5EF4-FFF2-40B4-BE49-F238E27FC236}">
                <a16:creationId xmlns:a16="http://schemas.microsoft.com/office/drawing/2014/main" id="{7D103C69-E078-4CFF-A322-471055DDFA56}"/>
              </a:ext>
            </a:extLst>
          </p:cNvPr>
          <p:cNvPicPr>
            <a:picLocks noChangeAspect="1"/>
          </p:cNvPicPr>
          <p:nvPr/>
        </p:nvPicPr>
        <p:blipFill>
          <a:blip r:embed="rId3"/>
          <a:stretch>
            <a:fillRect/>
          </a:stretch>
        </p:blipFill>
        <p:spPr>
          <a:xfrm>
            <a:off x="643104" y="1928202"/>
            <a:ext cx="3651551" cy="1264235"/>
          </a:xfrm>
          <a:prstGeom prst="rect">
            <a:avLst/>
          </a:prstGeom>
        </p:spPr>
      </p:pic>
      <p:pic>
        <p:nvPicPr>
          <p:cNvPr id="10" name="Picture 9" descr="The upward computer code shows the Trace code. It has two lines. For long description in Notes pane, press F6.">
            <a:extLst>
              <a:ext uri="{FF2B5EF4-FFF2-40B4-BE49-F238E27FC236}">
                <a16:creationId xmlns:a16="http://schemas.microsoft.com/office/drawing/2014/main" id="{D357AA57-8968-489D-965B-586AFE30024E}"/>
              </a:ext>
            </a:extLst>
          </p:cNvPr>
          <p:cNvPicPr>
            <a:picLocks noChangeAspect="1"/>
          </p:cNvPicPr>
          <p:nvPr/>
        </p:nvPicPr>
        <p:blipFill>
          <a:blip r:embed="rId4"/>
          <a:stretch>
            <a:fillRect/>
          </a:stretch>
        </p:blipFill>
        <p:spPr>
          <a:xfrm>
            <a:off x="543019" y="3448507"/>
            <a:ext cx="8057961" cy="2368906"/>
          </a:xfrm>
          <a:prstGeom prst="rect">
            <a:avLst/>
          </a:prstGeom>
        </p:spPr>
      </p:pic>
    </p:spTree>
    <p:extLst>
      <p:ext uri="{BB962C8B-B14F-4D97-AF65-F5344CB8AC3E}">
        <p14:creationId xmlns:p14="http://schemas.microsoft.com/office/powerpoint/2010/main" val="1637211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A2AA-9C76-4080-ADE6-FF5A2AD883BE}"/>
              </a:ext>
            </a:extLst>
          </p:cNvPr>
          <p:cNvSpPr>
            <a:spLocks noGrp="1"/>
          </p:cNvSpPr>
          <p:nvPr>
            <p:ph type="title"/>
          </p:nvPr>
        </p:nvSpPr>
        <p:spPr/>
        <p:txBody>
          <a:bodyPr/>
          <a:lstStyle/>
          <a:p>
            <a:r>
              <a:rPr lang="en-US"/>
              <a:t>Trace Code </a:t>
            </a:r>
            <a:r>
              <a:rPr lang="en-US" sz="2000" b="0"/>
              <a:t>(2 of 5)</a:t>
            </a:r>
            <a:endParaRPr lang="en-US" b="0"/>
          </a:p>
        </p:txBody>
      </p:sp>
      <p:pic>
        <p:nvPicPr>
          <p:cNvPr id="10" name="Picture 9" descr="String s = start double quotation marks Java end double quotation marks semi colon S = start double quotation marks HTML end double quotation marks semi colon.">
            <a:extLst>
              <a:ext uri="{FF2B5EF4-FFF2-40B4-BE49-F238E27FC236}">
                <a16:creationId xmlns:a16="http://schemas.microsoft.com/office/drawing/2014/main" id="{6002FF26-0746-4B47-AD1D-59D54C7E6DDB}"/>
              </a:ext>
            </a:extLst>
          </p:cNvPr>
          <p:cNvPicPr>
            <a:picLocks noChangeAspect="1"/>
          </p:cNvPicPr>
          <p:nvPr/>
        </p:nvPicPr>
        <p:blipFill>
          <a:blip r:embed="rId3"/>
          <a:stretch>
            <a:fillRect/>
          </a:stretch>
        </p:blipFill>
        <p:spPr>
          <a:xfrm>
            <a:off x="1054584" y="1882482"/>
            <a:ext cx="3651551" cy="1264235"/>
          </a:xfrm>
          <a:prstGeom prst="rect">
            <a:avLst/>
          </a:prstGeom>
        </p:spPr>
      </p:pic>
      <p:pic>
        <p:nvPicPr>
          <p:cNvPr id="12" name="Picture 11" descr="The upward computer code shows the Trace code. It has two lines. For long description in Notes pane, press F6.">
            <a:extLst>
              <a:ext uri="{FF2B5EF4-FFF2-40B4-BE49-F238E27FC236}">
                <a16:creationId xmlns:a16="http://schemas.microsoft.com/office/drawing/2014/main" id="{371FFBA7-3E39-439F-9EDD-397EA1A4818A}"/>
              </a:ext>
            </a:extLst>
          </p:cNvPr>
          <p:cNvPicPr>
            <a:picLocks noChangeAspect="1"/>
          </p:cNvPicPr>
          <p:nvPr/>
        </p:nvPicPr>
        <p:blipFill>
          <a:blip r:embed="rId4"/>
          <a:stretch>
            <a:fillRect/>
          </a:stretch>
        </p:blipFill>
        <p:spPr>
          <a:xfrm>
            <a:off x="699514" y="3448815"/>
            <a:ext cx="7744971" cy="2276850"/>
          </a:xfrm>
          <a:prstGeom prst="rect">
            <a:avLst/>
          </a:prstGeom>
        </p:spPr>
      </p:pic>
    </p:spTree>
    <p:extLst>
      <p:ext uri="{BB962C8B-B14F-4D97-AF65-F5344CB8AC3E}">
        <p14:creationId xmlns:p14="http://schemas.microsoft.com/office/powerpoint/2010/main" val="2761192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38C2C-9E35-4B1E-B3B7-CE658295B883}"/>
              </a:ext>
            </a:extLst>
          </p:cNvPr>
          <p:cNvSpPr>
            <a:spLocks noGrp="1"/>
          </p:cNvSpPr>
          <p:nvPr>
            <p:ph type="title"/>
          </p:nvPr>
        </p:nvSpPr>
        <p:spPr/>
        <p:txBody>
          <a:bodyPr/>
          <a:lstStyle/>
          <a:p>
            <a:r>
              <a:rPr lang="en-US"/>
              <a:t>Interned Strings</a:t>
            </a:r>
          </a:p>
        </p:txBody>
      </p:sp>
      <p:sp>
        <p:nvSpPr>
          <p:cNvPr id="3" name="Content Placeholder 2">
            <a:extLst>
              <a:ext uri="{FF2B5EF4-FFF2-40B4-BE49-F238E27FC236}">
                <a16:creationId xmlns:a16="http://schemas.microsoft.com/office/drawing/2014/main" id="{B427B1C2-3731-4ACC-B8ED-E3196B58503D}"/>
              </a:ext>
            </a:extLst>
          </p:cNvPr>
          <p:cNvSpPr>
            <a:spLocks noGrp="1"/>
          </p:cNvSpPr>
          <p:nvPr>
            <p:ph sz="quarter" idx="13"/>
          </p:nvPr>
        </p:nvSpPr>
        <p:spPr>
          <a:xfrm>
            <a:off x="457200" y="1554921"/>
            <a:ext cx="8232775" cy="2133160"/>
          </a:xfrm>
        </p:spPr>
        <p:txBody>
          <a:bodyPr/>
          <a:lstStyle/>
          <a:p>
            <a:pPr marL="432" indent="0">
              <a:buNone/>
            </a:pPr>
            <a:r>
              <a:rPr lang="en-US" dirty="0"/>
              <a:t>Since strings are immutable and are frequently used, to improve efficiency and save memory, the J</a:t>
            </a:r>
            <a:r>
              <a:rPr lang="en-US" sz="100" dirty="0"/>
              <a:t> </a:t>
            </a:r>
            <a:r>
              <a:rPr lang="en-US" dirty="0"/>
              <a:t>V</a:t>
            </a:r>
            <a:r>
              <a:rPr lang="en-US" sz="100" dirty="0"/>
              <a:t> </a:t>
            </a:r>
            <a:r>
              <a:rPr lang="en-US" dirty="0"/>
              <a:t>M uses a unique instance for string literals with the same character sequence. Such an instance is called </a:t>
            </a:r>
            <a:r>
              <a:rPr lang="en-US" b="1" dirty="0"/>
              <a:t>interned</a:t>
            </a:r>
            <a:r>
              <a:rPr lang="en-US" dirty="0"/>
              <a:t>. For example, the following statements:</a:t>
            </a:r>
          </a:p>
        </p:txBody>
      </p:sp>
    </p:spTree>
    <p:extLst>
      <p:ext uri="{BB962C8B-B14F-4D97-AF65-F5344CB8AC3E}">
        <p14:creationId xmlns:p14="http://schemas.microsoft.com/office/powerpoint/2010/main" val="18027530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6D8F-5CBD-4795-A2EB-ED42D703E888}"/>
              </a:ext>
            </a:extLst>
          </p:cNvPr>
          <p:cNvSpPr>
            <a:spLocks noGrp="1"/>
          </p:cNvSpPr>
          <p:nvPr>
            <p:ph type="title"/>
          </p:nvPr>
        </p:nvSpPr>
        <p:spPr/>
        <p:txBody>
          <a:bodyPr/>
          <a:lstStyle/>
          <a:p>
            <a:r>
              <a:rPr lang="en-US" dirty="0"/>
              <a:t>Examples </a:t>
            </a:r>
            <a:r>
              <a:rPr lang="en-US" sz="2000" b="0" dirty="0"/>
              <a:t>(1 of 4)</a:t>
            </a:r>
            <a:endParaRPr lang="en-US" b="0" dirty="0"/>
          </a:p>
        </p:txBody>
      </p:sp>
      <p:pic>
        <p:nvPicPr>
          <p:cNvPr id="9" name="Picture 8" descr="String s1 = Start double quotation marks Welcome to Java end double quotation marks semi colon. For long description in Notes pane, press F6.">
            <a:extLst>
              <a:ext uri="{FF2B5EF4-FFF2-40B4-BE49-F238E27FC236}">
                <a16:creationId xmlns:a16="http://schemas.microsoft.com/office/drawing/2014/main" id="{7825E709-6AFF-43F4-8034-3CC4051E154F}"/>
              </a:ext>
            </a:extLst>
          </p:cNvPr>
          <p:cNvPicPr>
            <a:picLocks noChangeAspect="1"/>
          </p:cNvPicPr>
          <p:nvPr/>
        </p:nvPicPr>
        <p:blipFill>
          <a:blip r:embed="rId3"/>
          <a:stretch>
            <a:fillRect/>
          </a:stretch>
        </p:blipFill>
        <p:spPr>
          <a:xfrm>
            <a:off x="553518" y="1696697"/>
            <a:ext cx="8067445" cy="2151319"/>
          </a:xfrm>
          <a:prstGeom prst="rect">
            <a:avLst/>
          </a:prstGeom>
        </p:spPr>
      </p:pic>
      <p:sp>
        <p:nvSpPr>
          <p:cNvPr id="4" name="Content Placeholder 3">
            <a:extLst>
              <a:ext uri="{FF2B5EF4-FFF2-40B4-BE49-F238E27FC236}">
                <a16:creationId xmlns:a16="http://schemas.microsoft.com/office/drawing/2014/main" id="{F4AFFA4B-BE31-490E-82B3-F88B9D1FD260}"/>
              </a:ext>
            </a:extLst>
          </p:cNvPr>
          <p:cNvSpPr>
            <a:spLocks noGrp="1"/>
          </p:cNvSpPr>
          <p:nvPr>
            <p:ph sz="quarter" idx="14"/>
          </p:nvPr>
        </p:nvSpPr>
        <p:spPr>
          <a:xfrm>
            <a:off x="457200" y="4146082"/>
            <a:ext cx="3078480" cy="1565604"/>
          </a:xfrm>
        </p:spPr>
        <p:txBody>
          <a:bodyPr/>
          <a:lstStyle/>
          <a:p>
            <a:pPr marL="432" indent="0">
              <a:buNone/>
            </a:pPr>
            <a:r>
              <a:rPr lang="en-US" sz="2000" dirty="0"/>
              <a:t>display</a:t>
            </a:r>
          </a:p>
          <a:p>
            <a:pPr marL="255600" indent="0">
              <a:buNone/>
            </a:pPr>
            <a:r>
              <a:rPr lang="en-US" sz="2000" dirty="0">
                <a:latin typeface="Courier New" panose="02070309020205020404" pitchFamily="49" charset="0"/>
                <a:cs typeface="Courier New" panose="02070309020205020404" pitchFamily="49" charset="0"/>
              </a:rPr>
              <a:t>s1 == s is false</a:t>
            </a:r>
          </a:p>
          <a:p>
            <a:pPr marL="255600" indent="0">
              <a:buNone/>
            </a:pPr>
            <a:r>
              <a:rPr lang="en-US" sz="2000" dirty="0">
                <a:latin typeface="Courier New" panose="02070309020205020404" pitchFamily="49" charset="0"/>
                <a:cs typeface="Courier New" panose="02070309020205020404" pitchFamily="49" charset="0"/>
              </a:rPr>
              <a:t>s1 == s3 is true</a:t>
            </a:r>
          </a:p>
        </p:txBody>
      </p:sp>
      <p:sp>
        <p:nvSpPr>
          <p:cNvPr id="5" name="Content Placeholder 4">
            <a:extLst>
              <a:ext uri="{FF2B5EF4-FFF2-40B4-BE49-F238E27FC236}">
                <a16:creationId xmlns:a16="http://schemas.microsoft.com/office/drawing/2014/main" id="{E3C05176-186E-452C-B774-EE94B96F2D13}"/>
              </a:ext>
            </a:extLst>
          </p:cNvPr>
          <p:cNvSpPr>
            <a:spLocks noGrp="1"/>
          </p:cNvSpPr>
          <p:nvPr>
            <p:ph sz="quarter" idx="15"/>
          </p:nvPr>
        </p:nvSpPr>
        <p:spPr>
          <a:xfrm>
            <a:off x="3742483" y="4146081"/>
            <a:ext cx="4944317" cy="1949917"/>
          </a:xfrm>
        </p:spPr>
        <p:txBody>
          <a:bodyPr/>
          <a:lstStyle/>
          <a:p>
            <a:pPr marL="432" indent="0">
              <a:buNone/>
            </a:pPr>
            <a:r>
              <a:rPr lang="en-US" sz="2000" dirty="0"/>
              <a:t>A new object is created if you use the new operator.</a:t>
            </a:r>
          </a:p>
          <a:p>
            <a:pPr marL="432" indent="0">
              <a:buNone/>
            </a:pPr>
            <a:r>
              <a:rPr lang="en-US" sz="2000" dirty="0"/>
              <a:t>If you use the </a:t>
            </a:r>
            <a:r>
              <a:rPr lang="en-US" sz="2000" dirty="0">
                <a:cs typeface="Courier New" panose="02070309020205020404" pitchFamily="49" charset="0"/>
              </a:rPr>
              <a:t>string</a:t>
            </a:r>
            <a:r>
              <a:rPr lang="en-US" sz="2000" dirty="0"/>
              <a:t> initializer, no new object is created if the interned object is already created.</a:t>
            </a:r>
          </a:p>
        </p:txBody>
      </p:sp>
    </p:spTree>
    <p:extLst>
      <p:ext uri="{BB962C8B-B14F-4D97-AF65-F5344CB8AC3E}">
        <p14:creationId xmlns:p14="http://schemas.microsoft.com/office/powerpoint/2010/main" val="404429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A2AA-9C76-4080-ADE6-FF5A2AD883BE}"/>
              </a:ext>
            </a:extLst>
          </p:cNvPr>
          <p:cNvSpPr>
            <a:spLocks noGrp="1"/>
          </p:cNvSpPr>
          <p:nvPr>
            <p:ph type="title"/>
          </p:nvPr>
        </p:nvSpPr>
        <p:spPr/>
        <p:txBody>
          <a:bodyPr/>
          <a:lstStyle/>
          <a:p>
            <a:r>
              <a:rPr lang="en-US"/>
              <a:t>Trace Code </a:t>
            </a:r>
            <a:r>
              <a:rPr lang="en-US" sz="2000" b="0"/>
              <a:t>(3 of 5)</a:t>
            </a:r>
            <a:endParaRPr lang="en-US" b="0"/>
          </a:p>
        </p:txBody>
      </p:sp>
      <p:pic>
        <p:nvPicPr>
          <p:cNvPr id="6" name="Picture 5" descr="String s1 = Start double quotation marks Welcome to Java end double quotation marks semi colon. For long description in Notes pane, press F6.">
            <a:extLst>
              <a:ext uri="{FF2B5EF4-FFF2-40B4-BE49-F238E27FC236}">
                <a16:creationId xmlns:a16="http://schemas.microsoft.com/office/drawing/2014/main" id="{1CD0ECB2-3EDC-4B01-A415-FCCB0307C221}"/>
              </a:ext>
            </a:extLst>
          </p:cNvPr>
          <p:cNvPicPr>
            <a:picLocks noChangeAspect="1"/>
          </p:cNvPicPr>
          <p:nvPr/>
        </p:nvPicPr>
        <p:blipFill>
          <a:blip r:embed="rId3"/>
          <a:stretch>
            <a:fillRect/>
          </a:stretch>
        </p:blipFill>
        <p:spPr>
          <a:xfrm>
            <a:off x="614714" y="2343843"/>
            <a:ext cx="7914572" cy="2170315"/>
          </a:xfrm>
          <a:prstGeom prst="rect">
            <a:avLst/>
          </a:prstGeom>
        </p:spPr>
      </p:pic>
    </p:spTree>
    <p:extLst>
      <p:ext uri="{BB962C8B-B14F-4D97-AF65-F5344CB8AC3E}">
        <p14:creationId xmlns:p14="http://schemas.microsoft.com/office/powerpoint/2010/main" val="3849170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A2AA-9C76-4080-ADE6-FF5A2AD883BE}"/>
              </a:ext>
            </a:extLst>
          </p:cNvPr>
          <p:cNvSpPr>
            <a:spLocks noGrp="1"/>
          </p:cNvSpPr>
          <p:nvPr>
            <p:ph type="title"/>
          </p:nvPr>
        </p:nvSpPr>
        <p:spPr/>
        <p:txBody>
          <a:bodyPr/>
          <a:lstStyle/>
          <a:p>
            <a:r>
              <a:rPr lang="en-US"/>
              <a:t>Trace Code </a:t>
            </a:r>
            <a:r>
              <a:rPr lang="en-US" sz="2000" b="0"/>
              <a:t>(4 of 5)</a:t>
            </a:r>
            <a:endParaRPr lang="en-US" b="0"/>
          </a:p>
        </p:txBody>
      </p:sp>
      <p:pic>
        <p:nvPicPr>
          <p:cNvPr id="6" name="Picture 5" descr="String s1 = Start double quotation marks Welcome to Java end double quotation marks semi colon. For long description in Notes pane, press F6.">
            <a:extLst>
              <a:ext uri="{FF2B5EF4-FFF2-40B4-BE49-F238E27FC236}">
                <a16:creationId xmlns:a16="http://schemas.microsoft.com/office/drawing/2014/main" id="{47595C2D-490F-4459-97F3-B45F8BA3D708}"/>
              </a:ext>
            </a:extLst>
          </p:cNvPr>
          <p:cNvPicPr>
            <a:picLocks noChangeAspect="1"/>
          </p:cNvPicPr>
          <p:nvPr/>
        </p:nvPicPr>
        <p:blipFill>
          <a:blip r:embed="rId3"/>
          <a:stretch>
            <a:fillRect/>
          </a:stretch>
        </p:blipFill>
        <p:spPr>
          <a:xfrm>
            <a:off x="538179" y="2322031"/>
            <a:ext cx="8067640" cy="2213938"/>
          </a:xfrm>
          <a:prstGeom prst="rect">
            <a:avLst/>
          </a:prstGeom>
        </p:spPr>
      </p:pic>
    </p:spTree>
    <p:extLst>
      <p:ext uri="{BB962C8B-B14F-4D97-AF65-F5344CB8AC3E}">
        <p14:creationId xmlns:p14="http://schemas.microsoft.com/office/powerpoint/2010/main" val="1348731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A2AA-9C76-4080-ADE6-FF5A2AD883BE}"/>
              </a:ext>
            </a:extLst>
          </p:cNvPr>
          <p:cNvSpPr>
            <a:spLocks noGrp="1"/>
          </p:cNvSpPr>
          <p:nvPr>
            <p:ph type="title"/>
          </p:nvPr>
        </p:nvSpPr>
        <p:spPr/>
        <p:txBody>
          <a:bodyPr/>
          <a:lstStyle/>
          <a:p>
            <a:r>
              <a:rPr lang="en-US"/>
              <a:t>Trace Code </a:t>
            </a:r>
            <a:r>
              <a:rPr lang="en-US" sz="2000" b="0"/>
              <a:t>(5 of 5)</a:t>
            </a:r>
            <a:endParaRPr lang="en-US" b="0"/>
          </a:p>
        </p:txBody>
      </p:sp>
      <p:pic>
        <p:nvPicPr>
          <p:cNvPr id="7" name="Picture 6" descr="String s1 = Start double quotation marks Welcome to Java end double quotation marks semi colon. For long description in Notes pane, press F6.">
            <a:extLst>
              <a:ext uri="{FF2B5EF4-FFF2-40B4-BE49-F238E27FC236}">
                <a16:creationId xmlns:a16="http://schemas.microsoft.com/office/drawing/2014/main" id="{52B3E04E-3E3D-4A72-B1CA-404CC0629B15}"/>
              </a:ext>
            </a:extLst>
          </p:cNvPr>
          <p:cNvPicPr>
            <a:picLocks noChangeAspect="1"/>
          </p:cNvPicPr>
          <p:nvPr/>
        </p:nvPicPr>
        <p:blipFill>
          <a:blip r:embed="rId3"/>
          <a:stretch>
            <a:fillRect/>
          </a:stretch>
        </p:blipFill>
        <p:spPr>
          <a:xfrm>
            <a:off x="617662" y="2346791"/>
            <a:ext cx="7908675" cy="2164417"/>
          </a:xfrm>
          <a:prstGeom prst="rect">
            <a:avLst/>
          </a:prstGeom>
        </p:spPr>
      </p:pic>
    </p:spTree>
    <p:extLst>
      <p:ext uri="{BB962C8B-B14F-4D97-AF65-F5344CB8AC3E}">
        <p14:creationId xmlns:p14="http://schemas.microsoft.com/office/powerpoint/2010/main" val="4135369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1157E-5DD9-479C-B338-5208E30DA766}"/>
              </a:ext>
            </a:extLst>
          </p:cNvPr>
          <p:cNvSpPr>
            <a:spLocks noGrp="1"/>
          </p:cNvSpPr>
          <p:nvPr>
            <p:ph type="title"/>
          </p:nvPr>
        </p:nvSpPr>
        <p:spPr/>
        <p:txBody>
          <a:bodyPr/>
          <a:lstStyle/>
          <a:p>
            <a:r>
              <a:rPr lang="en-US"/>
              <a:t>Replacing and Splitting Strings </a:t>
            </a:r>
            <a:r>
              <a:rPr lang="en-US" sz="2000" b="0"/>
              <a:t>(1 of 2)</a:t>
            </a:r>
            <a:endParaRPr lang="en-US" b="0"/>
          </a:p>
        </p:txBody>
      </p:sp>
      <p:pic>
        <p:nvPicPr>
          <p:cNvPr id="7" name="Picture 6" descr="Four rows of codes and descriptions for java.lang.String as follows. For long description in Notes pane, press F6.">
            <a:extLst>
              <a:ext uri="{FF2B5EF4-FFF2-40B4-BE49-F238E27FC236}">
                <a16:creationId xmlns:a16="http://schemas.microsoft.com/office/drawing/2014/main" id="{FB03FCCC-DED3-4CCF-BEB6-E3EA39A98B32}"/>
              </a:ext>
            </a:extLst>
          </p:cNvPr>
          <p:cNvPicPr>
            <a:picLocks noChangeAspect="1"/>
          </p:cNvPicPr>
          <p:nvPr/>
        </p:nvPicPr>
        <p:blipFill>
          <a:blip r:embed="rId3"/>
          <a:stretch>
            <a:fillRect/>
          </a:stretch>
        </p:blipFill>
        <p:spPr>
          <a:xfrm>
            <a:off x="614829" y="1967395"/>
            <a:ext cx="7914342" cy="2923210"/>
          </a:xfrm>
          <a:prstGeom prst="rect">
            <a:avLst/>
          </a:prstGeom>
        </p:spPr>
      </p:pic>
    </p:spTree>
    <p:extLst>
      <p:ext uri="{BB962C8B-B14F-4D97-AF65-F5344CB8AC3E}">
        <p14:creationId xmlns:p14="http://schemas.microsoft.com/office/powerpoint/2010/main" val="1013017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0F0A-7212-4172-8097-CFACC95EF636}"/>
              </a:ext>
            </a:extLst>
          </p:cNvPr>
          <p:cNvSpPr>
            <a:spLocks noGrp="1"/>
          </p:cNvSpPr>
          <p:nvPr>
            <p:ph type="title"/>
          </p:nvPr>
        </p:nvSpPr>
        <p:spPr/>
        <p:txBody>
          <a:bodyPr/>
          <a:lstStyle/>
          <a:p>
            <a:r>
              <a:rPr lang="en-US"/>
              <a:t>Examples </a:t>
            </a:r>
            <a:r>
              <a:rPr lang="en-US" sz="2000" b="0"/>
              <a:t>(2 of 4)</a:t>
            </a:r>
            <a:endParaRPr lang="en-US" b="0"/>
          </a:p>
        </p:txBody>
      </p:sp>
      <p:sp>
        <p:nvSpPr>
          <p:cNvPr id="3" name="Content Placeholder 2">
            <a:extLst>
              <a:ext uri="{FF2B5EF4-FFF2-40B4-BE49-F238E27FC236}">
                <a16:creationId xmlns:a16="http://schemas.microsoft.com/office/drawing/2014/main" id="{BD0CB7BD-91DE-458C-B2E1-24A46AFC5FE4}"/>
              </a:ext>
            </a:extLst>
          </p:cNvPr>
          <p:cNvSpPr>
            <a:spLocks noGrp="1"/>
          </p:cNvSpPr>
          <p:nvPr>
            <p:ph sz="quarter" idx="13"/>
          </p:nvPr>
        </p:nvSpPr>
        <p:spPr>
          <a:xfrm>
            <a:off x="457201" y="1554921"/>
            <a:ext cx="8229600" cy="2646018"/>
          </a:xfrm>
        </p:spPr>
        <p:txBody>
          <a:bodyPr/>
          <a:lstStyle/>
          <a:p>
            <a:pPr marL="432" indent="0">
              <a:buNone/>
            </a:pPr>
            <a:r>
              <a:rPr lang="en-US" sz="1800" dirty="0">
                <a:latin typeface="Courier New" panose="02070309020205020404" pitchFamily="49" charset="0"/>
                <a:cs typeface="Courier New" panose="02070309020205020404" pitchFamily="49" charset="0"/>
              </a:rPr>
              <a:t>"Welcome".replace('e', 'A') returns a new string, WAlcomA.</a:t>
            </a:r>
          </a:p>
          <a:p>
            <a:pPr marL="432" indent="0">
              <a:buNone/>
            </a:pPr>
            <a:r>
              <a:rPr lang="en-US" sz="1800" dirty="0">
                <a:latin typeface="Courier New" panose="02070309020205020404" pitchFamily="49" charset="0"/>
                <a:cs typeface="Courier New" panose="02070309020205020404" pitchFamily="49" charset="0"/>
              </a:rPr>
              <a:t>"Welcome".replaceFirst("e", "AB") returns a new string, WABlcome.</a:t>
            </a:r>
          </a:p>
          <a:p>
            <a:pPr marL="432" indent="0">
              <a:buNone/>
            </a:pPr>
            <a:r>
              <a:rPr lang="en-US" sz="1800" dirty="0">
                <a:latin typeface="Courier New" panose="02070309020205020404" pitchFamily="49" charset="0"/>
                <a:cs typeface="Courier New" panose="02070309020205020404" pitchFamily="49" charset="0"/>
              </a:rPr>
              <a:t>"Welcome".replace("e", "AB") returns a new string, WABlcomAB.</a:t>
            </a:r>
          </a:p>
          <a:p>
            <a:pPr marL="432" indent="0">
              <a:buNone/>
            </a:pPr>
            <a:r>
              <a:rPr lang="en-US" sz="1800" dirty="0">
                <a:latin typeface="Courier New" panose="02070309020205020404" pitchFamily="49" charset="0"/>
                <a:cs typeface="Courier New" panose="02070309020205020404" pitchFamily="49" charset="0"/>
              </a:rPr>
              <a:t>"Welcome".replace("</a:t>
            </a:r>
            <a:r>
              <a:rPr lang="en-US" sz="1800" dirty="0" err="1">
                <a:latin typeface="Courier New" panose="02070309020205020404" pitchFamily="49" charset="0"/>
                <a:cs typeface="Courier New" panose="02070309020205020404" pitchFamily="49" charset="0"/>
              </a:rPr>
              <a:t>el</a:t>
            </a:r>
            <a:r>
              <a:rPr lang="en-US" sz="1800" dirty="0">
                <a:latin typeface="Courier New" panose="02070309020205020404" pitchFamily="49" charset="0"/>
                <a:cs typeface="Courier New" panose="02070309020205020404" pitchFamily="49" charset="0"/>
              </a:rPr>
              <a:t>", "AB") returns a new string, WABcome.</a:t>
            </a:r>
          </a:p>
        </p:txBody>
      </p:sp>
    </p:spTree>
    <p:extLst>
      <p:ext uri="{BB962C8B-B14F-4D97-AF65-F5344CB8AC3E}">
        <p14:creationId xmlns:p14="http://schemas.microsoft.com/office/powerpoint/2010/main" val="3978625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4F9A-158B-406B-89AE-59EE530721F6}"/>
              </a:ext>
            </a:extLst>
          </p:cNvPr>
          <p:cNvSpPr>
            <a:spLocks noGrp="1"/>
          </p:cNvSpPr>
          <p:nvPr>
            <p:ph type="title"/>
          </p:nvPr>
        </p:nvSpPr>
        <p:spPr/>
        <p:txBody>
          <a:bodyPr/>
          <a:lstStyle/>
          <a:p>
            <a:r>
              <a:rPr lang="en-US"/>
              <a:t>Splitting a </a:t>
            </a:r>
            <a:r>
              <a:rPr lang="en-US">
                <a:cs typeface="Courier New" panose="02070309020205020404" pitchFamily="49" charset="0"/>
              </a:rPr>
              <a:t>String</a:t>
            </a:r>
          </a:p>
        </p:txBody>
      </p:sp>
      <p:sp>
        <p:nvSpPr>
          <p:cNvPr id="3" name="Content Placeholder 2">
            <a:extLst>
              <a:ext uri="{FF2B5EF4-FFF2-40B4-BE49-F238E27FC236}">
                <a16:creationId xmlns:a16="http://schemas.microsoft.com/office/drawing/2014/main" id="{4986E853-DD39-45D5-968B-9246B460BB07}"/>
              </a:ext>
            </a:extLst>
          </p:cNvPr>
          <p:cNvSpPr>
            <a:spLocks noGrp="1"/>
          </p:cNvSpPr>
          <p:nvPr>
            <p:ph sz="quarter" idx="13"/>
          </p:nvPr>
        </p:nvSpPr>
        <p:spPr>
          <a:xfrm>
            <a:off x="457200" y="1556327"/>
            <a:ext cx="8229600" cy="2016000"/>
          </a:xfrm>
        </p:spPr>
        <p:txBody>
          <a:bodyPr/>
          <a:lstStyle/>
          <a:p>
            <a:pPr marL="432" indent="0">
              <a:buNone/>
            </a:pPr>
            <a:r>
              <a:rPr lang="en-US" b="1" dirty="0">
                <a:latin typeface="Courier New" panose="02070309020205020404" pitchFamily="49" charset="0"/>
                <a:cs typeface="Courier New" panose="02070309020205020404" pitchFamily="49" charset="0"/>
              </a:rPr>
              <a:t>String[] tokens = "Java#HTML#Perl".split("#", 0);</a:t>
            </a:r>
          </a:p>
          <a:p>
            <a:pPr marL="432" indent="0">
              <a:buNone/>
            </a:pPr>
            <a:r>
              <a:rPr lang="en-US" b="1" dirty="0">
                <a:latin typeface="Courier New" panose="02070309020205020404" pitchFamily="49" charset="0"/>
                <a:cs typeface="Courier New" panose="02070309020205020404" pitchFamily="49" charset="0"/>
              </a:rPr>
              <a:t>for (int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 0;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&lt; tokens.length;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a:t>
            </a:r>
          </a:p>
          <a:p>
            <a:pPr marL="360000" indent="0">
              <a:buNone/>
            </a:pPr>
            <a:r>
              <a:rPr lang="en-US" b="1" dirty="0">
                <a:latin typeface="Courier New" panose="02070309020205020404" pitchFamily="49" charset="0"/>
                <a:cs typeface="Courier New" panose="02070309020205020404" pitchFamily="49" charset="0"/>
              </a:rPr>
              <a:t>System.out.print(tokens[</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 " ");</a:t>
            </a:r>
          </a:p>
        </p:txBody>
      </p:sp>
      <p:sp>
        <p:nvSpPr>
          <p:cNvPr id="4" name="Content Placeholder 3">
            <a:extLst>
              <a:ext uri="{FF2B5EF4-FFF2-40B4-BE49-F238E27FC236}">
                <a16:creationId xmlns:a16="http://schemas.microsoft.com/office/drawing/2014/main" id="{EC08B75B-67AC-4996-A7E6-B284DAA86886}"/>
              </a:ext>
            </a:extLst>
          </p:cNvPr>
          <p:cNvSpPr>
            <a:spLocks noGrp="1"/>
          </p:cNvSpPr>
          <p:nvPr>
            <p:ph sz="quarter" idx="14"/>
          </p:nvPr>
        </p:nvSpPr>
        <p:spPr>
          <a:xfrm>
            <a:off x="457200" y="3783272"/>
            <a:ext cx="8229600" cy="1159789"/>
          </a:xfrm>
        </p:spPr>
        <p:txBody>
          <a:bodyPr/>
          <a:lstStyle/>
          <a:p>
            <a:pPr marL="432" indent="0">
              <a:buNone/>
            </a:pPr>
            <a:r>
              <a:rPr lang="en-US" dirty="0"/>
              <a:t>displays</a:t>
            </a:r>
          </a:p>
          <a:p>
            <a:pPr marL="432" indent="0">
              <a:buNone/>
            </a:pPr>
            <a:r>
              <a:rPr lang="en-US" dirty="0">
                <a:cs typeface="Courier New" panose="02070309020205020404" pitchFamily="49" charset="0"/>
              </a:rPr>
              <a:t>Java H</a:t>
            </a:r>
            <a:r>
              <a:rPr lang="en-US" sz="100" dirty="0">
                <a:cs typeface="Courier New" panose="02070309020205020404" pitchFamily="49" charset="0"/>
              </a:rPr>
              <a:t> </a:t>
            </a:r>
            <a:r>
              <a:rPr lang="en-US" dirty="0">
                <a:cs typeface="Courier New" panose="02070309020205020404" pitchFamily="49" charset="0"/>
              </a:rPr>
              <a:t>T</a:t>
            </a:r>
            <a:r>
              <a:rPr lang="en-US" sz="100" dirty="0">
                <a:cs typeface="Courier New" panose="02070309020205020404" pitchFamily="49" charset="0"/>
              </a:rPr>
              <a:t> </a:t>
            </a:r>
            <a:r>
              <a:rPr lang="en-US" dirty="0">
                <a:cs typeface="Courier New" panose="02070309020205020404" pitchFamily="49" charset="0"/>
              </a:rPr>
              <a:t>M</a:t>
            </a:r>
            <a:r>
              <a:rPr lang="en-US" sz="100" dirty="0">
                <a:cs typeface="Courier New" panose="02070309020205020404" pitchFamily="49" charset="0"/>
              </a:rPr>
              <a:t> </a:t>
            </a:r>
            <a:r>
              <a:rPr lang="en-US" dirty="0">
                <a:cs typeface="Courier New" panose="02070309020205020404" pitchFamily="49" charset="0"/>
              </a:rPr>
              <a:t>L Perl</a:t>
            </a:r>
          </a:p>
        </p:txBody>
      </p:sp>
    </p:spTree>
    <p:extLst>
      <p:ext uri="{BB962C8B-B14F-4D97-AF65-F5344CB8AC3E}">
        <p14:creationId xmlns:p14="http://schemas.microsoft.com/office/powerpoint/2010/main" val="903115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A7F0-D03A-4771-ACAC-C4DB383504CF}"/>
              </a:ext>
            </a:extLst>
          </p:cNvPr>
          <p:cNvSpPr>
            <a:spLocks noGrp="1"/>
          </p:cNvSpPr>
          <p:nvPr>
            <p:ph type="title"/>
          </p:nvPr>
        </p:nvSpPr>
        <p:spPr/>
        <p:txBody>
          <a:bodyPr/>
          <a:lstStyle/>
          <a:p>
            <a:r>
              <a:rPr lang="en-US" sz="3200"/>
              <a:t>Matching, Replacing and Splitting by Patterns </a:t>
            </a:r>
            <a:r>
              <a:rPr lang="en-US" sz="2000" b="0"/>
              <a:t>(1 of 3)</a:t>
            </a:r>
          </a:p>
        </p:txBody>
      </p:sp>
      <p:sp>
        <p:nvSpPr>
          <p:cNvPr id="4" name="Content Placeholder 3">
            <a:extLst>
              <a:ext uri="{FF2B5EF4-FFF2-40B4-BE49-F238E27FC236}">
                <a16:creationId xmlns:a16="http://schemas.microsoft.com/office/drawing/2014/main" id="{6DF4B2A7-B2FE-425C-9DE1-B52E46DEF38B}"/>
              </a:ext>
            </a:extLst>
          </p:cNvPr>
          <p:cNvSpPr>
            <a:spLocks noGrp="1"/>
          </p:cNvSpPr>
          <p:nvPr>
            <p:ph sz="quarter" idx="13"/>
          </p:nvPr>
        </p:nvSpPr>
        <p:spPr>
          <a:xfrm>
            <a:off x="457200" y="1552574"/>
            <a:ext cx="8260080" cy="1951200"/>
          </a:xfrm>
        </p:spPr>
        <p:txBody>
          <a:bodyPr bIns="0"/>
          <a:lstStyle/>
          <a:p>
            <a:pPr marL="432" indent="0">
              <a:buNone/>
            </a:pPr>
            <a:r>
              <a:rPr lang="en-US" dirty="0"/>
              <a:t>You can match, replace, or split a string by specifying a pattern. This is an extremely useful and powerful feature, commonly known as </a:t>
            </a:r>
            <a:r>
              <a:rPr lang="en-US" b="1" dirty="0"/>
              <a:t>regular expression</a:t>
            </a:r>
            <a:r>
              <a:rPr lang="en-US" dirty="0"/>
              <a:t>. Regular expression is complex to beginning students. For this reason, two simple patterns are used in this section. Please</a:t>
            </a:r>
          </a:p>
        </p:txBody>
      </p:sp>
      <p:sp>
        <p:nvSpPr>
          <p:cNvPr id="6" name="Content Placeholder 5">
            <a:extLst>
              <a:ext uri="{FF2B5EF4-FFF2-40B4-BE49-F238E27FC236}">
                <a16:creationId xmlns:a16="http://schemas.microsoft.com/office/drawing/2014/main" id="{B7F9D7A2-7797-4AD9-991A-9544593FC7D7}"/>
              </a:ext>
            </a:extLst>
          </p:cNvPr>
          <p:cNvSpPr>
            <a:spLocks noGrp="1"/>
          </p:cNvSpPr>
          <p:nvPr>
            <p:ph sz="quarter" idx="14"/>
          </p:nvPr>
        </p:nvSpPr>
        <p:spPr>
          <a:xfrm>
            <a:off x="457200" y="3564960"/>
            <a:ext cx="2880000" cy="414668"/>
          </a:xfrm>
        </p:spPr>
        <p:txBody>
          <a:bodyPr tIns="0" rIns="0" bIns="0"/>
          <a:lstStyle/>
          <a:p>
            <a:pPr marL="432" indent="0">
              <a:buNone/>
            </a:pPr>
            <a:r>
              <a:rPr lang="en-US" dirty="0"/>
              <a:t>refer to Supplement</a:t>
            </a:r>
          </a:p>
        </p:txBody>
      </p:sp>
      <p:graphicFrame>
        <p:nvGraphicFramePr>
          <p:cNvPr id="19" name="Object 18" descr="Three. F,">
            <a:extLst>
              <a:ext uri="{FF2B5EF4-FFF2-40B4-BE49-F238E27FC236}">
                <a16:creationId xmlns:a16="http://schemas.microsoft.com/office/drawing/2014/main" id="{4103CB5A-1D4B-48A8-AFD4-6EE3738CEDF8}"/>
              </a:ext>
            </a:extLst>
          </p:cNvPr>
          <p:cNvGraphicFramePr>
            <a:graphicFrameLocks noChangeAspect="1"/>
          </p:cNvGraphicFramePr>
          <p:nvPr>
            <p:extLst>
              <p:ext uri="{D42A27DB-BD31-4B8C-83A1-F6EECF244321}">
                <p14:modId xmlns:p14="http://schemas.microsoft.com/office/powerpoint/2010/main" val="3688080718"/>
              </p:ext>
            </p:extLst>
          </p:nvPr>
        </p:nvGraphicFramePr>
        <p:xfrm>
          <a:off x="3393029" y="3604660"/>
          <a:ext cx="609600" cy="330200"/>
        </p:xfrm>
        <a:graphic>
          <a:graphicData uri="http://schemas.openxmlformats.org/presentationml/2006/ole">
            <mc:AlternateContent xmlns:mc="http://schemas.openxmlformats.org/markup-compatibility/2006">
              <mc:Choice xmlns:v="urn:schemas-microsoft-com:vml" Requires="v">
                <p:oleObj name="Equation" r:id="rId2" imgW="609480" imgH="330120" progId="Equation.DSMT4">
                  <p:embed/>
                </p:oleObj>
              </mc:Choice>
              <mc:Fallback>
                <p:oleObj name="Equation" r:id="rId2" imgW="609480" imgH="330120" progId="Equation.DSMT4">
                  <p:embed/>
                  <p:pic>
                    <p:nvPicPr>
                      <p:cNvPr id="0" name=""/>
                      <p:cNvPicPr/>
                      <p:nvPr/>
                    </p:nvPicPr>
                    <p:blipFill>
                      <a:blip r:embed="rId3"/>
                      <a:stretch>
                        <a:fillRect/>
                      </a:stretch>
                    </p:blipFill>
                    <p:spPr>
                      <a:xfrm>
                        <a:off x="3393029" y="3604660"/>
                        <a:ext cx="609600" cy="3302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C4A8B518-AF92-4A44-909F-061CB564B9F9}"/>
              </a:ext>
            </a:extLst>
          </p:cNvPr>
          <p:cNvSpPr>
            <a:spLocks noGrp="1"/>
          </p:cNvSpPr>
          <p:nvPr>
            <p:ph sz="quarter" idx="15"/>
          </p:nvPr>
        </p:nvSpPr>
        <p:spPr>
          <a:xfrm>
            <a:off x="4098580" y="3564960"/>
            <a:ext cx="4577107" cy="414668"/>
          </a:xfrm>
        </p:spPr>
        <p:txBody>
          <a:bodyPr lIns="0" tIns="0" bIns="0"/>
          <a:lstStyle/>
          <a:p>
            <a:pPr marL="432" indent="0">
              <a:buNone/>
            </a:pPr>
            <a:r>
              <a:rPr lang="en-US" dirty="0"/>
              <a:t>“Regular Expressions,” for</a:t>
            </a:r>
          </a:p>
        </p:txBody>
      </p:sp>
      <p:sp>
        <p:nvSpPr>
          <p:cNvPr id="8" name="Content Placeholder 7">
            <a:extLst>
              <a:ext uri="{FF2B5EF4-FFF2-40B4-BE49-F238E27FC236}">
                <a16:creationId xmlns:a16="http://schemas.microsoft.com/office/drawing/2014/main" id="{578B5C51-C075-4FC0-8140-21E9357C2E4A}"/>
              </a:ext>
            </a:extLst>
          </p:cNvPr>
          <p:cNvSpPr>
            <a:spLocks noGrp="1"/>
          </p:cNvSpPr>
          <p:nvPr>
            <p:ph sz="quarter" idx="16"/>
          </p:nvPr>
        </p:nvSpPr>
        <p:spPr>
          <a:xfrm>
            <a:off x="457200" y="4047572"/>
            <a:ext cx="8229600" cy="404496"/>
          </a:xfrm>
        </p:spPr>
        <p:txBody>
          <a:bodyPr tIns="0" rIns="90000"/>
          <a:lstStyle/>
          <a:p>
            <a:pPr marL="432" indent="0">
              <a:buNone/>
            </a:pPr>
            <a:r>
              <a:rPr lang="en-US"/>
              <a:t>further studies.</a:t>
            </a:r>
          </a:p>
        </p:txBody>
      </p:sp>
      <p:sp>
        <p:nvSpPr>
          <p:cNvPr id="9" name="Content Placeholder 8">
            <a:extLst>
              <a:ext uri="{FF2B5EF4-FFF2-40B4-BE49-F238E27FC236}">
                <a16:creationId xmlns:a16="http://schemas.microsoft.com/office/drawing/2014/main" id="{C5A04ED4-03D8-4CC4-BE53-6991518E5C5F}"/>
              </a:ext>
            </a:extLst>
          </p:cNvPr>
          <p:cNvSpPr>
            <a:spLocks noGrp="1"/>
          </p:cNvSpPr>
          <p:nvPr>
            <p:ph sz="quarter" idx="17"/>
          </p:nvPr>
        </p:nvSpPr>
        <p:spPr>
          <a:xfrm>
            <a:off x="457200" y="4542693"/>
            <a:ext cx="8229600" cy="1751427"/>
          </a:xfrm>
        </p:spPr>
        <p:txBody>
          <a:bodyPr tIns="36000"/>
          <a:lstStyle/>
          <a:p>
            <a:pPr marL="432" indent="0">
              <a:spcBef>
                <a:spcPts val="600"/>
              </a:spcBef>
              <a:buNone/>
            </a:pPr>
            <a:r>
              <a:rPr lang="en-US" dirty="0">
                <a:latin typeface="Courier New" panose="02070309020205020404" pitchFamily="49" charset="0"/>
                <a:cs typeface="Courier New" panose="02070309020205020404" pitchFamily="49" charset="0"/>
              </a:rPr>
              <a:t>"Java".matches("Java");</a:t>
            </a:r>
          </a:p>
          <a:p>
            <a:pPr marL="432" indent="0">
              <a:spcBef>
                <a:spcPts val="600"/>
              </a:spcBef>
              <a:buNone/>
            </a:pPr>
            <a:r>
              <a:rPr lang="en-US" dirty="0">
                <a:latin typeface="Courier New" panose="02070309020205020404" pitchFamily="49" charset="0"/>
                <a:cs typeface="Courier New" panose="02070309020205020404" pitchFamily="49" charset="0"/>
              </a:rPr>
              <a:t>"Java".equals("Java");</a:t>
            </a:r>
          </a:p>
          <a:p>
            <a:pPr marL="432" indent="0">
              <a:spcBef>
                <a:spcPts val="600"/>
              </a:spcBef>
              <a:buNone/>
            </a:pPr>
            <a:r>
              <a:rPr lang="en-US" dirty="0">
                <a:latin typeface="Courier New" panose="02070309020205020404" pitchFamily="49" charset="0"/>
                <a:cs typeface="Courier New" panose="02070309020205020404" pitchFamily="49" charset="0"/>
              </a:rPr>
              <a:t>"Java is fun".matches("Java.*");</a:t>
            </a:r>
          </a:p>
          <a:p>
            <a:pPr marL="432" indent="0">
              <a:spcBef>
                <a:spcPts val="600"/>
              </a:spcBef>
              <a:buNone/>
            </a:pPr>
            <a:r>
              <a:rPr lang="en-US" dirty="0">
                <a:latin typeface="Courier New" panose="02070309020205020404" pitchFamily="49" charset="0"/>
                <a:cs typeface="Courier New" panose="02070309020205020404" pitchFamily="49" charset="0"/>
              </a:rPr>
              <a:t>"Java is cool".matches("Java.*");</a:t>
            </a:r>
          </a:p>
        </p:txBody>
      </p:sp>
    </p:spTree>
    <p:extLst>
      <p:ext uri="{BB962C8B-B14F-4D97-AF65-F5344CB8AC3E}">
        <p14:creationId xmlns:p14="http://schemas.microsoft.com/office/powerpoint/2010/main" val="875060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4547C-0859-4E52-A4ED-E4D91EDF0BDC}"/>
              </a:ext>
            </a:extLst>
          </p:cNvPr>
          <p:cNvSpPr>
            <a:spLocks noGrp="1"/>
          </p:cNvSpPr>
          <p:nvPr>
            <p:ph type="title"/>
          </p:nvPr>
        </p:nvSpPr>
        <p:spPr/>
        <p:txBody>
          <a:bodyPr/>
          <a:lstStyle/>
          <a:p>
            <a:r>
              <a:rPr lang="en-US" sz="3200"/>
              <a:t>Matching, Replacing and Splitting by Patterns </a:t>
            </a:r>
            <a:r>
              <a:rPr lang="en-US" sz="2000" b="0"/>
              <a:t>(2 of 3)</a:t>
            </a:r>
            <a:endParaRPr lang="en-US" sz="3200" b="0"/>
          </a:p>
        </p:txBody>
      </p:sp>
      <p:sp>
        <p:nvSpPr>
          <p:cNvPr id="3" name="Content Placeholder 2">
            <a:extLst>
              <a:ext uri="{FF2B5EF4-FFF2-40B4-BE49-F238E27FC236}">
                <a16:creationId xmlns:a16="http://schemas.microsoft.com/office/drawing/2014/main" id="{12394D27-27F7-4E2B-8AAB-A3CE51A77B6F}"/>
              </a:ext>
            </a:extLst>
          </p:cNvPr>
          <p:cNvSpPr>
            <a:spLocks noGrp="1"/>
          </p:cNvSpPr>
          <p:nvPr>
            <p:ph sz="quarter" idx="13"/>
          </p:nvPr>
        </p:nvSpPr>
        <p:spPr>
          <a:xfrm>
            <a:off x="457200" y="1554921"/>
            <a:ext cx="8232775" cy="3427896"/>
          </a:xfrm>
        </p:spPr>
        <p:txBody>
          <a:bodyPr/>
          <a:lstStyle/>
          <a:p>
            <a:pPr marL="432" indent="0">
              <a:buNone/>
            </a:pPr>
            <a:r>
              <a:rPr lang="en-US" sz="2200" dirty="0"/>
              <a:t>The </a:t>
            </a:r>
            <a:r>
              <a:rPr lang="en-US" sz="2200" dirty="0">
                <a:latin typeface="Courier New" panose="02070309020205020404" pitchFamily="49" charset="0"/>
                <a:cs typeface="Courier New" panose="02070309020205020404" pitchFamily="49" charset="0"/>
              </a:rPr>
              <a:t>replaceAll</a:t>
            </a:r>
            <a:r>
              <a:rPr lang="en-US" sz="2200" dirty="0"/>
              <a:t>, </a:t>
            </a:r>
            <a:r>
              <a:rPr lang="en-US" sz="2200" dirty="0">
                <a:latin typeface="Courier New" panose="02070309020205020404" pitchFamily="49" charset="0"/>
                <a:cs typeface="Courier New" panose="02070309020205020404" pitchFamily="49" charset="0"/>
              </a:rPr>
              <a:t>replaceFirst</a:t>
            </a:r>
            <a:r>
              <a:rPr lang="en-US" sz="2200" dirty="0"/>
              <a:t>, and split methods can be used with a regular expression. For example, the following statement returns a new </a:t>
            </a:r>
            <a:r>
              <a:rPr lang="en-US" sz="2200" dirty="0">
                <a:cs typeface="Courier New" panose="02070309020205020404" pitchFamily="49" charset="0"/>
              </a:rPr>
              <a:t>string</a:t>
            </a:r>
            <a:r>
              <a:rPr lang="en-US" sz="2200" dirty="0"/>
              <a:t> that replaces </a:t>
            </a:r>
            <a:r>
              <a:rPr lang="en-US" sz="2200" dirty="0">
                <a:latin typeface="Courier New" panose="02070309020205020404" pitchFamily="49" charset="0"/>
                <a:cs typeface="Courier New" panose="02070309020205020404" pitchFamily="49" charset="0"/>
              </a:rPr>
              <a:t>$, +,</a:t>
            </a:r>
            <a:r>
              <a:rPr lang="en-US" sz="2200" dirty="0"/>
              <a:t> or </a:t>
            </a:r>
            <a:r>
              <a:rPr lang="en-US" sz="2200" dirty="0">
                <a:latin typeface="Courier New" panose="02070309020205020404" pitchFamily="49" charset="0"/>
                <a:cs typeface="Courier New" panose="02070309020205020404" pitchFamily="49" charset="0"/>
              </a:rPr>
              <a:t>#</a:t>
            </a:r>
            <a:r>
              <a:rPr lang="en-US" sz="2200" dirty="0"/>
              <a:t> in </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a+b</a:t>
            </a:r>
            <a:r>
              <a:rPr lang="en-US" sz="2200" dirty="0">
                <a:latin typeface="Courier New" panose="02070309020205020404" pitchFamily="49" charset="0"/>
                <a:cs typeface="Courier New" panose="02070309020205020404" pitchFamily="49" charset="0"/>
              </a:rPr>
              <a:t>$#c" </a:t>
            </a:r>
            <a:r>
              <a:rPr lang="en-US" sz="2200" dirty="0"/>
              <a:t>by the </a:t>
            </a:r>
            <a:r>
              <a:rPr lang="en-US" sz="2200" dirty="0">
                <a:cs typeface="Courier New" panose="02070309020205020404" pitchFamily="49" charset="0"/>
              </a:rPr>
              <a:t>string</a:t>
            </a:r>
            <a:r>
              <a:rPr lang="en-US" sz="2200" dirty="0"/>
              <a:t> </a:t>
            </a:r>
            <a:r>
              <a:rPr lang="en-US" sz="2200" dirty="0">
                <a:latin typeface="Courier New" panose="02070309020205020404" pitchFamily="49" charset="0"/>
                <a:cs typeface="Courier New" panose="02070309020205020404" pitchFamily="49" charset="0"/>
              </a:rPr>
              <a:t>NNN</a:t>
            </a:r>
            <a:r>
              <a:rPr lang="en-US" sz="2200" dirty="0"/>
              <a:t>.</a:t>
            </a:r>
          </a:p>
          <a:p>
            <a:pPr marL="432" indent="0">
              <a:buNone/>
            </a:pPr>
            <a:r>
              <a:rPr lang="en-US" sz="2200" dirty="0">
                <a:latin typeface="Courier New" panose="02070309020205020404" pitchFamily="49" charset="0"/>
                <a:cs typeface="Courier New" panose="02070309020205020404" pitchFamily="49" charset="0"/>
              </a:rPr>
              <a:t>String s = "</a:t>
            </a:r>
            <a:r>
              <a:rPr lang="en-US" sz="2200" dirty="0" err="1">
                <a:latin typeface="Courier New" panose="02070309020205020404" pitchFamily="49" charset="0"/>
                <a:cs typeface="Courier New" panose="02070309020205020404" pitchFamily="49" charset="0"/>
              </a:rPr>
              <a:t>a+b</a:t>
            </a:r>
            <a:r>
              <a:rPr lang="en-US" sz="2200" dirty="0">
                <a:latin typeface="Courier New" panose="02070309020205020404" pitchFamily="49" charset="0"/>
                <a:cs typeface="Courier New" panose="02070309020205020404" pitchFamily="49" charset="0"/>
              </a:rPr>
              <a:t>$#c".replaceAll("[$+#]", "NNN");</a:t>
            </a:r>
          </a:p>
          <a:p>
            <a:pPr marL="432" indent="0">
              <a:buNone/>
            </a:pPr>
            <a:r>
              <a:rPr lang="en-US" sz="2200" dirty="0">
                <a:latin typeface="Courier New" panose="02070309020205020404" pitchFamily="49" charset="0"/>
                <a:cs typeface="Courier New" panose="02070309020205020404" pitchFamily="49" charset="0"/>
              </a:rPr>
              <a:t>System.out.println(s);</a:t>
            </a:r>
          </a:p>
          <a:p>
            <a:pPr marL="432" indent="0">
              <a:buNone/>
            </a:pPr>
            <a:r>
              <a:rPr lang="en-US" sz="2200" dirty="0"/>
              <a:t>Here the regular expression [</a:t>
            </a:r>
            <a:r>
              <a:rPr lang="en-US" sz="2200" dirty="0">
                <a:latin typeface="Courier New" panose="02070309020205020404" pitchFamily="49" charset="0"/>
                <a:cs typeface="Courier New" panose="02070309020205020404" pitchFamily="49" charset="0"/>
              </a:rPr>
              <a:t>$+#</a:t>
            </a:r>
            <a:r>
              <a:rPr lang="en-US" sz="2200" dirty="0"/>
              <a:t>] specifies a pattern that matches </a:t>
            </a:r>
            <a:r>
              <a:rPr lang="en-US" sz="2200" dirty="0">
                <a:latin typeface="Courier New" panose="02070309020205020404" pitchFamily="49" charset="0"/>
                <a:cs typeface="Courier New" panose="02070309020205020404" pitchFamily="49" charset="0"/>
              </a:rPr>
              <a:t>$, +,</a:t>
            </a:r>
            <a:r>
              <a:rPr lang="en-US" sz="2200" dirty="0"/>
              <a:t> or </a:t>
            </a:r>
            <a:r>
              <a:rPr lang="en-US" sz="2200" dirty="0">
                <a:latin typeface="Courier New" panose="02070309020205020404" pitchFamily="49" charset="0"/>
                <a:cs typeface="Courier New" panose="02070309020205020404" pitchFamily="49" charset="0"/>
              </a:rPr>
              <a:t>#</a:t>
            </a:r>
            <a:r>
              <a:rPr lang="en-US" sz="2200" dirty="0"/>
              <a:t>. So, the output is </a:t>
            </a:r>
            <a:r>
              <a:rPr lang="en-US" sz="2200" dirty="0">
                <a:latin typeface="Courier New" panose="02070309020205020404" pitchFamily="49" charset="0"/>
                <a:cs typeface="Courier New" panose="02070309020205020404" pitchFamily="49" charset="0"/>
              </a:rPr>
              <a:t>aNNNbNNNNNNc</a:t>
            </a:r>
            <a:r>
              <a:rPr lang="en-US" sz="2200" dirty="0"/>
              <a:t>.</a:t>
            </a:r>
          </a:p>
        </p:txBody>
      </p:sp>
    </p:spTree>
    <p:extLst>
      <p:ext uri="{BB962C8B-B14F-4D97-AF65-F5344CB8AC3E}">
        <p14:creationId xmlns:p14="http://schemas.microsoft.com/office/powerpoint/2010/main" val="2685195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4547C-0859-4E52-A4ED-E4D91EDF0BDC}"/>
              </a:ext>
            </a:extLst>
          </p:cNvPr>
          <p:cNvSpPr>
            <a:spLocks noGrp="1"/>
          </p:cNvSpPr>
          <p:nvPr>
            <p:ph type="title"/>
          </p:nvPr>
        </p:nvSpPr>
        <p:spPr/>
        <p:txBody>
          <a:bodyPr/>
          <a:lstStyle/>
          <a:p>
            <a:r>
              <a:rPr lang="en-US" sz="3200"/>
              <a:t>Matching, Replacing and Splitting by Patterns </a:t>
            </a:r>
            <a:r>
              <a:rPr lang="en-US" sz="2000" b="0"/>
              <a:t>(3 of 3)</a:t>
            </a:r>
            <a:endParaRPr lang="en-US" sz="3200" b="0"/>
          </a:p>
        </p:txBody>
      </p:sp>
      <p:sp>
        <p:nvSpPr>
          <p:cNvPr id="3" name="Content Placeholder 2">
            <a:extLst>
              <a:ext uri="{FF2B5EF4-FFF2-40B4-BE49-F238E27FC236}">
                <a16:creationId xmlns:a16="http://schemas.microsoft.com/office/drawing/2014/main" id="{12394D27-27F7-4E2B-8AAB-A3CE51A77B6F}"/>
              </a:ext>
            </a:extLst>
          </p:cNvPr>
          <p:cNvSpPr>
            <a:spLocks noGrp="1"/>
          </p:cNvSpPr>
          <p:nvPr>
            <p:ph sz="quarter" idx="13"/>
          </p:nvPr>
        </p:nvSpPr>
        <p:spPr>
          <a:xfrm>
            <a:off x="457200" y="1554921"/>
            <a:ext cx="8232775" cy="2305879"/>
          </a:xfrm>
        </p:spPr>
        <p:txBody>
          <a:bodyPr/>
          <a:lstStyle/>
          <a:p>
            <a:pPr marL="432" indent="0">
              <a:buNone/>
            </a:pPr>
            <a:r>
              <a:rPr lang="en-US" sz="2000" dirty="0"/>
              <a:t>The following statement </a:t>
            </a:r>
            <a:r>
              <a:rPr lang="en-US" sz="2000" dirty="0">
                <a:cs typeface="Courier New" panose="02070309020205020404" pitchFamily="49" charset="0"/>
              </a:rPr>
              <a:t>splits</a:t>
            </a:r>
            <a:r>
              <a:rPr lang="en-US" sz="2000" dirty="0"/>
              <a:t> the </a:t>
            </a:r>
            <a:r>
              <a:rPr lang="en-US" sz="2000" dirty="0">
                <a:cs typeface="Courier New" panose="02070309020205020404" pitchFamily="49" charset="0"/>
              </a:rPr>
              <a:t>string</a:t>
            </a:r>
            <a:r>
              <a:rPr lang="en-US" sz="2000" dirty="0"/>
              <a:t> into an array of </a:t>
            </a:r>
            <a:r>
              <a:rPr lang="en-US" sz="2000" dirty="0">
                <a:cs typeface="Courier New" panose="02070309020205020404" pitchFamily="49" charset="0"/>
              </a:rPr>
              <a:t>strings</a:t>
            </a:r>
            <a:r>
              <a:rPr lang="en-US" sz="2000" dirty="0"/>
              <a:t> delimited by some punctuation marks.</a:t>
            </a:r>
          </a:p>
          <a:p>
            <a:pPr marL="432" indent="0">
              <a:buNone/>
            </a:pPr>
            <a:r>
              <a:rPr lang="en-US" sz="2000" dirty="0">
                <a:latin typeface="Courier New" panose="02070309020205020404" pitchFamily="49" charset="0"/>
                <a:cs typeface="Courier New" panose="02070309020205020404" pitchFamily="49" charset="0"/>
              </a:rPr>
              <a:t>String[] tokens = "Java,C?C#,C++".split("[.,:;?]");</a:t>
            </a:r>
          </a:p>
          <a:p>
            <a:pPr marL="432" indent="0">
              <a:buNone/>
            </a:pPr>
            <a:r>
              <a:rPr lang="en-US" sz="2000" dirty="0">
                <a:latin typeface="Courier New" panose="02070309020205020404" pitchFamily="49" charset="0"/>
                <a:cs typeface="Courier New" panose="02070309020205020404" pitchFamily="49" charset="0"/>
              </a:rPr>
              <a:t>for (int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0;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&lt; tokens.length;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marL="432" indent="0">
              <a:buNone/>
            </a:pPr>
            <a:r>
              <a:rPr lang="en-US" sz="2000" dirty="0">
                <a:latin typeface="Courier New" panose="02070309020205020404" pitchFamily="49" charset="0"/>
                <a:cs typeface="Courier New" panose="02070309020205020404" pitchFamily="49" charset="0"/>
              </a:rPr>
              <a:t>System.out.println(tokens[</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54983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E645-C946-4144-9A34-6E3FEBC72764}"/>
              </a:ext>
            </a:extLst>
          </p:cNvPr>
          <p:cNvSpPr>
            <a:spLocks noGrp="1"/>
          </p:cNvSpPr>
          <p:nvPr>
            <p:ph type="title"/>
          </p:nvPr>
        </p:nvSpPr>
        <p:spPr/>
        <p:txBody>
          <a:bodyPr/>
          <a:lstStyle/>
          <a:p>
            <a:r>
              <a:rPr lang="en-US" sz="3200"/>
              <a:t>Convert Character and Numbers to Strings</a:t>
            </a:r>
          </a:p>
        </p:txBody>
      </p:sp>
      <p:sp>
        <p:nvSpPr>
          <p:cNvPr id="3" name="Content Placeholder 2">
            <a:extLst>
              <a:ext uri="{FF2B5EF4-FFF2-40B4-BE49-F238E27FC236}">
                <a16:creationId xmlns:a16="http://schemas.microsoft.com/office/drawing/2014/main" id="{D28DDEA9-167A-41CC-933B-8220E2CC985B}"/>
              </a:ext>
            </a:extLst>
          </p:cNvPr>
          <p:cNvSpPr>
            <a:spLocks noGrp="1"/>
          </p:cNvSpPr>
          <p:nvPr>
            <p:ph sz="quarter" idx="13"/>
          </p:nvPr>
        </p:nvSpPr>
        <p:spPr>
          <a:xfrm>
            <a:off x="457200" y="1554921"/>
            <a:ext cx="8232775" cy="3184720"/>
          </a:xfrm>
        </p:spPr>
        <p:txBody>
          <a:bodyPr/>
          <a:lstStyle/>
          <a:p>
            <a:pPr marL="432" indent="0">
              <a:buNone/>
            </a:pPr>
            <a:r>
              <a:rPr lang="en-US" dirty="0"/>
              <a:t>The String class provides several static </a:t>
            </a:r>
            <a:r>
              <a:rPr lang="en-US" dirty="0">
                <a:latin typeface="Courier New" panose="02070309020205020404" pitchFamily="49" charset="0"/>
                <a:cs typeface="Courier New" panose="02070309020205020404" pitchFamily="49" charset="0"/>
              </a:rPr>
              <a:t>valueOf</a:t>
            </a:r>
            <a:r>
              <a:rPr lang="en-US" dirty="0"/>
              <a:t> methods for converting a character, an array of characters, and numeric values to strings. These methods have the same name </a:t>
            </a:r>
            <a:r>
              <a:rPr lang="en-US" dirty="0">
                <a:latin typeface="Courier New" panose="02070309020205020404" pitchFamily="49" charset="0"/>
                <a:cs typeface="Courier New" panose="02070309020205020404" pitchFamily="49" charset="0"/>
              </a:rPr>
              <a:t>valueOf</a:t>
            </a:r>
            <a:r>
              <a:rPr lang="en-US" dirty="0"/>
              <a:t> with different argument types </a:t>
            </a:r>
            <a:r>
              <a:rPr lang="en-US" dirty="0">
                <a:latin typeface="Courier New" panose="02070309020205020404" pitchFamily="49" charset="0"/>
                <a:cs typeface="Courier New" panose="02070309020205020404" pitchFamily="49" charset="0"/>
              </a:rPr>
              <a:t>char</a:t>
            </a:r>
            <a:r>
              <a:rPr lang="en-US" dirty="0"/>
              <a:t>, </a:t>
            </a:r>
            <a:r>
              <a:rPr lang="en-US" dirty="0">
                <a:latin typeface="Courier New" panose="02070309020205020404" pitchFamily="49" charset="0"/>
                <a:cs typeface="Courier New" panose="02070309020205020404" pitchFamily="49" charset="0"/>
              </a:rPr>
              <a:t>char[]</a:t>
            </a:r>
            <a:r>
              <a:rPr lang="en-US" dirty="0"/>
              <a:t>, </a:t>
            </a:r>
            <a:r>
              <a:rPr lang="en-US" dirty="0">
                <a:latin typeface="Courier New" panose="02070309020205020404" pitchFamily="49" charset="0"/>
                <a:cs typeface="Courier New" panose="02070309020205020404" pitchFamily="49" charset="0"/>
              </a:rPr>
              <a:t>double</a:t>
            </a:r>
            <a:r>
              <a:rPr lang="en-US" dirty="0"/>
              <a:t>, </a:t>
            </a:r>
            <a:r>
              <a:rPr lang="en-US" dirty="0">
                <a:latin typeface="Courier New" panose="02070309020205020404" pitchFamily="49" charset="0"/>
                <a:cs typeface="Courier New" panose="02070309020205020404" pitchFamily="49" charset="0"/>
              </a:rPr>
              <a:t>long</a:t>
            </a:r>
            <a:r>
              <a:rPr lang="en-US" dirty="0"/>
              <a:t>, </a:t>
            </a:r>
            <a:r>
              <a:rPr lang="en-US" dirty="0">
                <a:latin typeface="Courier New" panose="02070309020205020404" pitchFamily="49" charset="0"/>
                <a:cs typeface="Courier New" panose="02070309020205020404" pitchFamily="49" charset="0"/>
              </a:rPr>
              <a:t>int</a:t>
            </a:r>
            <a:r>
              <a:rPr lang="en-US" dirty="0"/>
              <a:t>, and </a:t>
            </a:r>
            <a:r>
              <a:rPr lang="en-US" dirty="0">
                <a:latin typeface="Courier New" panose="02070309020205020404" pitchFamily="49" charset="0"/>
                <a:cs typeface="Courier New" panose="02070309020205020404" pitchFamily="49" charset="0"/>
              </a:rPr>
              <a:t>float</a:t>
            </a:r>
            <a:r>
              <a:rPr lang="en-US" dirty="0"/>
              <a:t>. For example, to convert a double value to a string, use </a:t>
            </a:r>
            <a:r>
              <a:rPr lang="en-US" dirty="0">
                <a:latin typeface="Courier New" panose="02070309020205020404" pitchFamily="49" charset="0"/>
                <a:cs typeface="Courier New" panose="02070309020205020404" pitchFamily="49" charset="0"/>
              </a:rPr>
              <a:t>String.valueOf(5.44)</a:t>
            </a:r>
            <a:r>
              <a:rPr lang="en-US" dirty="0"/>
              <a:t>. The return value is string consists of characters </a:t>
            </a:r>
            <a:r>
              <a:rPr lang="en-US" dirty="0">
                <a:latin typeface="Courier New" panose="02070309020205020404" pitchFamily="49" charset="0"/>
                <a:cs typeface="Courier New" panose="02070309020205020404" pitchFamily="49" charset="0"/>
              </a:rPr>
              <a:t>‘5’, ‘.’, ‘4’,</a:t>
            </a:r>
            <a:r>
              <a:rPr lang="en-US" dirty="0"/>
              <a:t> and </a:t>
            </a:r>
            <a:r>
              <a:rPr lang="en-US" dirty="0">
                <a:latin typeface="Courier New" panose="02070309020205020404" pitchFamily="49" charset="0"/>
                <a:cs typeface="Courier New" panose="02070309020205020404" pitchFamily="49" charset="0"/>
              </a:rPr>
              <a:t>‘4’</a:t>
            </a:r>
            <a:r>
              <a:rPr lang="en-US" dirty="0"/>
              <a:t>.</a:t>
            </a:r>
          </a:p>
        </p:txBody>
      </p:sp>
    </p:spTree>
    <p:extLst>
      <p:ext uri="{BB962C8B-B14F-4D97-AF65-F5344CB8AC3E}">
        <p14:creationId xmlns:p14="http://schemas.microsoft.com/office/powerpoint/2010/main" val="895656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65EC-DEEA-4E37-8856-1D1371253D90}"/>
              </a:ext>
            </a:extLst>
          </p:cNvPr>
          <p:cNvSpPr>
            <a:spLocks noGrp="1"/>
          </p:cNvSpPr>
          <p:nvPr>
            <p:ph type="title"/>
          </p:nvPr>
        </p:nvSpPr>
        <p:spPr/>
        <p:txBody>
          <a:bodyPr/>
          <a:lstStyle/>
          <a:p>
            <a:r>
              <a:rPr lang="en-US" sz="3400" dirty="0">
                <a:latin typeface="Courier New" panose="02070309020205020404" pitchFamily="49" charset="0"/>
                <a:cs typeface="Courier New" panose="02070309020205020404" pitchFamily="49" charset="0"/>
              </a:rPr>
              <a:t>StringBuilder </a:t>
            </a:r>
            <a:r>
              <a:rPr lang="en-US" sz="3400" dirty="0">
                <a:cs typeface="Courier New" panose="02070309020205020404" pitchFamily="49" charset="0"/>
              </a:rPr>
              <a:t>and</a:t>
            </a:r>
            <a:r>
              <a:rPr lang="en-US" sz="3400" dirty="0">
                <a:latin typeface="Courier New" panose="02070309020205020404" pitchFamily="49" charset="0"/>
                <a:cs typeface="Courier New" panose="02070309020205020404" pitchFamily="49" charset="0"/>
              </a:rPr>
              <a:t> </a:t>
            </a:r>
            <a:r>
              <a:rPr lang="en-US" sz="3400" dirty="0" err="1">
                <a:latin typeface="Courier New" panose="02070309020205020404" pitchFamily="49" charset="0"/>
                <a:cs typeface="Courier New" panose="02070309020205020404" pitchFamily="49" charset="0"/>
              </a:rPr>
              <a:t>StringBuffer</a:t>
            </a:r>
            <a:endParaRPr lang="en-US" sz="340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24CBFE82-E718-456E-BB91-09D60A8F4856}"/>
              </a:ext>
            </a:extLst>
          </p:cNvPr>
          <p:cNvSpPr>
            <a:spLocks noGrp="1"/>
          </p:cNvSpPr>
          <p:nvPr>
            <p:ph sz="quarter" idx="13"/>
          </p:nvPr>
        </p:nvSpPr>
        <p:spPr>
          <a:xfrm>
            <a:off x="457200" y="1554921"/>
            <a:ext cx="8218488" cy="2834200"/>
          </a:xfrm>
        </p:spPr>
        <p:txBody>
          <a:bodyPr/>
          <a:lstStyle/>
          <a:p>
            <a:pPr marL="432" indent="0">
              <a:buNone/>
            </a:pPr>
            <a:r>
              <a:rPr lang="en-US" dirty="0"/>
              <a:t>The </a:t>
            </a:r>
            <a:r>
              <a:rPr lang="en-US" dirty="0">
                <a:latin typeface="Courier New" panose="02070309020205020404" pitchFamily="49" charset="0"/>
                <a:cs typeface="Courier New" panose="02070309020205020404" pitchFamily="49" charset="0"/>
              </a:rPr>
              <a:t>StringBuilder/StringBuffer</a:t>
            </a:r>
            <a:r>
              <a:rPr lang="en-US" dirty="0"/>
              <a:t> class is an alternative to the </a:t>
            </a:r>
            <a:r>
              <a:rPr lang="en-US" dirty="0">
                <a:latin typeface="Courier New" panose="02070309020205020404" pitchFamily="49" charset="0"/>
                <a:cs typeface="Courier New" panose="02070309020205020404" pitchFamily="49" charset="0"/>
              </a:rPr>
              <a:t>String</a:t>
            </a:r>
            <a:r>
              <a:rPr lang="en-US" dirty="0"/>
              <a:t> class. In general, a </a:t>
            </a:r>
            <a:r>
              <a:rPr lang="en-US" dirty="0">
                <a:latin typeface="Courier New" panose="02070309020205020404" pitchFamily="49" charset="0"/>
                <a:cs typeface="Courier New" panose="02070309020205020404" pitchFamily="49" charset="0"/>
              </a:rPr>
              <a:t>StringBuilder/StringBuffer </a:t>
            </a:r>
            <a:r>
              <a:rPr lang="en-US" dirty="0"/>
              <a:t>can be used wherever a </a:t>
            </a:r>
            <a:r>
              <a:rPr lang="en-US" dirty="0">
                <a:latin typeface="Courier New" panose="02070309020205020404" pitchFamily="49" charset="0"/>
                <a:cs typeface="Courier New" panose="02070309020205020404" pitchFamily="49" charset="0"/>
              </a:rPr>
              <a:t>string</a:t>
            </a:r>
            <a:r>
              <a:rPr lang="en-US" dirty="0"/>
              <a:t> is used. </a:t>
            </a:r>
            <a:r>
              <a:rPr lang="en-US" dirty="0">
                <a:latin typeface="Courier New" panose="02070309020205020404" pitchFamily="49" charset="0"/>
                <a:cs typeface="Courier New" panose="02070309020205020404" pitchFamily="49" charset="0"/>
              </a:rPr>
              <a:t>StringBuilder/StringBuffer </a:t>
            </a:r>
            <a:r>
              <a:rPr lang="en-US" dirty="0"/>
              <a:t>is more flexible than </a:t>
            </a:r>
            <a:r>
              <a:rPr lang="en-US" dirty="0">
                <a:cs typeface="Courier New" panose="02070309020205020404" pitchFamily="49" charset="0"/>
              </a:rPr>
              <a:t>String</a:t>
            </a:r>
            <a:r>
              <a:rPr lang="en-US" dirty="0"/>
              <a:t>. You can add, insert, or append new contents into a string </a:t>
            </a:r>
            <a:r>
              <a:rPr lang="en-US" dirty="0">
                <a:cs typeface="Courier New" panose="02070309020205020404" pitchFamily="49" charset="0"/>
              </a:rPr>
              <a:t>buffer</a:t>
            </a:r>
            <a:r>
              <a:rPr lang="en-US" dirty="0"/>
              <a:t>, whereas the value of a </a:t>
            </a:r>
            <a:r>
              <a:rPr lang="en-US" dirty="0">
                <a:cs typeface="Courier New" panose="02070309020205020404" pitchFamily="49" charset="0"/>
              </a:rPr>
              <a:t>String</a:t>
            </a:r>
            <a:r>
              <a:rPr lang="en-US" dirty="0"/>
              <a:t> object is fixed once the </a:t>
            </a:r>
            <a:r>
              <a:rPr lang="en-US" dirty="0">
                <a:cs typeface="Courier New" panose="02070309020205020404" pitchFamily="49" charset="0"/>
              </a:rPr>
              <a:t>string</a:t>
            </a:r>
            <a:r>
              <a:rPr lang="en-US" dirty="0"/>
              <a:t> is created.</a:t>
            </a:r>
          </a:p>
        </p:txBody>
      </p:sp>
    </p:spTree>
    <p:extLst>
      <p:ext uri="{BB962C8B-B14F-4D97-AF65-F5344CB8AC3E}">
        <p14:creationId xmlns:p14="http://schemas.microsoft.com/office/powerpoint/2010/main" val="2155908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9C4B-E733-4D71-B97D-1CB113EC655C}"/>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StringBuilder </a:t>
            </a:r>
            <a:r>
              <a:rPr lang="en-US" dirty="0">
                <a:cs typeface="Courier New" panose="02070309020205020404" pitchFamily="49" charset="0"/>
              </a:rPr>
              <a:t>Constructors</a:t>
            </a:r>
            <a:endParaRPr lang="en-US" dirty="0"/>
          </a:p>
        </p:txBody>
      </p:sp>
      <p:pic>
        <p:nvPicPr>
          <p:cNvPr id="7" name="Picture 6" descr="Three rows of codes and descriptions for java.lang.StringBuilder as follows. For long description in Notes pane, press F6.">
            <a:extLst>
              <a:ext uri="{FF2B5EF4-FFF2-40B4-BE49-F238E27FC236}">
                <a16:creationId xmlns:a16="http://schemas.microsoft.com/office/drawing/2014/main" id="{18F8116F-B1DF-4637-9342-F2BCB37337F6}"/>
              </a:ext>
            </a:extLst>
          </p:cNvPr>
          <p:cNvPicPr>
            <a:picLocks noChangeAspect="1"/>
          </p:cNvPicPr>
          <p:nvPr/>
        </p:nvPicPr>
        <p:blipFill>
          <a:blip r:embed="rId3"/>
          <a:stretch>
            <a:fillRect/>
          </a:stretch>
        </p:blipFill>
        <p:spPr>
          <a:xfrm>
            <a:off x="614829" y="2482911"/>
            <a:ext cx="7914342" cy="1892178"/>
          </a:xfrm>
          <a:prstGeom prst="rect">
            <a:avLst/>
          </a:prstGeom>
        </p:spPr>
      </p:pic>
    </p:spTree>
    <p:extLst>
      <p:ext uri="{BB962C8B-B14F-4D97-AF65-F5344CB8AC3E}">
        <p14:creationId xmlns:p14="http://schemas.microsoft.com/office/powerpoint/2010/main" val="2000019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B62AD-B844-4F76-B4E0-92244F774CD8}"/>
              </a:ext>
            </a:extLst>
          </p:cNvPr>
          <p:cNvSpPr>
            <a:spLocks noGrp="1"/>
          </p:cNvSpPr>
          <p:nvPr>
            <p:ph type="title"/>
          </p:nvPr>
        </p:nvSpPr>
        <p:spPr/>
        <p:txBody>
          <a:bodyPr/>
          <a:lstStyle/>
          <a:p>
            <a:r>
              <a:rPr lang="en-US"/>
              <a:t>Modifying Strings in the Builder</a:t>
            </a:r>
          </a:p>
        </p:txBody>
      </p:sp>
      <p:pic>
        <p:nvPicPr>
          <p:cNvPr id="6" name="Picture 5" descr="Thirteen rows of codes and descriptions for java.lang.StringBuilder as follows. For long description in Notes pane, press F6.">
            <a:extLst>
              <a:ext uri="{FF2B5EF4-FFF2-40B4-BE49-F238E27FC236}">
                <a16:creationId xmlns:a16="http://schemas.microsoft.com/office/drawing/2014/main" id="{70510AF7-B9FE-449A-B2DA-E6CB121A6419}"/>
              </a:ext>
            </a:extLst>
          </p:cNvPr>
          <p:cNvPicPr>
            <a:picLocks noChangeAspect="1"/>
          </p:cNvPicPr>
          <p:nvPr/>
        </p:nvPicPr>
        <p:blipFill>
          <a:blip r:embed="rId3"/>
          <a:stretch>
            <a:fillRect/>
          </a:stretch>
        </p:blipFill>
        <p:spPr>
          <a:xfrm>
            <a:off x="1365504" y="1645656"/>
            <a:ext cx="6412992" cy="4657344"/>
          </a:xfrm>
          <a:prstGeom prst="rect">
            <a:avLst/>
          </a:prstGeom>
        </p:spPr>
      </p:pic>
    </p:spTree>
    <p:extLst>
      <p:ext uri="{BB962C8B-B14F-4D97-AF65-F5344CB8AC3E}">
        <p14:creationId xmlns:p14="http://schemas.microsoft.com/office/powerpoint/2010/main" val="19945227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3D207-F835-4556-87CF-D75BC4791866}"/>
              </a:ext>
            </a:extLst>
          </p:cNvPr>
          <p:cNvSpPr>
            <a:spLocks noGrp="1"/>
          </p:cNvSpPr>
          <p:nvPr>
            <p:ph type="title"/>
          </p:nvPr>
        </p:nvSpPr>
        <p:spPr/>
        <p:txBody>
          <a:bodyPr/>
          <a:lstStyle/>
          <a:p>
            <a:r>
              <a:rPr lang="en-US"/>
              <a:t>Examples </a:t>
            </a:r>
            <a:r>
              <a:rPr lang="en-US" sz="2000" b="0"/>
              <a:t>(3 of 4)</a:t>
            </a:r>
            <a:endParaRPr lang="en-US" b="0"/>
          </a:p>
        </p:txBody>
      </p:sp>
      <p:sp>
        <p:nvSpPr>
          <p:cNvPr id="3" name="Content Placeholder 2">
            <a:extLst>
              <a:ext uri="{FF2B5EF4-FFF2-40B4-BE49-F238E27FC236}">
                <a16:creationId xmlns:a16="http://schemas.microsoft.com/office/drawing/2014/main" id="{A9CBF930-7A6D-4FC8-93AB-E1D88AA42020}"/>
              </a:ext>
            </a:extLst>
          </p:cNvPr>
          <p:cNvSpPr>
            <a:spLocks noGrp="1"/>
          </p:cNvSpPr>
          <p:nvPr>
            <p:ph sz="quarter" idx="13"/>
          </p:nvPr>
        </p:nvSpPr>
        <p:spPr>
          <a:xfrm>
            <a:off x="470451" y="1554921"/>
            <a:ext cx="8316000" cy="3565720"/>
          </a:xfrm>
        </p:spPr>
        <p:txBody>
          <a:bodyPr/>
          <a:lstStyle/>
          <a:p>
            <a:pPr marL="432" indent="0">
              <a:spcBef>
                <a:spcPts val="0"/>
              </a:spcBef>
              <a:buNone/>
            </a:pPr>
            <a:r>
              <a:rPr lang="en-US" sz="1800" dirty="0">
                <a:latin typeface="Courier New" panose="02070309020205020404" pitchFamily="49" charset="0"/>
                <a:cs typeface="Courier New" panose="02070309020205020404" pitchFamily="49" charset="0"/>
              </a:rPr>
              <a:t>stringBuilder.append("Java");</a:t>
            </a:r>
          </a:p>
          <a:p>
            <a:pPr marL="432" indent="0">
              <a:spcBef>
                <a:spcPts val="0"/>
              </a:spcBef>
              <a:buNone/>
            </a:pPr>
            <a:r>
              <a:rPr lang="en-US" sz="1800" dirty="0">
                <a:latin typeface="Courier New" panose="02070309020205020404" pitchFamily="49" charset="0"/>
                <a:cs typeface="Courier New" panose="02070309020205020404" pitchFamily="49" charset="0"/>
              </a:rPr>
              <a:t>stringBuilder.insert(11, "HTML and ");</a:t>
            </a:r>
          </a:p>
          <a:p>
            <a:pPr marL="432" indent="0">
              <a:spcBef>
                <a:spcPts val="0"/>
              </a:spcBef>
              <a:buNone/>
            </a:pPr>
            <a:r>
              <a:rPr lang="en-US" sz="1800" dirty="0">
                <a:latin typeface="Courier New" panose="02070309020205020404" pitchFamily="49" charset="0"/>
                <a:cs typeface="Courier New" panose="02070309020205020404" pitchFamily="49" charset="0"/>
              </a:rPr>
              <a:t>stringBuilder.delete(8, 11) changes the builder to Welcome Java.</a:t>
            </a:r>
          </a:p>
          <a:p>
            <a:pPr marL="432" indent="0">
              <a:spcBef>
                <a:spcPts val="0"/>
              </a:spcBef>
              <a:buNone/>
            </a:pPr>
            <a:r>
              <a:rPr lang="en-US" sz="1800" dirty="0">
                <a:latin typeface="Courier New" panose="02070309020205020404" pitchFamily="49" charset="0"/>
                <a:cs typeface="Courier New" panose="02070309020205020404" pitchFamily="49" charset="0"/>
              </a:rPr>
              <a:t>stringBuilder.deleteCharAt(8) changes the builder to </a:t>
            </a:r>
          </a:p>
          <a:p>
            <a:pPr marL="432" indent="0">
              <a:spcBef>
                <a:spcPts val="0"/>
              </a:spcBef>
              <a:buNone/>
            </a:pPr>
            <a:r>
              <a:rPr lang="en-US" sz="1800" dirty="0">
                <a:latin typeface="Courier New" panose="02070309020205020404" pitchFamily="49" charset="0"/>
                <a:cs typeface="Courier New" panose="02070309020205020404" pitchFamily="49" charset="0"/>
              </a:rPr>
              <a:t>Welcome o Java.</a:t>
            </a:r>
          </a:p>
          <a:p>
            <a:pPr marL="432" indent="0">
              <a:spcBef>
                <a:spcPts val="0"/>
              </a:spcBef>
              <a:buNone/>
            </a:pPr>
            <a:r>
              <a:rPr lang="en-US" sz="1800" dirty="0">
                <a:latin typeface="Courier New" panose="02070309020205020404" pitchFamily="49" charset="0"/>
                <a:cs typeface="Courier New" panose="02070309020205020404" pitchFamily="49" charset="0"/>
              </a:rPr>
              <a:t>stringBuilder.reverse() changes the builder to </a:t>
            </a:r>
            <a:r>
              <a:rPr lang="en-US" sz="1800" dirty="0" err="1">
                <a:latin typeface="Courier New" panose="02070309020205020404" pitchFamily="49" charset="0"/>
                <a:cs typeface="Courier New" panose="02070309020205020404" pitchFamily="49" charset="0"/>
              </a:rPr>
              <a:t>avaJ</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ot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emocleW</a:t>
            </a:r>
            <a:r>
              <a:rPr lang="en-US" sz="1800" dirty="0">
                <a:latin typeface="Courier New" panose="02070309020205020404" pitchFamily="49" charset="0"/>
                <a:cs typeface="Courier New" panose="02070309020205020404" pitchFamily="49" charset="0"/>
              </a:rPr>
              <a:t>.</a:t>
            </a:r>
          </a:p>
          <a:p>
            <a:pPr marL="432" indent="0">
              <a:spcBef>
                <a:spcPts val="0"/>
              </a:spcBef>
              <a:buNone/>
            </a:pPr>
            <a:r>
              <a:rPr lang="en-US" sz="1800" dirty="0">
                <a:latin typeface="Courier New" panose="02070309020205020404" pitchFamily="49" charset="0"/>
                <a:cs typeface="Courier New" panose="02070309020205020404" pitchFamily="49" charset="0"/>
              </a:rPr>
              <a:t>stringBuilder.replace(11, 15, "HTML")</a:t>
            </a:r>
          </a:p>
          <a:p>
            <a:pPr marL="180000" indent="0">
              <a:spcBef>
                <a:spcPts val="0"/>
              </a:spcBef>
              <a:buNone/>
            </a:pPr>
            <a:r>
              <a:rPr lang="en-US" sz="1800" dirty="0">
                <a:latin typeface="Courier New" panose="02070309020205020404" pitchFamily="49" charset="0"/>
                <a:cs typeface="Courier New" panose="02070309020205020404" pitchFamily="49" charset="0"/>
              </a:rPr>
              <a:t>changes the builder to Welcome to HTML.</a:t>
            </a:r>
          </a:p>
          <a:p>
            <a:pPr marL="432" indent="0">
              <a:spcBef>
                <a:spcPts val="0"/>
              </a:spcBef>
              <a:buNone/>
            </a:pPr>
            <a:r>
              <a:rPr lang="en-US" sz="1800" dirty="0" err="1">
                <a:latin typeface="Courier New" panose="02070309020205020404" pitchFamily="49" charset="0"/>
                <a:cs typeface="Courier New" panose="02070309020205020404" pitchFamily="49" charset="0"/>
              </a:rPr>
              <a:t>stringBuilder.setCharAt</a:t>
            </a:r>
            <a:r>
              <a:rPr lang="en-US" sz="1800" dirty="0">
                <a:latin typeface="Courier New" panose="02070309020205020404" pitchFamily="49" charset="0"/>
                <a:cs typeface="Courier New" panose="02070309020205020404" pitchFamily="49" charset="0"/>
              </a:rPr>
              <a:t>(0, 'w') sets the builder to welcome to Java.</a:t>
            </a:r>
          </a:p>
        </p:txBody>
      </p:sp>
    </p:spTree>
    <p:extLst>
      <p:ext uri="{BB962C8B-B14F-4D97-AF65-F5344CB8AC3E}">
        <p14:creationId xmlns:p14="http://schemas.microsoft.com/office/powerpoint/2010/main" val="19812178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9C049-AF35-4E02-A027-2B7F8518A1C3}"/>
              </a:ext>
            </a:extLst>
          </p:cNvPr>
          <p:cNvSpPr>
            <a:spLocks noGrp="1"/>
          </p:cNvSpPr>
          <p:nvPr>
            <p:ph type="title"/>
          </p:nvPr>
        </p:nvSpPr>
        <p:spPr/>
        <p:txBody>
          <a:bodyPr/>
          <a:lstStyle/>
          <a:p>
            <a:r>
              <a:rPr lang="en-US" sz="3200" dirty="0"/>
              <a:t>The </a:t>
            </a:r>
            <a:r>
              <a:rPr lang="en-US" sz="3200" dirty="0">
                <a:latin typeface="Courier New" panose="02070309020205020404" pitchFamily="49" charset="0"/>
                <a:cs typeface="Courier New" panose="02070309020205020404" pitchFamily="49" charset="0"/>
              </a:rPr>
              <a:t>toString</a:t>
            </a:r>
            <a:r>
              <a:rPr lang="en-US" sz="3200" dirty="0"/>
              <a:t>, </a:t>
            </a:r>
            <a:r>
              <a:rPr lang="en-US" sz="3200" dirty="0">
                <a:latin typeface="Courier New" panose="02070309020205020404" pitchFamily="49" charset="0"/>
                <a:cs typeface="Courier New" panose="02070309020205020404" pitchFamily="49" charset="0"/>
              </a:rPr>
              <a:t>capacity</a:t>
            </a:r>
            <a:r>
              <a:rPr lang="en-US" sz="3200" dirty="0"/>
              <a:t>, </a:t>
            </a:r>
            <a:r>
              <a:rPr lang="en-US" sz="3200" dirty="0">
                <a:latin typeface="Courier New" panose="02070309020205020404" pitchFamily="49" charset="0"/>
                <a:cs typeface="Courier New" panose="02070309020205020404" pitchFamily="49" charset="0"/>
              </a:rPr>
              <a:t>length</a:t>
            </a:r>
            <a:r>
              <a:rPr lang="en-US" sz="3200" dirty="0"/>
              <a:t>, </a:t>
            </a:r>
            <a:r>
              <a:rPr lang="en-US" sz="3200" dirty="0">
                <a:latin typeface="Courier New" panose="02070309020205020404" pitchFamily="49" charset="0"/>
                <a:cs typeface="Courier New" panose="02070309020205020404" pitchFamily="49" charset="0"/>
              </a:rPr>
              <a:t>setLength</a:t>
            </a:r>
            <a:r>
              <a:rPr lang="en-US" sz="3200" dirty="0"/>
              <a:t>, and </a:t>
            </a:r>
            <a:r>
              <a:rPr lang="en-US" sz="3200" dirty="0">
                <a:latin typeface="Courier New" panose="02070309020205020404" pitchFamily="49" charset="0"/>
                <a:cs typeface="Courier New" panose="02070309020205020404" pitchFamily="49" charset="0"/>
              </a:rPr>
              <a:t>charAt</a:t>
            </a:r>
            <a:r>
              <a:rPr lang="en-US" sz="3200" dirty="0"/>
              <a:t> Methods</a:t>
            </a:r>
          </a:p>
        </p:txBody>
      </p:sp>
      <p:pic>
        <p:nvPicPr>
          <p:cNvPr id="7" name="Picture 6" descr="Eight rows of codes and descriptions for java.lang.StringBuilder as follows. For long description in Notes pane, press F6.">
            <a:extLst>
              <a:ext uri="{FF2B5EF4-FFF2-40B4-BE49-F238E27FC236}">
                <a16:creationId xmlns:a16="http://schemas.microsoft.com/office/drawing/2014/main" id="{FD0D8EB0-8F94-4953-9D72-D1AE44588CE2}"/>
              </a:ext>
            </a:extLst>
          </p:cNvPr>
          <p:cNvPicPr>
            <a:picLocks noChangeAspect="1"/>
          </p:cNvPicPr>
          <p:nvPr/>
        </p:nvPicPr>
        <p:blipFill>
          <a:blip r:embed="rId3"/>
          <a:stretch>
            <a:fillRect/>
          </a:stretch>
        </p:blipFill>
        <p:spPr>
          <a:xfrm>
            <a:off x="575258" y="1920864"/>
            <a:ext cx="7993485" cy="3260112"/>
          </a:xfrm>
          <a:prstGeom prst="rect">
            <a:avLst/>
          </a:prstGeom>
        </p:spPr>
      </p:pic>
    </p:spTree>
    <p:extLst>
      <p:ext uri="{BB962C8B-B14F-4D97-AF65-F5344CB8AC3E}">
        <p14:creationId xmlns:p14="http://schemas.microsoft.com/office/powerpoint/2010/main" val="3857137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US" sz="3200"/>
              <a:t>Problem: Checking Palindromes Ignoring Non-alphanumeric Characters</a:t>
            </a:r>
          </a:p>
        </p:txBody>
      </p:sp>
      <p:sp>
        <p:nvSpPr>
          <p:cNvPr id="4" name="Content Placeholder 3">
            <a:extLst>
              <a:ext uri="{FF2B5EF4-FFF2-40B4-BE49-F238E27FC236}">
                <a16:creationId xmlns:a16="http://schemas.microsoft.com/office/drawing/2014/main" id="{BCBBD2AC-8D26-490A-A523-4DF7CE15BA88}"/>
              </a:ext>
            </a:extLst>
          </p:cNvPr>
          <p:cNvSpPr>
            <a:spLocks noGrp="1"/>
          </p:cNvSpPr>
          <p:nvPr>
            <p:ph sz="quarter" idx="13"/>
          </p:nvPr>
        </p:nvSpPr>
        <p:spPr>
          <a:xfrm>
            <a:off x="457200" y="1552575"/>
            <a:ext cx="8229600" cy="1358265"/>
          </a:xfrm>
        </p:spPr>
        <p:txBody>
          <a:bodyPr/>
          <a:lstStyle/>
          <a:p>
            <a:pPr marL="432" indent="0">
              <a:buNone/>
            </a:pPr>
            <a:r>
              <a:rPr lang="en-US" dirty="0"/>
              <a:t>This example gives a program that counts the number of occurrence of each letter in a string. Assume the letters are not case-sensitive.</a:t>
            </a:r>
          </a:p>
        </p:txBody>
      </p:sp>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3505200" y="5651596"/>
            <a:ext cx="5151120" cy="543435"/>
          </a:xfrm>
        </p:spPr>
        <p:txBody>
          <a:bodyPr/>
          <a:lstStyle/>
          <a:p>
            <a:pPr marL="432" indent="0">
              <a:buNone/>
            </a:pPr>
            <a:r>
              <a:rPr lang="en-US" dirty="0">
                <a:hlinkClick r:id="rId3" tooltip="https://liveexample.pearsoncmg.com/html/PalindromeIgnoreNonAlphanumeric.html"/>
              </a:rPr>
              <a:t>PalindromeIgnoreNonAlphanumeric</a:t>
            </a:r>
            <a:endParaRPr lang="en-US" dirty="0">
              <a:hlinkClick r:id="rId3"/>
            </a:endParaRPr>
          </a:p>
        </p:txBody>
      </p:sp>
    </p:spTree>
    <p:extLst>
      <p:ext uri="{BB962C8B-B14F-4D97-AF65-F5344CB8AC3E}">
        <p14:creationId xmlns:p14="http://schemas.microsoft.com/office/powerpoint/2010/main" val="11190069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3382F-4DAD-44F3-90B9-D69734B9D3D4}"/>
              </a:ext>
            </a:extLst>
          </p:cNvPr>
          <p:cNvSpPr>
            <a:spLocks noGrp="1"/>
          </p:cNvSpPr>
          <p:nvPr>
            <p:ph type="title"/>
          </p:nvPr>
        </p:nvSpPr>
        <p:spPr/>
        <p:txBody>
          <a:bodyPr/>
          <a:lstStyle/>
          <a:p>
            <a:r>
              <a:rPr lang="en-US"/>
              <a:t>Regular Expressions</a:t>
            </a:r>
          </a:p>
        </p:txBody>
      </p:sp>
      <p:sp>
        <p:nvSpPr>
          <p:cNvPr id="3" name="Content Placeholder 2">
            <a:extLst>
              <a:ext uri="{FF2B5EF4-FFF2-40B4-BE49-F238E27FC236}">
                <a16:creationId xmlns:a16="http://schemas.microsoft.com/office/drawing/2014/main" id="{ED5DF7D8-B214-4464-84E1-A61882783394}"/>
              </a:ext>
            </a:extLst>
          </p:cNvPr>
          <p:cNvSpPr>
            <a:spLocks noGrp="1"/>
          </p:cNvSpPr>
          <p:nvPr>
            <p:ph sz="quarter" idx="13"/>
          </p:nvPr>
        </p:nvSpPr>
        <p:spPr>
          <a:xfrm>
            <a:off x="457200" y="1554921"/>
            <a:ext cx="8232775" cy="2209360"/>
          </a:xfrm>
        </p:spPr>
        <p:txBody>
          <a:bodyPr/>
          <a:lstStyle/>
          <a:p>
            <a:pPr marL="432" indent="0">
              <a:buNone/>
            </a:pPr>
            <a:r>
              <a:rPr lang="en-US" dirty="0"/>
              <a:t>A </a:t>
            </a:r>
            <a:r>
              <a:rPr lang="en-US" b="1" dirty="0"/>
              <a:t>regular expression </a:t>
            </a:r>
            <a:r>
              <a:rPr lang="en-US" dirty="0"/>
              <a:t>(abbreviated </a:t>
            </a:r>
            <a:r>
              <a:rPr lang="en-US" b="1" dirty="0"/>
              <a:t>regex</a:t>
            </a:r>
            <a:r>
              <a:rPr lang="en-US" dirty="0"/>
              <a:t>) is a string that describes a pattern for matching a set of strings. Regular expression is a powerful tool for string manipulations. You can use regular expressions for matching, replacing, and splitting strings.</a:t>
            </a:r>
          </a:p>
        </p:txBody>
      </p:sp>
    </p:spTree>
    <p:extLst>
      <p:ext uri="{BB962C8B-B14F-4D97-AF65-F5344CB8AC3E}">
        <p14:creationId xmlns:p14="http://schemas.microsoft.com/office/powerpoint/2010/main" val="2072343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785D-90DC-42C6-A483-3006B5E6172D}"/>
              </a:ext>
            </a:extLst>
          </p:cNvPr>
          <p:cNvSpPr>
            <a:spLocks noGrp="1"/>
          </p:cNvSpPr>
          <p:nvPr>
            <p:ph type="title"/>
          </p:nvPr>
        </p:nvSpPr>
        <p:spPr/>
        <p:txBody>
          <a:bodyPr/>
          <a:lstStyle/>
          <a:p>
            <a:r>
              <a:rPr lang="en-US"/>
              <a:t>Matching Strings</a:t>
            </a:r>
          </a:p>
        </p:txBody>
      </p:sp>
      <p:sp>
        <p:nvSpPr>
          <p:cNvPr id="4" name="Content Placeholder 3">
            <a:extLst>
              <a:ext uri="{FF2B5EF4-FFF2-40B4-BE49-F238E27FC236}">
                <a16:creationId xmlns:a16="http://schemas.microsoft.com/office/drawing/2014/main" id="{EEC2861C-E8F7-41D5-B7FD-7E31E896AA55}"/>
              </a:ext>
            </a:extLst>
          </p:cNvPr>
          <p:cNvSpPr>
            <a:spLocks noGrp="1"/>
          </p:cNvSpPr>
          <p:nvPr>
            <p:ph sz="quarter" idx="13"/>
          </p:nvPr>
        </p:nvSpPr>
        <p:spPr>
          <a:xfrm>
            <a:off x="457200" y="1556327"/>
            <a:ext cx="8229600" cy="1097279"/>
          </a:xfrm>
        </p:spPr>
        <p:txBody>
          <a:bodyPr/>
          <a:lstStyle/>
          <a:p>
            <a:pPr marL="432" indent="0">
              <a:buNone/>
            </a:pPr>
            <a:r>
              <a:rPr lang="en-US">
                <a:latin typeface="Courier New" panose="02070309020205020404" pitchFamily="49" charset="0"/>
                <a:cs typeface="Courier New" panose="02070309020205020404" pitchFamily="49" charset="0"/>
              </a:rPr>
              <a:t>"Java".matches("Java");</a:t>
            </a:r>
          </a:p>
          <a:p>
            <a:pPr marL="432" indent="0">
              <a:buNone/>
            </a:pPr>
            <a:r>
              <a:rPr lang="en-US">
                <a:latin typeface="Courier New" panose="02070309020205020404" pitchFamily="49" charset="0"/>
                <a:cs typeface="Courier New" panose="02070309020205020404" pitchFamily="49" charset="0"/>
              </a:rPr>
              <a:t>"Java".equals("Java");</a:t>
            </a:r>
          </a:p>
        </p:txBody>
      </p:sp>
      <p:sp>
        <p:nvSpPr>
          <p:cNvPr id="5" name="Content Placeholder 4">
            <a:extLst>
              <a:ext uri="{FF2B5EF4-FFF2-40B4-BE49-F238E27FC236}">
                <a16:creationId xmlns:a16="http://schemas.microsoft.com/office/drawing/2014/main" id="{2A4844E5-6F9A-4495-863A-5CE5402EA7A5}"/>
              </a:ext>
            </a:extLst>
          </p:cNvPr>
          <p:cNvSpPr>
            <a:spLocks noGrp="1"/>
          </p:cNvSpPr>
          <p:nvPr>
            <p:ph sz="quarter" idx="14"/>
          </p:nvPr>
        </p:nvSpPr>
        <p:spPr>
          <a:xfrm>
            <a:off x="457200" y="2826689"/>
            <a:ext cx="8229600" cy="1920239"/>
          </a:xfrm>
        </p:spPr>
        <p:txBody>
          <a:bodyPr/>
          <a:lstStyle/>
          <a:p>
            <a:pPr marL="432" indent="0">
              <a:buNone/>
            </a:pPr>
            <a:r>
              <a:rPr lang="en-US" dirty="0">
                <a:latin typeface="Courier New" panose="02070309020205020404" pitchFamily="49" charset="0"/>
                <a:cs typeface="Courier New" panose="02070309020205020404" pitchFamily="49" charset="0"/>
              </a:rPr>
              <a:t>"Java is fun".matches("Java.*")</a:t>
            </a:r>
          </a:p>
          <a:p>
            <a:pPr marL="432" indent="0">
              <a:buNone/>
            </a:pPr>
            <a:r>
              <a:rPr lang="en-US" dirty="0">
                <a:latin typeface="Courier New" panose="02070309020205020404" pitchFamily="49" charset="0"/>
                <a:cs typeface="Courier New" panose="02070309020205020404" pitchFamily="49" charset="0"/>
              </a:rPr>
              <a:t>"Java is cool".matches("Java.*")</a:t>
            </a:r>
          </a:p>
          <a:p>
            <a:pPr marL="432" indent="0">
              <a:buNone/>
            </a:pPr>
            <a:r>
              <a:rPr lang="en-US" dirty="0">
                <a:latin typeface="Courier New" panose="02070309020205020404" pitchFamily="49" charset="0"/>
                <a:cs typeface="Courier New" panose="02070309020205020404" pitchFamily="49" charset="0"/>
              </a:rPr>
              <a:t>"Java is powerful".matches("Java.*")</a:t>
            </a:r>
          </a:p>
        </p:txBody>
      </p:sp>
    </p:spTree>
    <p:extLst>
      <p:ext uri="{BB962C8B-B14F-4D97-AF65-F5344CB8AC3E}">
        <p14:creationId xmlns:p14="http://schemas.microsoft.com/office/powerpoint/2010/main" val="3961934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3322-1661-489E-B2C4-6D5DD8B03929}"/>
              </a:ext>
            </a:extLst>
          </p:cNvPr>
          <p:cNvSpPr>
            <a:spLocks noGrp="1"/>
          </p:cNvSpPr>
          <p:nvPr>
            <p:ph type="title"/>
          </p:nvPr>
        </p:nvSpPr>
        <p:spPr/>
        <p:txBody>
          <a:bodyPr/>
          <a:lstStyle/>
          <a:p>
            <a:r>
              <a:rPr lang="en-US"/>
              <a:t>Regular Expression Syntax </a:t>
            </a:r>
            <a:r>
              <a:rPr lang="en-US" sz="2000" b="0"/>
              <a:t>(1 of 2)</a:t>
            </a:r>
          </a:p>
        </p:txBody>
      </p:sp>
      <p:graphicFrame>
        <p:nvGraphicFramePr>
          <p:cNvPr id="4" name="Table 3">
            <a:extLst>
              <a:ext uri="{FF2B5EF4-FFF2-40B4-BE49-F238E27FC236}">
                <a16:creationId xmlns:a16="http://schemas.microsoft.com/office/drawing/2014/main" id="{FCE54E94-934A-4A92-A6C3-AFA93827459C}"/>
              </a:ext>
            </a:extLst>
          </p:cNvPr>
          <p:cNvGraphicFramePr>
            <a:graphicFrameLocks noGrp="1"/>
          </p:cNvGraphicFramePr>
          <p:nvPr>
            <p:extLst>
              <p:ext uri="{D42A27DB-BD31-4B8C-83A1-F6EECF244321}">
                <p14:modId xmlns:p14="http://schemas.microsoft.com/office/powerpoint/2010/main" val="1274740727"/>
              </p:ext>
            </p:extLst>
          </p:nvPr>
        </p:nvGraphicFramePr>
        <p:xfrm>
          <a:off x="468312" y="1542291"/>
          <a:ext cx="8207376" cy="4572000"/>
        </p:xfrm>
        <a:graphic>
          <a:graphicData uri="http://schemas.openxmlformats.org/drawingml/2006/table">
            <a:tbl>
              <a:tblPr firstRow="1" bandRow="1">
                <a:tableStyleId>{5940675A-B579-460E-94D1-54222C63F5DA}</a:tableStyleId>
              </a:tblPr>
              <a:tblGrid>
                <a:gridCol w="1864071">
                  <a:extLst>
                    <a:ext uri="{9D8B030D-6E8A-4147-A177-3AD203B41FA5}">
                      <a16:colId xmlns:a16="http://schemas.microsoft.com/office/drawing/2014/main" val="1082314612"/>
                    </a:ext>
                  </a:extLst>
                </a:gridCol>
                <a:gridCol w="2584174">
                  <a:extLst>
                    <a:ext uri="{9D8B030D-6E8A-4147-A177-3AD203B41FA5}">
                      <a16:colId xmlns:a16="http://schemas.microsoft.com/office/drawing/2014/main" val="125582265"/>
                    </a:ext>
                  </a:extLst>
                </a:gridCol>
                <a:gridCol w="3759131">
                  <a:extLst>
                    <a:ext uri="{9D8B030D-6E8A-4147-A177-3AD203B41FA5}">
                      <a16:colId xmlns:a16="http://schemas.microsoft.com/office/drawing/2014/main" val="2158126095"/>
                    </a:ext>
                  </a:extLst>
                </a:gridCol>
              </a:tblGrid>
              <a:tr h="230003">
                <a:tc>
                  <a:txBody>
                    <a:bodyPr/>
                    <a:lstStyle/>
                    <a:p>
                      <a:r>
                        <a:rPr lang="en-US" sz="1200" b="1" noProof="0" dirty="0"/>
                        <a:t>Regular Expression</a:t>
                      </a:r>
                    </a:p>
                  </a:txBody>
                  <a:tcPr/>
                </a:tc>
                <a:tc>
                  <a:txBody>
                    <a:bodyPr/>
                    <a:lstStyle/>
                    <a:p>
                      <a:r>
                        <a:rPr lang="en-US" sz="1200" b="1" noProof="0" dirty="0"/>
                        <a:t>Matches</a:t>
                      </a:r>
                    </a:p>
                  </a:txBody>
                  <a:tcPr/>
                </a:tc>
                <a:tc>
                  <a:txBody>
                    <a:bodyPr/>
                    <a:lstStyle/>
                    <a:p>
                      <a:r>
                        <a:rPr lang="en-US" sz="1200" b="1" noProof="0" dirty="0"/>
                        <a:t>Example</a:t>
                      </a:r>
                    </a:p>
                  </a:txBody>
                  <a:tcPr/>
                </a:tc>
                <a:extLst>
                  <a:ext uri="{0D108BD9-81ED-4DB2-BD59-A6C34878D82A}">
                    <a16:rowId xmlns:a16="http://schemas.microsoft.com/office/drawing/2014/main" val="79882041"/>
                  </a:ext>
                </a:extLst>
              </a:tr>
              <a:tr h="230003">
                <a:tc>
                  <a:txBody>
                    <a:bodyPr/>
                    <a:lstStyle/>
                    <a:p>
                      <a:r>
                        <a:rPr lang="en-US" sz="1200" noProof="0" dirty="0">
                          <a:latin typeface="Courier New" panose="02070309020205020404" pitchFamily="49" charset="0"/>
                          <a:cs typeface="Courier New" panose="02070309020205020404" pitchFamily="49" charset="0"/>
                        </a:rPr>
                        <a:t>x</a:t>
                      </a:r>
                    </a:p>
                  </a:txBody>
                  <a:tcPr/>
                </a:tc>
                <a:tc>
                  <a:txBody>
                    <a:bodyPr/>
                    <a:lstStyle/>
                    <a:p>
                      <a:r>
                        <a:rPr lang="en-US" sz="1200" noProof="0" dirty="0">
                          <a:latin typeface="Courier New" panose="02070309020205020404" pitchFamily="49" charset="0"/>
                          <a:cs typeface="Courier New" panose="02070309020205020404" pitchFamily="49" charset="0"/>
                        </a:rPr>
                        <a:t>a specified character </a:t>
                      </a:r>
                      <a:r>
                        <a:rPr lang="en-US" sz="1200" b="1" i="0" noProof="0" dirty="0">
                          <a:latin typeface="Courier New" panose="02070309020205020404" pitchFamily="49" charset="0"/>
                          <a:cs typeface="Courier New" panose="02070309020205020404" pitchFamily="49" charset="0"/>
                        </a:rPr>
                        <a:t>x</a:t>
                      </a:r>
                    </a:p>
                  </a:txBody>
                  <a:tcPr/>
                </a:tc>
                <a:tc>
                  <a:txBody>
                    <a:bodyPr/>
                    <a:lstStyle/>
                    <a:p>
                      <a:r>
                        <a:rPr lang="en-US" sz="1200" b="1" noProof="0" dirty="0">
                          <a:latin typeface="Courier New" panose="02070309020205020404" pitchFamily="49" charset="0"/>
                          <a:cs typeface="Courier New" panose="02070309020205020404" pitchFamily="49" charset="0"/>
                        </a:rPr>
                        <a:t>Java</a:t>
                      </a:r>
                      <a:r>
                        <a:rPr lang="en-US" sz="1200" noProof="0" dirty="0">
                          <a:latin typeface="Courier New" panose="02070309020205020404" pitchFamily="49" charset="0"/>
                          <a:cs typeface="Courier New" panose="02070309020205020404" pitchFamily="49" charset="0"/>
                        </a:rPr>
                        <a:t> matches </a:t>
                      </a:r>
                      <a:r>
                        <a:rPr lang="en-US" sz="1200" b="1" noProof="0" dirty="0">
                          <a:latin typeface="Courier New" panose="02070309020205020404" pitchFamily="49" charset="0"/>
                          <a:cs typeface="Courier New" panose="02070309020205020404" pitchFamily="49" charset="0"/>
                        </a:rPr>
                        <a:t>Java</a:t>
                      </a:r>
                    </a:p>
                  </a:txBody>
                  <a:tcPr/>
                </a:tc>
                <a:extLst>
                  <a:ext uri="{0D108BD9-81ED-4DB2-BD59-A6C34878D82A}">
                    <a16:rowId xmlns:a16="http://schemas.microsoft.com/office/drawing/2014/main" val="2889345654"/>
                  </a:ext>
                </a:extLst>
              </a:tr>
              <a:tr h="230003">
                <a:tc>
                  <a:txBody>
                    <a:bodyPr/>
                    <a:lstStyle/>
                    <a:p>
                      <a:r>
                        <a:rPr lang="en-US" sz="1200" noProof="0" dirty="0">
                          <a:latin typeface="Courier New" panose="02070309020205020404" pitchFamily="49" charset="0"/>
                          <a:cs typeface="Courier New" panose="02070309020205020404" pitchFamily="49" charset="0"/>
                        </a:rPr>
                        <a:t>.</a:t>
                      </a:r>
                    </a:p>
                  </a:txBody>
                  <a:tcPr/>
                </a:tc>
                <a:tc>
                  <a:txBody>
                    <a:bodyPr/>
                    <a:lstStyle/>
                    <a:p>
                      <a:r>
                        <a:rPr lang="en-US" sz="1200" noProof="0" dirty="0">
                          <a:latin typeface="Courier New" panose="02070309020205020404" pitchFamily="49" charset="0"/>
                          <a:cs typeface="Courier New" panose="02070309020205020404" pitchFamily="49" charset="0"/>
                        </a:rPr>
                        <a:t>any single character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J..a</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766385377"/>
                  </a:ext>
                </a:extLst>
              </a:tr>
              <a:tr h="230003">
                <a:tc>
                  <a:txBody>
                    <a:bodyPr/>
                    <a:lstStyle/>
                    <a:p>
                      <a:r>
                        <a:rPr lang="en-US" sz="1200" noProof="0" dirty="0">
                          <a:latin typeface="Courier New" panose="02070309020205020404" pitchFamily="49" charset="0"/>
                          <a:cs typeface="Courier New" panose="02070309020205020404" pitchFamily="49" charset="0"/>
                        </a:rPr>
                        <a:t>(</a:t>
                      </a:r>
                      <a:r>
                        <a:rPr lang="en-US" sz="1200" noProof="0" dirty="0" err="1">
                          <a:latin typeface="Courier New" panose="02070309020205020404" pitchFamily="49" charset="0"/>
                          <a:cs typeface="Courier New" panose="02070309020205020404" pitchFamily="49" charset="0"/>
                        </a:rPr>
                        <a:t>ab|cd</a:t>
                      </a:r>
                      <a:r>
                        <a:rPr lang="en-US" sz="1200" noProof="0" dirty="0">
                          <a:latin typeface="Courier New" panose="02070309020205020404" pitchFamily="49" charset="0"/>
                          <a:cs typeface="Courier New" panose="02070309020205020404" pitchFamily="49" charset="0"/>
                        </a:rPr>
                        <a:t>)</a:t>
                      </a:r>
                    </a:p>
                  </a:txBody>
                  <a:tcPr/>
                </a:tc>
                <a:tc>
                  <a:txBody>
                    <a:bodyPr/>
                    <a:lstStyle/>
                    <a:p>
                      <a:r>
                        <a:rPr lang="en-US" sz="1200" noProof="0" dirty="0">
                          <a:latin typeface="Courier New" panose="02070309020205020404" pitchFamily="49" charset="0"/>
                          <a:cs typeface="Courier New" panose="02070309020205020404" pitchFamily="49" charset="0"/>
                        </a:rPr>
                        <a:t>ab or cd</a:t>
                      </a: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ten</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t(</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en|im</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289829167"/>
                  </a:ext>
                </a:extLst>
              </a:tr>
              <a:tr h="230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Courier New" panose="02070309020205020404" pitchFamily="49" charset="0"/>
                          <a:cs typeface="Courier New" panose="02070309020205020404" pitchFamily="49" charset="0"/>
                        </a:rPr>
                        <a:t>[</a:t>
                      </a:r>
                      <a:r>
                        <a:rPr lang="en-US" sz="1200" noProof="0" dirty="0" err="1">
                          <a:latin typeface="Courier New" panose="02070309020205020404" pitchFamily="49" charset="0"/>
                          <a:cs typeface="Courier New" panose="02070309020205020404" pitchFamily="49" charset="0"/>
                        </a:rPr>
                        <a:t>abc</a:t>
                      </a:r>
                      <a:r>
                        <a:rPr lang="en-US" sz="1200" noProof="0" dirty="0">
                          <a:latin typeface="Courier New" panose="02070309020205020404" pitchFamily="49" charset="0"/>
                          <a:cs typeface="Courier New" panose="02070309020205020404" pitchFamily="49"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Courier New" panose="02070309020205020404" pitchFamily="49" charset="0"/>
                          <a:cs typeface="Courier New" panose="02070309020205020404" pitchFamily="49" charset="0"/>
                        </a:rPr>
                        <a:t>a, b, or c</a:t>
                      </a: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uvwx</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855236282"/>
                  </a:ext>
                </a:extLst>
              </a:tr>
              <a:tr h="3833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Courier New" panose="02070309020205020404" pitchFamily="49" charset="0"/>
                          <a:cs typeface="Courier New" panose="02070309020205020404" pitchFamily="49" charset="0"/>
                        </a:rPr>
                        <a:t>[^</a:t>
                      </a:r>
                      <a:r>
                        <a:rPr lang="en-US" sz="1200" noProof="0" dirty="0" err="1">
                          <a:latin typeface="Courier New" panose="02070309020205020404" pitchFamily="49" charset="0"/>
                          <a:cs typeface="Courier New" panose="02070309020205020404" pitchFamily="49" charset="0"/>
                        </a:rPr>
                        <a:t>abc</a:t>
                      </a:r>
                      <a:r>
                        <a:rPr lang="en-US" sz="1200" noProof="0" dirty="0">
                          <a:latin typeface="Courier New" panose="02070309020205020404" pitchFamily="49" charset="0"/>
                          <a:cs typeface="Courier New" panose="02070309020205020404" pitchFamily="49" charset="0"/>
                        </a:rPr>
                        <a:t>]</a:t>
                      </a:r>
                    </a:p>
                  </a:txBody>
                  <a:tcPr/>
                </a:tc>
                <a:tc>
                  <a:txBody>
                    <a:bodyPr/>
                    <a:lstStyle/>
                    <a:p>
                      <a:r>
                        <a:rPr lang="en-US" sz="1200" noProof="0" dirty="0">
                          <a:latin typeface="Courier New" panose="02070309020205020404" pitchFamily="49" charset="0"/>
                          <a:cs typeface="Courier New" panose="02070309020205020404" pitchFamily="49" charset="0"/>
                        </a:rPr>
                        <a:t>any character except</a:t>
                      </a:r>
                    </a:p>
                    <a:p>
                      <a:r>
                        <a:rPr lang="en-US" sz="1200" noProof="0" dirty="0">
                          <a:latin typeface="Courier New" panose="02070309020205020404" pitchFamily="49" charset="0"/>
                          <a:cs typeface="Courier New" panose="02070309020205020404" pitchFamily="49" charset="0"/>
                        </a:rPr>
                        <a:t>  a, b, or c</a:t>
                      </a: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ars</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8912924"/>
                  </a:ext>
                </a:extLst>
              </a:tr>
              <a:tr h="230003">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[a-z]</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through z</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[A-M]av[a-d]</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296105385"/>
                  </a:ext>
                </a:extLst>
              </a:tr>
              <a:tr h="383338">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[^a-z]</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any character except</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 through z</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Jav</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[^b-d]</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4095574904"/>
                  </a:ext>
                </a:extLst>
              </a:tr>
              <a:tr h="383338">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[a-e[m-p]]</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through e or</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 through p</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[A-G[I-M]]av[a-d]</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306448021"/>
                  </a:ext>
                </a:extLst>
              </a:tr>
              <a:tr h="383338">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[a-e&amp;&amp; [c-p]]</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intersection of a-e</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with c-p</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[A-P&amp;&amp; [I-M]]av[a-d]</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604233778"/>
                  </a:ext>
                </a:extLst>
              </a:tr>
              <a:tr h="230003">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\d</a:t>
                      </a:r>
                      <a:endParaRPr lang="en-US" sz="1200" b="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digit, same as [0-9]</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Java2</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"Java[\\d]"</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713672309"/>
                  </a:ext>
                </a:extLst>
              </a:tr>
              <a:tr h="230003">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\D</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non-digit</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"[\\D][\\D]ava"</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717094319"/>
                  </a:ext>
                </a:extLst>
              </a:tr>
              <a:tr h="230003">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\w</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word character</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Java1</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"[\\w]ava[\\w]" </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510859239"/>
                  </a:ext>
                </a:extLst>
              </a:tr>
              <a:tr h="230003">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\W</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non-word character</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"[\\W][\\w]ava"</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101035845"/>
                  </a:ext>
                </a:extLst>
              </a:tr>
            </a:tbl>
          </a:graphicData>
        </a:graphic>
      </p:graphicFrame>
    </p:spTree>
    <p:extLst>
      <p:ext uri="{BB962C8B-B14F-4D97-AF65-F5344CB8AC3E}">
        <p14:creationId xmlns:p14="http://schemas.microsoft.com/office/powerpoint/2010/main" val="295279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3322-1661-489E-B2C4-6D5DD8B03929}"/>
              </a:ext>
            </a:extLst>
          </p:cNvPr>
          <p:cNvSpPr>
            <a:spLocks noGrp="1"/>
          </p:cNvSpPr>
          <p:nvPr>
            <p:ph type="title"/>
          </p:nvPr>
        </p:nvSpPr>
        <p:spPr/>
        <p:txBody>
          <a:bodyPr/>
          <a:lstStyle/>
          <a:p>
            <a:r>
              <a:rPr lang="en-US"/>
              <a:t>Regular Expression Syntax </a:t>
            </a:r>
            <a:r>
              <a:rPr lang="en-US" sz="2000" b="0"/>
              <a:t>(2 of 2)</a:t>
            </a:r>
          </a:p>
        </p:txBody>
      </p:sp>
      <p:graphicFrame>
        <p:nvGraphicFramePr>
          <p:cNvPr id="4" name="Table 3">
            <a:extLst>
              <a:ext uri="{FF2B5EF4-FFF2-40B4-BE49-F238E27FC236}">
                <a16:creationId xmlns:a16="http://schemas.microsoft.com/office/drawing/2014/main" id="{FCE54E94-934A-4A92-A6C3-AFA93827459C}"/>
              </a:ext>
            </a:extLst>
          </p:cNvPr>
          <p:cNvGraphicFramePr>
            <a:graphicFrameLocks noGrp="1"/>
          </p:cNvGraphicFramePr>
          <p:nvPr>
            <p:extLst>
              <p:ext uri="{D42A27DB-BD31-4B8C-83A1-F6EECF244321}">
                <p14:modId xmlns:p14="http://schemas.microsoft.com/office/powerpoint/2010/main" val="2994005986"/>
              </p:ext>
            </p:extLst>
          </p:nvPr>
        </p:nvGraphicFramePr>
        <p:xfrm>
          <a:off x="468312" y="1542291"/>
          <a:ext cx="8207376" cy="3566160"/>
        </p:xfrm>
        <a:graphic>
          <a:graphicData uri="http://schemas.openxmlformats.org/drawingml/2006/table">
            <a:tbl>
              <a:tblPr firstRow="1" bandRow="1">
                <a:tableStyleId>{5940675A-B579-460E-94D1-54222C63F5DA}</a:tableStyleId>
              </a:tblPr>
              <a:tblGrid>
                <a:gridCol w="1890575">
                  <a:extLst>
                    <a:ext uri="{9D8B030D-6E8A-4147-A177-3AD203B41FA5}">
                      <a16:colId xmlns:a16="http://schemas.microsoft.com/office/drawing/2014/main" val="1082314612"/>
                    </a:ext>
                  </a:extLst>
                </a:gridCol>
                <a:gridCol w="2597426">
                  <a:extLst>
                    <a:ext uri="{9D8B030D-6E8A-4147-A177-3AD203B41FA5}">
                      <a16:colId xmlns:a16="http://schemas.microsoft.com/office/drawing/2014/main" val="125582265"/>
                    </a:ext>
                  </a:extLst>
                </a:gridCol>
                <a:gridCol w="3719375">
                  <a:extLst>
                    <a:ext uri="{9D8B030D-6E8A-4147-A177-3AD203B41FA5}">
                      <a16:colId xmlns:a16="http://schemas.microsoft.com/office/drawing/2014/main" val="2158126095"/>
                    </a:ext>
                  </a:extLst>
                </a:gridCol>
              </a:tblGrid>
              <a:tr h="166121">
                <a:tc>
                  <a:txBody>
                    <a:bodyPr/>
                    <a:lstStyle/>
                    <a:p>
                      <a:r>
                        <a:rPr lang="en-US" sz="1200" b="1" noProof="0" dirty="0">
                          <a:latin typeface="+mn-lt"/>
                          <a:cs typeface="Courier New" panose="02070309020205020404" pitchFamily="49" charset="0"/>
                        </a:rPr>
                        <a:t>Regular Expression</a:t>
                      </a:r>
                    </a:p>
                  </a:txBody>
                  <a:tcPr/>
                </a:tc>
                <a:tc>
                  <a:txBody>
                    <a:bodyPr/>
                    <a:lstStyle/>
                    <a:p>
                      <a:r>
                        <a:rPr lang="en-US" sz="1200" b="1" noProof="0" dirty="0">
                          <a:latin typeface="+mn-lt"/>
                          <a:cs typeface="Courier New" panose="02070309020205020404" pitchFamily="49" charset="0"/>
                        </a:rPr>
                        <a:t>Matches</a:t>
                      </a:r>
                    </a:p>
                  </a:txBody>
                  <a:tcPr/>
                </a:tc>
                <a:tc>
                  <a:txBody>
                    <a:bodyPr/>
                    <a:lstStyle/>
                    <a:p>
                      <a:r>
                        <a:rPr lang="en-US" sz="1200" b="1" noProof="0" dirty="0">
                          <a:latin typeface="+mn-lt"/>
                          <a:cs typeface="Courier New" panose="02070309020205020404" pitchFamily="49" charset="0"/>
                        </a:rPr>
                        <a:t>Example</a:t>
                      </a:r>
                    </a:p>
                  </a:txBody>
                  <a:tcPr/>
                </a:tc>
                <a:extLst>
                  <a:ext uri="{0D108BD9-81ED-4DB2-BD59-A6C34878D82A}">
                    <a16:rowId xmlns:a16="http://schemas.microsoft.com/office/drawing/2014/main" val="79882041"/>
                  </a:ext>
                </a:extLst>
              </a:tr>
              <a:tr h="166121">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\s</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whitespace character</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 2"</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"Java\\s2"</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59901174"/>
                  </a:ext>
                </a:extLst>
              </a:tr>
              <a:tr h="166121">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\S</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 non-whitespace char</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"[\\S]ava" </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496052616"/>
                  </a:ext>
                </a:extLst>
              </a:tr>
              <a:tr h="269946">
                <a:tc>
                  <a:txBody>
                    <a:bodyPr/>
                    <a:lstStyle/>
                    <a:p>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zero or more</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occurrences of pattern </a:t>
                      </a:r>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i="1"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aaaabb</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ababab</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"(ab)*"</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530793080"/>
                  </a:ext>
                </a:extLst>
              </a:tr>
              <a:tr h="269946">
                <a:tc>
                  <a:txBody>
                    <a:bodyPr/>
                    <a:lstStyle/>
                    <a:p>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noProof="0" dirty="0">
                        <a:latin typeface="Courier New" panose="02070309020205020404" pitchFamily="49" charset="0"/>
                        <a:cs typeface="Courier New" panose="02070309020205020404" pitchFamily="49" charset="0"/>
                      </a:endParaRPr>
                    </a:p>
                  </a:txBody>
                  <a:tcPr/>
                </a:tc>
                <a:tc>
                  <a:txBody>
                    <a:bodyPr/>
                    <a:lstStyle/>
                    <a:p>
                      <a:pPr rtl="0"/>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one or more occurrences</a:t>
                      </a:r>
                    </a:p>
                    <a:p>
                      <a:pPr rtl="0"/>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of pattern </a:t>
                      </a:r>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b="0" i="1" noProof="0" dirty="0">
                        <a:effectLst/>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a+b</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able</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"(ab)+.*"</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96783555"/>
                  </a:ext>
                </a:extLst>
              </a:tr>
              <a:tr h="269946">
                <a:tc>
                  <a:txBody>
                    <a:bodyPr/>
                    <a:lstStyle/>
                    <a:p>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zero or one occurrence of</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pattern </a:t>
                      </a:r>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i="1"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J?Java</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254488204"/>
                  </a:ext>
                </a:extLst>
              </a:tr>
              <a:tr h="269946">
                <a:tc>
                  <a:txBody>
                    <a:bodyPr/>
                    <a:lstStyle/>
                    <a:p>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{n}</a:t>
                      </a:r>
                      <a:endParaRPr lang="en-US" sz="1200" i="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exactly n occurrences of</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pattern </a:t>
                      </a:r>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i="1"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"Ja{1}.*"</a:t>
                      </a:r>
                    </a:p>
                    <a:p>
                      <a:pPr rtl="0"/>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Java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does not match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".{2}"</a:t>
                      </a:r>
                      <a:endParaRPr lang="en-US" sz="1200" b="1" noProof="0" dirty="0">
                        <a:effectLst/>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991264859"/>
                  </a:ext>
                </a:extLst>
              </a:tr>
              <a:tr h="373771">
                <a:tc>
                  <a:txBody>
                    <a:bodyPr/>
                    <a:lstStyle/>
                    <a:p>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{n,}</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least n occurrences of</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pattern </a:t>
                      </a:r>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endParaRPr lang="en-US" sz="1200" i="1"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aaaa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"a{1,}"</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does not match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"a{2,}"</a:t>
                      </a:r>
                      <a:endParaRPr lang="en-US" sz="1200" b="1"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875543151"/>
                  </a:ext>
                </a:extLst>
              </a:tr>
              <a:tr h="166121">
                <a:tc>
                  <a:txBody>
                    <a:bodyPr/>
                    <a:lstStyle/>
                    <a:p>
                      <a:r>
                        <a:rPr lang="en-US" sz="1200" b="0" i="1"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p</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r>
                        <a:rPr lang="en-US" sz="1200" b="0"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n,m</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between n and m</a:t>
                      </a:r>
                    </a:p>
                    <a:p>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occurrences (inclusive)</a:t>
                      </a:r>
                      <a:endParaRPr lang="en-US" sz="1200" noProof="0" dirty="0">
                        <a:latin typeface="Courier New" panose="02070309020205020404" pitchFamily="49" charset="0"/>
                        <a:cs typeface="Courier New" panose="02070309020205020404" pitchFamily="49" charset="0"/>
                      </a:endParaRPr>
                    </a:p>
                  </a:txBody>
                  <a:tcPr/>
                </a:tc>
                <a:tc>
                  <a:txBody>
                    <a:bodyPr/>
                    <a:lstStyle/>
                    <a:p>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aaaa</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matches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"a{1,9}"</a:t>
                      </a:r>
                    </a:p>
                    <a:p>
                      <a:pPr rtl="0"/>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a:t>
                      </a:r>
                      <a:r>
                        <a:rPr lang="en-US" sz="1200" b="1" i="0" u="none" strike="noStrike" cap="none" noProof="0" dirty="0" err="1">
                          <a:solidFill>
                            <a:schemeClr val="tx1"/>
                          </a:solidFill>
                          <a:effectLst/>
                          <a:latin typeface="Courier New" panose="02070309020205020404" pitchFamily="49" charset="0"/>
                          <a:ea typeface="+mn-ea"/>
                          <a:cs typeface="Courier New" panose="02070309020205020404" pitchFamily="49" charset="0"/>
                          <a:sym typeface="Arial"/>
                        </a:rPr>
                        <a:t>abb</a:t>
                      </a:r>
                      <a:r>
                        <a:rPr lang="en-US" sz="1200" b="0"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 does not match </a:t>
                      </a:r>
                      <a:r>
                        <a:rPr lang="en-US" sz="1200" b="1" i="0" u="none" strike="noStrike" cap="none" noProof="0" dirty="0">
                          <a:solidFill>
                            <a:schemeClr val="tx1"/>
                          </a:solidFill>
                          <a:effectLst/>
                          <a:latin typeface="Courier New" panose="02070309020205020404" pitchFamily="49" charset="0"/>
                          <a:ea typeface="+mn-ea"/>
                          <a:cs typeface="Courier New" panose="02070309020205020404" pitchFamily="49" charset="0"/>
                          <a:sym typeface="Arial"/>
                        </a:rPr>
                        <a:t>"a{2,9}bb"</a:t>
                      </a:r>
                      <a:endParaRPr lang="en-US" sz="1200" b="1" noProof="0" dirty="0">
                        <a:effectLst/>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147256650"/>
                  </a:ext>
                </a:extLst>
              </a:tr>
            </a:tbl>
          </a:graphicData>
        </a:graphic>
      </p:graphicFrame>
    </p:spTree>
    <p:extLst>
      <p:ext uri="{BB962C8B-B14F-4D97-AF65-F5344CB8AC3E}">
        <p14:creationId xmlns:p14="http://schemas.microsoft.com/office/powerpoint/2010/main" val="63166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60B0-D83A-4BDD-AB54-FA969C4EF952}"/>
              </a:ext>
            </a:extLst>
          </p:cNvPr>
          <p:cNvSpPr>
            <a:spLocks noGrp="1"/>
          </p:cNvSpPr>
          <p:nvPr>
            <p:ph type="title"/>
          </p:nvPr>
        </p:nvSpPr>
        <p:spPr/>
        <p:txBody>
          <a:bodyPr/>
          <a:lstStyle/>
          <a:p>
            <a:r>
              <a:rPr lang="en-US"/>
              <a:t>Replacing and Splitting Strings </a:t>
            </a:r>
            <a:r>
              <a:rPr lang="en-US" sz="2000" b="0"/>
              <a:t>(2 of 2)</a:t>
            </a:r>
            <a:endParaRPr lang="en-US" b="0"/>
          </a:p>
        </p:txBody>
      </p:sp>
      <p:pic>
        <p:nvPicPr>
          <p:cNvPr id="7" name="Picture 6" descr="Four rows of codes and descriptions for java.lang.String as follows. For long description in Notes pane, press F6.">
            <a:extLst>
              <a:ext uri="{FF2B5EF4-FFF2-40B4-BE49-F238E27FC236}">
                <a16:creationId xmlns:a16="http://schemas.microsoft.com/office/drawing/2014/main" id="{841CBBAD-3C50-4906-B84A-ADCEE7523795}"/>
              </a:ext>
            </a:extLst>
          </p:cNvPr>
          <p:cNvPicPr>
            <a:picLocks noChangeAspect="1"/>
          </p:cNvPicPr>
          <p:nvPr/>
        </p:nvPicPr>
        <p:blipFill>
          <a:blip r:embed="rId3"/>
          <a:stretch>
            <a:fillRect/>
          </a:stretch>
        </p:blipFill>
        <p:spPr>
          <a:xfrm>
            <a:off x="535290" y="2081438"/>
            <a:ext cx="8073420" cy="2695124"/>
          </a:xfrm>
          <a:prstGeom prst="rect">
            <a:avLst/>
          </a:prstGeom>
        </p:spPr>
      </p:pic>
    </p:spTree>
    <p:extLst>
      <p:ext uri="{BB962C8B-B14F-4D97-AF65-F5344CB8AC3E}">
        <p14:creationId xmlns:p14="http://schemas.microsoft.com/office/powerpoint/2010/main" val="4082195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36E3-40FA-48A6-BD1F-70565D79D8FE}"/>
              </a:ext>
            </a:extLst>
          </p:cNvPr>
          <p:cNvSpPr>
            <a:spLocks noGrp="1"/>
          </p:cNvSpPr>
          <p:nvPr>
            <p:ph type="title"/>
          </p:nvPr>
        </p:nvSpPr>
        <p:spPr/>
        <p:txBody>
          <a:bodyPr/>
          <a:lstStyle/>
          <a:p>
            <a:r>
              <a:rPr lang="en-US" dirty="0"/>
              <a:t>Examples </a:t>
            </a:r>
            <a:r>
              <a:rPr lang="en-US" sz="2000" b="0" dirty="0"/>
              <a:t>(4 of 4)</a:t>
            </a:r>
            <a:endParaRPr lang="en-US" b="0" dirty="0"/>
          </a:p>
        </p:txBody>
      </p:sp>
      <p:sp>
        <p:nvSpPr>
          <p:cNvPr id="3" name="Content Placeholder 2">
            <a:extLst>
              <a:ext uri="{FF2B5EF4-FFF2-40B4-BE49-F238E27FC236}">
                <a16:creationId xmlns:a16="http://schemas.microsoft.com/office/drawing/2014/main" id="{14F8388E-FF1D-4BAC-AEB6-F61788BA5BDA}"/>
              </a:ext>
            </a:extLst>
          </p:cNvPr>
          <p:cNvSpPr>
            <a:spLocks noGrp="1"/>
          </p:cNvSpPr>
          <p:nvPr>
            <p:ph sz="quarter" idx="13"/>
          </p:nvPr>
        </p:nvSpPr>
        <p:spPr>
          <a:xfrm>
            <a:off x="457201" y="1554921"/>
            <a:ext cx="8229600" cy="1453322"/>
          </a:xfrm>
        </p:spPr>
        <p:txBody>
          <a:bodyPr/>
          <a:lstStyle/>
          <a:p>
            <a:pPr marL="432" indent="0">
              <a:buNone/>
            </a:pPr>
            <a:r>
              <a:rPr lang="en-US" sz="1800" dirty="0">
                <a:latin typeface="Courier New" panose="02070309020205020404" pitchFamily="49" charset="0"/>
                <a:cs typeface="Courier New" panose="02070309020205020404" pitchFamily="49" charset="0"/>
              </a:rPr>
              <a:t>String s = "Java Java Java".replaceAll("v\\w", "</a:t>
            </a:r>
            <a:r>
              <a:rPr lang="en-US" sz="1800" dirty="0" err="1">
                <a:latin typeface="Courier New" panose="02070309020205020404" pitchFamily="49" charset="0"/>
                <a:cs typeface="Courier New" panose="02070309020205020404" pitchFamily="49" charset="0"/>
              </a:rPr>
              <a:t>wi</a:t>
            </a:r>
            <a:r>
              <a:rPr lang="en-US" sz="1800" dirty="0">
                <a:latin typeface="Courier New" panose="02070309020205020404" pitchFamily="49" charset="0"/>
                <a:cs typeface="Courier New" panose="02070309020205020404" pitchFamily="49" charset="0"/>
              </a:rPr>
              <a:t>") ;</a:t>
            </a:r>
          </a:p>
          <a:p>
            <a:pPr marL="432" indent="0">
              <a:buNone/>
            </a:pPr>
            <a:r>
              <a:rPr lang="en-US" sz="1800" dirty="0">
                <a:latin typeface="Courier New" panose="02070309020205020404" pitchFamily="49" charset="0"/>
                <a:cs typeface="Courier New" panose="02070309020205020404" pitchFamily="49" charset="0"/>
              </a:rPr>
              <a:t>String s = "Java Java Java".replaceFirst("v\\w", "</a:t>
            </a:r>
            <a:r>
              <a:rPr lang="en-US" sz="1800" dirty="0" err="1">
                <a:latin typeface="Courier New" panose="02070309020205020404" pitchFamily="49" charset="0"/>
                <a:cs typeface="Courier New" panose="02070309020205020404" pitchFamily="49" charset="0"/>
              </a:rPr>
              <a:t>wi</a:t>
            </a:r>
            <a:r>
              <a:rPr lang="en-US" sz="1800" dirty="0">
                <a:latin typeface="Courier New" panose="02070309020205020404" pitchFamily="49" charset="0"/>
                <a:cs typeface="Courier New" panose="02070309020205020404" pitchFamily="49" charset="0"/>
              </a:rPr>
              <a:t>") ;</a:t>
            </a:r>
          </a:p>
          <a:p>
            <a:pPr marL="432" indent="0">
              <a:buNone/>
            </a:pPr>
            <a:r>
              <a:rPr lang="en-US" sz="1800" dirty="0">
                <a:latin typeface="Courier New" panose="02070309020205020404" pitchFamily="49" charset="0"/>
                <a:cs typeface="Courier New" panose="02070309020205020404" pitchFamily="49" charset="0"/>
              </a:rPr>
              <a:t>String[] s = "Java1HTML2Perl".split("\\d");</a:t>
            </a:r>
          </a:p>
        </p:txBody>
      </p:sp>
    </p:spTree>
    <p:extLst>
      <p:ext uri="{BB962C8B-B14F-4D97-AF65-F5344CB8AC3E}">
        <p14:creationId xmlns:p14="http://schemas.microsoft.com/office/powerpoint/2010/main" val="34141128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b22d00c-ba54-415e-ac47-142f0dfcf7e9" xsi:nil="true"/>
    <lcf76f155ced4ddcb4097134ff3c332f xmlns="bde507ab-19d9-42c9-b69f-59bb821f2f6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83B758-1054-4A21-AEAA-0B7956AC01C9}">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www.w3.org/XML/1998/namespace"/>
    <ds:schemaRef ds:uri="http://schemas.microsoft.com/office/2006/documentManagement/types"/>
    <ds:schemaRef ds:uri="http://purl.org/dc/terms/"/>
    <ds:schemaRef ds:uri="2b22d00c-ba54-415e-ac47-142f0dfcf7e9"/>
    <ds:schemaRef ds:uri="bde507ab-19d9-42c9-b69f-59bb821f2f61"/>
    <ds:schemaRef ds:uri="http://purl.org/dc/elements/1.1/"/>
  </ds:schemaRefs>
</ds:datastoreItem>
</file>

<file path=customXml/itemProps2.xml><?xml version="1.0" encoding="utf-8"?>
<ds:datastoreItem xmlns:ds="http://schemas.openxmlformats.org/officeDocument/2006/customXml" ds:itemID="{E442BCF4-2FF1-4D4C-87AD-0E2E9D842E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4F2005-B61A-4A80-A9C6-3373873967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147387</TotalTime>
  <Words>6986</Words>
  <Application>Microsoft Office PowerPoint</Application>
  <PresentationFormat>On-screen Show (4:3)</PresentationFormat>
  <Paragraphs>499</Paragraphs>
  <Slides>59</Slides>
  <Notes>30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59</vt:i4>
      </vt:variant>
    </vt:vector>
  </HeadingPairs>
  <TitlesOfParts>
    <vt:vector size="67" baseType="lpstr">
      <vt:lpstr>Arial</vt:lpstr>
      <vt:lpstr>Times New Roman</vt:lpstr>
      <vt:lpstr>Verdana</vt:lpstr>
      <vt:lpstr>Noto Sans Symbols</vt:lpstr>
      <vt:lpstr>Courier New</vt:lpstr>
      <vt:lpstr>USHE</vt:lpstr>
      <vt:lpstr>USHE_slide options</vt:lpstr>
      <vt:lpstr>Equation</vt:lpstr>
      <vt:lpstr>Introduction to Java Programming and Data Structures</vt:lpstr>
      <vt:lpstr>Motivations</vt:lpstr>
      <vt:lpstr>Objectives (1 of 2)</vt:lpstr>
      <vt:lpstr>Objectives (2 of 2)</vt:lpstr>
      <vt:lpstr>Class Abstraction and Encapsulation</vt:lpstr>
      <vt:lpstr>Designing the Loan Class</vt:lpstr>
      <vt:lpstr>Object-Oriented Thinking</vt:lpstr>
      <vt:lpstr>The BMI Class</vt:lpstr>
      <vt:lpstr>Class Relationships</vt:lpstr>
      <vt:lpstr>Object Composition</vt:lpstr>
      <vt:lpstr>Class Representation</vt:lpstr>
      <vt:lpstr>Aggregation or Composition</vt:lpstr>
      <vt:lpstr>Aggregation Between Same Class (1 of 2)</vt:lpstr>
      <vt:lpstr>Aggregation Between Same Class (2 of 2)</vt:lpstr>
      <vt:lpstr>Example: The Course Class</vt:lpstr>
      <vt:lpstr>Example: The Stackofintegers Class</vt:lpstr>
      <vt:lpstr>Designing the Stackofintegers Class</vt:lpstr>
      <vt:lpstr>Implementing Stackofintegers Class</vt:lpstr>
      <vt:lpstr>Wrapper Classes</vt:lpstr>
      <vt:lpstr>The Integer and Double Classes</vt:lpstr>
      <vt:lpstr>The Integer Class and the Double Class</vt:lpstr>
      <vt:lpstr>Numeric Wrapper Class Constructors</vt:lpstr>
      <vt:lpstr>Numeric Wrapper Class Constants</vt:lpstr>
      <vt:lpstr>Conversion Methods</vt:lpstr>
      <vt:lpstr>The Static valueof Methods</vt:lpstr>
      <vt:lpstr>The Methods for Parsing Strings Into Numbers</vt:lpstr>
      <vt:lpstr>Automatic Conversion Between Primitive Types and Wrapper Class Types</vt:lpstr>
      <vt:lpstr>Biginteger and Bigdecimal (1 of 2)</vt:lpstr>
      <vt:lpstr>Biginteger and Bigdecimal (2 of 2)</vt:lpstr>
      <vt:lpstr>The String Class</vt:lpstr>
      <vt:lpstr>Constructing Strings</vt:lpstr>
      <vt:lpstr>Strings Are Immutable</vt:lpstr>
      <vt:lpstr>Trace Code (1 of 5)</vt:lpstr>
      <vt:lpstr>Trace Code (2 of 5)</vt:lpstr>
      <vt:lpstr>Interned Strings</vt:lpstr>
      <vt:lpstr>Examples (1 of 4)</vt:lpstr>
      <vt:lpstr>Trace Code (3 of 5)</vt:lpstr>
      <vt:lpstr>Trace Code (4 of 5)</vt:lpstr>
      <vt:lpstr>Trace Code (5 of 5)</vt:lpstr>
      <vt:lpstr>Replacing and Splitting Strings (1 of 2)</vt:lpstr>
      <vt:lpstr>Examples (2 of 4)</vt:lpstr>
      <vt:lpstr>Splitting a String</vt:lpstr>
      <vt:lpstr>Matching, Replacing and Splitting by Patterns (1 of 3)</vt:lpstr>
      <vt:lpstr>Matching, Replacing and Splitting by Patterns (2 of 3)</vt:lpstr>
      <vt:lpstr>Matching, Replacing and Splitting by Patterns (3 of 3)</vt:lpstr>
      <vt:lpstr>Convert Character and Numbers to Strings</vt:lpstr>
      <vt:lpstr>StringBuilder and StringBuffer</vt:lpstr>
      <vt:lpstr>StringBuilder Constructors</vt:lpstr>
      <vt:lpstr>Modifying Strings in the Builder</vt:lpstr>
      <vt:lpstr>Examples (3 of 4)</vt:lpstr>
      <vt:lpstr>The toString, capacity, length, setLength, and charAt Methods</vt:lpstr>
      <vt:lpstr>Problem: Checking Palindromes Ignoring Non-alphanumeric Characters</vt:lpstr>
      <vt:lpstr>Regular Expressions</vt:lpstr>
      <vt:lpstr>Matching Strings</vt:lpstr>
      <vt:lpstr>Regular Expression Syntax (1 of 2)</vt:lpstr>
      <vt:lpstr>Regular Expression Syntax (2 of 2)</vt:lpstr>
      <vt:lpstr>Replacing and Splitting Strings (2 of 2)</vt:lpstr>
      <vt:lpstr>Examples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10, Thinking in Objects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Chellapandi Murugan</cp:lastModifiedBy>
  <cp:revision>953</cp:revision>
  <dcterms:modified xsi:type="dcterms:W3CDTF">2023-05-18T23:27:45Z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