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4"/>
    <p:sldMasterId id="2147483659" r:id="rId5"/>
  </p:sldMasterIdLst>
  <p:notesMasterIdLst>
    <p:notesMasterId r:id="rId48"/>
  </p:notesMasterIdLst>
  <p:handoutMasterIdLst>
    <p:handoutMasterId r:id="rId49"/>
  </p:handoutMasterIdLst>
  <p:sldIdLst>
    <p:sldId id="330" r:id="rId6"/>
    <p:sldId id="512" r:id="rId7"/>
    <p:sldId id="551" r:id="rId8"/>
    <p:sldId id="550" r:id="rId9"/>
    <p:sldId id="513" r:id="rId10"/>
    <p:sldId id="514" r:id="rId11"/>
    <p:sldId id="515" r:id="rId12"/>
    <p:sldId id="516" r:id="rId13"/>
    <p:sldId id="517" r:id="rId14"/>
    <p:sldId id="518" r:id="rId15"/>
    <p:sldId id="519" r:id="rId16"/>
    <p:sldId id="520" r:id="rId17"/>
    <p:sldId id="521" r:id="rId18"/>
    <p:sldId id="522" r:id="rId19"/>
    <p:sldId id="523" r:id="rId20"/>
    <p:sldId id="524" r:id="rId21"/>
    <p:sldId id="525" r:id="rId22"/>
    <p:sldId id="526" r:id="rId23"/>
    <p:sldId id="527" r:id="rId24"/>
    <p:sldId id="528" r:id="rId25"/>
    <p:sldId id="529" r:id="rId26"/>
    <p:sldId id="530" r:id="rId27"/>
    <p:sldId id="531" r:id="rId28"/>
    <p:sldId id="532" r:id="rId29"/>
    <p:sldId id="533" r:id="rId30"/>
    <p:sldId id="534" r:id="rId31"/>
    <p:sldId id="535" r:id="rId32"/>
    <p:sldId id="536" r:id="rId33"/>
    <p:sldId id="537" r:id="rId34"/>
    <p:sldId id="538" r:id="rId35"/>
    <p:sldId id="539" r:id="rId36"/>
    <p:sldId id="540" r:id="rId37"/>
    <p:sldId id="541" r:id="rId38"/>
    <p:sldId id="542" r:id="rId39"/>
    <p:sldId id="543" r:id="rId40"/>
    <p:sldId id="544" r:id="rId41"/>
    <p:sldId id="545" r:id="rId42"/>
    <p:sldId id="546" r:id="rId43"/>
    <p:sldId id="547" r:id="rId44"/>
    <p:sldId id="548" r:id="rId45"/>
    <p:sldId id="549" r:id="rId46"/>
    <p:sldId id="298" r:id="rId47"/>
  </p:sldIdLst>
  <p:sldSz cx="9144000" cy="6858000" type="screen4x3"/>
  <p:notesSz cx="6858000" cy="9144000"/>
  <p:embeddedFontLst>
    <p:embeddedFont>
      <p:font typeface="Noto Sans Symbols" panose="020B0604020202020204" charset="0"/>
      <p:regular r:id="rId50"/>
      <p:bold r:id="rId51"/>
      <p:italic r:id="rId52"/>
      <p:boldItalic r:id="rId53"/>
    </p:embeddedFont>
    <p:embeddedFont>
      <p:font typeface="Verdana" panose="020B0604030504040204" pitchFamily="34" charset="0"/>
      <p:regular r:id="rId54"/>
      <p:bold r:id="rId55"/>
      <p:italic r:id="rId56"/>
      <p:boldItalic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9" pos="272" userDrawn="1">
          <p15:clr>
            <a:srgbClr val="A4A3A4"/>
          </p15:clr>
        </p15:guide>
        <p15:guide id="10" orient="horz" pos="822" userDrawn="1">
          <p15:clr>
            <a:srgbClr val="A4A3A4"/>
          </p15:clr>
        </p15:guide>
        <p15:guide id="11" orient="horz" pos="3906" userDrawn="1">
          <p15:clr>
            <a:srgbClr val="A4A3A4"/>
          </p15:clr>
        </p15:guide>
        <p15:guide id="12" orient="horz" pos="119" userDrawn="1">
          <p15:clr>
            <a:srgbClr val="A4A3A4"/>
          </p15:clr>
        </p15:guide>
        <p15:guide id="13" pos="5465" userDrawn="1">
          <p15:clr>
            <a:srgbClr val="A4A3A4"/>
          </p15:clr>
        </p15:guide>
        <p15:guide id="14" orient="horz" pos="4178" userDrawn="1">
          <p15:clr>
            <a:srgbClr val="A4A3A4"/>
          </p15:clr>
        </p15:guide>
        <p15:guide id="15" orient="horz" pos="95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KR Anandda Kumarr" initials="KAK" lastIdx="1" clrIdx="7">
    <p:extLst>
      <p:ext uri="{19B8F6BF-5375-455C-9EA6-DF929625EA0E}">
        <p15:presenceInfo xmlns:p15="http://schemas.microsoft.com/office/powerpoint/2012/main" userId="874ae4b53f93d15d" providerId="Windows Live"/>
      </p:ext>
    </p:extLst>
  </p:cmAuthor>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16" autoAdjust="0"/>
    <p:restoredTop sz="79318" autoAdjust="0"/>
  </p:normalViewPr>
  <p:slideViewPr>
    <p:cSldViewPr snapToGrid="0" snapToObjects="1">
      <p:cViewPr varScale="1">
        <p:scale>
          <a:sx n="87" d="100"/>
          <a:sy n="87" d="100"/>
        </p:scale>
        <p:origin x="2298" y="78"/>
      </p:cViewPr>
      <p:guideLst>
        <p:guide pos="272"/>
        <p:guide orient="horz" pos="822"/>
        <p:guide orient="horz" pos="3906"/>
        <p:guide orient="horz" pos="119"/>
        <p:guide pos="5465"/>
        <p:guide orient="horz" pos="4178"/>
        <p:guide orient="horz" pos="958"/>
      </p:guideLst>
    </p:cSldViewPr>
  </p:slideViewPr>
  <p:outlineViewPr>
    <p:cViewPr>
      <p:scale>
        <a:sx n="33" d="100"/>
        <a:sy n="33" d="100"/>
      </p:scale>
      <p:origin x="0" y="-26480"/>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font" Target="fonts/font1.fntdata"/><Relationship Id="rId55" Type="http://schemas.openxmlformats.org/officeDocument/2006/relationships/font" Target="fonts/font6.fntdata"/><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font" Target="fonts/font4.fntdata"/><Relationship Id="rId58" Type="http://schemas.openxmlformats.org/officeDocument/2006/relationships/commentAuthors" Target="commentAuthors.xml"/><Relationship Id="rId5" Type="http://schemas.openxmlformats.org/officeDocument/2006/relationships/slideMaster" Target="slideMasters/slideMaster2.xml"/><Relationship Id="rId61" Type="http://schemas.openxmlformats.org/officeDocument/2006/relationships/theme" Target="theme/theme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notesMaster" Target="notesMasters/notesMaster1.xml"/><Relationship Id="rId56" Type="http://schemas.openxmlformats.org/officeDocument/2006/relationships/font" Target="fonts/font7.fntdata"/><Relationship Id="rId8" Type="http://schemas.openxmlformats.org/officeDocument/2006/relationships/slide" Target="slides/slide3.xml"/><Relationship Id="rId51" Type="http://schemas.openxmlformats.org/officeDocument/2006/relationships/font" Target="fonts/font2.fntdata"/><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font" Target="fonts/font5.fntdata"/><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handoutMaster" Target="handoutMasters/handoutMaster1.xml"/><Relationship Id="rId57" Type="http://schemas.openxmlformats.org/officeDocument/2006/relationships/font" Target="fonts/font8.fntdata"/><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font" Target="fonts/font3.fntdata"/><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5/19/2023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liveexample.pearsoncmg.com/html/LoanCalculator.html"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liveexample.pearsoncmg.com/html/HandleEvent.html"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liveexample.pearsoncmg.com/html/ControlCircleWithoutEventHandling.html"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liveexample.pearsoncmg.com/html/ControlCircle.html"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liveexample.pearsoncmg.com/html/ShowInnerClass.html"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liveexample.pearsoncmg.com/html/AnonymousHandlerDemo.html"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liveexample.pearsoncmg.com/html/AnonymousHandlerDemo.html"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liveexample.pearsoncmg.com/html/LoanCalculator.html"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liveexample.pearsoncmg.com/html/MouseEventDemo.html"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liveexample.pearsoncmg.com/html/KeyEventDemo.html"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liveexample.pearsoncmg.com/html/ControlCircleWithMouseAndKey.html"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liveexample.pearsoncmg.com/html/ObservablePropertyDemo.html" TargetMode="External"/><Relationship Id="rId2" Type="http://schemas.openxmlformats.org/officeDocument/2006/relationships/slide" Target="../slides/slide35.xml"/><Relationship Id="rId1" Type="http://schemas.openxmlformats.org/officeDocument/2006/relationships/notesMaster" Target="../notesMasters/notesMaster1.xml"/><Relationship Id="rId4" Type="http://schemas.openxmlformats.org/officeDocument/2006/relationships/hyperlink" Target="https://liveexample.pearsoncmg.com/html/DisplayResizableClock.html" TargetMode="Externa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liveexample.pearsoncmg.com/html/PathTransitionDemo.html" TargetMode="External"/><Relationship Id="rId2" Type="http://schemas.openxmlformats.org/officeDocument/2006/relationships/slide" Target="../slides/slide37.xml"/><Relationship Id="rId1" Type="http://schemas.openxmlformats.org/officeDocument/2006/relationships/notesMaster" Target="../notesMasters/notesMaster1.xml"/><Relationship Id="rId4" Type="http://schemas.openxmlformats.org/officeDocument/2006/relationships/hyperlink" Target="https://liveexample.pearsoncmg.com/html/FlagRisingAnimation.html" TargetMode="Externa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liveexample.pearsoncmg.com/html/FadeTransitionDemo.html"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liveexample.pearsoncmg.com/html/TimelineDemo.html"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liveexample.pearsoncmg.com/html/ClockAnimation.html"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liveexample.pearsoncmg.com/html/BallPane.html" TargetMode="External"/><Relationship Id="rId2" Type="http://schemas.openxmlformats.org/officeDocument/2006/relationships/slide" Target="../slides/slide41.xml"/><Relationship Id="rId1" Type="http://schemas.openxmlformats.org/officeDocument/2006/relationships/notesMaster" Target="../notesMasters/notesMaster1.xml"/><Relationship Id="rId4" Type="http://schemas.openxmlformats.org/officeDocument/2006/relationships/hyperlink" Target="https://liveexample.pearsoncmg.com/html/BounceBallControl.html" TargetMode="Externa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p>
          <a:p>
            <a:endParaRPr lang="en-US" sz="1200" b="0" i="0" u="none" strike="noStrike" kern="1200" cap="none" dirty="0">
              <a:solidFill>
                <a:schemeClr val="dk1"/>
              </a:solidFill>
              <a:latin typeface="Arial"/>
              <a:cs typeface="Arial"/>
              <a:sym typeface="Arial"/>
            </a:endParaRPr>
          </a:p>
          <a:p>
            <a:r>
              <a:rPr lang="en-US" dirty="0"/>
              <a:t>Slides in this presentation contain hyperlinks. JAWS users should be able to get a list of links by using INSERT+F7</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solidFill>
                  <a:schemeClr val="tx1"/>
                </a:solidFill>
              </a:rPr>
              <a:t>It has 5 lines. Line 1 shows the Annual Interest Rate colon and in the Box shows the 4.5. Line 2 shows the Number of Year's Colons, and the Box shows the 4. Line 3, shows the Laon Amount colon and in the Box shows the 5000. Line 4, shows the Monthly Payment colon and in the Box shows $114.02. Line 5, shows the Total Payment colon and in the Box shows the$5472.84. In the end, the Calculator shows.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IN" dirty="0" err="1">
                <a:solidFill>
                  <a:schemeClr val="tx1"/>
                </a:solidFill>
              </a:rPr>
              <a:t>LoanCalculator</a:t>
            </a:r>
            <a:r>
              <a:rPr lang="en-IN" dirty="0">
                <a:solidFill>
                  <a:schemeClr val="tx1"/>
                </a:solidFill>
              </a:rPr>
              <a:t>: </a:t>
            </a:r>
            <a:r>
              <a:rPr lang="en-IN" dirty="0">
                <a:hlinkClick r:id="rId3"/>
              </a:rPr>
              <a:t>https://liveexample.pearsoncmg.com/html/LoanCalculator.html</a:t>
            </a:r>
            <a:endParaRPr lang="en-IN" dirty="0">
              <a:solidFill>
                <a:schemeClr val="tx1"/>
              </a:solidFill>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814423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4 lines. Line 1, C colon slash backward book greater than java Handle Event. Line 2, OK Button clicked. Line 3, Cancel button clicked. Line 4, OK Button clicked.</a:t>
            </a:r>
          </a:p>
          <a:p>
            <a:endParaRPr lang="en-US" dirty="0"/>
          </a:p>
          <a:p>
            <a:r>
              <a:rPr lang="en-IN" dirty="0" err="1"/>
              <a:t>HandleEvent</a:t>
            </a:r>
            <a:r>
              <a:rPr lang="en-IN" dirty="0"/>
              <a:t>: </a:t>
            </a:r>
            <a:r>
              <a:rPr lang="en-IN" dirty="0">
                <a:hlinkClick r:id="rId3"/>
              </a:rPr>
              <a:t>https://liveexample.pearsoncmg.com/html/HandleEvent.html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695996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3 boxes. Box 1 shows the Button, which indicates the Event source object, and it represents Box 2. Box 2 shows the Event, which indicates the Event object, and it represents Box 3. Box 3 shows the handler, which indicates the Event Handler Object.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996888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code contains 18 lines. Line 1, public class HandleEvent extends Application open braces. Line 2, public void start open parenthesis Stage </a:t>
            </a:r>
            <a:r>
              <a:rPr lang="en-US" dirty="0" err="1"/>
              <a:t>primaryStage</a:t>
            </a:r>
            <a:r>
              <a:rPr lang="en-US" dirty="0"/>
              <a:t> close parenthesis open braces Line 3, This line shows the Start from the main method to create a window and display it Line 4, period </a:t>
            </a:r>
            <a:r>
              <a:rPr lang="en-US" dirty="0" err="1"/>
              <a:t>period</a:t>
            </a:r>
            <a:r>
              <a:rPr lang="en-US" dirty="0"/>
              <a:t> </a:t>
            </a:r>
            <a:r>
              <a:rPr lang="en-US" dirty="0" err="1"/>
              <a:t>period</a:t>
            </a:r>
            <a:r>
              <a:rPr lang="en-US" dirty="0"/>
              <a:t> Line 5, </a:t>
            </a:r>
            <a:r>
              <a:rPr lang="en-US" dirty="0" err="1"/>
              <a:t>OKHandlerClass</a:t>
            </a:r>
            <a:r>
              <a:rPr lang="en-US" dirty="0"/>
              <a:t> handler1 equals to new </a:t>
            </a:r>
            <a:r>
              <a:rPr lang="en-US" dirty="0" err="1"/>
              <a:t>OKHandlerClass</a:t>
            </a:r>
            <a:r>
              <a:rPr lang="en-US" dirty="0"/>
              <a:t> open parenthesis close parenthesis semicolon Line 6, </a:t>
            </a:r>
            <a:r>
              <a:rPr lang="en-US" dirty="0" err="1"/>
              <a:t>btOK</a:t>
            </a:r>
            <a:r>
              <a:rPr lang="en-US" dirty="0"/>
              <a:t> period set on action open parenthesis handler1 close parenthesis semicolon Line 7, </a:t>
            </a:r>
            <a:r>
              <a:rPr lang="en-US" dirty="0" err="1"/>
              <a:t>cancelHandler</a:t>
            </a:r>
            <a:r>
              <a:rPr lang="en-US" dirty="0"/>
              <a:t> Class handler2 equals to new </a:t>
            </a:r>
            <a:r>
              <a:rPr lang="en-US" dirty="0" err="1"/>
              <a:t>CancelHandlerClass</a:t>
            </a:r>
            <a:r>
              <a:rPr lang="en-US" dirty="0"/>
              <a:t> open parenthesis close parenthesis semicolon. Line 8, </a:t>
            </a:r>
            <a:r>
              <a:rPr lang="en-US" dirty="0" err="1"/>
              <a:t>btCancel</a:t>
            </a:r>
            <a:r>
              <a:rPr lang="en-US" dirty="0"/>
              <a:t> period </a:t>
            </a:r>
            <a:r>
              <a:rPr lang="en-US" dirty="0" err="1"/>
              <a:t>setOnAction</a:t>
            </a:r>
            <a:r>
              <a:rPr lang="en-US" dirty="0"/>
              <a:t> open parenthesis handler2 close parenthesis semicolon Line 9, period </a:t>
            </a:r>
            <a:r>
              <a:rPr lang="en-US" dirty="0" err="1"/>
              <a:t>period</a:t>
            </a:r>
            <a:r>
              <a:rPr lang="en-US" dirty="0"/>
              <a:t> </a:t>
            </a:r>
            <a:r>
              <a:rPr lang="en-US" dirty="0" err="1"/>
              <a:t>period</a:t>
            </a:r>
            <a:r>
              <a:rPr lang="en-US" dirty="0"/>
              <a:t> Line 10, </a:t>
            </a:r>
            <a:r>
              <a:rPr lang="en-US" dirty="0" err="1"/>
              <a:t>primaryStage</a:t>
            </a:r>
            <a:r>
              <a:rPr lang="en-US" dirty="0"/>
              <a:t> period show open parenthesis close parenthesis semi colon forward slash forward slash Display the stage Line 11, close braces Line 12, close braces Line 13, class </a:t>
            </a:r>
            <a:r>
              <a:rPr lang="en-US" dirty="0" err="1"/>
              <a:t>OKHandlerClass</a:t>
            </a:r>
            <a:r>
              <a:rPr lang="en-US" dirty="0"/>
              <a:t> implements </a:t>
            </a:r>
            <a:r>
              <a:rPr lang="en-US" dirty="0" err="1"/>
              <a:t>EventHandler</a:t>
            </a:r>
            <a:r>
              <a:rPr lang="en-US" dirty="0"/>
              <a:t> less than </a:t>
            </a:r>
            <a:r>
              <a:rPr lang="en-US" dirty="0" err="1"/>
              <a:t>ActionEvent</a:t>
            </a:r>
            <a:r>
              <a:rPr lang="en-US" dirty="0"/>
              <a:t> greater than open braces Line 14, @Override Line 15, public void handle open parenthesis </a:t>
            </a:r>
            <a:r>
              <a:rPr lang="en-US" dirty="0" err="1"/>
              <a:t>ActionEvent</a:t>
            </a:r>
            <a:r>
              <a:rPr lang="en-US" dirty="0"/>
              <a:t> e close parenthesis open braces Line 16, System period out period </a:t>
            </a:r>
            <a:r>
              <a:rPr lang="en-US" dirty="0" err="1"/>
              <a:t>println</a:t>
            </a:r>
            <a:r>
              <a:rPr lang="en-US" dirty="0"/>
              <a:t> open parenthesis, OK Button clicked, close parenthesis semi colon Line 17, close braces Line 18, close braces.</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152501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computer code contains 17 lines. Line 1, public class </a:t>
            </a:r>
            <a:r>
              <a:rPr lang="en-IN" dirty="0" err="1"/>
              <a:t>HandleEvent</a:t>
            </a:r>
            <a:r>
              <a:rPr lang="en-IN" dirty="0"/>
              <a:t> extends Application open braces Line 2, public void start open parenthesis Stage </a:t>
            </a:r>
            <a:r>
              <a:rPr lang="en-IN" dirty="0" err="1"/>
              <a:t>primaryStage</a:t>
            </a:r>
            <a:r>
              <a:rPr lang="en-IN" dirty="0"/>
              <a:t> close parenthesis open braces Line 3, Period </a:t>
            </a:r>
            <a:r>
              <a:rPr lang="en-IN" dirty="0" err="1"/>
              <a:t>period</a:t>
            </a:r>
            <a:r>
              <a:rPr lang="en-IN" dirty="0"/>
              <a:t> </a:t>
            </a:r>
            <a:r>
              <a:rPr lang="en-IN" dirty="0" err="1"/>
              <a:t>period</a:t>
            </a:r>
            <a:r>
              <a:rPr lang="en-IN" dirty="0"/>
              <a:t> Line 4, </a:t>
            </a:r>
            <a:r>
              <a:rPr lang="en-IN" dirty="0" err="1"/>
              <a:t>OKHandlerClass</a:t>
            </a:r>
            <a:r>
              <a:rPr lang="en-IN" dirty="0"/>
              <a:t> handler1 equals to new </a:t>
            </a:r>
            <a:r>
              <a:rPr lang="en-IN" dirty="0" err="1"/>
              <a:t>OKHandlerClass</a:t>
            </a:r>
            <a:r>
              <a:rPr lang="en-IN" dirty="0"/>
              <a:t> open parenthesis close parenthesis semicolon Line 5, </a:t>
            </a:r>
            <a:r>
              <a:rPr lang="en-IN" dirty="0" err="1"/>
              <a:t>btOK</a:t>
            </a:r>
            <a:r>
              <a:rPr lang="en-IN" dirty="0"/>
              <a:t> period set on action open parenthesis handler1 close parenthesis semicolon Line 6, </a:t>
            </a:r>
            <a:r>
              <a:rPr lang="en-IN" dirty="0" err="1"/>
              <a:t>CancelHandlerClass</a:t>
            </a:r>
            <a:r>
              <a:rPr lang="en-IN" dirty="0"/>
              <a:t> handler2 equals to new </a:t>
            </a:r>
            <a:r>
              <a:rPr lang="en-IN" dirty="0" err="1"/>
              <a:t>ancelHandlerClass</a:t>
            </a:r>
            <a:r>
              <a:rPr lang="en-IN" dirty="0"/>
              <a:t> open parenthesis close parenthesis semicolon Line 7, </a:t>
            </a:r>
            <a:r>
              <a:rPr lang="en-IN" dirty="0" err="1"/>
              <a:t>btCancel</a:t>
            </a:r>
            <a:r>
              <a:rPr lang="en-IN" dirty="0"/>
              <a:t> period set on action open parenthesis handler2 close parenthesis semicolon Line 8, period </a:t>
            </a:r>
            <a:r>
              <a:rPr lang="en-IN" dirty="0" err="1"/>
              <a:t>period</a:t>
            </a:r>
            <a:r>
              <a:rPr lang="en-IN" dirty="0"/>
              <a:t> </a:t>
            </a:r>
            <a:r>
              <a:rPr lang="en-IN" dirty="0" err="1"/>
              <a:t>period</a:t>
            </a:r>
            <a:r>
              <a:rPr lang="en-IN" dirty="0"/>
              <a:t> Line 9, </a:t>
            </a:r>
            <a:r>
              <a:rPr lang="en-IN" dirty="0" err="1"/>
              <a:t>primaryStage</a:t>
            </a:r>
            <a:r>
              <a:rPr lang="en-IN" dirty="0"/>
              <a:t> period show open parenthesis close parenthesis semicolon forward slash forward slash Display the stage Line 10, close braces Line 11, close braces Line 12, class </a:t>
            </a:r>
            <a:r>
              <a:rPr lang="en-IN" dirty="0" err="1"/>
              <a:t>OKHandlerClass</a:t>
            </a:r>
            <a:r>
              <a:rPr lang="en-IN" dirty="0"/>
              <a:t> implements </a:t>
            </a:r>
            <a:r>
              <a:rPr lang="en-IN" dirty="0" err="1"/>
              <a:t>EventHandler</a:t>
            </a:r>
            <a:r>
              <a:rPr lang="en-IN" dirty="0"/>
              <a:t> less than </a:t>
            </a:r>
            <a:r>
              <a:rPr lang="en-IN" dirty="0" err="1"/>
              <a:t>ActionEvent</a:t>
            </a:r>
            <a:r>
              <a:rPr lang="en-IN" dirty="0"/>
              <a:t> greater than open braces Line 13, at symbol Override Line 14, public void handle open parenthesis </a:t>
            </a:r>
            <a:r>
              <a:rPr lang="en-IN" dirty="0" err="1"/>
              <a:t>ActionEvent</a:t>
            </a:r>
            <a:r>
              <a:rPr lang="en-IN" dirty="0"/>
              <a:t> e close parenthesis open braces Line 15, System period out period </a:t>
            </a:r>
            <a:r>
              <a:rPr lang="en-IN" dirty="0" err="1"/>
              <a:t>println</a:t>
            </a:r>
            <a:r>
              <a:rPr lang="en-IN" dirty="0"/>
              <a:t> open parenthesis, OK Button clicked, close parenthesis semicolon Line 16, close braces Line 17, close braces.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763977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computer code contains 17 lines. Line 1, public class </a:t>
            </a:r>
            <a:r>
              <a:rPr lang="en-IN" dirty="0" err="1"/>
              <a:t>HandleEvent</a:t>
            </a:r>
            <a:r>
              <a:rPr lang="en-IN" dirty="0"/>
              <a:t> extends Application open braces Line 2, public void start open parenthesis Stage </a:t>
            </a:r>
            <a:r>
              <a:rPr lang="en-IN" dirty="0" err="1"/>
              <a:t>primaryStage</a:t>
            </a:r>
            <a:r>
              <a:rPr lang="en-IN" dirty="0"/>
              <a:t> close parenthesis open braces Line 3, Period </a:t>
            </a:r>
            <a:r>
              <a:rPr lang="en-IN" dirty="0" err="1"/>
              <a:t>period</a:t>
            </a:r>
            <a:r>
              <a:rPr lang="en-IN" dirty="0"/>
              <a:t> </a:t>
            </a:r>
            <a:r>
              <a:rPr lang="en-IN" dirty="0" err="1"/>
              <a:t>period</a:t>
            </a:r>
            <a:r>
              <a:rPr lang="en-IN" dirty="0"/>
              <a:t> Line 4, </a:t>
            </a:r>
            <a:r>
              <a:rPr lang="en-IN" dirty="0" err="1"/>
              <a:t>OKHandlerClass</a:t>
            </a:r>
            <a:r>
              <a:rPr lang="en-IN" dirty="0"/>
              <a:t> handler1 equals to new </a:t>
            </a:r>
            <a:r>
              <a:rPr lang="en-IN" dirty="0" err="1"/>
              <a:t>OKHandlerClass</a:t>
            </a:r>
            <a:r>
              <a:rPr lang="en-IN" dirty="0"/>
              <a:t> open parenthesis close parenthesis semicolon Line 5, </a:t>
            </a:r>
            <a:r>
              <a:rPr lang="en-IN" dirty="0" err="1"/>
              <a:t>btOK</a:t>
            </a:r>
            <a:r>
              <a:rPr lang="en-IN" dirty="0"/>
              <a:t> period set on action open parenthesis handler1 close parenthesis semi colon Line 6, </a:t>
            </a:r>
            <a:r>
              <a:rPr lang="en-IN" dirty="0" err="1"/>
              <a:t>CancelHandlerClass</a:t>
            </a:r>
            <a:r>
              <a:rPr lang="en-IN" dirty="0"/>
              <a:t> handler2 equals to new </a:t>
            </a:r>
            <a:r>
              <a:rPr lang="en-IN" dirty="0" err="1"/>
              <a:t>CancelHandlerClass</a:t>
            </a:r>
            <a:r>
              <a:rPr lang="en-IN" dirty="0"/>
              <a:t> open parenthesis close parenthesis semicolon Line 7, </a:t>
            </a:r>
            <a:r>
              <a:rPr lang="en-IN" dirty="0" err="1"/>
              <a:t>btCancel</a:t>
            </a:r>
            <a:r>
              <a:rPr lang="en-IN" dirty="0"/>
              <a:t> period set on action open parenthesis handler2 close parenthesis semicolon Line 8, period </a:t>
            </a:r>
            <a:r>
              <a:rPr lang="en-IN" dirty="0" err="1"/>
              <a:t>period</a:t>
            </a:r>
            <a:r>
              <a:rPr lang="en-IN" dirty="0"/>
              <a:t> </a:t>
            </a:r>
            <a:r>
              <a:rPr lang="en-IN" dirty="0" err="1"/>
              <a:t>period</a:t>
            </a:r>
            <a:r>
              <a:rPr lang="en-IN" dirty="0"/>
              <a:t> Line 9, </a:t>
            </a:r>
            <a:r>
              <a:rPr lang="en-IN" dirty="0" err="1"/>
              <a:t>primaryStage</a:t>
            </a:r>
            <a:r>
              <a:rPr lang="en-IN" dirty="0"/>
              <a:t> period show open parenthesis close parenthesis semicolon forward slash forward slash Display the stage Line 10, close braces Line 11, close braces Line 12, class </a:t>
            </a:r>
            <a:r>
              <a:rPr lang="en-IN" dirty="0" err="1"/>
              <a:t>OKHandlerClass</a:t>
            </a:r>
            <a:r>
              <a:rPr lang="en-IN" dirty="0"/>
              <a:t> implements </a:t>
            </a:r>
            <a:r>
              <a:rPr lang="en-IN" dirty="0" err="1"/>
              <a:t>EventHandler</a:t>
            </a:r>
            <a:r>
              <a:rPr lang="en-IN" dirty="0"/>
              <a:t> less than </a:t>
            </a:r>
            <a:r>
              <a:rPr lang="en-IN" dirty="0" err="1"/>
              <a:t>ActionEvent</a:t>
            </a:r>
            <a:r>
              <a:rPr lang="en-IN" dirty="0"/>
              <a:t> greater than open braces Line 13, at symbol Override Line 14, public void handle open parenthesis </a:t>
            </a:r>
            <a:r>
              <a:rPr lang="en-IN" dirty="0" err="1"/>
              <a:t>ActionEvent</a:t>
            </a:r>
            <a:r>
              <a:rPr lang="en-IN" dirty="0"/>
              <a:t> e close parenthesis open braces This line shows The JVM invokes the listener's handle method Line 15, System period out period </a:t>
            </a:r>
            <a:r>
              <a:rPr lang="en-IN" dirty="0" err="1"/>
              <a:t>println</a:t>
            </a:r>
            <a:r>
              <a:rPr lang="en-IN" dirty="0"/>
              <a:t> open parenthesis "OK button clicked" close parenthesis semicolon Line 16, close braces Line 17, close braces.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332901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2 boxes, and they are divided into many parts. Box 1, shows the Event Object. Box 2 shows the Event, which represents the Box 1 and it's divided into 3 parts: Action Event, Input Event, Window Event. But, the Input Event is also divided into 2 parts are Mouse Event and Key Event.</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799490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one Circle and 6 boxes. A Circle shows the User Action, which represents Box 1, and it indicates Trigger an event. Box 1, has 2 rows. Row 1, source colon Source Class. Row 2, plus set on X Event Type open parenthesis listener close parenthesis, indicates the (2) Register by invoking, source colon set on X Event Type open parenthesis listener close parenthesis colon, and representing the Box 3. Box 2, has 2 rows. Row 1, has 2 lines. Line 1, open braces open braces interface close braces close braces. Line 2, Event Handler less than T extends Event greater than. Row 2, plus handle open parenthesis event colon T close parenthesis. Box 3, listener colon Listener Class indicating Alyssa object is an instance of a listener interface, representing the Box 2 and Box 1. Box 4, has 2 rows. Row 1, has 2 lines. Line 1, open braces open braces interface close braces close braces. Line 2, Event Handler less than Action Event greater than. Row 2, plus handle open parenthesis event colon Action Event close parenthesis. Box 5, listener colon Custom Listener Class b indicates an action event listener is an instance of Event Handler less than Action Event greater than and it represents the Box 4 and Box 6. Box 6, which shows the a, A genetic source object with a generic event T and (b) A button source object with an Action Event. It has 2 rows. Row 1, source colon java </a:t>
            </a:r>
            <a:r>
              <a:rPr lang="en-US" dirty="0" err="1"/>
              <a:t>fx</a:t>
            </a:r>
            <a:r>
              <a:rPr lang="en-US" dirty="0"/>
              <a:t> period scene period control period Button. Row 2, plus set On Action open parenthesis listener close parenthesis. This Box also shows the (2) for Register by invoking the source period set On Action open parenthesis listener close parenthesis semicolon.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408430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a:t>ControlCircleWithoutEventHandling</a:t>
            </a:r>
            <a:r>
              <a:rPr lang="en-IN" dirty="0"/>
              <a:t>: </a:t>
            </a:r>
            <a:r>
              <a:rPr lang="en-IN" dirty="0">
                <a:hlinkClick r:id="rId3"/>
              </a:rPr>
              <a:t>https://liveexample.pearsoncmg.com/html/ControlCircleWithoutEventHandling.html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934273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a:t>ControlCircle</a:t>
            </a:r>
            <a:r>
              <a:rPr lang="en-IN" dirty="0"/>
              <a:t>: </a:t>
            </a:r>
            <a:r>
              <a:rPr lang="en-IN" dirty="0">
                <a:hlinkClick r:id="rId3"/>
              </a:rPr>
              <a:t>https://liveexample.pearsoncmg.com/html/ControlCircle.html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857290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a:t>ShowInnerClass</a:t>
            </a:r>
            <a:r>
              <a:rPr lang="en-IN" dirty="0"/>
              <a:t>: </a:t>
            </a:r>
            <a:r>
              <a:rPr lang="en-IN" dirty="0">
                <a:hlinkClick r:id="rId3"/>
              </a:rPr>
              <a:t>https://liveexample.pearsoncmg.com/html/ShowInnerClass.html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558588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1, public class test open parenthesis. Line 2, period </a:t>
            </a:r>
            <a:r>
              <a:rPr lang="en-US" dirty="0" err="1"/>
              <a:t>period</a:t>
            </a:r>
            <a:r>
              <a:rPr lang="en-US" dirty="0"/>
              <a:t> </a:t>
            </a:r>
            <a:r>
              <a:rPr lang="en-US" dirty="0" err="1"/>
              <a:t>period</a:t>
            </a:r>
            <a:r>
              <a:rPr lang="en-US" dirty="0"/>
              <a:t>. Line 3, close parenthesis. Line 4, public class A open parenthesis. Line 5 period </a:t>
            </a:r>
            <a:r>
              <a:rPr lang="en-US" dirty="0" err="1"/>
              <a:t>period</a:t>
            </a:r>
            <a:r>
              <a:rPr lang="en-US" dirty="0"/>
              <a:t> </a:t>
            </a:r>
            <a:r>
              <a:rPr lang="en-US" dirty="0" err="1"/>
              <a:t>period</a:t>
            </a:r>
            <a:r>
              <a:rPr lang="en-US" dirty="0"/>
              <a:t>. Line 6, close parenthesis. Part B contains 7 lines. Line 1, public class test open parenthesis. Line 2, period </a:t>
            </a:r>
            <a:r>
              <a:rPr lang="en-US" dirty="0" err="1"/>
              <a:t>period</a:t>
            </a:r>
            <a:r>
              <a:rPr lang="en-US" dirty="0"/>
              <a:t> </a:t>
            </a:r>
            <a:r>
              <a:rPr lang="en-US" dirty="0" err="1"/>
              <a:t>period</a:t>
            </a:r>
            <a:r>
              <a:rPr lang="en-US" dirty="0"/>
              <a:t>. Line 3, slash forward </a:t>
            </a:r>
            <a:r>
              <a:rPr lang="en-US" dirty="0" err="1"/>
              <a:t>forward</a:t>
            </a:r>
            <a:r>
              <a:rPr lang="en-US" dirty="0"/>
              <a:t> slash. Line 4, public class A open parenthesis. Line 5, period </a:t>
            </a:r>
            <a:r>
              <a:rPr lang="en-US" dirty="0" err="1"/>
              <a:t>period</a:t>
            </a:r>
            <a:r>
              <a:rPr lang="en-US" dirty="0"/>
              <a:t> </a:t>
            </a:r>
            <a:r>
              <a:rPr lang="en-US" dirty="0" err="1"/>
              <a:t>period</a:t>
            </a:r>
            <a:r>
              <a:rPr lang="en-US" dirty="0"/>
              <a:t>. Line 6, close parenthesis. Line 7, close parenthesis. Part C contains 18 lines. Line 1, forward slash forward slash outer class period java colon inner class demo. Line 2, public class outer class open parenthesis. Line 3, private int data semicolon. Line 4, forward slash address </a:t>
            </a:r>
            <a:r>
              <a:rPr lang="en-US" dirty="0" err="1"/>
              <a:t>address</a:t>
            </a:r>
            <a:r>
              <a:rPr lang="en-US" dirty="0"/>
              <a:t> a method in the outer class address forward slash. Line 5, public void m open parenthesis close parenthesis open braces. Line 6, slash forward slash do something. Line 7, close parenthesis. Line 8, forward slash forward slash an inner class. Line 9, class inner class open braces. Line 10, forward slash address </a:t>
            </a:r>
            <a:r>
              <a:rPr lang="en-US" dirty="0" err="1"/>
              <a:t>address</a:t>
            </a:r>
            <a:r>
              <a:rPr lang="en-US" dirty="0"/>
              <a:t> a method in the inner class address forward slash. Line 11, public void mi open parenthesis close parenthesis open braces. Line 12, forward slash forward slash directly reference data and method. Line 13, forward slash forward slash defined in its outer class. Line 14, data plus </a:t>
            </a:r>
            <a:r>
              <a:rPr lang="en-US" dirty="0" err="1"/>
              <a:t>plus</a:t>
            </a:r>
            <a:r>
              <a:rPr lang="en-US" dirty="0"/>
              <a:t> semicolon. Line 15, m open parenthesis close parenthesis. Semicolon. Line 16, close parenthesis. Line 17, close parenthesis. Line 18, close parenthesis.</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645731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computer code is divided into 2 parts. Part A shows the inner class enlarge listener. The computer code contains 11 lines. Line 1, public void start open parenthesis stage primary stage close parenthesis open braces. Line 2, omitted. Line 3, </a:t>
            </a:r>
            <a:r>
              <a:rPr lang="en-IN" dirty="0" err="1"/>
              <a:t>btEnlargeHandler.setonaction</a:t>
            </a:r>
            <a:r>
              <a:rPr lang="en-IN" dirty="0"/>
              <a:t> open parenthesis. Line 4, new </a:t>
            </a:r>
            <a:r>
              <a:rPr lang="en-IN" dirty="0" err="1"/>
              <a:t>EnLarger</a:t>
            </a:r>
            <a:r>
              <a:rPr lang="en-IN" dirty="0"/>
              <a:t> handler open parenthesis close parenthesis close parenthesis semi colon. Line 5, close parenthesis. Line 6, class </a:t>
            </a:r>
            <a:r>
              <a:rPr lang="en-IN" dirty="0" err="1"/>
              <a:t>EnlargerHandler</a:t>
            </a:r>
            <a:r>
              <a:rPr lang="en-IN" dirty="0"/>
              <a:t>. Line 7, implements </a:t>
            </a:r>
            <a:r>
              <a:rPr lang="en-IN" dirty="0" err="1"/>
              <a:t>EventHandler</a:t>
            </a:r>
            <a:r>
              <a:rPr lang="en-IN" dirty="0"/>
              <a:t> Less than action event greater than open braces. Line 8, public void handle open parenthesis </a:t>
            </a:r>
            <a:r>
              <a:rPr lang="en-IN" dirty="0" err="1"/>
              <a:t>ActionEvent</a:t>
            </a:r>
            <a:r>
              <a:rPr lang="en-IN" dirty="0"/>
              <a:t> e close parenthesis open braces. Line 9, circle pane period enlarge open parenthesis close parenthesis semicolon. Line 10, close braces. Line 11, close braces. Part B shows Anonymous inner class. The computer code contains 10 lines. Line 1, public void start open parenthesis stage primary stage close parenthesis open braces. Line 2, omitted. Line 3, </a:t>
            </a:r>
            <a:r>
              <a:rPr lang="en-IN" dirty="0" err="1"/>
              <a:t>btEnlargeHandler.setonaction</a:t>
            </a:r>
            <a:r>
              <a:rPr lang="en-IN" dirty="0"/>
              <a:t> open parenthesis. Line 4, new class enlarge handler is being </a:t>
            </a:r>
            <a:r>
              <a:rPr lang="en-IN" dirty="0" err="1"/>
              <a:t>cutted</a:t>
            </a:r>
            <a:r>
              <a:rPr lang="en-IN" dirty="0"/>
              <a:t>. Line 5, implements </a:t>
            </a:r>
            <a:r>
              <a:rPr lang="en-IN" dirty="0" err="1"/>
              <a:t>EventHandler</a:t>
            </a:r>
            <a:r>
              <a:rPr lang="en-IN" dirty="0"/>
              <a:t> Less than action event greater than open braces. Line 6, public void handle open parenthesis </a:t>
            </a:r>
            <a:r>
              <a:rPr lang="en-IN" dirty="0" err="1"/>
              <a:t>ActionEvent</a:t>
            </a:r>
            <a:r>
              <a:rPr lang="en-IN" dirty="0"/>
              <a:t> e close parenthesis open braces. Line 7, circle pane period enlarge open parenthesis close parenthesis semicolon. Line 8, close braces. Line 9, close braces close braces semi colon. Line 10, close braces.</a:t>
            </a:r>
          </a:p>
          <a:p>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IN" dirty="0" err="1"/>
              <a:t>AnonymousHandlerDemo</a:t>
            </a:r>
            <a:r>
              <a:rPr lang="en-IN" dirty="0"/>
              <a:t>: </a:t>
            </a:r>
            <a:r>
              <a:rPr lang="en-IN" dirty="0">
                <a:hlinkClick r:id="rId3"/>
              </a:rPr>
              <a:t>https://liveexample.pearsoncmg.com/html/AnonymousHandlerDemo.html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756324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code is divided into two parts period Part A shows Anonymous inner class event handler. This code contains 8 lines. Line 1, </a:t>
            </a:r>
            <a:r>
              <a:rPr lang="en-US" dirty="0" err="1"/>
              <a:t>btEnlarge</a:t>
            </a:r>
            <a:r>
              <a:rPr lang="en-US" dirty="0"/>
              <a:t> period set on action open parenthesis. Line 2, new </a:t>
            </a:r>
            <a:r>
              <a:rPr lang="en-US" dirty="0" err="1"/>
              <a:t>EventHandler</a:t>
            </a:r>
            <a:r>
              <a:rPr lang="en-US" dirty="0"/>
              <a:t> less than </a:t>
            </a:r>
            <a:r>
              <a:rPr lang="en-US" dirty="0" err="1"/>
              <a:t>ActionEvent</a:t>
            </a:r>
            <a:r>
              <a:rPr lang="en-US" dirty="0"/>
              <a:t> greater than open parenthesis close parenthesis open braces. Line 3, at </a:t>
            </a:r>
            <a:r>
              <a:rPr lang="en-US" dirty="0" err="1"/>
              <a:t>symbolOverride</a:t>
            </a:r>
            <a:r>
              <a:rPr lang="en-US" dirty="0"/>
              <a:t> Line 4, public void handle open parenthesis </a:t>
            </a:r>
            <a:r>
              <a:rPr lang="en-US" dirty="0" err="1"/>
              <a:t>ActionEvent</a:t>
            </a:r>
            <a:r>
              <a:rPr lang="en-US" dirty="0"/>
              <a:t> e close parenthesis open braces Line 5, forward slash forward slash Code for processing event e Line 6, close braces Line 7, close braces Line 8, close braces close parenthesis semi colon. Part B shows Lambda expression event handler The computer code contains 3 lines. Line1, </a:t>
            </a:r>
            <a:r>
              <a:rPr lang="en-US" dirty="0" err="1"/>
              <a:t>btEnlarge</a:t>
            </a:r>
            <a:r>
              <a:rPr lang="en-US" dirty="0"/>
              <a:t> period set on action open parenthesis e - greater than open braces Line 2, forward slash forward slash Code for processing event e. Line 3, close braces close parenthesis semicolon.</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962424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a:t>AnonymousHandlerDemo</a:t>
            </a:r>
            <a:r>
              <a:rPr lang="en-IN" dirty="0"/>
              <a:t>: </a:t>
            </a:r>
            <a:r>
              <a:rPr lang="en-IN" dirty="0">
                <a:hlinkClick r:id="rId3"/>
              </a:rPr>
              <a:t>https://liveexample.pearsoncmg.com/html/AnonymousHandlerDemo.html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9058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LoanCalculator: </a:t>
            </a:r>
            <a:r>
              <a:rPr lang="en-IN" dirty="0">
                <a:hlinkClick r:id="rId3"/>
              </a:rPr>
              <a:t>https://liveexample.pearsoncmg.com/html/LoanCalculator.html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306088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code contains 12 lines</a:t>
            </a:r>
          </a:p>
          <a:p>
            <a:r>
              <a:rPr lang="en-US" dirty="0"/>
              <a:t>Line 1, plus get button open parenthesis close parenthesis colon </a:t>
            </a:r>
            <a:r>
              <a:rPr lang="en-US" dirty="0" err="1"/>
              <a:t>MouseButton</a:t>
            </a:r>
            <a:r>
              <a:rPr lang="en-US" dirty="0"/>
              <a:t>. Indicates which mouse button has been clicked.</a:t>
            </a:r>
          </a:p>
          <a:p>
            <a:r>
              <a:rPr lang="en-US" dirty="0"/>
              <a:t>Line 2, plus </a:t>
            </a:r>
            <a:r>
              <a:rPr lang="en-US" dirty="0" err="1"/>
              <a:t>getClickcount</a:t>
            </a:r>
            <a:r>
              <a:rPr lang="en-US" dirty="0"/>
              <a:t> open parenthesis close parenthesis colon int. Returns the number of mouse clicks associated with this event.</a:t>
            </a:r>
          </a:p>
          <a:p>
            <a:r>
              <a:rPr lang="en-US" dirty="0"/>
              <a:t>Line 3, </a:t>
            </a:r>
            <a:r>
              <a:rPr lang="en-US" dirty="0" err="1"/>
              <a:t>getX</a:t>
            </a:r>
            <a:r>
              <a:rPr lang="en-US" dirty="0"/>
              <a:t> open parenthesis close parenthesis colon double. Returns the x coordinate of the mouse point in the event source node.</a:t>
            </a:r>
          </a:p>
          <a:p>
            <a:r>
              <a:rPr lang="en-US" dirty="0"/>
              <a:t>Line 4, plus </a:t>
            </a:r>
            <a:r>
              <a:rPr lang="en-US" dirty="0" err="1"/>
              <a:t>getY</a:t>
            </a:r>
            <a:r>
              <a:rPr lang="en-US" dirty="0"/>
              <a:t> open parenthesis close parenthesis colon double. Returns the y coordinate of the mouse point in the event source node.</a:t>
            </a:r>
          </a:p>
          <a:p>
            <a:r>
              <a:rPr lang="en-US" dirty="0"/>
              <a:t>Line 5, plus </a:t>
            </a:r>
            <a:r>
              <a:rPr lang="en-US" dirty="0" err="1"/>
              <a:t>getSceneX</a:t>
            </a:r>
            <a:r>
              <a:rPr lang="en-US" dirty="0"/>
              <a:t> open parenthesis close parenthesis colon double. Returns the x coordinate of the mouse point in the scene.</a:t>
            </a:r>
          </a:p>
          <a:p>
            <a:r>
              <a:rPr lang="en-US" dirty="0"/>
              <a:t>Line 6, plus </a:t>
            </a:r>
            <a:r>
              <a:rPr lang="en-US" dirty="0" err="1"/>
              <a:t>getSceneY</a:t>
            </a:r>
            <a:r>
              <a:rPr lang="en-US" dirty="0"/>
              <a:t> open parenthesis close parenthesis colon double. Returns the y coordinate of the mouse point in the scene.</a:t>
            </a:r>
          </a:p>
          <a:p>
            <a:r>
              <a:rPr lang="en-US" dirty="0"/>
              <a:t>Line 7, </a:t>
            </a:r>
            <a:r>
              <a:rPr lang="en-US" dirty="0" err="1"/>
              <a:t>getScreenX</a:t>
            </a:r>
            <a:r>
              <a:rPr lang="en-US" dirty="0"/>
              <a:t> open parenthesis close parenthesis colon double. Returns the x coordinate of the mouse point in the screen.</a:t>
            </a:r>
          </a:p>
          <a:p>
            <a:r>
              <a:rPr lang="en-US" dirty="0"/>
              <a:t>Line 8, </a:t>
            </a:r>
            <a:r>
              <a:rPr lang="en-US" dirty="0" err="1"/>
              <a:t>getScreenY</a:t>
            </a:r>
            <a:r>
              <a:rPr lang="en-US" dirty="0"/>
              <a:t> open parenthesis close parenthesis colon double. Returns the y coordinate of the mouse point in the screen.</a:t>
            </a:r>
          </a:p>
          <a:p>
            <a:r>
              <a:rPr lang="en-US" dirty="0"/>
              <a:t>Line 9, plus </a:t>
            </a:r>
            <a:r>
              <a:rPr lang="en-US" dirty="0" err="1"/>
              <a:t>isAltDown</a:t>
            </a:r>
            <a:r>
              <a:rPr lang="en-US" dirty="0"/>
              <a:t> open parenthesis close parenthesis colon Boolean. Returns true if the Al t key is pressed on this event.</a:t>
            </a:r>
          </a:p>
          <a:p>
            <a:r>
              <a:rPr lang="en-US" dirty="0"/>
              <a:t>Line 10, plus </a:t>
            </a:r>
            <a:r>
              <a:rPr lang="en-US" dirty="0" err="1"/>
              <a:t>isControlDown</a:t>
            </a:r>
            <a:r>
              <a:rPr lang="en-US" dirty="0"/>
              <a:t> open parenthesis close parenthesis colon Boolean. Returns true if the Control key is pressed on this event.</a:t>
            </a:r>
          </a:p>
          <a:p>
            <a:r>
              <a:rPr lang="en-US" dirty="0"/>
              <a:t>Line 11, </a:t>
            </a:r>
            <a:r>
              <a:rPr lang="en-US" dirty="0" err="1"/>
              <a:t>isMetaDown</a:t>
            </a:r>
            <a:r>
              <a:rPr lang="en-US" dirty="0"/>
              <a:t> open parenthesis close parenthesis colon Boolean. Returns true if the mouse Meta button is pressed on this event.</a:t>
            </a:r>
          </a:p>
          <a:p>
            <a:r>
              <a:rPr lang="en-US" dirty="0"/>
              <a:t>Line 12, plus </a:t>
            </a:r>
            <a:r>
              <a:rPr lang="en-US" dirty="0" err="1"/>
              <a:t>isShiftDown</a:t>
            </a:r>
            <a:r>
              <a:rPr lang="en-US" dirty="0"/>
              <a:t> open parenthesis close parenthesis colon Boolean. Returns true if the Shift key is pressed on this event.</a:t>
            </a:r>
          </a:p>
          <a:p>
            <a:endParaRPr lang="en-US" dirty="0"/>
          </a:p>
          <a:p>
            <a:r>
              <a:rPr lang="en-IN" dirty="0" err="1"/>
              <a:t>MouseEventDemo</a:t>
            </a:r>
            <a:r>
              <a:rPr lang="en-IN" dirty="0"/>
              <a:t>: </a:t>
            </a:r>
            <a:r>
              <a:rPr lang="en-IN" dirty="0">
                <a:hlinkClick r:id="rId3"/>
              </a:rPr>
              <a:t>https://liveexample.pearsoncmg.com/html/MouseEventDemo.html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603367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code contains 7 lines. </a:t>
            </a:r>
          </a:p>
          <a:p>
            <a:r>
              <a:rPr lang="en-US" dirty="0"/>
              <a:t>Line 1, plus get Character open parenthesis close parenthesis colon String. Returns the character associated with the key in this event.</a:t>
            </a:r>
          </a:p>
          <a:p>
            <a:r>
              <a:rPr lang="en-US" dirty="0"/>
              <a:t>Line 2, plus </a:t>
            </a:r>
            <a:r>
              <a:rPr lang="en-US" dirty="0" err="1"/>
              <a:t>getCode</a:t>
            </a:r>
            <a:r>
              <a:rPr lang="en-US" dirty="0"/>
              <a:t> open parenthesis close parenthesis colon </a:t>
            </a:r>
            <a:r>
              <a:rPr lang="en-US" dirty="0" err="1"/>
              <a:t>keyCode</a:t>
            </a:r>
            <a:r>
              <a:rPr lang="en-US" dirty="0"/>
              <a:t>. Returns the key code associated with the key in this event.</a:t>
            </a:r>
          </a:p>
          <a:p>
            <a:r>
              <a:rPr lang="en-US" dirty="0"/>
              <a:t>Line 3, plus get text open parenthesis close parenthesis colon String. Returns a string describing the key code.</a:t>
            </a:r>
          </a:p>
          <a:p>
            <a:r>
              <a:rPr lang="en-US" dirty="0"/>
              <a:t>Line 4, plus </a:t>
            </a:r>
            <a:r>
              <a:rPr lang="en-US" dirty="0" err="1"/>
              <a:t>isAltDown</a:t>
            </a:r>
            <a:r>
              <a:rPr lang="en-US" dirty="0"/>
              <a:t> open parenthesis close parenthesis colon Boolean. Returns true if the Alt key is pressed on this event.</a:t>
            </a:r>
          </a:p>
          <a:p>
            <a:r>
              <a:rPr lang="en-US" dirty="0"/>
              <a:t>Line 5, plus </a:t>
            </a:r>
            <a:r>
              <a:rPr lang="en-US" dirty="0" err="1"/>
              <a:t>isControlDown</a:t>
            </a:r>
            <a:r>
              <a:rPr lang="en-US" dirty="0"/>
              <a:t> open parenthesis close parenthesis colon Boolean. Returns true if the Control key is pressed on this event.</a:t>
            </a:r>
          </a:p>
          <a:p>
            <a:r>
              <a:rPr lang="en-US" dirty="0"/>
              <a:t>Line 6, </a:t>
            </a:r>
            <a:r>
              <a:rPr lang="en-US" dirty="0" err="1"/>
              <a:t>isMetaDown</a:t>
            </a:r>
            <a:r>
              <a:rPr lang="en-US" dirty="0"/>
              <a:t> open parenthesis close parenthesis colon Boolean. Returns true if the mouse Meta button is pressed on this event.</a:t>
            </a:r>
          </a:p>
          <a:p>
            <a:r>
              <a:rPr lang="en-US" dirty="0"/>
              <a:t>Line 7, plus </a:t>
            </a:r>
            <a:r>
              <a:rPr lang="en-US" dirty="0" err="1"/>
              <a:t>isShiftDown</a:t>
            </a:r>
            <a:r>
              <a:rPr lang="en-US" dirty="0"/>
              <a:t> open parenthesis close parenthesis colon Boolean. Returns true if the Shift key is pressed on this event.</a:t>
            </a:r>
          </a:p>
          <a:p>
            <a:endParaRPr lang="en-US" dirty="0"/>
          </a:p>
          <a:p>
            <a:r>
              <a:rPr lang="en-IN" dirty="0" err="1"/>
              <a:t>KeyEventDemo</a:t>
            </a:r>
            <a:r>
              <a:rPr lang="en-IN" dirty="0"/>
              <a:t>: </a:t>
            </a:r>
            <a:r>
              <a:rPr lang="en-IN" dirty="0">
                <a:hlinkClick r:id="rId3"/>
              </a:rPr>
              <a:t>https://liveexample.pearsoncmg.com/html/KeyEventDemo.html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699378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a:t>ControlCircleWithMouseAndKey</a:t>
            </a:r>
            <a:r>
              <a:rPr lang="en-IN" dirty="0"/>
              <a:t>: </a:t>
            </a:r>
            <a:r>
              <a:rPr lang="en-IN" dirty="0">
                <a:hlinkClick r:id="rId3"/>
              </a:rPr>
              <a:t>https://liveexample.pearsoncmg.com/html/ControlCircleWithMouseAndKey.html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857641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a:t>ObservablePropertyDemo</a:t>
            </a:r>
            <a:r>
              <a:rPr lang="en-IN" dirty="0"/>
              <a:t>: </a:t>
            </a:r>
            <a:r>
              <a:rPr lang="en-IN" dirty="0">
                <a:hlinkClick r:id="rId3"/>
              </a:rPr>
              <a:t>https://liveexample.pearsoncmg.com/html/ObservablePropertyDemo.html</a:t>
            </a:r>
            <a:endParaRPr lang="en-IN" dirty="0"/>
          </a:p>
          <a:p>
            <a:r>
              <a:rPr lang="en-IN" dirty="0" err="1"/>
              <a:t>DisplayResizableClock</a:t>
            </a:r>
            <a:r>
              <a:rPr lang="en-IN" dirty="0"/>
              <a:t>: </a:t>
            </a:r>
            <a:r>
              <a:rPr lang="en-IN" dirty="0">
                <a:hlinkClick r:id="rId4"/>
              </a:rPr>
              <a:t>https://liveexample.pearsoncmg.com/html/DisplayResizableClock.html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903009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code contains 8 lines. </a:t>
            </a:r>
          </a:p>
          <a:p>
            <a:r>
              <a:rPr lang="en-US" dirty="0"/>
              <a:t>Line 1, minus </a:t>
            </a:r>
            <a:r>
              <a:rPr lang="en-US" dirty="0" err="1"/>
              <a:t>autoReverse</a:t>
            </a:r>
            <a:r>
              <a:rPr lang="en-US" dirty="0"/>
              <a:t> colon </a:t>
            </a:r>
            <a:r>
              <a:rPr lang="en-US" dirty="0" err="1"/>
              <a:t>BooleanProperty</a:t>
            </a:r>
            <a:r>
              <a:rPr lang="en-US" dirty="0"/>
              <a:t>. Defines whether the animation reverses direction on alternating cycles.</a:t>
            </a:r>
          </a:p>
          <a:p>
            <a:r>
              <a:rPr lang="en-US" dirty="0"/>
              <a:t>Line 2, minus </a:t>
            </a:r>
            <a:r>
              <a:rPr lang="en-US" dirty="0" err="1"/>
              <a:t>cycleCount</a:t>
            </a:r>
            <a:r>
              <a:rPr lang="en-US" dirty="0"/>
              <a:t> colon </a:t>
            </a:r>
            <a:r>
              <a:rPr lang="en-US" dirty="0" err="1"/>
              <a:t>IntegerProperty</a:t>
            </a:r>
            <a:r>
              <a:rPr lang="en-US" dirty="0"/>
              <a:t>. Defines the number of cycles in this animation.</a:t>
            </a:r>
          </a:p>
          <a:p>
            <a:r>
              <a:rPr lang="en-US" dirty="0"/>
              <a:t>Line 3, minus rate colon </a:t>
            </a:r>
            <a:r>
              <a:rPr lang="en-US" dirty="0" err="1"/>
              <a:t>DoubleProperty</a:t>
            </a:r>
            <a:r>
              <a:rPr lang="en-US" dirty="0"/>
              <a:t>. Defines the speed and direction for this animation.</a:t>
            </a:r>
          </a:p>
          <a:p>
            <a:r>
              <a:rPr lang="en-US" dirty="0"/>
              <a:t>Line 4, minus status colon </a:t>
            </a:r>
            <a:r>
              <a:rPr lang="en-US" dirty="0" err="1"/>
              <a:t>ReadOnlyObjectProperty</a:t>
            </a:r>
            <a:r>
              <a:rPr lang="en-US" dirty="0"/>
              <a:t>. Read only property to indicate the status of the animation.</a:t>
            </a:r>
          </a:p>
          <a:p>
            <a:r>
              <a:rPr lang="en-US" dirty="0"/>
              <a:t>Line 5, less than </a:t>
            </a:r>
            <a:r>
              <a:rPr lang="en-US" dirty="0" err="1"/>
              <a:t>Animation.Status</a:t>
            </a:r>
            <a:r>
              <a:rPr lang="en-US" dirty="0"/>
              <a:t> greater than. </a:t>
            </a:r>
          </a:p>
          <a:p>
            <a:r>
              <a:rPr lang="en-US" dirty="0"/>
              <a:t>Line 6, plus pause open parenthesis close parenthesis colon void. Pauses the animation. </a:t>
            </a:r>
          </a:p>
          <a:p>
            <a:r>
              <a:rPr lang="en-US" dirty="0"/>
              <a:t>Line 7, plus play open parenthesis close parenthesis colon void. Plays the animation from the current position.</a:t>
            </a:r>
          </a:p>
          <a:p>
            <a:r>
              <a:rPr lang="en-US" dirty="0"/>
              <a:t>Line 8, plus stop open parenthesis close parenthesis colon void. Stops the animation and resets the animation.</a:t>
            </a:r>
          </a:p>
          <a:p>
            <a:r>
              <a:rPr lang="en-US" dirty="0"/>
              <a:t>The first line is labeled, the getter and setter methods for property values and a getter for property itself are provided in the class, but omitted in the UML diagram for brevity.</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29683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code contains 10 lines.</a:t>
            </a:r>
          </a:p>
          <a:p>
            <a:r>
              <a:rPr lang="en-US" dirty="0"/>
              <a:t>Line 1, minus duration colon </a:t>
            </a:r>
            <a:r>
              <a:rPr lang="en-US" dirty="0" err="1"/>
              <a:t>ObjectProperty</a:t>
            </a:r>
            <a:r>
              <a:rPr lang="en-US" dirty="0"/>
              <a:t> less than Duration greater than. The duration of this transition.</a:t>
            </a:r>
          </a:p>
          <a:p>
            <a:r>
              <a:rPr lang="en-US" dirty="0"/>
              <a:t>Line 2, minus node colon </a:t>
            </a:r>
            <a:r>
              <a:rPr lang="en-US" dirty="0" err="1"/>
              <a:t>ObjectProperty</a:t>
            </a:r>
            <a:r>
              <a:rPr lang="en-US" dirty="0"/>
              <a:t> less than Node greater than.</a:t>
            </a:r>
          </a:p>
          <a:p>
            <a:r>
              <a:rPr lang="en-US" dirty="0"/>
              <a:t>Line 3, minus orientation colon </a:t>
            </a:r>
            <a:r>
              <a:rPr lang="en-US" dirty="0" err="1"/>
              <a:t>ObjectProperty</a:t>
            </a:r>
            <a:r>
              <a:rPr lang="en-US" dirty="0"/>
              <a:t>. The target node of this transition.</a:t>
            </a:r>
          </a:p>
          <a:p>
            <a:r>
              <a:rPr lang="en-US" dirty="0"/>
              <a:t>Line 4, less than </a:t>
            </a:r>
            <a:r>
              <a:rPr lang="en-US" dirty="0" err="1"/>
              <a:t>PathTransition.OrientationType</a:t>
            </a:r>
            <a:r>
              <a:rPr lang="en-US" dirty="0"/>
              <a:t> greater than. The orientation of the node along the path.</a:t>
            </a:r>
          </a:p>
          <a:p>
            <a:r>
              <a:rPr lang="en-US" dirty="0"/>
              <a:t>Line 5, minus path colon </a:t>
            </a:r>
            <a:r>
              <a:rPr lang="en-US" dirty="0" err="1"/>
              <a:t>Objecttypeless</a:t>
            </a:r>
            <a:r>
              <a:rPr lang="en-US" dirty="0"/>
              <a:t> than Shape greater than. The shape whose outline is used as a path to animate the node move.</a:t>
            </a:r>
          </a:p>
          <a:p>
            <a:r>
              <a:rPr lang="en-US" dirty="0"/>
              <a:t>Line 6, plus </a:t>
            </a:r>
            <a:r>
              <a:rPr lang="en-US" dirty="0" err="1"/>
              <a:t>Pathtransition</a:t>
            </a:r>
            <a:r>
              <a:rPr lang="en-US" dirty="0"/>
              <a:t> open parenthesis close parenthesis. Creates an empty </a:t>
            </a:r>
            <a:r>
              <a:rPr lang="en-US" dirty="0" err="1"/>
              <a:t>PathTransition</a:t>
            </a:r>
            <a:r>
              <a:rPr lang="en-US" dirty="0"/>
              <a:t>.</a:t>
            </a:r>
          </a:p>
          <a:p>
            <a:r>
              <a:rPr lang="en-US" dirty="0"/>
              <a:t>Line 7, plus </a:t>
            </a:r>
            <a:r>
              <a:rPr lang="en-US" dirty="0" err="1"/>
              <a:t>PathTransition</a:t>
            </a:r>
            <a:r>
              <a:rPr lang="en-US" dirty="0"/>
              <a:t> open parenthesis duration colon Duration. Creates a </a:t>
            </a:r>
            <a:r>
              <a:rPr lang="en-US" dirty="0" err="1"/>
              <a:t>PathTransition</a:t>
            </a:r>
            <a:r>
              <a:rPr lang="en-US" dirty="0"/>
              <a:t> with the specified duration and path.</a:t>
            </a:r>
          </a:p>
          <a:p>
            <a:r>
              <a:rPr lang="en-US" dirty="0"/>
              <a:t>Line 8, Path colon Shape close parenthesis. </a:t>
            </a:r>
          </a:p>
          <a:p>
            <a:r>
              <a:rPr lang="en-US" dirty="0"/>
              <a:t>Line 9, plus </a:t>
            </a:r>
            <a:r>
              <a:rPr lang="en-US" dirty="0" err="1"/>
              <a:t>PathTransition</a:t>
            </a:r>
            <a:r>
              <a:rPr lang="en-US" dirty="0"/>
              <a:t> open parenthesis duration colon Duration. Creates a </a:t>
            </a:r>
            <a:r>
              <a:rPr lang="en-US" dirty="0" err="1"/>
              <a:t>PathTransition</a:t>
            </a:r>
            <a:r>
              <a:rPr lang="en-US" dirty="0"/>
              <a:t> with the specified duration and path.</a:t>
            </a:r>
          </a:p>
          <a:p>
            <a:r>
              <a:rPr lang="en-US" dirty="0"/>
              <a:t>Line 10, Path colon Shape, node colon Node close parenthesis. Creates a </a:t>
            </a:r>
            <a:r>
              <a:rPr lang="en-US" dirty="0" err="1"/>
              <a:t>PathTransition</a:t>
            </a:r>
            <a:r>
              <a:rPr lang="en-US" dirty="0"/>
              <a:t> with the specified duration, path, and node.</a:t>
            </a:r>
          </a:p>
          <a:p>
            <a:r>
              <a:rPr lang="en-US" dirty="0"/>
              <a:t>The first line is labeled, the getter and setter methods for property 1 values and a getter for property itself are provided in the class, but omitted in the UML diagram for brevity.</a:t>
            </a:r>
          </a:p>
          <a:p>
            <a:endParaRPr lang="en-US" dirty="0"/>
          </a:p>
          <a:p>
            <a:r>
              <a:rPr lang="en-IN" dirty="0" err="1"/>
              <a:t>PathTransitionDemo</a:t>
            </a:r>
            <a:r>
              <a:rPr lang="en-IN" dirty="0"/>
              <a:t>: </a:t>
            </a:r>
            <a:r>
              <a:rPr lang="en-IN" dirty="0">
                <a:hlinkClick r:id="rId3"/>
              </a:rPr>
              <a:t>https://liveexample.pearsoncmg.com/html/PathTransitionDemo.html</a:t>
            </a:r>
            <a:endParaRPr lang="en-IN" dirty="0"/>
          </a:p>
          <a:p>
            <a:r>
              <a:rPr lang="en-IN" dirty="0" err="1"/>
              <a:t>FlagRisingAnimation</a:t>
            </a:r>
            <a:r>
              <a:rPr lang="en-IN" dirty="0"/>
              <a:t>: </a:t>
            </a:r>
            <a:r>
              <a:rPr lang="en-IN" dirty="0">
                <a:hlinkClick r:id="rId4"/>
              </a:rPr>
              <a:t>https://liveexample.pearsoncmg.com/html/FlagRisingAnimation.html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071977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code contains 8 lines.</a:t>
            </a:r>
          </a:p>
          <a:p>
            <a:r>
              <a:rPr lang="en-US" dirty="0"/>
              <a:t>Line 1, minus duration colon </a:t>
            </a:r>
            <a:r>
              <a:rPr lang="en-US" dirty="0" err="1"/>
              <a:t>ObjectProperty</a:t>
            </a:r>
            <a:r>
              <a:rPr lang="en-US" dirty="0"/>
              <a:t> less than Duration greater than. The duration of this transition.</a:t>
            </a:r>
          </a:p>
          <a:p>
            <a:r>
              <a:rPr lang="en-US" dirty="0"/>
              <a:t>Line 2, minus node colon </a:t>
            </a:r>
            <a:r>
              <a:rPr lang="en-US" dirty="0" err="1"/>
              <a:t>ObjectProperty</a:t>
            </a:r>
            <a:r>
              <a:rPr lang="en-US" dirty="0"/>
              <a:t> less than Node greater than. The target node of this transition.</a:t>
            </a:r>
          </a:p>
          <a:p>
            <a:r>
              <a:rPr lang="en-US" dirty="0"/>
              <a:t>Line 3, minus </a:t>
            </a:r>
            <a:r>
              <a:rPr lang="en-US" dirty="0" err="1"/>
              <a:t>fromValue</a:t>
            </a:r>
            <a:r>
              <a:rPr lang="en-US" dirty="0"/>
              <a:t> colon </a:t>
            </a:r>
            <a:r>
              <a:rPr lang="en-US" dirty="0" err="1"/>
              <a:t>DoubleProperty</a:t>
            </a:r>
            <a:r>
              <a:rPr lang="en-US" dirty="0"/>
              <a:t>. The start opacity for this animation.</a:t>
            </a:r>
          </a:p>
          <a:p>
            <a:r>
              <a:rPr lang="en-US" dirty="0"/>
              <a:t>Line 4, minus </a:t>
            </a:r>
            <a:r>
              <a:rPr lang="en-US" dirty="0" err="1"/>
              <a:t>toValue</a:t>
            </a:r>
            <a:r>
              <a:rPr lang="en-US" dirty="0"/>
              <a:t> colon </a:t>
            </a:r>
            <a:r>
              <a:rPr lang="en-US" dirty="0" err="1"/>
              <a:t>DoubleProperty</a:t>
            </a:r>
            <a:r>
              <a:rPr lang="en-US" dirty="0"/>
              <a:t>. The stop opacity for this animation.</a:t>
            </a:r>
          </a:p>
          <a:p>
            <a:r>
              <a:rPr lang="en-US" dirty="0"/>
              <a:t>Line 5, minus </a:t>
            </a:r>
            <a:r>
              <a:rPr lang="en-US" dirty="0" err="1"/>
              <a:t>byValue</a:t>
            </a:r>
            <a:r>
              <a:rPr lang="en-US" dirty="0"/>
              <a:t> colon </a:t>
            </a:r>
            <a:r>
              <a:rPr lang="en-US" dirty="0" err="1"/>
              <a:t>DoubleProperty</a:t>
            </a:r>
            <a:r>
              <a:rPr lang="en-US" dirty="0"/>
              <a:t>. The incremental value on the opacity for this animation.</a:t>
            </a:r>
          </a:p>
          <a:p>
            <a:r>
              <a:rPr lang="en-US" dirty="0"/>
              <a:t>Line 6, plus </a:t>
            </a:r>
            <a:r>
              <a:rPr lang="en-US" dirty="0" err="1"/>
              <a:t>FadeTransition</a:t>
            </a:r>
            <a:r>
              <a:rPr lang="en-US" dirty="0"/>
              <a:t> open parenthesis close parenthesis. Creates an empty </a:t>
            </a:r>
            <a:r>
              <a:rPr lang="en-US" dirty="0" err="1"/>
              <a:t>FadeTransition</a:t>
            </a:r>
            <a:r>
              <a:rPr lang="en-US" dirty="0"/>
              <a:t>.</a:t>
            </a:r>
          </a:p>
          <a:p>
            <a:r>
              <a:rPr lang="en-US" dirty="0"/>
              <a:t>Line 7, plus </a:t>
            </a:r>
            <a:r>
              <a:rPr lang="en-US" dirty="0" err="1"/>
              <a:t>FadeTransition</a:t>
            </a:r>
            <a:r>
              <a:rPr lang="en-US" dirty="0"/>
              <a:t> open parenthesis duration colon Duration close parenthesis. Creates a </a:t>
            </a:r>
            <a:r>
              <a:rPr lang="en-US" dirty="0" err="1"/>
              <a:t>FadeTransition</a:t>
            </a:r>
            <a:r>
              <a:rPr lang="en-US" dirty="0"/>
              <a:t> with the specified duration.</a:t>
            </a:r>
          </a:p>
          <a:p>
            <a:r>
              <a:rPr lang="en-US" dirty="0"/>
              <a:t>Line 8, plus </a:t>
            </a:r>
            <a:r>
              <a:rPr lang="en-US" dirty="0" err="1"/>
              <a:t>FadeTransition</a:t>
            </a:r>
            <a:r>
              <a:rPr lang="en-US" dirty="0"/>
              <a:t> open parenthesis duration colon Duration, node colon Node close parenthesis. Creates a </a:t>
            </a:r>
            <a:r>
              <a:rPr lang="en-US" dirty="0" err="1"/>
              <a:t>FadeTransition</a:t>
            </a:r>
            <a:r>
              <a:rPr lang="en-US" dirty="0"/>
              <a:t> with the specified duration and node.</a:t>
            </a:r>
          </a:p>
          <a:p>
            <a:r>
              <a:rPr lang="en-US" dirty="0"/>
              <a:t>The first line is labeled, the getter and setter methods for property values and a getter for property itself are provided in the class, but omitted in the UML diagram for brevity.</a:t>
            </a:r>
          </a:p>
          <a:p>
            <a:endParaRPr lang="en-US" dirty="0"/>
          </a:p>
          <a:p>
            <a:r>
              <a:rPr lang="en-IN" dirty="0" err="1"/>
              <a:t>FadeTransitionDemo</a:t>
            </a:r>
            <a:r>
              <a:rPr lang="en-IN" dirty="0"/>
              <a:t>: </a:t>
            </a:r>
            <a:r>
              <a:rPr lang="en-IN" dirty="0">
                <a:hlinkClick r:id="rId3"/>
              </a:rPr>
              <a:t>https://liveexample.pearsoncmg.com/html/FadeTransitionDemo.html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875195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a:t>TimelineDemo</a:t>
            </a:r>
            <a:r>
              <a:rPr lang="en-IN" dirty="0"/>
              <a:t>: </a:t>
            </a:r>
            <a:r>
              <a:rPr lang="en-IN" dirty="0">
                <a:hlinkClick r:id="rId3"/>
              </a:rPr>
              <a:t>https://liveexample.pearsoncmg.com/html/TimelineDemo.html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502033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a:t>ClockAnimation</a:t>
            </a:r>
            <a:r>
              <a:rPr lang="en-IN" dirty="0"/>
              <a:t>: </a:t>
            </a:r>
            <a:r>
              <a:rPr lang="en-IN" dirty="0">
                <a:hlinkClick r:id="rId3"/>
              </a:rPr>
              <a:t>https://liveexample.pearsoncmg.com/html/ClockAnimation.html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893509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 horizontal line connects </a:t>
            </a:r>
            <a:r>
              <a:rPr lang="en-IN" dirty="0" err="1"/>
              <a:t>BallPane</a:t>
            </a:r>
            <a:r>
              <a:rPr lang="en-IN" dirty="0"/>
              <a:t> to </a:t>
            </a:r>
            <a:r>
              <a:rPr lang="en-IN" dirty="0" err="1"/>
              <a:t>BounceBallControl</a:t>
            </a:r>
            <a:r>
              <a:rPr lang="en-IN" dirty="0"/>
              <a:t> with 1 near each end. There is a shaded rhombus attached to </a:t>
            </a:r>
            <a:r>
              <a:rPr lang="en-IN" dirty="0" err="1"/>
              <a:t>BounceBallControl</a:t>
            </a:r>
            <a:r>
              <a:rPr lang="en-IN" dirty="0"/>
              <a:t> on the left. The codes for </a:t>
            </a:r>
            <a:r>
              <a:rPr lang="en-IN" dirty="0" err="1"/>
              <a:t>BallPane</a:t>
            </a:r>
            <a:r>
              <a:rPr lang="en-IN" dirty="0"/>
              <a:t> are as follows.</a:t>
            </a:r>
          </a:p>
          <a:p>
            <a:r>
              <a:rPr lang="en-IN" dirty="0"/>
              <a:t>Hyphen x colon double</a:t>
            </a:r>
          </a:p>
          <a:p>
            <a:r>
              <a:rPr lang="en-IN" dirty="0"/>
              <a:t>Hyphen y colon double</a:t>
            </a:r>
          </a:p>
          <a:p>
            <a:r>
              <a:rPr lang="en-IN" dirty="0"/>
              <a:t>Hyphen dx colon double</a:t>
            </a:r>
          </a:p>
          <a:p>
            <a:r>
              <a:rPr lang="en-IN" dirty="0"/>
              <a:t>Hyphen </a:t>
            </a:r>
            <a:r>
              <a:rPr lang="en-IN" dirty="0" err="1"/>
              <a:t>dy</a:t>
            </a:r>
            <a:r>
              <a:rPr lang="en-IN" dirty="0"/>
              <a:t> colon double</a:t>
            </a:r>
          </a:p>
          <a:p>
            <a:r>
              <a:rPr lang="en-IN" dirty="0"/>
              <a:t>Hyphen radius colon double</a:t>
            </a:r>
          </a:p>
          <a:p>
            <a:r>
              <a:rPr lang="en-IN" dirty="0"/>
              <a:t>Hyphen circle colon Circle</a:t>
            </a:r>
          </a:p>
          <a:p>
            <a:r>
              <a:rPr lang="en-IN" dirty="0"/>
              <a:t>Hyphen animation colon Timeline</a:t>
            </a:r>
          </a:p>
          <a:p>
            <a:r>
              <a:rPr lang="en-IN" dirty="0"/>
              <a:t>+</a:t>
            </a:r>
            <a:r>
              <a:rPr lang="en-IN" dirty="0" err="1"/>
              <a:t>BallPane</a:t>
            </a:r>
            <a:r>
              <a:rPr lang="en-IN" dirty="0"/>
              <a:t> left parenthesis right parenthesis</a:t>
            </a:r>
          </a:p>
          <a:p>
            <a:r>
              <a:rPr lang="en-IN" dirty="0"/>
              <a:t>+play left parenthesis right parenthesis colon void</a:t>
            </a:r>
          </a:p>
          <a:p>
            <a:r>
              <a:rPr lang="en-IN" dirty="0"/>
              <a:t>+pause left parenthesis right parenthesis colon void</a:t>
            </a:r>
          </a:p>
          <a:p>
            <a:r>
              <a:rPr lang="en-IN" dirty="0"/>
              <a:t>+</a:t>
            </a:r>
            <a:r>
              <a:rPr lang="en-IN" dirty="0" err="1"/>
              <a:t>increaseSpeed</a:t>
            </a:r>
            <a:r>
              <a:rPr lang="en-IN" dirty="0"/>
              <a:t> left parenthesis right parenthesis colon void</a:t>
            </a:r>
          </a:p>
          <a:p>
            <a:r>
              <a:rPr lang="en-IN" dirty="0"/>
              <a:t>+</a:t>
            </a:r>
            <a:r>
              <a:rPr lang="en-IN" dirty="0" err="1"/>
              <a:t>decreaseSpeed</a:t>
            </a:r>
            <a:r>
              <a:rPr lang="en-IN" dirty="0"/>
              <a:t> left parenthesis right parenthesis colon void</a:t>
            </a:r>
          </a:p>
          <a:p>
            <a:r>
              <a:rPr lang="en-IN" dirty="0"/>
              <a:t>+</a:t>
            </a:r>
            <a:r>
              <a:rPr lang="en-IN" dirty="0" err="1"/>
              <a:t>rateProperty</a:t>
            </a:r>
            <a:r>
              <a:rPr lang="en-IN" dirty="0"/>
              <a:t> left parenthesis right parenthesis colon </a:t>
            </a:r>
            <a:r>
              <a:rPr lang="en-IN" dirty="0" err="1"/>
              <a:t>DoubleProperty</a:t>
            </a:r>
            <a:endParaRPr lang="en-IN" dirty="0"/>
          </a:p>
          <a:p>
            <a:r>
              <a:rPr lang="en-IN" dirty="0"/>
              <a:t>+</a:t>
            </a:r>
            <a:r>
              <a:rPr lang="en-IN" dirty="0" err="1"/>
              <a:t>moveBall</a:t>
            </a:r>
            <a:r>
              <a:rPr lang="en-IN" dirty="0"/>
              <a:t> left parenthesis right parenthesis colon void.</a:t>
            </a:r>
          </a:p>
          <a:p>
            <a:endParaRPr lang="en-IN" dirty="0"/>
          </a:p>
          <a:p>
            <a:r>
              <a:rPr lang="en-IN" dirty="0" err="1"/>
              <a:t>BallPane</a:t>
            </a:r>
            <a:r>
              <a:rPr lang="en-IN" dirty="0"/>
              <a:t>: </a:t>
            </a:r>
            <a:r>
              <a:rPr lang="en-IN" dirty="0">
                <a:hlinkClick r:id="rId3"/>
              </a:rPr>
              <a:t>https://liveexample.pearsoncmg.com/html/BallPane.html</a:t>
            </a:r>
            <a:endParaRPr lang="en-IN" dirty="0"/>
          </a:p>
          <a:p>
            <a:r>
              <a:rPr lang="en-IN" dirty="0" err="1"/>
              <a:t>BounceBallControl</a:t>
            </a:r>
            <a:r>
              <a:rPr lang="en-IN" dirty="0"/>
              <a:t>: </a:t>
            </a:r>
            <a:r>
              <a:rPr lang="en-IN" dirty="0">
                <a:hlinkClick r:id="rId4"/>
              </a:rPr>
              <a:t>https://liveexample.pearsoncmg.com/html/BounceBallControl.html</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801606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42</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554920"/>
            <a:ext cx="8232775" cy="4663335"/>
          </a:xfrm>
        </p:spPr>
        <p:txBody>
          <a:bodyPr/>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1"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3274199"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8229600" cy="198039"/>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1841636"/>
            <a:ext cx="8229600" cy="2329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191482"/>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515536"/>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2840656"/>
            <a:ext cx="8229600" cy="20092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169638"/>
            <a:ext cx="8229600" cy="21700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3488845"/>
            <a:ext cx="8229600" cy="23910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p:cNvSpPr>
            <a:spLocks noGrp="1"/>
          </p:cNvSpPr>
          <p:nvPr>
            <p:ph type="body" sz="quarter" idx="20"/>
          </p:nvPr>
        </p:nvSpPr>
        <p:spPr>
          <a:xfrm>
            <a:off x="457200" y="3727450"/>
            <a:ext cx="8229600" cy="328613"/>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8"/>
          <p:cNvSpPr>
            <a:spLocks noGrp="1"/>
          </p:cNvSpPr>
          <p:nvPr>
            <p:ph type="body" sz="quarter" idx="21"/>
          </p:nvPr>
        </p:nvSpPr>
        <p:spPr>
          <a:xfrm>
            <a:off x="457200" y="40560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Text Placeholder 12"/>
          <p:cNvSpPr>
            <a:spLocks noGrp="1"/>
          </p:cNvSpPr>
          <p:nvPr>
            <p:ph type="body" sz="quarter" idx="22"/>
          </p:nvPr>
        </p:nvSpPr>
        <p:spPr>
          <a:xfrm>
            <a:off x="457200" y="4349750"/>
            <a:ext cx="8229600" cy="280988"/>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Text Placeholder 19"/>
          <p:cNvSpPr>
            <a:spLocks noGrp="1"/>
          </p:cNvSpPr>
          <p:nvPr>
            <p:ph type="body" sz="quarter" idx="23"/>
          </p:nvPr>
        </p:nvSpPr>
        <p:spPr>
          <a:xfrm>
            <a:off x="457200" y="4630738"/>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Text Placeholder 23"/>
          <p:cNvSpPr>
            <a:spLocks noGrp="1"/>
          </p:cNvSpPr>
          <p:nvPr>
            <p:ph type="body" sz="quarter" idx="24"/>
          </p:nvPr>
        </p:nvSpPr>
        <p:spPr>
          <a:xfrm>
            <a:off x="457200" y="49704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Text Placeholder 26"/>
          <p:cNvSpPr>
            <a:spLocks noGrp="1"/>
          </p:cNvSpPr>
          <p:nvPr>
            <p:ph type="body" sz="quarter" idx="25"/>
          </p:nvPr>
        </p:nvSpPr>
        <p:spPr>
          <a:xfrm>
            <a:off x="457200" y="5264150"/>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573144346"/>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6"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2024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6"/>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49" r:id="rId2"/>
    <p:sldLayoutId id="2147483650" r:id="rId3"/>
    <p:sldLayoutId id="2147483676" r:id="rId4"/>
    <p:sldLayoutId id="2147483677" r:id="rId5"/>
    <p:sldLayoutId id="2147483678" r:id="rId6"/>
    <p:sldLayoutId id="2147483679" r:id="rId7"/>
    <p:sldLayoutId id="2147483680" r:id="rId8"/>
    <p:sldLayoutId id="2147483681" r:id="rId9"/>
    <p:sldLayoutId id="2147483671" r:id="rId10"/>
    <p:sldLayoutId id="2147483673" r:id="rId11"/>
    <p:sldLayoutId id="2147483670" r:id="rId12"/>
    <p:sldLayoutId id="2147483669" r:id="rId13"/>
    <p:sldLayoutId id="214748365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hyperlink" Target="https://liveexample.pearsoncmg.com/html/LoanCalculator.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0.xml"/><Relationship Id="rId5" Type="http://schemas.openxmlformats.org/officeDocument/2006/relationships/hyperlink" Target="https://liveexample.pearsoncmg.com/html/HandleEvent.html" TargetMode="Externa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hyperlink" Target="https://liveexample.pearsoncmg.com/html/ControlCircleWithoutEventHandling.html"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0.xml"/><Relationship Id="rId5" Type="http://schemas.openxmlformats.org/officeDocument/2006/relationships/hyperlink" Target="https://liveexample.pearsoncmg.com/html/ControlCircle.html" TargetMode="Externa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s://liveexample.pearsoncmg.com/html/ShowInnerClass.html" TargetMode="External"/><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0.xml"/><Relationship Id="rId5" Type="http://schemas.openxmlformats.org/officeDocument/2006/relationships/hyperlink" Target="https://liveexample.pearsoncmg.com/html/AnonymousHandlerDemo.html" TargetMode="External"/><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hyperlink" Target="https://liveexample.pearsoncmg.com/html/AnonymousHandlerDemo.html" TargetMode="External"/><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hyperlink" Target="https://liveexample.pearsoncmg.com/html/LoanCalculator.html" TargetMode="External"/><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0.xml"/><Relationship Id="rId4" Type="http://schemas.openxmlformats.org/officeDocument/2006/relationships/hyperlink" Target="https://liveexample.pearsoncmg.com/html/MouseEventDemo.html"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0.xml"/><Relationship Id="rId4" Type="http://schemas.openxmlformats.org/officeDocument/2006/relationships/hyperlink" Target="https://liveexample.pearsoncmg.com/html/KeyEventDemo.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hyperlink" Target="https://liveexample.pearsoncmg.com/html/ControlCircleWithMouseAndKey.html" TargetMode="External"/><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hyperlink" Target="https://liveexample.pearsoncmg.com/html/ObservablePropertyDemo.html" TargetMode="External"/><Relationship Id="rId2" Type="http://schemas.openxmlformats.org/officeDocument/2006/relationships/notesSlide" Target="../notesSlides/notesSlide21.xml"/><Relationship Id="rId1" Type="http://schemas.openxmlformats.org/officeDocument/2006/relationships/slideLayout" Target="../slideLayouts/slideLayout10.xml"/><Relationship Id="rId4" Type="http://schemas.openxmlformats.org/officeDocument/2006/relationships/hyperlink" Target="https://liveexample.pearsoncmg.com/html/DisplayResizableClock.html"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0.xml"/><Relationship Id="rId5" Type="http://schemas.openxmlformats.org/officeDocument/2006/relationships/hyperlink" Target="https://liveexample.pearsoncmg.com/html/FlagRisingAnimation.html" TargetMode="External"/><Relationship Id="rId4" Type="http://schemas.openxmlformats.org/officeDocument/2006/relationships/hyperlink" Target="https://liveexample.pearsoncmg.com/html/PathTransitionDemo.html"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10.xml"/><Relationship Id="rId4" Type="http://schemas.openxmlformats.org/officeDocument/2006/relationships/hyperlink" Target="https://liveexample.pearsoncmg.com/html/FadeTransitionDemo.html"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liveexample.pearsoncmg.com/html/TimelineDemo.html" TargetMode="External"/><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10.xml"/><Relationship Id="rId4" Type="http://schemas.openxmlformats.org/officeDocument/2006/relationships/hyperlink" Target="https://liveexample.pearsoncmg.com/html/ClockAnimation.html" TargetMode="External"/></Relationships>
</file>

<file path=ppt/slides/_rels/slide41.xml.rels><?xml version="1.0" encoding="UTF-8" standalone="yes"?>
<Relationships xmlns="http://schemas.openxmlformats.org/package/2006/relationships"><Relationship Id="rId8" Type="http://schemas.openxmlformats.org/officeDocument/2006/relationships/hyperlink" Target="https://liveexample.pearsoncmg.com/html/BounceBallControl.html" TargetMode="External"/><Relationship Id="rId3" Type="http://schemas.openxmlformats.org/officeDocument/2006/relationships/image" Target="../media/image25.png"/><Relationship Id="rId7" Type="http://schemas.openxmlformats.org/officeDocument/2006/relationships/hyperlink" Target="https://liveexample.pearsoncmg.com/html/BallPane.html" TargetMode="External"/><Relationship Id="rId2" Type="http://schemas.openxmlformats.org/officeDocument/2006/relationships/notesSlide" Target="../notesSlides/notesSlide27.xml"/><Relationship Id="rId1" Type="http://schemas.openxmlformats.org/officeDocument/2006/relationships/slideLayout" Target="../slideLayouts/slideLayout10.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3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val="1"/>
              </a:ext>
            </a:extLst>
          </p:cNvPr>
          <p:cNvSpPr>
            <a:spLocks noGrp="1"/>
          </p:cNvSpPr>
          <p:nvPr>
            <p:ph type="title"/>
          </p:nvPr>
        </p:nvSpPr>
        <p:spPr>
          <a:xfrm>
            <a:off x="457199" y="143692"/>
            <a:ext cx="7934633" cy="987333"/>
          </a:xfrm>
        </p:spPr>
        <p:txBody>
          <a:bodyPr anchor="ctr"/>
          <a:lstStyle/>
          <a:p>
            <a:r>
              <a:rPr lang="en-US" sz="3000"/>
              <a:t>Introduction to Java Programming and Data Structures</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val="1"/>
              </a:ext>
            </a:extLst>
          </p:cNvPr>
          <p:cNvSpPr>
            <a:spLocks noGrp="1"/>
          </p:cNvSpPr>
          <p:nvPr>
            <p:ph type="body" idx="1"/>
          </p:nvPr>
        </p:nvSpPr>
        <p:spPr>
          <a:xfrm>
            <a:off x="457200" y="1212419"/>
            <a:ext cx="8229600" cy="413524"/>
          </a:xfrm>
        </p:spPr>
        <p:txBody>
          <a:bodyPr anchor="ctr"/>
          <a:lstStyle/>
          <a:p>
            <a:r>
              <a:rPr lang="en-US">
                <a:solidFill>
                  <a:schemeClr val="tx2"/>
                </a:solidFill>
              </a:rPr>
              <a:t>Thirteenth Edition</a:t>
            </a:r>
          </a:p>
        </p:txBody>
      </p:sp>
      <p:pic>
        <p:nvPicPr>
          <p:cNvPr id="4" name="Picture 3" descr="Front Cover: Introduction to Java Programming and Data Structures Thirteenth Edition by Liang.">
            <a:extLst>
              <a:ext uri="{FF2B5EF4-FFF2-40B4-BE49-F238E27FC236}">
                <a16:creationId xmlns:a16="http://schemas.microsoft.com/office/drawing/2014/main" id="{EB94057A-6B5E-6DFB-B8DE-864F38992295}"/>
              </a:ext>
            </a:extLst>
          </p:cNvPr>
          <p:cNvPicPr>
            <a:picLocks noChangeAspect="1"/>
          </p:cNvPicPr>
          <p:nvPr/>
        </p:nvPicPr>
        <p:blipFill>
          <a:blip r:embed="rId3"/>
          <a:stretch>
            <a:fillRect/>
          </a:stretch>
        </p:blipFill>
        <p:spPr>
          <a:xfrm>
            <a:off x="581108" y="1707337"/>
            <a:ext cx="3797134" cy="4523213"/>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1"/>
              </a:ext>
            </a:extLst>
          </p:cNvPr>
          <p:cNvSpPr>
            <a:spLocks noGrp="1"/>
          </p:cNvSpPr>
          <p:nvPr>
            <p:ph sz="quarter" idx="14"/>
          </p:nvPr>
        </p:nvSpPr>
        <p:spPr>
          <a:xfrm>
            <a:off x="5029200" y="1906104"/>
            <a:ext cx="3657600" cy="1186345"/>
          </a:xfrm>
        </p:spPr>
        <p:txBody>
          <a:bodyPr/>
          <a:lstStyle/>
          <a:p>
            <a:pPr marL="0" algn="ctr"/>
            <a:r>
              <a:rPr lang="en-US" b="1">
                <a:latin typeface="+mn-lt"/>
              </a:rPr>
              <a:t>Chapter 15</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val="1"/>
              </a:ext>
            </a:extLst>
          </p:cNvPr>
          <p:cNvSpPr>
            <a:spLocks noGrp="1"/>
          </p:cNvSpPr>
          <p:nvPr>
            <p:ph sz="quarter" idx="15"/>
          </p:nvPr>
        </p:nvSpPr>
        <p:spPr>
          <a:xfrm>
            <a:off x="5029200" y="3252789"/>
            <a:ext cx="3657600" cy="1589177"/>
          </a:xfrm>
        </p:spPr>
        <p:txBody>
          <a:bodyPr/>
          <a:lstStyle/>
          <a:p>
            <a:r>
              <a:rPr lang="en-US" altLang="en-US" sz="2400"/>
              <a:t>Event-Driven Programming and Animations</a:t>
            </a:r>
            <a:endParaRPr lang="en-US"/>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val="1"/>
              </a:ext>
            </a:extLst>
          </p:cNvPr>
          <p:cNvSpPr>
            <a:spLocks noGrp="1"/>
          </p:cNvSpPr>
          <p:nvPr>
            <p:ph sz="quarter" idx="17"/>
          </p:nvPr>
        </p:nvSpPr>
        <p:spPr>
          <a:xfrm>
            <a:off x="2173000" y="6415232"/>
            <a:ext cx="6589712" cy="228600"/>
          </a:xfrm>
        </p:spPr>
        <p:txBody>
          <a:bodyPr/>
          <a:lstStyle/>
          <a:p>
            <a:pPr marL="0" indent="0"/>
            <a:r>
              <a:rPr lang="en-US" altLang="en-US" sz="1200" b="0">
                <a:latin typeface="Verdana"/>
                <a:ea typeface="Verdana" panose="020B0604030504040204" pitchFamily="34" charset="0"/>
                <a:cs typeface="Verdana" panose="020B0604030504040204" pitchFamily="34" charset="0"/>
              </a:rPr>
              <a:t>Copyright © </a:t>
            </a:r>
            <a:r>
              <a:rPr lang="en-US"/>
              <a:t>2024 </a:t>
            </a:r>
            <a:r>
              <a:rPr lang="en-US" altLang="en-US" sz="1200" b="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9D145-8094-443F-BB66-C61E73A988A7}"/>
              </a:ext>
            </a:extLst>
          </p:cNvPr>
          <p:cNvSpPr>
            <a:spLocks noGrp="1"/>
          </p:cNvSpPr>
          <p:nvPr>
            <p:ph type="title"/>
          </p:nvPr>
        </p:nvSpPr>
        <p:spPr/>
        <p:txBody>
          <a:bodyPr/>
          <a:lstStyle/>
          <a:p>
            <a:r>
              <a:rPr lang="en-US"/>
              <a:t>Motivations</a:t>
            </a:r>
          </a:p>
        </p:txBody>
      </p:sp>
      <p:sp>
        <p:nvSpPr>
          <p:cNvPr id="3" name="Content Placeholder 2">
            <a:extLst>
              <a:ext uri="{FF2B5EF4-FFF2-40B4-BE49-F238E27FC236}">
                <a16:creationId xmlns:a16="http://schemas.microsoft.com/office/drawing/2014/main" id="{E66DAB8E-C79A-495D-9C2E-3AD49AA9E947}"/>
              </a:ext>
            </a:extLst>
          </p:cNvPr>
          <p:cNvSpPr>
            <a:spLocks noGrp="1"/>
          </p:cNvSpPr>
          <p:nvPr>
            <p:ph sz="quarter" idx="13"/>
          </p:nvPr>
        </p:nvSpPr>
        <p:spPr>
          <a:xfrm>
            <a:off x="457200" y="1552575"/>
            <a:ext cx="4532243" cy="3830130"/>
          </a:xfrm>
        </p:spPr>
        <p:txBody>
          <a:bodyPr/>
          <a:lstStyle/>
          <a:p>
            <a:pPr marL="432" indent="0">
              <a:buNone/>
            </a:pPr>
            <a:r>
              <a:rPr lang="en-US" altLang="en-US" sz="2200"/>
              <a:t>Suppose you want to write a G</a:t>
            </a:r>
            <a:r>
              <a:rPr lang="en-US" altLang="en-US" sz="100"/>
              <a:t> </a:t>
            </a:r>
            <a:r>
              <a:rPr lang="en-US" altLang="en-US" sz="2200"/>
              <a:t>U</a:t>
            </a:r>
            <a:r>
              <a:rPr lang="en-US" altLang="en-US" sz="100"/>
              <a:t> </a:t>
            </a:r>
            <a:r>
              <a:rPr lang="en-US" altLang="en-US" sz="2200"/>
              <a:t>I program that lets the user enter a loan amount, annual interest rate, and number of years and click the </a:t>
            </a:r>
            <a:r>
              <a:rPr lang="en-US" altLang="en-US" sz="2200" b="1"/>
              <a:t>Compute Payment </a:t>
            </a:r>
            <a:r>
              <a:rPr lang="en-US" altLang="en-US" sz="2200"/>
              <a:t>button to obtain the monthly payment and total payment. How do you accomplish the task? You have to use </a:t>
            </a:r>
            <a:r>
              <a:rPr lang="en-US" altLang="en-US" sz="2200" b="1"/>
              <a:t>event-driven programming </a:t>
            </a:r>
            <a:r>
              <a:rPr lang="en-US" altLang="en-US" sz="2200"/>
              <a:t>to write the code to respond to the button-clicking event.</a:t>
            </a:r>
          </a:p>
        </p:txBody>
      </p:sp>
      <p:pic>
        <p:nvPicPr>
          <p:cNvPr id="7" name="Picture 6" descr="An object shows the program of the Loan Calculator. For long description in Notes pane, press F6.">
            <a:extLst>
              <a:ext uri="{FF2B5EF4-FFF2-40B4-BE49-F238E27FC236}">
                <a16:creationId xmlns:a16="http://schemas.microsoft.com/office/drawing/2014/main" id="{FD1A08EF-119D-4E07-B83A-BBAD56083CC5}"/>
              </a:ext>
            </a:extLst>
          </p:cNvPr>
          <p:cNvPicPr>
            <a:picLocks noChangeAspect="1"/>
          </p:cNvPicPr>
          <p:nvPr/>
        </p:nvPicPr>
        <p:blipFill>
          <a:blip r:embed="rId3"/>
          <a:stretch>
            <a:fillRect/>
          </a:stretch>
        </p:blipFill>
        <p:spPr>
          <a:xfrm>
            <a:off x="5131504" y="1976315"/>
            <a:ext cx="3573585" cy="2478649"/>
          </a:xfrm>
          <a:prstGeom prst="rect">
            <a:avLst/>
          </a:prstGeom>
        </p:spPr>
      </p:pic>
      <p:sp>
        <p:nvSpPr>
          <p:cNvPr id="10" name="Text Placeholder 9">
            <a:extLst>
              <a:ext uri="{FF2B5EF4-FFF2-40B4-BE49-F238E27FC236}">
                <a16:creationId xmlns:a16="http://schemas.microsoft.com/office/drawing/2014/main" id="{F6D288CA-3C0A-46B9-A622-79B84D127F00}"/>
              </a:ext>
            </a:extLst>
          </p:cNvPr>
          <p:cNvSpPr>
            <a:spLocks noGrp="1"/>
          </p:cNvSpPr>
          <p:nvPr>
            <p:ph type="body" sz="quarter" idx="20"/>
          </p:nvPr>
        </p:nvSpPr>
        <p:spPr>
          <a:xfrm>
            <a:off x="6371303" y="5703734"/>
            <a:ext cx="2315497" cy="505337"/>
          </a:xfrm>
        </p:spPr>
        <p:txBody>
          <a:bodyPr/>
          <a:lstStyle/>
          <a:p>
            <a:pPr marL="432" indent="0">
              <a:buNone/>
            </a:pPr>
            <a:r>
              <a:rPr lang="en-US" sz="2200" dirty="0">
                <a:hlinkClick r:id="rId4" tooltip="https://liveexample.pearsoncmg.com/html/LoanCalculator.html"/>
              </a:rPr>
              <a:t>LoanCalculator</a:t>
            </a:r>
          </a:p>
        </p:txBody>
      </p:sp>
    </p:spTree>
    <p:extLst>
      <p:ext uri="{BB962C8B-B14F-4D97-AF65-F5344CB8AC3E}">
        <p14:creationId xmlns:p14="http://schemas.microsoft.com/office/powerpoint/2010/main" val="1732186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CCD6A-EC82-4399-B387-5890F328DFC4}"/>
              </a:ext>
            </a:extLst>
          </p:cNvPr>
          <p:cNvSpPr>
            <a:spLocks noGrp="1"/>
          </p:cNvSpPr>
          <p:nvPr>
            <p:ph type="title"/>
          </p:nvPr>
        </p:nvSpPr>
        <p:spPr/>
        <p:txBody>
          <a:bodyPr/>
          <a:lstStyle/>
          <a:p>
            <a:r>
              <a:rPr lang="en-US"/>
              <a:t>Objectives </a:t>
            </a:r>
            <a:r>
              <a:rPr lang="en-US" sz="2000" b="0"/>
              <a:t>(1 of 2)</a:t>
            </a:r>
            <a:endParaRPr lang="en-US"/>
          </a:p>
        </p:txBody>
      </p:sp>
      <p:sp>
        <p:nvSpPr>
          <p:cNvPr id="3" name="Content Placeholder 2">
            <a:extLst>
              <a:ext uri="{FF2B5EF4-FFF2-40B4-BE49-F238E27FC236}">
                <a16:creationId xmlns:a16="http://schemas.microsoft.com/office/drawing/2014/main" id="{1C42CB4E-FFA9-4A4A-930A-3B2AC1CD90FE}"/>
              </a:ext>
            </a:extLst>
          </p:cNvPr>
          <p:cNvSpPr>
            <a:spLocks noGrp="1"/>
          </p:cNvSpPr>
          <p:nvPr>
            <p:ph sz="quarter" idx="13"/>
          </p:nvPr>
        </p:nvSpPr>
        <p:spPr/>
        <p:txBody>
          <a:bodyPr/>
          <a:lstStyle/>
          <a:p>
            <a:pPr marL="0" indent="0">
              <a:buNone/>
            </a:pPr>
            <a:r>
              <a:rPr lang="en-US" altLang="en-US" sz="2200" b="1" dirty="0">
                <a:solidFill>
                  <a:srgbClr val="007FA3"/>
                </a:solidFill>
              </a:rPr>
              <a:t>15.1</a:t>
            </a:r>
            <a:r>
              <a:rPr lang="en-US" altLang="en-US" sz="2200" dirty="0"/>
              <a:t> To get a taste of event-driven programming (§15.1).</a:t>
            </a:r>
          </a:p>
          <a:p>
            <a:pPr marL="0" indent="0">
              <a:buNone/>
            </a:pPr>
            <a:r>
              <a:rPr lang="en-US" altLang="en-US" sz="2200" b="1" dirty="0">
                <a:solidFill>
                  <a:srgbClr val="007FA3"/>
                </a:solidFill>
              </a:rPr>
              <a:t>15.2 </a:t>
            </a:r>
            <a:r>
              <a:rPr lang="en-US" altLang="en-US" sz="2200" dirty="0"/>
              <a:t>To describe events, event sources, and event classes (§15.2).</a:t>
            </a:r>
          </a:p>
          <a:p>
            <a:pPr marL="0" indent="0">
              <a:buNone/>
            </a:pPr>
            <a:r>
              <a:rPr lang="en-US" altLang="en-US" sz="2200" b="1" dirty="0">
                <a:solidFill>
                  <a:srgbClr val="007FA3"/>
                </a:solidFill>
              </a:rPr>
              <a:t>15.3 </a:t>
            </a:r>
            <a:r>
              <a:rPr lang="en-US" altLang="en-US" sz="2200" dirty="0"/>
              <a:t>To define handler classes, register handler objects with the source object, and write the code to handle events (§15.3).</a:t>
            </a:r>
          </a:p>
          <a:p>
            <a:pPr marL="0" indent="0">
              <a:buNone/>
            </a:pPr>
            <a:r>
              <a:rPr lang="en-US" altLang="en-US" sz="2200" b="1" dirty="0">
                <a:solidFill>
                  <a:srgbClr val="007FA3"/>
                </a:solidFill>
              </a:rPr>
              <a:t>15.4 </a:t>
            </a:r>
            <a:r>
              <a:rPr lang="en-US" altLang="en-US" sz="2200" dirty="0"/>
              <a:t>To define handler classes using inner classes (§15.4).</a:t>
            </a:r>
          </a:p>
          <a:p>
            <a:pPr marL="0" indent="0">
              <a:buNone/>
            </a:pPr>
            <a:r>
              <a:rPr lang="en-US" altLang="en-US" sz="2200" b="1" dirty="0">
                <a:solidFill>
                  <a:srgbClr val="007FA3"/>
                </a:solidFill>
              </a:rPr>
              <a:t>15.5 </a:t>
            </a:r>
            <a:r>
              <a:rPr lang="en-US" altLang="en-US" sz="2200" dirty="0"/>
              <a:t>To define handler classes using anonymous inner classes (§15.5).</a:t>
            </a:r>
          </a:p>
          <a:p>
            <a:pPr marL="0" indent="0">
              <a:buNone/>
            </a:pPr>
            <a:r>
              <a:rPr lang="en-US" altLang="en-US" sz="2200" b="1" dirty="0">
                <a:solidFill>
                  <a:srgbClr val="007FA3"/>
                </a:solidFill>
              </a:rPr>
              <a:t>15.6 </a:t>
            </a:r>
            <a:r>
              <a:rPr lang="en-US" altLang="en-US" sz="2200" dirty="0"/>
              <a:t>To simplify event handling using lambda expressions (§15.6).</a:t>
            </a:r>
          </a:p>
        </p:txBody>
      </p:sp>
    </p:spTree>
    <p:extLst>
      <p:ext uri="{BB962C8B-B14F-4D97-AF65-F5344CB8AC3E}">
        <p14:creationId xmlns:p14="http://schemas.microsoft.com/office/powerpoint/2010/main" val="1434787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CCD6A-EC82-4399-B387-5890F328DFC4}"/>
              </a:ext>
            </a:extLst>
          </p:cNvPr>
          <p:cNvSpPr>
            <a:spLocks noGrp="1"/>
          </p:cNvSpPr>
          <p:nvPr>
            <p:ph type="title"/>
          </p:nvPr>
        </p:nvSpPr>
        <p:spPr/>
        <p:txBody>
          <a:bodyPr/>
          <a:lstStyle/>
          <a:p>
            <a:r>
              <a:rPr lang="en-US"/>
              <a:t>Objectives </a:t>
            </a:r>
            <a:r>
              <a:rPr lang="en-US" sz="2000" b="0"/>
              <a:t>(2 of 2)</a:t>
            </a:r>
            <a:endParaRPr lang="en-US"/>
          </a:p>
        </p:txBody>
      </p:sp>
      <p:sp>
        <p:nvSpPr>
          <p:cNvPr id="3" name="Content Placeholder 2">
            <a:extLst>
              <a:ext uri="{FF2B5EF4-FFF2-40B4-BE49-F238E27FC236}">
                <a16:creationId xmlns:a16="http://schemas.microsoft.com/office/drawing/2014/main" id="{1C42CB4E-FFA9-4A4A-930A-3B2AC1CD90FE}"/>
              </a:ext>
            </a:extLst>
          </p:cNvPr>
          <p:cNvSpPr>
            <a:spLocks noGrp="1"/>
          </p:cNvSpPr>
          <p:nvPr>
            <p:ph sz="quarter" idx="13"/>
          </p:nvPr>
        </p:nvSpPr>
        <p:spPr/>
        <p:txBody>
          <a:bodyPr/>
          <a:lstStyle/>
          <a:p>
            <a:pPr marL="432" indent="0">
              <a:buNone/>
            </a:pPr>
            <a:r>
              <a:rPr lang="en-US" altLang="en-US" sz="2000" b="1" dirty="0">
                <a:solidFill>
                  <a:srgbClr val="007FA3"/>
                </a:solidFill>
              </a:rPr>
              <a:t>15.7 </a:t>
            </a:r>
            <a:r>
              <a:rPr lang="en-US" altLang="en-US" sz="2000" dirty="0"/>
              <a:t>To develop a G</a:t>
            </a:r>
            <a:r>
              <a:rPr lang="en-US" altLang="en-US" sz="100" dirty="0"/>
              <a:t> </a:t>
            </a:r>
            <a:r>
              <a:rPr lang="en-US" altLang="en-US" sz="2000" dirty="0"/>
              <a:t>U</a:t>
            </a:r>
            <a:r>
              <a:rPr lang="en-US" altLang="en-US" sz="100" dirty="0"/>
              <a:t> </a:t>
            </a:r>
            <a:r>
              <a:rPr lang="en-US" altLang="en-US" sz="2000" dirty="0"/>
              <a:t>I application for a loan calculator (§15.7).</a:t>
            </a:r>
          </a:p>
          <a:p>
            <a:pPr marL="432" indent="0">
              <a:buNone/>
            </a:pPr>
            <a:r>
              <a:rPr lang="en-US" altLang="en-US" sz="2000" b="1" dirty="0">
                <a:solidFill>
                  <a:srgbClr val="007FA3"/>
                </a:solidFill>
              </a:rPr>
              <a:t>15.8 </a:t>
            </a:r>
            <a:r>
              <a:rPr lang="en-US" altLang="en-US" sz="2000" dirty="0"/>
              <a:t>To write programs to deal with </a:t>
            </a:r>
            <a:r>
              <a:rPr lang="en-US" altLang="en-US" sz="2000" b="1" dirty="0" err="1">
                <a:latin typeface="Courier New" panose="02070309020205020404" pitchFamily="49" charset="0"/>
                <a:cs typeface="Courier New" panose="02070309020205020404" pitchFamily="49" charset="0"/>
              </a:rPr>
              <a:t>MouseEvent</a:t>
            </a:r>
            <a:r>
              <a:rPr lang="en-US" altLang="en-US" sz="2000" dirty="0" err="1">
                <a:latin typeface="Courier New" panose="02070309020205020404" pitchFamily="49" charset="0"/>
                <a:cs typeface="Courier New" panose="02070309020205020404" pitchFamily="49" charset="0"/>
              </a:rPr>
              <a:t>s</a:t>
            </a:r>
            <a:r>
              <a:rPr lang="en-US" altLang="en-US" sz="2000" dirty="0"/>
              <a:t> (§15.8).</a:t>
            </a:r>
          </a:p>
          <a:p>
            <a:pPr marL="432" indent="0">
              <a:buNone/>
            </a:pPr>
            <a:r>
              <a:rPr lang="en-US" altLang="en-US" sz="2000" b="1" dirty="0">
                <a:solidFill>
                  <a:srgbClr val="007FA3"/>
                </a:solidFill>
              </a:rPr>
              <a:t>15.9 </a:t>
            </a:r>
            <a:r>
              <a:rPr lang="en-US" altLang="en-US" sz="2000" dirty="0"/>
              <a:t>To write programs to deal with </a:t>
            </a:r>
            <a:r>
              <a:rPr lang="en-US" altLang="en-US" sz="2000" b="1" dirty="0" err="1">
                <a:latin typeface="Courier New" panose="02070309020205020404" pitchFamily="49" charset="0"/>
                <a:cs typeface="Courier New" panose="02070309020205020404" pitchFamily="49" charset="0"/>
              </a:rPr>
              <a:t>KeyEvent</a:t>
            </a:r>
            <a:r>
              <a:rPr lang="en-US" altLang="en-US" sz="2000" dirty="0" err="1">
                <a:latin typeface="Courier New" panose="02070309020205020404" pitchFamily="49" charset="0"/>
                <a:cs typeface="Courier New" panose="02070309020205020404" pitchFamily="49" charset="0"/>
              </a:rPr>
              <a:t>s</a:t>
            </a:r>
            <a:r>
              <a:rPr lang="en-US" altLang="en-US" sz="2000" dirty="0"/>
              <a:t> (§15.9).</a:t>
            </a:r>
          </a:p>
          <a:p>
            <a:pPr marL="432" indent="0">
              <a:buNone/>
            </a:pPr>
            <a:r>
              <a:rPr lang="en-US" altLang="en-US" sz="2000" b="1" dirty="0">
                <a:solidFill>
                  <a:srgbClr val="007FA3"/>
                </a:solidFill>
              </a:rPr>
              <a:t>15.10 </a:t>
            </a:r>
            <a:r>
              <a:rPr lang="en-US" altLang="en-US" sz="2000" dirty="0"/>
              <a:t>To create listeners for processing a value change in an observable object (§15.10).</a:t>
            </a:r>
          </a:p>
          <a:p>
            <a:pPr marL="432" indent="0">
              <a:buNone/>
            </a:pPr>
            <a:r>
              <a:rPr lang="en-US" altLang="en-US" sz="2000" b="1" dirty="0">
                <a:solidFill>
                  <a:srgbClr val="007FA3"/>
                </a:solidFill>
              </a:rPr>
              <a:t>15.11 </a:t>
            </a:r>
            <a:r>
              <a:rPr lang="en-US" altLang="en-US" sz="2000" dirty="0"/>
              <a:t>To use the </a:t>
            </a:r>
            <a:r>
              <a:rPr lang="en-US" altLang="en-US" sz="2000" b="1" dirty="0">
                <a:latin typeface="Courier New" panose="02070309020205020404" pitchFamily="49" charset="0"/>
                <a:cs typeface="Courier New" panose="02070309020205020404" pitchFamily="49" charset="0"/>
              </a:rPr>
              <a:t>Animation</a:t>
            </a:r>
            <a:r>
              <a:rPr lang="en-US" altLang="en-US" sz="2000" dirty="0"/>
              <a:t>, </a:t>
            </a:r>
            <a:r>
              <a:rPr lang="en-US" altLang="en-US" sz="2000" b="1" dirty="0" err="1">
                <a:latin typeface="Courier New" panose="02070309020205020404" pitchFamily="49" charset="0"/>
                <a:cs typeface="Courier New" panose="02070309020205020404" pitchFamily="49" charset="0"/>
              </a:rPr>
              <a:t>PathTransition</a:t>
            </a:r>
            <a:r>
              <a:rPr lang="en-US" altLang="en-US" sz="2000" dirty="0"/>
              <a:t>, </a:t>
            </a:r>
            <a:r>
              <a:rPr lang="en-US" altLang="en-US" sz="2000" b="1" dirty="0" err="1">
                <a:latin typeface="Courier New" panose="02070309020205020404" pitchFamily="49" charset="0"/>
                <a:cs typeface="Courier New" panose="02070309020205020404" pitchFamily="49" charset="0"/>
              </a:rPr>
              <a:t>FadeTransition</a:t>
            </a:r>
            <a:r>
              <a:rPr lang="en-US" altLang="en-US" sz="2000" dirty="0"/>
              <a:t>, and </a:t>
            </a:r>
            <a:r>
              <a:rPr lang="en-US" altLang="en-US" sz="2000" b="1" dirty="0">
                <a:latin typeface="Courier New" panose="02070309020205020404" pitchFamily="49" charset="0"/>
                <a:cs typeface="Courier New" panose="02070309020205020404" pitchFamily="49" charset="0"/>
              </a:rPr>
              <a:t>Timeline</a:t>
            </a:r>
            <a:r>
              <a:rPr lang="en-US" altLang="en-US" sz="2000" dirty="0"/>
              <a:t> classes to develop animations (§15.11).</a:t>
            </a:r>
          </a:p>
          <a:p>
            <a:pPr marL="432" indent="0">
              <a:buNone/>
            </a:pPr>
            <a:r>
              <a:rPr lang="en-US" altLang="en-US" sz="2000" b="1" dirty="0">
                <a:solidFill>
                  <a:srgbClr val="007FA3"/>
                </a:solidFill>
              </a:rPr>
              <a:t>15.12 </a:t>
            </a:r>
            <a:r>
              <a:rPr lang="en-US" altLang="en-US" sz="2000" dirty="0"/>
              <a:t>To develop an animation for simulating a bouncing ball (§15.12).</a:t>
            </a:r>
          </a:p>
          <a:p>
            <a:pPr marL="432" indent="0">
              <a:buNone/>
            </a:pPr>
            <a:r>
              <a:rPr lang="en-US" altLang="en-US" sz="2000" b="1" dirty="0">
                <a:solidFill>
                  <a:srgbClr val="007FA3"/>
                </a:solidFill>
              </a:rPr>
              <a:t>15.13 </a:t>
            </a:r>
            <a:r>
              <a:rPr lang="en-US" sz="2000" dirty="0"/>
              <a:t>To draw, color, and resize a U</a:t>
            </a:r>
            <a:r>
              <a:rPr lang="en-US" sz="100" dirty="0"/>
              <a:t> </a:t>
            </a:r>
            <a:r>
              <a:rPr lang="en-US" sz="2000" dirty="0"/>
              <a:t>S map (§15.13).</a:t>
            </a:r>
          </a:p>
        </p:txBody>
      </p:sp>
    </p:spTree>
    <p:extLst>
      <p:ext uri="{BB962C8B-B14F-4D97-AF65-F5344CB8AC3E}">
        <p14:creationId xmlns:p14="http://schemas.microsoft.com/office/powerpoint/2010/main" val="1908162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9C676-9130-4E75-8A5E-46BF5AD1F0F4}"/>
              </a:ext>
            </a:extLst>
          </p:cNvPr>
          <p:cNvSpPr>
            <a:spLocks noGrp="1"/>
          </p:cNvSpPr>
          <p:nvPr>
            <p:ph type="title"/>
          </p:nvPr>
        </p:nvSpPr>
        <p:spPr/>
        <p:txBody>
          <a:bodyPr/>
          <a:lstStyle/>
          <a:p>
            <a:r>
              <a:rPr lang="en-US" sz="3200" dirty="0"/>
              <a:t>Procedural v</a:t>
            </a:r>
            <a:r>
              <a:rPr lang="en-US" sz="100" dirty="0"/>
              <a:t>ersu</a:t>
            </a:r>
            <a:r>
              <a:rPr lang="en-US" sz="3200" dirty="0"/>
              <a:t>s Event-Driven Programming</a:t>
            </a:r>
          </a:p>
        </p:txBody>
      </p:sp>
      <p:sp>
        <p:nvSpPr>
          <p:cNvPr id="3" name="Content Placeholder 2">
            <a:extLst>
              <a:ext uri="{FF2B5EF4-FFF2-40B4-BE49-F238E27FC236}">
                <a16:creationId xmlns:a16="http://schemas.microsoft.com/office/drawing/2014/main" id="{A4BFD2C3-0C38-46F2-A012-8A42D099CF00}"/>
              </a:ext>
            </a:extLst>
          </p:cNvPr>
          <p:cNvSpPr>
            <a:spLocks noGrp="1"/>
          </p:cNvSpPr>
          <p:nvPr>
            <p:ph sz="quarter" idx="13"/>
          </p:nvPr>
        </p:nvSpPr>
        <p:spPr>
          <a:xfrm>
            <a:off x="457200" y="1554920"/>
            <a:ext cx="8232775" cy="1782169"/>
          </a:xfrm>
        </p:spPr>
        <p:txBody>
          <a:bodyPr/>
          <a:lstStyle/>
          <a:p>
            <a:r>
              <a:rPr lang="en-US" b="1" dirty="0"/>
              <a:t>Procedural programming</a:t>
            </a:r>
            <a:r>
              <a:rPr lang="en-US" dirty="0"/>
              <a:t> is executed in procedural order.</a:t>
            </a:r>
          </a:p>
          <a:p>
            <a:r>
              <a:rPr lang="en-US" dirty="0"/>
              <a:t>In event-driven programming, code is executed upon activation of events.</a:t>
            </a:r>
          </a:p>
        </p:txBody>
      </p:sp>
    </p:spTree>
    <p:extLst>
      <p:ext uri="{BB962C8B-B14F-4D97-AF65-F5344CB8AC3E}">
        <p14:creationId xmlns:p14="http://schemas.microsoft.com/office/powerpoint/2010/main" val="995904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297D2-18FD-4AB2-BFFB-9724654D0C0F}"/>
              </a:ext>
            </a:extLst>
          </p:cNvPr>
          <p:cNvSpPr>
            <a:spLocks noGrp="1"/>
          </p:cNvSpPr>
          <p:nvPr>
            <p:ph type="title"/>
          </p:nvPr>
        </p:nvSpPr>
        <p:spPr/>
        <p:txBody>
          <a:bodyPr/>
          <a:lstStyle/>
          <a:p>
            <a:r>
              <a:rPr lang="en-US"/>
              <a:t>Taste of Event-Driven Programming</a:t>
            </a:r>
          </a:p>
        </p:txBody>
      </p:sp>
      <p:sp>
        <p:nvSpPr>
          <p:cNvPr id="3" name="Content Placeholder 2">
            <a:extLst>
              <a:ext uri="{FF2B5EF4-FFF2-40B4-BE49-F238E27FC236}">
                <a16:creationId xmlns:a16="http://schemas.microsoft.com/office/drawing/2014/main" id="{47FA7030-2BD1-4145-80B7-1CA90E2FCA5C}"/>
              </a:ext>
            </a:extLst>
          </p:cNvPr>
          <p:cNvSpPr>
            <a:spLocks noGrp="1"/>
          </p:cNvSpPr>
          <p:nvPr>
            <p:ph sz="quarter" idx="13"/>
          </p:nvPr>
        </p:nvSpPr>
        <p:spPr>
          <a:xfrm>
            <a:off x="457200" y="1552575"/>
            <a:ext cx="8229600" cy="921684"/>
          </a:xfrm>
        </p:spPr>
        <p:txBody>
          <a:bodyPr/>
          <a:lstStyle/>
          <a:p>
            <a:pPr marL="432" indent="0">
              <a:buNone/>
            </a:pPr>
            <a:r>
              <a:rPr lang="en-US" altLang="en-US" dirty="0"/>
              <a:t>The example displays a button in the frame. A message is displayed on the console when a button is clicked.</a:t>
            </a:r>
          </a:p>
        </p:txBody>
      </p:sp>
      <p:pic>
        <p:nvPicPr>
          <p:cNvPr id="9" name="Picture 8" descr="An object shows the Taste of Event-Driven Programming. It has 2 boxes. Box 1, shows the Command Prompt-java Handle Event. For long description in Notes pane, press F6.">
            <a:extLst>
              <a:ext uri="{FF2B5EF4-FFF2-40B4-BE49-F238E27FC236}">
                <a16:creationId xmlns:a16="http://schemas.microsoft.com/office/drawing/2014/main" id="{FE258880-A480-44E7-94CD-4627A2605D18}"/>
              </a:ext>
            </a:extLst>
          </p:cNvPr>
          <p:cNvPicPr>
            <a:picLocks noChangeAspect="1"/>
          </p:cNvPicPr>
          <p:nvPr/>
        </p:nvPicPr>
        <p:blipFill>
          <a:blip r:embed="rId3"/>
          <a:stretch>
            <a:fillRect/>
          </a:stretch>
        </p:blipFill>
        <p:spPr>
          <a:xfrm>
            <a:off x="2955227" y="2608300"/>
            <a:ext cx="4240709" cy="1423798"/>
          </a:xfrm>
          <a:prstGeom prst="rect">
            <a:avLst/>
          </a:prstGeom>
        </p:spPr>
      </p:pic>
      <p:pic>
        <p:nvPicPr>
          <p:cNvPr id="12" name="Picture 11" descr="Box shows the Handle Event. It shows the 2 small boxes that are for OK and Cancel.">
            <a:extLst>
              <a:ext uri="{FF2B5EF4-FFF2-40B4-BE49-F238E27FC236}">
                <a16:creationId xmlns:a16="http://schemas.microsoft.com/office/drawing/2014/main" id="{B3BB335E-530D-4D6E-882E-0BD4D29862C2}"/>
              </a:ext>
            </a:extLst>
          </p:cNvPr>
          <p:cNvPicPr>
            <a:picLocks noChangeAspect="1"/>
          </p:cNvPicPr>
          <p:nvPr/>
        </p:nvPicPr>
        <p:blipFill>
          <a:blip r:embed="rId4"/>
          <a:stretch>
            <a:fillRect/>
          </a:stretch>
        </p:blipFill>
        <p:spPr>
          <a:xfrm>
            <a:off x="5568593" y="4111961"/>
            <a:ext cx="2645073" cy="1362428"/>
          </a:xfrm>
          <a:prstGeom prst="rect">
            <a:avLst/>
          </a:prstGeom>
        </p:spPr>
      </p:pic>
      <p:sp>
        <p:nvSpPr>
          <p:cNvPr id="10" name="Text Placeholder 9">
            <a:extLst>
              <a:ext uri="{FF2B5EF4-FFF2-40B4-BE49-F238E27FC236}">
                <a16:creationId xmlns:a16="http://schemas.microsoft.com/office/drawing/2014/main" id="{A6054C0C-1A8D-4B30-BB8D-EE18CA5219E8}"/>
              </a:ext>
            </a:extLst>
          </p:cNvPr>
          <p:cNvSpPr>
            <a:spLocks noGrp="1"/>
          </p:cNvSpPr>
          <p:nvPr>
            <p:ph type="body" sz="quarter" idx="20"/>
          </p:nvPr>
        </p:nvSpPr>
        <p:spPr>
          <a:xfrm>
            <a:off x="6725265" y="5713144"/>
            <a:ext cx="1961535" cy="564331"/>
          </a:xfrm>
        </p:spPr>
        <p:txBody>
          <a:bodyPr/>
          <a:lstStyle/>
          <a:p>
            <a:pPr marL="432" indent="0">
              <a:buNone/>
            </a:pPr>
            <a:r>
              <a:rPr lang="en-US" altLang="en-US" dirty="0">
                <a:hlinkClick r:id="rId5" tooltip="https://liveexample.pearsoncmg.com/html/HandleEvent.html"/>
              </a:rPr>
              <a:t>HandleEvent</a:t>
            </a:r>
          </a:p>
        </p:txBody>
      </p:sp>
    </p:spTree>
    <p:extLst>
      <p:ext uri="{BB962C8B-B14F-4D97-AF65-F5344CB8AC3E}">
        <p14:creationId xmlns:p14="http://schemas.microsoft.com/office/powerpoint/2010/main" val="2142716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D1ED6-B5E0-481C-BBB8-FE89263C05DD}"/>
              </a:ext>
            </a:extLst>
          </p:cNvPr>
          <p:cNvSpPr>
            <a:spLocks noGrp="1"/>
          </p:cNvSpPr>
          <p:nvPr>
            <p:ph type="title"/>
          </p:nvPr>
        </p:nvSpPr>
        <p:spPr/>
        <p:txBody>
          <a:bodyPr/>
          <a:lstStyle/>
          <a:p>
            <a:r>
              <a:rPr lang="en-US" altLang="en-US" dirty="0"/>
              <a:t>Handling G</a:t>
            </a:r>
            <a:r>
              <a:rPr lang="en-US" altLang="en-US" sz="100" dirty="0"/>
              <a:t> </a:t>
            </a:r>
            <a:r>
              <a:rPr lang="en-US" altLang="en-US" dirty="0"/>
              <a:t>U</a:t>
            </a:r>
            <a:r>
              <a:rPr lang="en-US" altLang="en-US" sz="100" dirty="0"/>
              <a:t> </a:t>
            </a:r>
            <a:r>
              <a:rPr lang="en-US" altLang="en-US" dirty="0"/>
              <a:t>I Events</a:t>
            </a:r>
            <a:endParaRPr lang="en-US" dirty="0"/>
          </a:p>
        </p:txBody>
      </p:sp>
      <p:sp>
        <p:nvSpPr>
          <p:cNvPr id="3" name="Content Placeholder 2">
            <a:extLst>
              <a:ext uri="{FF2B5EF4-FFF2-40B4-BE49-F238E27FC236}">
                <a16:creationId xmlns:a16="http://schemas.microsoft.com/office/drawing/2014/main" id="{A3E522D8-7935-4AB0-9C2E-F8D98EA98DA9}"/>
              </a:ext>
            </a:extLst>
          </p:cNvPr>
          <p:cNvSpPr>
            <a:spLocks noGrp="1"/>
          </p:cNvSpPr>
          <p:nvPr>
            <p:ph sz="quarter" idx="13"/>
          </p:nvPr>
        </p:nvSpPr>
        <p:spPr>
          <a:xfrm>
            <a:off x="457200" y="1556327"/>
            <a:ext cx="8229600" cy="1127879"/>
          </a:xfrm>
        </p:spPr>
        <p:txBody>
          <a:bodyPr/>
          <a:lstStyle/>
          <a:p>
            <a:pPr>
              <a:buFont typeface="Monotype Sorts"/>
              <a:buNone/>
            </a:pPr>
            <a:r>
              <a:rPr lang="en-US" altLang="en-US"/>
              <a:t>Source object (e.g., button)</a:t>
            </a:r>
          </a:p>
          <a:p>
            <a:pPr>
              <a:buFont typeface="Monotype Sorts"/>
              <a:buNone/>
            </a:pPr>
            <a:r>
              <a:rPr lang="en-US" altLang="en-US"/>
              <a:t>Listener object contains a method for processing the event.</a:t>
            </a:r>
          </a:p>
        </p:txBody>
      </p:sp>
      <p:pic>
        <p:nvPicPr>
          <p:cNvPr id="8" name="Picture 7" descr="An object shows the Handling GUI Events. For long description in Notes pane, press F6.">
            <a:extLst>
              <a:ext uri="{FF2B5EF4-FFF2-40B4-BE49-F238E27FC236}">
                <a16:creationId xmlns:a16="http://schemas.microsoft.com/office/drawing/2014/main" id="{14CD24C0-D538-444A-85F0-5ABFB8BED688}"/>
              </a:ext>
            </a:extLst>
          </p:cNvPr>
          <p:cNvPicPr>
            <a:picLocks noChangeAspect="1"/>
          </p:cNvPicPr>
          <p:nvPr/>
        </p:nvPicPr>
        <p:blipFill>
          <a:blip r:embed="rId3"/>
          <a:stretch>
            <a:fillRect/>
          </a:stretch>
        </p:blipFill>
        <p:spPr>
          <a:xfrm>
            <a:off x="619732" y="3342223"/>
            <a:ext cx="7904535" cy="1663144"/>
          </a:xfrm>
          <a:prstGeom prst="rect">
            <a:avLst/>
          </a:prstGeom>
        </p:spPr>
      </p:pic>
    </p:spTree>
    <p:extLst>
      <p:ext uri="{BB962C8B-B14F-4D97-AF65-F5344CB8AC3E}">
        <p14:creationId xmlns:p14="http://schemas.microsoft.com/office/powerpoint/2010/main" val="406540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B5A7F-E8D0-4129-93D3-4D2E6CA082ED}"/>
              </a:ext>
            </a:extLst>
          </p:cNvPr>
          <p:cNvSpPr>
            <a:spLocks noGrp="1"/>
          </p:cNvSpPr>
          <p:nvPr>
            <p:ph type="title"/>
          </p:nvPr>
        </p:nvSpPr>
        <p:spPr/>
        <p:txBody>
          <a:bodyPr/>
          <a:lstStyle/>
          <a:p>
            <a:r>
              <a:rPr lang="en-US" altLang="en-US"/>
              <a:t>Trace Execution </a:t>
            </a:r>
            <a:r>
              <a:rPr lang="en-US" altLang="en-US" sz="2000" b="0"/>
              <a:t>(1 of 3)</a:t>
            </a:r>
            <a:endParaRPr lang="en-US" sz="2000" b="0"/>
          </a:p>
        </p:txBody>
      </p:sp>
      <p:pic>
        <p:nvPicPr>
          <p:cNvPr id="6" name="Picture 5" descr="The computer code shows Trace Execution. For long description in Notes pane, press F6.">
            <a:extLst>
              <a:ext uri="{FF2B5EF4-FFF2-40B4-BE49-F238E27FC236}">
                <a16:creationId xmlns:a16="http://schemas.microsoft.com/office/drawing/2014/main" id="{FC6CEB18-BD76-4B4C-9E85-C7C468A504A3}"/>
              </a:ext>
            </a:extLst>
          </p:cNvPr>
          <p:cNvPicPr>
            <a:picLocks noChangeAspect="1"/>
          </p:cNvPicPr>
          <p:nvPr/>
        </p:nvPicPr>
        <p:blipFill>
          <a:blip r:embed="rId3"/>
          <a:stretch>
            <a:fillRect/>
          </a:stretch>
        </p:blipFill>
        <p:spPr>
          <a:xfrm>
            <a:off x="619732" y="1564081"/>
            <a:ext cx="7904535" cy="4658029"/>
          </a:xfrm>
          <a:prstGeom prst="rect">
            <a:avLst/>
          </a:prstGeom>
        </p:spPr>
      </p:pic>
    </p:spTree>
    <p:extLst>
      <p:ext uri="{BB962C8B-B14F-4D97-AF65-F5344CB8AC3E}">
        <p14:creationId xmlns:p14="http://schemas.microsoft.com/office/powerpoint/2010/main" val="3026590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B5A7F-E8D0-4129-93D3-4D2E6CA082ED}"/>
              </a:ext>
            </a:extLst>
          </p:cNvPr>
          <p:cNvSpPr>
            <a:spLocks noGrp="1"/>
          </p:cNvSpPr>
          <p:nvPr>
            <p:ph type="title"/>
          </p:nvPr>
        </p:nvSpPr>
        <p:spPr/>
        <p:txBody>
          <a:bodyPr/>
          <a:lstStyle/>
          <a:p>
            <a:r>
              <a:rPr lang="en-US" altLang="en-US" dirty="0"/>
              <a:t>Trace Execution </a:t>
            </a:r>
            <a:r>
              <a:rPr lang="en-US" altLang="en-US" sz="2000" b="0" dirty="0"/>
              <a:t>(2 of 3)</a:t>
            </a:r>
            <a:endParaRPr lang="en-US" sz="2000" b="0" dirty="0"/>
          </a:p>
        </p:txBody>
      </p:sp>
      <p:pic>
        <p:nvPicPr>
          <p:cNvPr id="7" name="Picture 6" descr="The computer code shows Trace Execution. For long description in Notes pane, press F6.">
            <a:extLst>
              <a:ext uri="{FF2B5EF4-FFF2-40B4-BE49-F238E27FC236}">
                <a16:creationId xmlns:a16="http://schemas.microsoft.com/office/drawing/2014/main" id="{FD3BA99E-481D-422C-B57D-FB8E9A58AD4F}"/>
              </a:ext>
            </a:extLst>
          </p:cNvPr>
          <p:cNvPicPr>
            <a:picLocks noChangeAspect="1"/>
          </p:cNvPicPr>
          <p:nvPr/>
        </p:nvPicPr>
        <p:blipFill>
          <a:blip r:embed="rId3"/>
          <a:stretch>
            <a:fillRect/>
          </a:stretch>
        </p:blipFill>
        <p:spPr>
          <a:xfrm>
            <a:off x="619732" y="1555138"/>
            <a:ext cx="7904535" cy="4664166"/>
          </a:xfrm>
          <a:prstGeom prst="rect">
            <a:avLst/>
          </a:prstGeom>
        </p:spPr>
      </p:pic>
    </p:spTree>
    <p:extLst>
      <p:ext uri="{BB962C8B-B14F-4D97-AF65-F5344CB8AC3E}">
        <p14:creationId xmlns:p14="http://schemas.microsoft.com/office/powerpoint/2010/main" val="2909946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B5A7F-E8D0-4129-93D3-4D2E6CA082ED}"/>
              </a:ext>
            </a:extLst>
          </p:cNvPr>
          <p:cNvSpPr>
            <a:spLocks noGrp="1"/>
          </p:cNvSpPr>
          <p:nvPr>
            <p:ph type="title"/>
          </p:nvPr>
        </p:nvSpPr>
        <p:spPr/>
        <p:txBody>
          <a:bodyPr/>
          <a:lstStyle/>
          <a:p>
            <a:r>
              <a:rPr lang="en-US" altLang="en-US"/>
              <a:t>Trace Execution </a:t>
            </a:r>
            <a:r>
              <a:rPr lang="en-US" altLang="en-US" sz="2000" b="0"/>
              <a:t>(3 of 3)</a:t>
            </a:r>
            <a:endParaRPr lang="en-US" sz="2000" b="0"/>
          </a:p>
        </p:txBody>
      </p:sp>
      <p:pic>
        <p:nvPicPr>
          <p:cNvPr id="7" name="Picture 6" descr="The computer code shows Trace Execution. For long description in Notes pane, press F6.">
            <a:extLst>
              <a:ext uri="{FF2B5EF4-FFF2-40B4-BE49-F238E27FC236}">
                <a16:creationId xmlns:a16="http://schemas.microsoft.com/office/drawing/2014/main" id="{B810B875-78E4-4055-B57B-E9C4B652B23B}"/>
              </a:ext>
            </a:extLst>
          </p:cNvPr>
          <p:cNvPicPr>
            <a:picLocks noChangeAspect="1"/>
          </p:cNvPicPr>
          <p:nvPr/>
        </p:nvPicPr>
        <p:blipFill>
          <a:blip r:embed="rId3"/>
          <a:stretch>
            <a:fillRect/>
          </a:stretch>
        </p:blipFill>
        <p:spPr>
          <a:xfrm>
            <a:off x="1003299" y="1557189"/>
            <a:ext cx="7137402" cy="4664166"/>
          </a:xfrm>
          <a:prstGeom prst="rect">
            <a:avLst/>
          </a:prstGeom>
        </p:spPr>
      </p:pic>
    </p:spTree>
    <p:extLst>
      <p:ext uri="{BB962C8B-B14F-4D97-AF65-F5344CB8AC3E}">
        <p14:creationId xmlns:p14="http://schemas.microsoft.com/office/powerpoint/2010/main" val="3913404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60DFC-23CF-4FA7-92E7-75DF1C8601B1}"/>
              </a:ext>
            </a:extLst>
          </p:cNvPr>
          <p:cNvSpPr>
            <a:spLocks noGrp="1"/>
          </p:cNvSpPr>
          <p:nvPr>
            <p:ph type="title"/>
          </p:nvPr>
        </p:nvSpPr>
        <p:spPr/>
        <p:txBody>
          <a:bodyPr/>
          <a:lstStyle/>
          <a:p>
            <a:r>
              <a:rPr lang="en-US"/>
              <a:t>Events</a:t>
            </a:r>
          </a:p>
        </p:txBody>
      </p:sp>
      <p:sp>
        <p:nvSpPr>
          <p:cNvPr id="3" name="Content Placeholder 2">
            <a:extLst>
              <a:ext uri="{FF2B5EF4-FFF2-40B4-BE49-F238E27FC236}">
                <a16:creationId xmlns:a16="http://schemas.microsoft.com/office/drawing/2014/main" id="{94AD9BB3-9F50-4FCA-8E94-97F0BB3D95D9}"/>
              </a:ext>
            </a:extLst>
          </p:cNvPr>
          <p:cNvSpPr>
            <a:spLocks noGrp="1"/>
          </p:cNvSpPr>
          <p:nvPr>
            <p:ph sz="quarter" idx="13"/>
          </p:nvPr>
        </p:nvSpPr>
        <p:spPr>
          <a:xfrm>
            <a:off x="457200" y="1554921"/>
            <a:ext cx="8232775" cy="1874079"/>
          </a:xfrm>
        </p:spPr>
        <p:txBody>
          <a:bodyPr/>
          <a:lstStyle/>
          <a:p>
            <a:r>
              <a:rPr lang="en-US" dirty="0"/>
              <a:t>An </a:t>
            </a:r>
            <a:r>
              <a:rPr lang="en-US" b="1" dirty="0"/>
              <a:t>event</a:t>
            </a:r>
            <a:r>
              <a:rPr lang="en-US" dirty="0"/>
              <a:t> can be defined as a type of signal to the program that something has happened.</a:t>
            </a:r>
          </a:p>
          <a:p>
            <a:r>
              <a:rPr lang="en-US" dirty="0"/>
              <a:t>The event is generated by external user actions such as mouse movements, mouse clicks, or keystrokes.</a:t>
            </a:r>
          </a:p>
        </p:txBody>
      </p:sp>
    </p:spTree>
    <p:extLst>
      <p:ext uri="{BB962C8B-B14F-4D97-AF65-F5344CB8AC3E}">
        <p14:creationId xmlns:p14="http://schemas.microsoft.com/office/powerpoint/2010/main" val="570970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0EB9F-4A17-433F-BF3D-B59ED14541A2}"/>
              </a:ext>
            </a:extLst>
          </p:cNvPr>
          <p:cNvSpPr>
            <a:spLocks noGrp="1"/>
          </p:cNvSpPr>
          <p:nvPr>
            <p:ph type="title"/>
          </p:nvPr>
        </p:nvSpPr>
        <p:spPr/>
        <p:txBody>
          <a:bodyPr/>
          <a:lstStyle/>
          <a:p>
            <a:r>
              <a:rPr lang="en-US" dirty="0"/>
              <a:t>Event Classes</a:t>
            </a:r>
          </a:p>
        </p:txBody>
      </p:sp>
      <p:pic>
        <p:nvPicPr>
          <p:cNvPr id="7" name="Picture 6" descr="An object shows the Event Classes. For long description in Notes pane, press F6.">
            <a:extLst>
              <a:ext uri="{FF2B5EF4-FFF2-40B4-BE49-F238E27FC236}">
                <a16:creationId xmlns:a16="http://schemas.microsoft.com/office/drawing/2014/main" id="{8BBA5EAC-EDDB-4134-95BF-BACC010F1066}"/>
              </a:ext>
            </a:extLst>
          </p:cNvPr>
          <p:cNvPicPr>
            <a:picLocks noChangeAspect="1"/>
          </p:cNvPicPr>
          <p:nvPr/>
        </p:nvPicPr>
        <p:blipFill>
          <a:blip r:embed="rId3"/>
          <a:stretch>
            <a:fillRect/>
          </a:stretch>
        </p:blipFill>
        <p:spPr>
          <a:xfrm>
            <a:off x="578118" y="2258206"/>
            <a:ext cx="7987762" cy="2924676"/>
          </a:xfrm>
          <a:prstGeom prst="rect">
            <a:avLst/>
          </a:prstGeom>
        </p:spPr>
      </p:pic>
    </p:spTree>
    <p:extLst>
      <p:ext uri="{BB962C8B-B14F-4D97-AF65-F5344CB8AC3E}">
        <p14:creationId xmlns:p14="http://schemas.microsoft.com/office/powerpoint/2010/main" val="39727718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33380-0C6F-4EED-9029-7F7092FB586C}"/>
              </a:ext>
            </a:extLst>
          </p:cNvPr>
          <p:cNvSpPr>
            <a:spLocks noGrp="1"/>
          </p:cNvSpPr>
          <p:nvPr>
            <p:ph type="title"/>
          </p:nvPr>
        </p:nvSpPr>
        <p:spPr/>
        <p:txBody>
          <a:bodyPr/>
          <a:lstStyle/>
          <a:p>
            <a:r>
              <a:rPr lang="en-US" altLang="en-US"/>
              <a:t>Event Information</a:t>
            </a:r>
            <a:endParaRPr lang="en-US"/>
          </a:p>
        </p:txBody>
      </p:sp>
      <p:sp>
        <p:nvSpPr>
          <p:cNvPr id="3" name="Content Placeholder 2">
            <a:extLst>
              <a:ext uri="{FF2B5EF4-FFF2-40B4-BE49-F238E27FC236}">
                <a16:creationId xmlns:a16="http://schemas.microsoft.com/office/drawing/2014/main" id="{1E344B6C-B4BB-4EE9-8073-FE4A3978D313}"/>
              </a:ext>
            </a:extLst>
          </p:cNvPr>
          <p:cNvSpPr>
            <a:spLocks noGrp="1"/>
          </p:cNvSpPr>
          <p:nvPr>
            <p:ph sz="quarter" idx="13"/>
          </p:nvPr>
        </p:nvSpPr>
        <p:spPr>
          <a:xfrm>
            <a:off x="457200" y="1554920"/>
            <a:ext cx="8232775" cy="3215043"/>
          </a:xfrm>
        </p:spPr>
        <p:txBody>
          <a:bodyPr/>
          <a:lstStyle/>
          <a:p>
            <a:pPr marL="432" indent="0">
              <a:buNone/>
            </a:pPr>
            <a:r>
              <a:rPr lang="en-US" altLang="en-US" dirty="0">
                <a:cs typeface="Times New Roman" panose="02020603050405020304" pitchFamily="18" charset="0"/>
              </a:rPr>
              <a:t>An event object contains whatever properties are pertinent to the event. You can identify the source object of the event using the </a:t>
            </a:r>
            <a:r>
              <a:rPr lang="en-US" altLang="en-US" dirty="0" err="1">
                <a:latin typeface="Courier New" panose="02070309020205020404" pitchFamily="49" charset="0"/>
                <a:cs typeface="Courier New" panose="02070309020205020404" pitchFamily="49" charset="0"/>
              </a:rPr>
              <a:t>getSource</a:t>
            </a:r>
            <a:r>
              <a:rPr lang="en-US" altLang="en-US" dirty="0">
                <a:latin typeface="Courier New" panose="02070309020205020404" pitchFamily="49" charset="0"/>
                <a:cs typeface="Courier New" panose="02070309020205020404" pitchFamily="49" charset="0"/>
              </a:rPr>
              <a:t>()</a:t>
            </a:r>
            <a:r>
              <a:rPr lang="en-US" altLang="en-US" dirty="0">
                <a:cs typeface="Times New Roman" panose="02020603050405020304" pitchFamily="18" charset="0"/>
              </a:rPr>
              <a:t> instance method in the </a:t>
            </a:r>
            <a:r>
              <a:rPr lang="en-US" altLang="en-US" dirty="0" err="1">
                <a:latin typeface="Courier New" panose="02070309020205020404" pitchFamily="49" charset="0"/>
                <a:cs typeface="Courier New" panose="02070309020205020404" pitchFamily="49" charset="0"/>
              </a:rPr>
              <a:t>EventObject</a:t>
            </a:r>
            <a:r>
              <a:rPr lang="en-US" altLang="en-US" dirty="0">
                <a:cs typeface="Times New Roman" panose="02020603050405020304" pitchFamily="18" charset="0"/>
              </a:rPr>
              <a:t> </a:t>
            </a:r>
            <a:r>
              <a:rPr lang="en-US" altLang="en-US" dirty="0">
                <a:latin typeface="Courier New" panose="02070309020205020404" pitchFamily="49" charset="0"/>
                <a:cs typeface="Courier New" panose="02070309020205020404" pitchFamily="49" charset="0"/>
              </a:rPr>
              <a:t>class. </a:t>
            </a:r>
            <a:r>
              <a:rPr lang="en-US" altLang="en-US" dirty="0">
                <a:cs typeface="Times New Roman" panose="02020603050405020304" pitchFamily="18" charset="0"/>
              </a:rPr>
              <a:t>The subclasses of </a:t>
            </a:r>
            <a:r>
              <a:rPr lang="en-US" altLang="en-US" dirty="0" err="1">
                <a:latin typeface="Courier New" panose="02070309020205020404" pitchFamily="49" charset="0"/>
                <a:cs typeface="Courier New" panose="02070309020205020404" pitchFamily="49" charset="0"/>
              </a:rPr>
              <a:t>EventObject</a:t>
            </a:r>
            <a:r>
              <a:rPr lang="en-US" altLang="en-US" dirty="0">
                <a:cs typeface="Times New Roman" panose="02020603050405020304" pitchFamily="18" charset="0"/>
              </a:rPr>
              <a:t> deal with special types of events, such as button actions, window events, mouse movements, and keystrokes. Table 15.1 lists external user actions, source objects, and event types generated.</a:t>
            </a:r>
          </a:p>
        </p:txBody>
      </p:sp>
    </p:spTree>
    <p:extLst>
      <p:ext uri="{BB962C8B-B14F-4D97-AF65-F5344CB8AC3E}">
        <p14:creationId xmlns:p14="http://schemas.microsoft.com/office/powerpoint/2010/main" val="952146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6B911-476A-4AC1-9316-5A2CFC84D1D4}"/>
              </a:ext>
            </a:extLst>
          </p:cNvPr>
          <p:cNvSpPr>
            <a:spLocks noGrp="1"/>
          </p:cNvSpPr>
          <p:nvPr>
            <p:ph type="title"/>
          </p:nvPr>
        </p:nvSpPr>
        <p:spPr/>
        <p:txBody>
          <a:bodyPr/>
          <a:lstStyle/>
          <a:p>
            <a:r>
              <a:rPr lang="en-US" dirty="0"/>
              <a:t>Selected User Actions and Handlers</a:t>
            </a:r>
          </a:p>
        </p:txBody>
      </p:sp>
      <p:graphicFrame>
        <p:nvGraphicFramePr>
          <p:cNvPr id="4" name="Table 3"/>
          <p:cNvGraphicFramePr>
            <a:graphicFrameLocks noGrp="1"/>
          </p:cNvGraphicFramePr>
          <p:nvPr>
            <p:extLst>
              <p:ext uri="{D42A27DB-BD31-4B8C-83A1-F6EECF244321}">
                <p14:modId xmlns:p14="http://schemas.microsoft.com/office/powerpoint/2010/main" val="3190780490"/>
              </p:ext>
            </p:extLst>
          </p:nvPr>
        </p:nvGraphicFramePr>
        <p:xfrm>
          <a:off x="502920" y="1501503"/>
          <a:ext cx="8138160" cy="4381472"/>
        </p:xfrm>
        <a:graphic>
          <a:graphicData uri="http://schemas.openxmlformats.org/drawingml/2006/table">
            <a:tbl>
              <a:tblPr firstRow="1" bandRow="1">
                <a:tableStyleId>{40F9630F-82C1-40B7-BC3A-925EFCFF5E92}</a:tableStyleId>
              </a:tblPr>
              <a:tblGrid>
                <a:gridCol w="1338943">
                  <a:extLst>
                    <a:ext uri="{9D8B030D-6E8A-4147-A177-3AD203B41FA5}">
                      <a16:colId xmlns:a16="http://schemas.microsoft.com/office/drawing/2014/main" val="1054608510"/>
                    </a:ext>
                  </a:extLst>
                </a:gridCol>
                <a:gridCol w="1299370">
                  <a:extLst>
                    <a:ext uri="{9D8B030D-6E8A-4147-A177-3AD203B41FA5}">
                      <a16:colId xmlns:a16="http://schemas.microsoft.com/office/drawing/2014/main" val="2592911404"/>
                    </a:ext>
                  </a:extLst>
                </a:gridCol>
                <a:gridCol w="1247887">
                  <a:extLst>
                    <a:ext uri="{9D8B030D-6E8A-4147-A177-3AD203B41FA5}">
                      <a16:colId xmlns:a16="http://schemas.microsoft.com/office/drawing/2014/main" val="2344319217"/>
                    </a:ext>
                  </a:extLst>
                </a:gridCol>
                <a:gridCol w="4251960">
                  <a:extLst>
                    <a:ext uri="{9D8B030D-6E8A-4147-A177-3AD203B41FA5}">
                      <a16:colId xmlns:a16="http://schemas.microsoft.com/office/drawing/2014/main" val="2856066629"/>
                    </a:ext>
                  </a:extLst>
                </a:gridCol>
              </a:tblGrid>
              <a:tr h="2160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cap="none" baseline="0" noProof="0" dirty="0">
                          <a:solidFill>
                            <a:schemeClr val="dk1"/>
                          </a:solidFill>
                          <a:latin typeface="+mn-lt"/>
                          <a:ea typeface="Arial"/>
                          <a:cs typeface="Arial"/>
                          <a:sym typeface="Arial"/>
                        </a:rPr>
                        <a:t>User Action</a:t>
                      </a:r>
                    </a:p>
                  </a:txBody>
                  <a:tcPr marT="16906" marB="1690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cap="none" baseline="0" noProof="0">
                          <a:solidFill>
                            <a:schemeClr val="dk1"/>
                          </a:solidFill>
                          <a:latin typeface="+mn-lt"/>
                          <a:ea typeface="Arial"/>
                          <a:cs typeface="Arial"/>
                          <a:sym typeface="Arial"/>
                        </a:rPr>
                        <a:t>Source Object</a:t>
                      </a:r>
                    </a:p>
                  </a:txBody>
                  <a:tcPr marT="16906" marB="1690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cap="none" baseline="0" noProof="0">
                          <a:solidFill>
                            <a:schemeClr val="dk1"/>
                          </a:solidFill>
                          <a:latin typeface="+mn-lt"/>
                          <a:ea typeface="Arial"/>
                          <a:cs typeface="Arial"/>
                          <a:sym typeface="Arial"/>
                        </a:rPr>
                        <a:t>Event Type Fired</a:t>
                      </a:r>
                    </a:p>
                  </a:txBody>
                  <a:tcPr marT="16906" marB="1690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cap="none" baseline="0" noProof="0" dirty="0">
                          <a:solidFill>
                            <a:schemeClr val="dk1"/>
                          </a:solidFill>
                          <a:latin typeface="+mn-lt"/>
                          <a:ea typeface="Arial"/>
                          <a:cs typeface="Arial"/>
                          <a:sym typeface="Arial"/>
                        </a:rPr>
                        <a:t>Event Registration Method</a:t>
                      </a:r>
                    </a:p>
                  </a:txBody>
                  <a:tcPr marT="16906" marB="1690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556992"/>
                  </a:ext>
                </a:extLst>
              </a:tr>
              <a:tr h="2160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a:solidFill>
                            <a:schemeClr val="dk1"/>
                          </a:solidFill>
                          <a:latin typeface="+mn-lt"/>
                          <a:ea typeface="Arial"/>
                          <a:cs typeface="Arial"/>
                          <a:sym typeface="Arial"/>
                        </a:rPr>
                        <a:t>Click a button</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a:solidFill>
                            <a:schemeClr val="tx1"/>
                          </a:solidFill>
                          <a:latin typeface="+mn-lt"/>
                          <a:ea typeface="Arial"/>
                          <a:cs typeface="Arial"/>
                          <a:sym typeface="Arial"/>
                        </a:rPr>
                        <a:t>Button</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ActionEvent</a:t>
                      </a:r>
                      <a:endPar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endParaRP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setOnAction</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EventHandler</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&lt;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ActionEvent</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&gt;)</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67755542"/>
                  </a:ext>
                </a:extLst>
              </a:tr>
              <a:tr h="2160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a:solidFill>
                            <a:schemeClr val="dk1"/>
                          </a:solidFill>
                          <a:latin typeface="+mn-lt"/>
                          <a:ea typeface="Arial"/>
                          <a:cs typeface="Arial"/>
                          <a:sym typeface="Arial"/>
                        </a:rPr>
                        <a:t>Press Enter in a text field</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TextField</a:t>
                      </a:r>
                      <a:endPar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endParaRP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ActionEvent</a:t>
                      </a:r>
                      <a:endPar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endParaRP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setOnAction</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EventHandler</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&lt;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ActionEvent</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&gt;)</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2548446"/>
                  </a:ext>
                </a:extLst>
              </a:tr>
              <a:tr h="2160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a:solidFill>
                            <a:schemeClr val="dk1"/>
                          </a:solidFill>
                          <a:latin typeface="+mn-lt"/>
                          <a:ea typeface="Arial"/>
                          <a:cs typeface="Arial"/>
                          <a:sym typeface="Arial"/>
                        </a:rPr>
                        <a:t>Check or uncheck</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RadioButton</a:t>
                      </a:r>
                      <a:endPar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endParaRP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ActionEvent</a:t>
                      </a:r>
                      <a:endPar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endParaRP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setOnAction</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EventHandler</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&lt;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ActionEvent</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&gt;)</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39075975"/>
                  </a:ext>
                </a:extLst>
              </a:tr>
              <a:tr h="2160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a:solidFill>
                            <a:schemeClr val="dk1"/>
                          </a:solidFill>
                          <a:latin typeface="+mn-lt"/>
                          <a:ea typeface="Arial"/>
                          <a:cs typeface="Arial"/>
                          <a:sym typeface="Arial"/>
                        </a:rPr>
                        <a:t>Check or uncheck</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CheckBox</a:t>
                      </a:r>
                      <a:endPar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endParaRP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a:solidFill>
                            <a:schemeClr val="tx1"/>
                          </a:solidFill>
                          <a:latin typeface="Courier New" panose="02070309020205020404" pitchFamily="49" charset="0"/>
                          <a:ea typeface="Arial"/>
                          <a:cs typeface="Courier New" panose="02070309020205020404" pitchFamily="49" charset="0"/>
                          <a:sym typeface="Arial"/>
                        </a:rPr>
                        <a:t>ActionEvent</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setOnAction</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EventHandler</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&lt;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ActionEvent</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&gt;)</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524337"/>
                  </a:ext>
                </a:extLst>
              </a:tr>
              <a:tr h="2160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a:solidFill>
                            <a:schemeClr val="dk1"/>
                          </a:solidFill>
                          <a:latin typeface="+mn-lt"/>
                          <a:ea typeface="Arial"/>
                          <a:cs typeface="Arial"/>
                          <a:sym typeface="Arial"/>
                        </a:rPr>
                        <a:t>Select a new; item</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ComboBox</a:t>
                      </a:r>
                      <a:endPar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endParaRP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ActionEvent</a:t>
                      </a:r>
                      <a:endPar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endParaRP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setOnAction</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EventHandler</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&lt;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ActionEvent</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&gt;)</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94865874"/>
                  </a:ext>
                </a:extLst>
              </a:tr>
              <a:tr h="2160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a:solidFill>
                            <a:schemeClr val="dk1"/>
                          </a:solidFill>
                          <a:latin typeface="+mn-lt"/>
                          <a:ea typeface="Arial"/>
                          <a:cs typeface="Arial"/>
                          <a:sym typeface="Arial"/>
                        </a:rPr>
                        <a:t>Mouse pressed</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a:solidFill>
                            <a:schemeClr val="tx1"/>
                          </a:solidFill>
                          <a:latin typeface="+mn-lt"/>
                          <a:ea typeface="Arial"/>
                          <a:cs typeface="Arial"/>
                          <a:sym typeface="Arial"/>
                        </a:rPr>
                        <a:t>Node, Scene</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MouseEvent</a:t>
                      </a:r>
                      <a:endPar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endParaRP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setOnMousePressed</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EventHandler</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&lt;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MouseEvent</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&gt;)</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75639765"/>
                  </a:ext>
                </a:extLst>
              </a:tr>
              <a:tr h="2160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a:solidFill>
                            <a:schemeClr val="dk1"/>
                          </a:solidFill>
                          <a:latin typeface="+mn-lt"/>
                          <a:ea typeface="Arial"/>
                          <a:cs typeface="Arial"/>
                          <a:sym typeface="Arial"/>
                        </a:rPr>
                        <a:t>Mouse released</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 noProof="0" dirty="0">
                          <a:solidFill>
                            <a:schemeClr val="tx1"/>
                          </a:solidFill>
                          <a:latin typeface="+mn-lt"/>
                        </a:rPr>
                        <a:t>Blank</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 noProof="0" dirty="0">
                          <a:solidFill>
                            <a:schemeClr val="tx1"/>
                          </a:solidFill>
                          <a:latin typeface="+mn-lt"/>
                        </a:rPr>
                        <a:t>Blank</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setOnMouseReleased</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EventHandler</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&lt;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MouseEvent</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&gt;)</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48995668"/>
                  </a:ext>
                </a:extLst>
              </a:tr>
              <a:tr h="2160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a:solidFill>
                            <a:schemeClr val="dk1"/>
                          </a:solidFill>
                          <a:latin typeface="+mn-lt"/>
                          <a:ea typeface="Arial"/>
                          <a:cs typeface="Arial"/>
                          <a:sym typeface="Arial"/>
                        </a:rPr>
                        <a:t>Mouse clicked</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 noProof="0" dirty="0">
                          <a:solidFill>
                            <a:schemeClr val="tx1"/>
                          </a:solidFill>
                          <a:latin typeface="+mn-lt"/>
                        </a:rPr>
                        <a:t>Blank</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 noProof="0">
                          <a:solidFill>
                            <a:schemeClr val="tx1"/>
                          </a:solidFill>
                          <a:latin typeface="+mn-lt"/>
                        </a:rPr>
                        <a:t>Blank</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setOnMouseClicked</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EventHandler</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&lt;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MouseEvent</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&gt;)</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11603066"/>
                  </a:ext>
                </a:extLst>
              </a:tr>
              <a:tr h="2160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a:solidFill>
                            <a:schemeClr val="dk1"/>
                          </a:solidFill>
                          <a:latin typeface="+mn-lt"/>
                          <a:ea typeface="Arial"/>
                          <a:cs typeface="Arial"/>
                          <a:sym typeface="Arial"/>
                        </a:rPr>
                        <a:t>Mouse entered</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 noProof="0" dirty="0">
                          <a:solidFill>
                            <a:schemeClr val="tx1"/>
                          </a:solidFill>
                          <a:latin typeface="+mn-lt"/>
                        </a:rPr>
                        <a:t>Blank</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 noProof="0" dirty="0">
                          <a:solidFill>
                            <a:schemeClr val="tx1"/>
                          </a:solidFill>
                          <a:latin typeface="+mn-lt"/>
                        </a:rPr>
                        <a:t>Blank</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setOnMouseEntered</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EventHandler</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&lt;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MouseEvent</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&gt;)</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8900465"/>
                  </a:ext>
                </a:extLst>
              </a:tr>
              <a:tr h="2160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a:solidFill>
                            <a:schemeClr val="dk1"/>
                          </a:solidFill>
                          <a:latin typeface="+mn-lt"/>
                          <a:ea typeface="Arial"/>
                          <a:cs typeface="Arial"/>
                          <a:sym typeface="Arial"/>
                        </a:rPr>
                        <a:t>Mouse exited</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 noProof="0">
                          <a:solidFill>
                            <a:schemeClr val="tx1"/>
                          </a:solidFill>
                          <a:latin typeface="+mn-lt"/>
                        </a:rPr>
                        <a:t>Blank</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 noProof="0" dirty="0">
                          <a:solidFill>
                            <a:schemeClr val="tx1"/>
                          </a:solidFill>
                          <a:latin typeface="+mn-lt"/>
                        </a:rPr>
                        <a:t>Blank</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setOnMouseExited</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EventHandler</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&lt;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MouseEvent</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&gt;)</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6038881"/>
                  </a:ext>
                </a:extLst>
              </a:tr>
              <a:tr h="2160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a:solidFill>
                            <a:schemeClr val="dk1"/>
                          </a:solidFill>
                          <a:latin typeface="+mn-lt"/>
                          <a:ea typeface="Arial"/>
                          <a:cs typeface="Arial"/>
                          <a:sym typeface="Arial"/>
                        </a:rPr>
                        <a:t>Mouse moved</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 noProof="0">
                          <a:solidFill>
                            <a:schemeClr val="tx1"/>
                          </a:solidFill>
                          <a:latin typeface="+mn-lt"/>
                        </a:rPr>
                        <a:t>Blank</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 noProof="0" dirty="0">
                          <a:solidFill>
                            <a:schemeClr val="tx1"/>
                          </a:solidFill>
                          <a:latin typeface="+mn-lt"/>
                        </a:rPr>
                        <a:t>Blank</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setOnMouseMoved</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EventHandler</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&lt;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MouseEvent</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&gt;)</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10210655"/>
                  </a:ext>
                </a:extLst>
              </a:tr>
              <a:tr h="2160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a:solidFill>
                            <a:schemeClr val="dk1"/>
                          </a:solidFill>
                          <a:latin typeface="+mn-lt"/>
                          <a:ea typeface="Arial"/>
                          <a:cs typeface="Arial"/>
                          <a:sym typeface="Arial"/>
                        </a:rPr>
                        <a:t>Mouse dragged</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 noProof="0">
                          <a:solidFill>
                            <a:schemeClr val="tx1"/>
                          </a:solidFill>
                          <a:latin typeface="+mn-lt"/>
                        </a:rPr>
                        <a:t>Blank</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 noProof="0" dirty="0">
                          <a:solidFill>
                            <a:schemeClr val="tx1"/>
                          </a:solidFill>
                          <a:latin typeface="+mn-lt"/>
                        </a:rPr>
                        <a:t>Blank</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setOnMouseDragged</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EventHandler</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&lt;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MouseEvent</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&gt;)</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52766296"/>
                  </a:ext>
                </a:extLst>
              </a:tr>
              <a:tr h="2160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a:solidFill>
                            <a:schemeClr val="dk1"/>
                          </a:solidFill>
                          <a:latin typeface="+mn-lt"/>
                          <a:ea typeface="Arial"/>
                          <a:cs typeface="Arial"/>
                          <a:sym typeface="Arial"/>
                        </a:rPr>
                        <a:t>Key pressed:</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0" i="0" u="none" strike="noStrike" cap="none" baseline="0" noProof="0" dirty="0">
                          <a:solidFill>
                            <a:schemeClr val="tx1"/>
                          </a:solidFill>
                          <a:latin typeface="+mn-lt"/>
                          <a:ea typeface="Arial"/>
                          <a:cs typeface="Arial"/>
                          <a:sym typeface="Arial"/>
                        </a:rPr>
                        <a:t>Node, Scene</a:t>
                      </a:r>
                      <a:endParaRPr lang="en-US" sz="1200" noProof="0" dirty="0">
                        <a:solidFill>
                          <a:schemeClr val="tx1"/>
                        </a:solidFill>
                        <a:latin typeface="+mn-lt"/>
                      </a:endParaRP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KeyEvent</a:t>
                      </a:r>
                      <a:endPar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endParaRP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setOnKeyPressed</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EventHandler</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&lt;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KeyEvent</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&gt;)</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57713757"/>
                  </a:ext>
                </a:extLst>
              </a:tr>
              <a:tr h="2160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a:solidFill>
                            <a:schemeClr val="dk1"/>
                          </a:solidFill>
                          <a:latin typeface="+mn-lt"/>
                          <a:ea typeface="Arial"/>
                          <a:cs typeface="Arial"/>
                          <a:sym typeface="Arial"/>
                        </a:rPr>
                        <a:t>Key released</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 noProof="0" dirty="0">
                          <a:solidFill>
                            <a:schemeClr val="tx1"/>
                          </a:solidFill>
                          <a:latin typeface="+mn-lt"/>
                        </a:rPr>
                        <a:t>Blank</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 noProof="0" dirty="0">
                          <a:solidFill>
                            <a:schemeClr val="tx1"/>
                          </a:solidFill>
                          <a:latin typeface="+mn-lt"/>
                        </a:rPr>
                        <a:t>Blank</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setOnKeyReleased</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EventHandler</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&lt;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KeyEvent</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&gt;)</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41898287"/>
                  </a:ext>
                </a:extLst>
              </a:tr>
              <a:tr h="216021">
                <a:tc>
                  <a:txBody>
                    <a:bodyPr/>
                    <a:lstStyle/>
                    <a:p>
                      <a:r>
                        <a:rPr lang="en-US" sz="1200" b="0" i="0" u="none" strike="noStrike" cap="none" baseline="0" noProof="0" dirty="0">
                          <a:solidFill>
                            <a:schemeClr val="dk1"/>
                          </a:solidFill>
                          <a:latin typeface="+mn-lt"/>
                          <a:ea typeface="Arial"/>
                          <a:cs typeface="Arial"/>
                          <a:sym typeface="Arial"/>
                        </a:rPr>
                        <a:t>Key typed</a:t>
                      </a:r>
                      <a:endParaRPr lang="en-US" sz="1200" noProof="0" dirty="0">
                        <a:latin typeface="+mn-lt"/>
                      </a:endParaRP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 noProof="0" dirty="0">
                          <a:solidFill>
                            <a:schemeClr val="tx1"/>
                          </a:solidFill>
                          <a:latin typeface="+mn-lt"/>
                        </a:rPr>
                        <a:t>Blank</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 noProof="0" dirty="0">
                          <a:solidFill>
                            <a:schemeClr val="tx1"/>
                          </a:solidFill>
                          <a:latin typeface="+mn-lt"/>
                        </a:rPr>
                        <a:t>Blank</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setOnKeyTyped</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EventHandler</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&lt;</a:t>
                      </a:r>
                      <a:r>
                        <a:rPr lang="en-US" sz="1200" b="0" i="0" u="none" strike="noStrike" cap="none" baseline="0" noProof="0" dirty="0" err="1">
                          <a:solidFill>
                            <a:schemeClr val="tx1"/>
                          </a:solidFill>
                          <a:latin typeface="Courier New" panose="02070309020205020404" pitchFamily="49" charset="0"/>
                          <a:ea typeface="Arial"/>
                          <a:cs typeface="Courier New" panose="02070309020205020404" pitchFamily="49" charset="0"/>
                          <a:sym typeface="Arial"/>
                        </a:rPr>
                        <a:t>KeyEvent</a:t>
                      </a:r>
                      <a:r>
                        <a:rPr lang="en-US" sz="1200" b="0" i="0" u="none" strike="noStrike" cap="none" baseline="0" noProof="0" dirty="0">
                          <a:solidFill>
                            <a:schemeClr val="tx1"/>
                          </a:solidFill>
                          <a:latin typeface="Courier New" panose="02070309020205020404" pitchFamily="49" charset="0"/>
                          <a:ea typeface="Arial"/>
                          <a:cs typeface="Courier New" panose="02070309020205020404" pitchFamily="49" charset="0"/>
                          <a:sym typeface="Arial"/>
                        </a:rPr>
                        <a:t>&gt;)</a:t>
                      </a:r>
                    </a:p>
                  </a:txBody>
                  <a:tcPr marT="16906" marB="169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23959575"/>
                  </a:ext>
                </a:extLst>
              </a:tr>
            </a:tbl>
          </a:graphicData>
        </a:graphic>
      </p:graphicFrame>
    </p:spTree>
    <p:extLst>
      <p:ext uri="{BB962C8B-B14F-4D97-AF65-F5344CB8AC3E}">
        <p14:creationId xmlns:p14="http://schemas.microsoft.com/office/powerpoint/2010/main" val="1286361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8D894-02A5-4C02-B165-48C576B6A2C5}"/>
              </a:ext>
            </a:extLst>
          </p:cNvPr>
          <p:cNvSpPr>
            <a:spLocks noGrp="1"/>
          </p:cNvSpPr>
          <p:nvPr>
            <p:ph type="title"/>
          </p:nvPr>
        </p:nvSpPr>
        <p:spPr/>
        <p:txBody>
          <a:bodyPr/>
          <a:lstStyle/>
          <a:p>
            <a:r>
              <a:rPr lang="en-US"/>
              <a:t>The Delegation Model</a:t>
            </a:r>
          </a:p>
        </p:txBody>
      </p:sp>
      <p:pic>
        <p:nvPicPr>
          <p:cNvPr id="7" name="Picture 6" descr="An object shows the Delegation Model. For long description in Notes pane, press F6.">
            <a:extLst>
              <a:ext uri="{FF2B5EF4-FFF2-40B4-BE49-F238E27FC236}">
                <a16:creationId xmlns:a16="http://schemas.microsoft.com/office/drawing/2014/main" id="{D64C7966-E580-47A0-8000-456990869BF0}"/>
              </a:ext>
            </a:extLst>
          </p:cNvPr>
          <p:cNvPicPr>
            <a:picLocks noChangeAspect="1"/>
          </p:cNvPicPr>
          <p:nvPr/>
        </p:nvPicPr>
        <p:blipFill>
          <a:blip r:embed="rId3"/>
          <a:stretch>
            <a:fillRect/>
          </a:stretch>
        </p:blipFill>
        <p:spPr>
          <a:xfrm>
            <a:off x="497841" y="2002577"/>
            <a:ext cx="8148316" cy="3621473"/>
          </a:xfrm>
          <a:prstGeom prst="rect">
            <a:avLst/>
          </a:prstGeom>
        </p:spPr>
      </p:pic>
    </p:spTree>
    <p:extLst>
      <p:ext uri="{BB962C8B-B14F-4D97-AF65-F5344CB8AC3E}">
        <p14:creationId xmlns:p14="http://schemas.microsoft.com/office/powerpoint/2010/main" val="1146730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FE19A-BA4E-4A5F-8DF8-224ACF834899}"/>
              </a:ext>
            </a:extLst>
          </p:cNvPr>
          <p:cNvSpPr>
            <a:spLocks noGrp="1"/>
          </p:cNvSpPr>
          <p:nvPr>
            <p:ph type="title"/>
          </p:nvPr>
        </p:nvSpPr>
        <p:spPr/>
        <p:txBody>
          <a:bodyPr/>
          <a:lstStyle/>
          <a:p>
            <a:r>
              <a:rPr lang="en-US" altLang="en-US"/>
              <a:t>The Delegation Model: Example</a:t>
            </a:r>
            <a:endParaRPr lang="en-US"/>
          </a:p>
        </p:txBody>
      </p:sp>
      <p:sp>
        <p:nvSpPr>
          <p:cNvPr id="3" name="Content Placeholder 2">
            <a:extLst>
              <a:ext uri="{FF2B5EF4-FFF2-40B4-BE49-F238E27FC236}">
                <a16:creationId xmlns:a16="http://schemas.microsoft.com/office/drawing/2014/main" id="{AAA744F8-8FF7-4E8A-A9CA-7E7C403C2495}"/>
              </a:ext>
            </a:extLst>
          </p:cNvPr>
          <p:cNvSpPr>
            <a:spLocks noGrp="1"/>
          </p:cNvSpPr>
          <p:nvPr>
            <p:ph sz="quarter" idx="13"/>
          </p:nvPr>
        </p:nvSpPr>
        <p:spPr>
          <a:xfrm>
            <a:off x="457200" y="1554921"/>
            <a:ext cx="8229600" cy="2262936"/>
          </a:xfrm>
        </p:spPr>
        <p:txBody>
          <a:bodyPr/>
          <a:lstStyle/>
          <a:p>
            <a:pPr>
              <a:spcBef>
                <a:spcPct val="50000"/>
              </a:spcBef>
              <a:buClrTx/>
              <a:buSzTx/>
              <a:buFontTx/>
              <a:buNone/>
            </a:pPr>
            <a:r>
              <a:rPr lang="en-US" altLang="en-US">
                <a:solidFill>
                  <a:schemeClr val="bg2"/>
                </a:solidFill>
                <a:latin typeface="Courier New" panose="02070309020205020404" pitchFamily="49" charset="0"/>
                <a:cs typeface="Courier New" panose="02070309020205020404" pitchFamily="49" charset="0"/>
              </a:rPr>
              <a:t>Button btOK = new Button("OK");</a:t>
            </a:r>
          </a:p>
          <a:p>
            <a:pPr marL="0" indent="0">
              <a:spcBef>
                <a:spcPct val="50000"/>
              </a:spcBef>
              <a:buClrTx/>
              <a:buSzTx/>
              <a:buFontTx/>
              <a:buNone/>
            </a:pPr>
            <a:r>
              <a:rPr lang="en-US" altLang="en-US">
                <a:solidFill>
                  <a:schemeClr val="bg2"/>
                </a:solidFill>
                <a:latin typeface="Courier New" panose="02070309020205020404" pitchFamily="49" charset="0"/>
                <a:cs typeface="Courier New" panose="02070309020205020404" pitchFamily="49" charset="0"/>
              </a:rPr>
              <a:t>OKHandlerClass handler = new OKHandlerClass();</a:t>
            </a:r>
          </a:p>
          <a:p>
            <a:pPr>
              <a:spcBef>
                <a:spcPct val="50000"/>
              </a:spcBef>
              <a:buClrTx/>
              <a:buSzTx/>
              <a:buFontTx/>
              <a:buNone/>
            </a:pPr>
            <a:r>
              <a:rPr lang="en-US" altLang="en-US">
                <a:solidFill>
                  <a:schemeClr val="bg2"/>
                </a:solidFill>
                <a:latin typeface="Courier New" panose="02070309020205020404" pitchFamily="49" charset="0"/>
                <a:cs typeface="Courier New" panose="02070309020205020404" pitchFamily="49" charset="0"/>
              </a:rPr>
              <a:t>btOK.setOnAction(handler);</a:t>
            </a:r>
          </a:p>
        </p:txBody>
      </p:sp>
    </p:spTree>
    <p:extLst>
      <p:ext uri="{BB962C8B-B14F-4D97-AF65-F5344CB8AC3E}">
        <p14:creationId xmlns:p14="http://schemas.microsoft.com/office/powerpoint/2010/main" val="4601183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8AF2E-9893-4C0A-A467-AF4C2AE60F84}"/>
              </a:ext>
            </a:extLst>
          </p:cNvPr>
          <p:cNvSpPr>
            <a:spLocks noGrp="1"/>
          </p:cNvSpPr>
          <p:nvPr>
            <p:ph type="title"/>
          </p:nvPr>
        </p:nvSpPr>
        <p:spPr/>
        <p:txBody>
          <a:bodyPr/>
          <a:lstStyle/>
          <a:p>
            <a:r>
              <a:rPr lang="en-US" sz="3200" dirty="0"/>
              <a:t>Example: First Version for </a:t>
            </a:r>
            <a:r>
              <a:rPr lang="en-US" sz="3200" dirty="0" err="1"/>
              <a:t>Controlcircle</a:t>
            </a:r>
            <a:r>
              <a:rPr lang="en-US" sz="3200" dirty="0"/>
              <a:t> (No Listeners)</a:t>
            </a:r>
          </a:p>
        </p:txBody>
      </p:sp>
      <p:sp>
        <p:nvSpPr>
          <p:cNvPr id="3" name="Content Placeholder 2">
            <a:extLst>
              <a:ext uri="{FF2B5EF4-FFF2-40B4-BE49-F238E27FC236}">
                <a16:creationId xmlns:a16="http://schemas.microsoft.com/office/drawing/2014/main" id="{0295962B-4E6C-45A0-BDD9-65E46F6B736A}"/>
              </a:ext>
            </a:extLst>
          </p:cNvPr>
          <p:cNvSpPr>
            <a:spLocks noGrp="1"/>
          </p:cNvSpPr>
          <p:nvPr>
            <p:ph sz="quarter" idx="13"/>
          </p:nvPr>
        </p:nvSpPr>
        <p:spPr>
          <a:xfrm>
            <a:off x="457200" y="1552575"/>
            <a:ext cx="8229600" cy="900339"/>
          </a:xfrm>
        </p:spPr>
        <p:txBody>
          <a:bodyPr/>
          <a:lstStyle/>
          <a:p>
            <a:pPr marL="432" indent="0">
              <a:buNone/>
            </a:pPr>
            <a:r>
              <a:rPr lang="en-US" altLang="en-US"/>
              <a:t>Now let us consider to write a program that uses two buttons to control the size of a circle.</a:t>
            </a:r>
          </a:p>
        </p:txBody>
      </p:sp>
      <p:pic>
        <p:nvPicPr>
          <p:cNvPr id="7" name="Picture 6" descr="An object shows the Example of First Version for Control Circle (no listeners). The program shows the shape of the Circle and shows the 2 buttons for Enlarge and Shrink. ">
            <a:extLst>
              <a:ext uri="{FF2B5EF4-FFF2-40B4-BE49-F238E27FC236}">
                <a16:creationId xmlns:a16="http://schemas.microsoft.com/office/drawing/2014/main" id="{037B71E5-2D53-4E61-9BE1-0175794AC2A5}"/>
              </a:ext>
            </a:extLst>
          </p:cNvPr>
          <p:cNvPicPr>
            <a:picLocks noChangeAspect="1"/>
          </p:cNvPicPr>
          <p:nvPr/>
        </p:nvPicPr>
        <p:blipFill>
          <a:blip r:embed="rId3"/>
          <a:stretch>
            <a:fillRect/>
          </a:stretch>
        </p:blipFill>
        <p:spPr>
          <a:xfrm>
            <a:off x="2632688" y="2692839"/>
            <a:ext cx="3878623" cy="2301398"/>
          </a:xfrm>
          <a:prstGeom prst="rect">
            <a:avLst/>
          </a:prstGeom>
        </p:spPr>
      </p:pic>
      <p:sp>
        <p:nvSpPr>
          <p:cNvPr id="10" name="Text Placeholder 9">
            <a:extLst>
              <a:ext uri="{FF2B5EF4-FFF2-40B4-BE49-F238E27FC236}">
                <a16:creationId xmlns:a16="http://schemas.microsoft.com/office/drawing/2014/main" id="{F5ACBEC9-6FA9-42D6-B777-7EC2674EA888}"/>
              </a:ext>
            </a:extLst>
          </p:cNvPr>
          <p:cNvSpPr>
            <a:spLocks noGrp="1"/>
          </p:cNvSpPr>
          <p:nvPr>
            <p:ph type="body" sz="quarter" idx="20"/>
          </p:nvPr>
        </p:nvSpPr>
        <p:spPr>
          <a:xfrm>
            <a:off x="3657600" y="5717197"/>
            <a:ext cx="5029200" cy="529233"/>
          </a:xfrm>
        </p:spPr>
        <p:txBody>
          <a:bodyPr/>
          <a:lstStyle/>
          <a:p>
            <a:pPr marL="432" indent="0">
              <a:buNone/>
            </a:pPr>
            <a:r>
              <a:rPr lang="en-US" altLang="en-US" dirty="0">
                <a:hlinkClick r:id="rId4" tooltip="https://liveexample.pearsoncmg.com/html/ControlCircleWithoutEventHandling.html"/>
              </a:rPr>
              <a:t>ControlCircleWithoutEventHandling</a:t>
            </a:r>
          </a:p>
        </p:txBody>
      </p:sp>
    </p:spTree>
    <p:extLst>
      <p:ext uri="{BB962C8B-B14F-4D97-AF65-F5344CB8AC3E}">
        <p14:creationId xmlns:p14="http://schemas.microsoft.com/office/powerpoint/2010/main" val="3684922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CBA09-5155-4CA1-AED3-AD481FD53B00}"/>
              </a:ext>
            </a:extLst>
          </p:cNvPr>
          <p:cNvSpPr>
            <a:spLocks noGrp="1"/>
          </p:cNvSpPr>
          <p:nvPr>
            <p:ph type="title"/>
          </p:nvPr>
        </p:nvSpPr>
        <p:spPr/>
        <p:txBody>
          <a:bodyPr/>
          <a:lstStyle/>
          <a:p>
            <a:r>
              <a:rPr lang="en-US" sz="3200" dirty="0"/>
              <a:t>Example: Second Version for </a:t>
            </a:r>
            <a:r>
              <a:rPr lang="en-US" sz="3200" dirty="0" err="1"/>
              <a:t>Controlcircle</a:t>
            </a:r>
            <a:r>
              <a:rPr lang="en-US" sz="3200" dirty="0"/>
              <a:t> (With Listener for Enlarge)</a:t>
            </a:r>
          </a:p>
        </p:txBody>
      </p:sp>
      <p:sp>
        <p:nvSpPr>
          <p:cNvPr id="3" name="Content Placeholder 2">
            <a:extLst>
              <a:ext uri="{FF2B5EF4-FFF2-40B4-BE49-F238E27FC236}">
                <a16:creationId xmlns:a16="http://schemas.microsoft.com/office/drawing/2014/main" id="{2F80DFF1-6777-4F39-A281-02B6ECCFA91E}"/>
              </a:ext>
            </a:extLst>
          </p:cNvPr>
          <p:cNvSpPr>
            <a:spLocks noGrp="1"/>
          </p:cNvSpPr>
          <p:nvPr>
            <p:ph sz="quarter" idx="13"/>
          </p:nvPr>
        </p:nvSpPr>
        <p:spPr>
          <a:xfrm>
            <a:off x="457200" y="1552575"/>
            <a:ext cx="8229600" cy="914854"/>
          </a:xfrm>
        </p:spPr>
        <p:txBody>
          <a:bodyPr/>
          <a:lstStyle/>
          <a:p>
            <a:pPr marL="432" indent="0">
              <a:buNone/>
            </a:pPr>
            <a:r>
              <a:rPr lang="en-US" altLang="en-US"/>
              <a:t>Now let us consider to write a program that uses two buttons to control the size of a circle.</a:t>
            </a:r>
          </a:p>
        </p:txBody>
      </p:sp>
      <p:pic>
        <p:nvPicPr>
          <p:cNvPr id="9" name="Picture 8" descr="An object shows the Example of the Second Version for Control Circle (with the listener for Enlarge).">
            <a:extLst>
              <a:ext uri="{FF2B5EF4-FFF2-40B4-BE49-F238E27FC236}">
                <a16:creationId xmlns:a16="http://schemas.microsoft.com/office/drawing/2014/main" id="{724695B9-F3B8-4E30-AAF1-75362D887D71}"/>
              </a:ext>
            </a:extLst>
          </p:cNvPr>
          <p:cNvPicPr>
            <a:picLocks noChangeAspect="1"/>
          </p:cNvPicPr>
          <p:nvPr/>
        </p:nvPicPr>
        <p:blipFill>
          <a:blip r:embed="rId3"/>
          <a:stretch>
            <a:fillRect/>
          </a:stretch>
        </p:blipFill>
        <p:spPr>
          <a:xfrm>
            <a:off x="747601" y="2707354"/>
            <a:ext cx="2798500" cy="2295261"/>
          </a:xfrm>
          <a:prstGeom prst="rect">
            <a:avLst/>
          </a:prstGeom>
        </p:spPr>
      </p:pic>
      <p:pic>
        <p:nvPicPr>
          <p:cNvPr id="12" name="Picture 11" descr="The first program shows the circle size is Shrink, and the second program shows the circle size is Enlarge. ">
            <a:extLst>
              <a:ext uri="{FF2B5EF4-FFF2-40B4-BE49-F238E27FC236}">
                <a16:creationId xmlns:a16="http://schemas.microsoft.com/office/drawing/2014/main" id="{70DE9EF8-68A4-4D29-A2AB-046E51D467A8}"/>
              </a:ext>
            </a:extLst>
          </p:cNvPr>
          <p:cNvPicPr>
            <a:picLocks noChangeAspect="1"/>
          </p:cNvPicPr>
          <p:nvPr/>
        </p:nvPicPr>
        <p:blipFill>
          <a:blip r:embed="rId4"/>
          <a:stretch>
            <a:fillRect/>
          </a:stretch>
        </p:blipFill>
        <p:spPr>
          <a:xfrm>
            <a:off x="4968774" y="2670531"/>
            <a:ext cx="2890556" cy="2368906"/>
          </a:xfrm>
          <a:prstGeom prst="rect">
            <a:avLst/>
          </a:prstGeom>
        </p:spPr>
      </p:pic>
      <p:sp>
        <p:nvSpPr>
          <p:cNvPr id="10" name="Text Placeholder 9">
            <a:extLst>
              <a:ext uri="{FF2B5EF4-FFF2-40B4-BE49-F238E27FC236}">
                <a16:creationId xmlns:a16="http://schemas.microsoft.com/office/drawing/2014/main" id="{AA874500-44FF-4F88-8D30-D77D8C078F1B}"/>
              </a:ext>
            </a:extLst>
          </p:cNvPr>
          <p:cNvSpPr>
            <a:spLocks noGrp="1"/>
          </p:cNvSpPr>
          <p:nvPr>
            <p:ph type="body" sz="quarter" idx="20"/>
          </p:nvPr>
        </p:nvSpPr>
        <p:spPr>
          <a:xfrm>
            <a:off x="6359430" y="5616466"/>
            <a:ext cx="2167112" cy="596555"/>
          </a:xfrm>
        </p:spPr>
        <p:txBody>
          <a:bodyPr/>
          <a:lstStyle/>
          <a:p>
            <a:pPr marL="432" indent="0">
              <a:buNone/>
            </a:pPr>
            <a:r>
              <a:rPr lang="en-US" dirty="0">
                <a:hlinkClick r:id="rId5" tooltip="https://liveexample.pearsoncmg.com/html/ControlCircle.html"/>
              </a:rPr>
              <a:t>ControlCircle</a:t>
            </a:r>
          </a:p>
        </p:txBody>
      </p:sp>
    </p:spTree>
    <p:extLst>
      <p:ext uri="{BB962C8B-B14F-4D97-AF65-F5344CB8AC3E}">
        <p14:creationId xmlns:p14="http://schemas.microsoft.com/office/powerpoint/2010/main" val="3154428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382C5-CAF5-4D0E-A02E-91C3F291F1B8}"/>
              </a:ext>
            </a:extLst>
          </p:cNvPr>
          <p:cNvSpPr>
            <a:spLocks noGrp="1"/>
          </p:cNvSpPr>
          <p:nvPr>
            <p:ph type="title"/>
          </p:nvPr>
        </p:nvSpPr>
        <p:spPr/>
        <p:txBody>
          <a:bodyPr/>
          <a:lstStyle/>
          <a:p>
            <a:r>
              <a:rPr lang="en-US"/>
              <a:t>Inner Class Listeners</a:t>
            </a:r>
          </a:p>
        </p:txBody>
      </p:sp>
      <p:sp>
        <p:nvSpPr>
          <p:cNvPr id="3" name="Content Placeholder 2">
            <a:extLst>
              <a:ext uri="{FF2B5EF4-FFF2-40B4-BE49-F238E27FC236}">
                <a16:creationId xmlns:a16="http://schemas.microsoft.com/office/drawing/2014/main" id="{5BDEC7DD-B41F-4359-8BF5-C0DFA9CAC69C}"/>
              </a:ext>
            </a:extLst>
          </p:cNvPr>
          <p:cNvSpPr>
            <a:spLocks noGrp="1"/>
          </p:cNvSpPr>
          <p:nvPr>
            <p:ph sz="quarter" idx="13"/>
          </p:nvPr>
        </p:nvSpPr>
        <p:spPr>
          <a:xfrm>
            <a:off x="457200" y="1554920"/>
            <a:ext cx="8232775" cy="1782169"/>
          </a:xfrm>
        </p:spPr>
        <p:txBody>
          <a:bodyPr/>
          <a:lstStyle/>
          <a:p>
            <a:pPr marL="432" indent="0">
              <a:buNone/>
            </a:pPr>
            <a:r>
              <a:rPr lang="en-US" altLang="en-US" dirty="0"/>
              <a:t>A listener class is designed specifically to create a listener object for a G</a:t>
            </a:r>
            <a:r>
              <a:rPr lang="en-US" altLang="en-US" sz="100" dirty="0"/>
              <a:t> </a:t>
            </a:r>
            <a:r>
              <a:rPr lang="en-US" altLang="en-US" dirty="0"/>
              <a:t>U</a:t>
            </a:r>
            <a:r>
              <a:rPr lang="en-US" altLang="en-US" sz="100" dirty="0"/>
              <a:t> </a:t>
            </a:r>
            <a:r>
              <a:rPr lang="en-US" altLang="en-US" dirty="0"/>
              <a:t>I component (e.g., a button). It will not be shared by other applications. So, it is appropriate to define the listener class inside the frame class as an inner class.</a:t>
            </a:r>
          </a:p>
        </p:txBody>
      </p:sp>
    </p:spTree>
    <p:extLst>
      <p:ext uri="{BB962C8B-B14F-4D97-AF65-F5344CB8AC3E}">
        <p14:creationId xmlns:p14="http://schemas.microsoft.com/office/powerpoint/2010/main" val="20874919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53913-F8CD-453C-817C-A59B7FA35777}"/>
              </a:ext>
            </a:extLst>
          </p:cNvPr>
          <p:cNvSpPr>
            <a:spLocks noGrp="1"/>
          </p:cNvSpPr>
          <p:nvPr>
            <p:ph type="title"/>
          </p:nvPr>
        </p:nvSpPr>
        <p:spPr/>
        <p:txBody>
          <a:bodyPr/>
          <a:lstStyle/>
          <a:p>
            <a:r>
              <a:rPr lang="en-US"/>
              <a:t>Inner Classes </a:t>
            </a:r>
            <a:r>
              <a:rPr lang="en-US" sz="2000" b="0"/>
              <a:t>(1 of 4)</a:t>
            </a:r>
          </a:p>
        </p:txBody>
      </p:sp>
      <p:sp>
        <p:nvSpPr>
          <p:cNvPr id="3" name="Content Placeholder 2">
            <a:extLst>
              <a:ext uri="{FF2B5EF4-FFF2-40B4-BE49-F238E27FC236}">
                <a16:creationId xmlns:a16="http://schemas.microsoft.com/office/drawing/2014/main" id="{F766F6F1-158D-490A-92D0-4DC3C675F5CC}"/>
              </a:ext>
            </a:extLst>
          </p:cNvPr>
          <p:cNvSpPr>
            <a:spLocks noGrp="1"/>
          </p:cNvSpPr>
          <p:nvPr>
            <p:ph sz="quarter" idx="13"/>
          </p:nvPr>
        </p:nvSpPr>
        <p:spPr>
          <a:xfrm>
            <a:off x="457200" y="1552575"/>
            <a:ext cx="8229600" cy="3077482"/>
          </a:xfrm>
        </p:spPr>
        <p:txBody>
          <a:bodyPr/>
          <a:lstStyle/>
          <a:p>
            <a:pPr>
              <a:spcBef>
                <a:spcPct val="50000"/>
              </a:spcBef>
              <a:buFont typeface="Monotype Sorts"/>
              <a:buNone/>
              <a:defRPr/>
            </a:pPr>
            <a:r>
              <a:rPr lang="en-US" altLang="en-US"/>
              <a:t>Inner class: A class is a member of another class.</a:t>
            </a:r>
          </a:p>
          <a:p>
            <a:pPr marL="0" indent="0">
              <a:spcBef>
                <a:spcPct val="50000"/>
              </a:spcBef>
              <a:buFont typeface="Monotype Sorts"/>
              <a:buNone/>
              <a:defRPr/>
            </a:pPr>
            <a:r>
              <a:rPr lang="en-US" altLang="en-US"/>
              <a:t>Advantages: In some applications, you can use an inner class to make programs simple.</a:t>
            </a:r>
          </a:p>
          <a:p>
            <a:pPr marL="0" indent="0">
              <a:spcBef>
                <a:spcPct val="50000"/>
              </a:spcBef>
              <a:buFont typeface="Monotype Sorts"/>
              <a:buNone/>
              <a:defRPr/>
            </a:pPr>
            <a:r>
              <a:rPr lang="en-US" altLang="en-US"/>
              <a:t>An inner class can reference the data and methods defined in the outer class in which it nests, so you do not need to pass the reference of the outer class to the constructor of the inner class.</a:t>
            </a:r>
          </a:p>
        </p:txBody>
      </p:sp>
      <p:sp>
        <p:nvSpPr>
          <p:cNvPr id="10" name="Text Placeholder 9">
            <a:extLst>
              <a:ext uri="{FF2B5EF4-FFF2-40B4-BE49-F238E27FC236}">
                <a16:creationId xmlns:a16="http://schemas.microsoft.com/office/drawing/2014/main" id="{4475329E-5C35-41AA-AB04-5DA2C2129DBD}"/>
              </a:ext>
            </a:extLst>
          </p:cNvPr>
          <p:cNvSpPr>
            <a:spLocks noGrp="1"/>
          </p:cNvSpPr>
          <p:nvPr>
            <p:ph type="body" sz="quarter" idx="20"/>
          </p:nvPr>
        </p:nvSpPr>
        <p:spPr>
          <a:xfrm>
            <a:off x="6036314" y="5693198"/>
            <a:ext cx="2622205" cy="529233"/>
          </a:xfrm>
        </p:spPr>
        <p:txBody>
          <a:bodyPr/>
          <a:lstStyle/>
          <a:p>
            <a:pPr marL="432" indent="0">
              <a:buNone/>
            </a:pPr>
            <a:r>
              <a:rPr lang="en-US" altLang="en-US" dirty="0">
                <a:hlinkClick r:id="rId3" tooltip="https://liveexample.pearsoncmg.com/html/ShowInnerClass.html"/>
              </a:rPr>
              <a:t>ShowInnerClass</a:t>
            </a:r>
          </a:p>
        </p:txBody>
      </p:sp>
    </p:spTree>
    <p:extLst>
      <p:ext uri="{BB962C8B-B14F-4D97-AF65-F5344CB8AC3E}">
        <p14:creationId xmlns:p14="http://schemas.microsoft.com/office/powerpoint/2010/main" val="3606751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F52A3-0BD4-4D43-96CD-2875C5FF67D0}"/>
              </a:ext>
            </a:extLst>
          </p:cNvPr>
          <p:cNvSpPr>
            <a:spLocks noGrp="1"/>
          </p:cNvSpPr>
          <p:nvPr>
            <p:ph type="title"/>
          </p:nvPr>
        </p:nvSpPr>
        <p:spPr/>
        <p:txBody>
          <a:bodyPr/>
          <a:lstStyle/>
          <a:p>
            <a:r>
              <a:rPr lang="en-US"/>
              <a:t>Inner Classes </a:t>
            </a:r>
            <a:r>
              <a:rPr lang="en-US" sz="2000" b="0"/>
              <a:t>(2 of 4)</a:t>
            </a:r>
            <a:endParaRPr lang="en-US"/>
          </a:p>
        </p:txBody>
      </p:sp>
      <p:pic>
        <p:nvPicPr>
          <p:cNvPr id="7" name="Picture 6" descr="The computer code shows Inner Classes comma cont period The computer code is divided into 3 parts period Part A contains 6 lines. For long description in Notes pane, press F6.">
            <a:extLst>
              <a:ext uri="{FF2B5EF4-FFF2-40B4-BE49-F238E27FC236}">
                <a16:creationId xmlns:a16="http://schemas.microsoft.com/office/drawing/2014/main" id="{B91DAB12-CDD0-4C80-A68D-865E690D785F}"/>
              </a:ext>
            </a:extLst>
          </p:cNvPr>
          <p:cNvPicPr>
            <a:picLocks noChangeAspect="1"/>
          </p:cNvPicPr>
          <p:nvPr/>
        </p:nvPicPr>
        <p:blipFill>
          <a:blip r:embed="rId3"/>
          <a:stretch>
            <a:fillRect/>
          </a:stretch>
        </p:blipFill>
        <p:spPr>
          <a:xfrm>
            <a:off x="650418" y="1604414"/>
            <a:ext cx="7843164" cy="4615070"/>
          </a:xfrm>
          <a:prstGeom prst="rect">
            <a:avLst/>
          </a:prstGeom>
        </p:spPr>
      </p:pic>
    </p:spTree>
    <p:extLst>
      <p:ext uri="{BB962C8B-B14F-4D97-AF65-F5344CB8AC3E}">
        <p14:creationId xmlns:p14="http://schemas.microsoft.com/office/powerpoint/2010/main" val="31698499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E6E7E-ABD9-41E0-874E-DE6712572E5B}"/>
              </a:ext>
            </a:extLst>
          </p:cNvPr>
          <p:cNvSpPr>
            <a:spLocks noGrp="1"/>
          </p:cNvSpPr>
          <p:nvPr>
            <p:ph type="title"/>
          </p:nvPr>
        </p:nvSpPr>
        <p:spPr/>
        <p:txBody>
          <a:bodyPr/>
          <a:lstStyle/>
          <a:p>
            <a:r>
              <a:rPr lang="en-US"/>
              <a:t>Inner Classes </a:t>
            </a:r>
            <a:r>
              <a:rPr lang="en-US" sz="2000" b="0"/>
              <a:t>(3 of 4)</a:t>
            </a:r>
            <a:endParaRPr lang="en-US"/>
          </a:p>
        </p:txBody>
      </p:sp>
      <p:sp>
        <p:nvSpPr>
          <p:cNvPr id="3" name="Content Placeholder 2">
            <a:extLst>
              <a:ext uri="{FF2B5EF4-FFF2-40B4-BE49-F238E27FC236}">
                <a16:creationId xmlns:a16="http://schemas.microsoft.com/office/drawing/2014/main" id="{0D79CD39-0924-436E-935A-BF93BD607C9F}"/>
              </a:ext>
            </a:extLst>
          </p:cNvPr>
          <p:cNvSpPr>
            <a:spLocks noGrp="1"/>
          </p:cNvSpPr>
          <p:nvPr>
            <p:ph sz="quarter" idx="13"/>
          </p:nvPr>
        </p:nvSpPr>
        <p:spPr>
          <a:xfrm>
            <a:off x="457200" y="1554920"/>
            <a:ext cx="8232775" cy="2658861"/>
          </a:xfrm>
        </p:spPr>
        <p:txBody>
          <a:bodyPr/>
          <a:lstStyle/>
          <a:p>
            <a:pPr marL="0" indent="0">
              <a:buFont typeface="Monotype Sorts"/>
              <a:buNone/>
            </a:pPr>
            <a:r>
              <a:rPr lang="en-US" altLang="en-US" dirty="0">
                <a:cs typeface="Times New Roman" panose="02020603050405020304" pitchFamily="18" charset="0"/>
              </a:rPr>
              <a:t>Inner classes can make programs simple and concise.</a:t>
            </a:r>
          </a:p>
          <a:p>
            <a:pPr marL="0" indent="0">
              <a:buFont typeface="Monotype Sorts"/>
              <a:buNone/>
            </a:pPr>
            <a:r>
              <a:rPr lang="en-US" altLang="en-US" dirty="0">
                <a:cs typeface="Times New Roman" panose="02020603050405020304" pitchFamily="18" charset="0"/>
              </a:rPr>
              <a:t>An inner class supports the work of its containing outer class and is compiled into a class named </a:t>
            </a:r>
            <a:r>
              <a:rPr lang="en-US" altLang="en-US" b="1" dirty="0" err="1">
                <a:latin typeface="Courier New" panose="02070309020205020404" pitchFamily="49" charset="0"/>
                <a:cs typeface="Courier New" panose="02070309020205020404" pitchFamily="49" charset="0"/>
              </a:rPr>
              <a:t>OuterClassName$InnerClassName</a:t>
            </a:r>
            <a:r>
              <a:rPr lang="en-US" altLang="en-US" dirty="0" err="1">
                <a:latin typeface="Courier New" panose="02070309020205020404" pitchFamily="49" charset="0"/>
                <a:cs typeface="Courier New" panose="02070309020205020404" pitchFamily="49" charset="0"/>
              </a:rPr>
              <a:t>.class</a:t>
            </a:r>
            <a:r>
              <a:rPr lang="en-US" altLang="en-US" dirty="0">
                <a:latin typeface="Courier New" panose="02070309020205020404" pitchFamily="49" charset="0"/>
                <a:cs typeface="Courier New" panose="02070309020205020404" pitchFamily="49" charset="0"/>
              </a:rPr>
              <a:t>. </a:t>
            </a:r>
            <a:r>
              <a:rPr lang="en-US" altLang="en-US" dirty="0">
                <a:cs typeface="Times New Roman" panose="02020603050405020304" pitchFamily="18" charset="0"/>
              </a:rPr>
              <a:t>For example, the inner class </a:t>
            </a:r>
            <a:r>
              <a:rPr lang="en-US" altLang="en-US" dirty="0" err="1">
                <a:latin typeface="Courier New" panose="02070309020205020404" pitchFamily="49" charset="0"/>
                <a:cs typeface="Courier New" panose="02070309020205020404" pitchFamily="49" charset="0"/>
              </a:rPr>
              <a:t>InnerClass</a:t>
            </a:r>
            <a:r>
              <a:rPr lang="en-US" altLang="en-US" dirty="0">
                <a:cs typeface="Times New Roman" panose="02020603050405020304" pitchFamily="18" charset="0"/>
              </a:rPr>
              <a:t> in </a:t>
            </a:r>
            <a:r>
              <a:rPr lang="en-US" altLang="en-US" dirty="0" err="1">
                <a:latin typeface="Courier New" panose="02070309020205020404" pitchFamily="49" charset="0"/>
                <a:cs typeface="Courier New" panose="02070309020205020404" pitchFamily="49" charset="0"/>
              </a:rPr>
              <a:t>OuterClass</a:t>
            </a:r>
            <a:r>
              <a:rPr lang="en-US" altLang="en-US" dirty="0">
                <a:cs typeface="Times New Roman" panose="02020603050405020304" pitchFamily="18" charset="0"/>
              </a:rPr>
              <a:t> is compiled into </a:t>
            </a:r>
            <a:r>
              <a:rPr lang="en-US" altLang="en-US" b="1" dirty="0" err="1">
                <a:latin typeface="Courier New" panose="02070309020205020404" pitchFamily="49" charset="0"/>
                <a:cs typeface="Courier New" panose="02070309020205020404" pitchFamily="49" charset="0"/>
              </a:rPr>
              <a:t>OuterClass$InnerClass.class</a:t>
            </a:r>
            <a:r>
              <a:rPr lang="en-US" alt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2221935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BE2AF-81DE-41FA-A0D2-77336932439D}"/>
              </a:ext>
            </a:extLst>
          </p:cNvPr>
          <p:cNvSpPr>
            <a:spLocks noGrp="1"/>
          </p:cNvSpPr>
          <p:nvPr>
            <p:ph type="title"/>
          </p:nvPr>
        </p:nvSpPr>
        <p:spPr/>
        <p:txBody>
          <a:bodyPr/>
          <a:lstStyle/>
          <a:p>
            <a:r>
              <a:rPr lang="en-US"/>
              <a:t>Inner Classes </a:t>
            </a:r>
            <a:r>
              <a:rPr lang="en-US" sz="2000" b="0"/>
              <a:t>(4 of 4)</a:t>
            </a:r>
            <a:endParaRPr lang="en-US"/>
          </a:p>
        </p:txBody>
      </p:sp>
      <p:sp>
        <p:nvSpPr>
          <p:cNvPr id="3" name="Content Placeholder 2">
            <a:extLst>
              <a:ext uri="{FF2B5EF4-FFF2-40B4-BE49-F238E27FC236}">
                <a16:creationId xmlns:a16="http://schemas.microsoft.com/office/drawing/2014/main" id="{E42682BD-897F-417A-A89A-FA4705BAA723}"/>
              </a:ext>
            </a:extLst>
          </p:cNvPr>
          <p:cNvSpPr>
            <a:spLocks noGrp="1"/>
          </p:cNvSpPr>
          <p:nvPr>
            <p:ph sz="quarter" idx="13"/>
          </p:nvPr>
        </p:nvSpPr>
        <p:spPr>
          <a:xfrm>
            <a:off x="457201" y="1554921"/>
            <a:ext cx="8208000" cy="2969946"/>
          </a:xfrm>
        </p:spPr>
        <p:txBody>
          <a:bodyPr/>
          <a:lstStyle/>
          <a:p>
            <a:r>
              <a:rPr lang="en-US"/>
              <a:t>An inner class can be declared public, protected, or private subject to the same visibility rules applied to a member of the class.</a:t>
            </a:r>
          </a:p>
          <a:p>
            <a:r>
              <a:rPr lang="en-US"/>
              <a:t>An inner class can be declared static. A static inner class can be accessed using the outer class name. A static inner class cannot access nonstatic members of the outer class</a:t>
            </a:r>
          </a:p>
        </p:txBody>
      </p:sp>
    </p:spTree>
    <p:extLst>
      <p:ext uri="{BB962C8B-B14F-4D97-AF65-F5344CB8AC3E}">
        <p14:creationId xmlns:p14="http://schemas.microsoft.com/office/powerpoint/2010/main" val="30840261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354C5-4C1A-4137-B5A9-DCBB8ED7BB5F}"/>
              </a:ext>
            </a:extLst>
          </p:cNvPr>
          <p:cNvSpPr>
            <a:spLocks noGrp="1"/>
          </p:cNvSpPr>
          <p:nvPr>
            <p:ph type="title"/>
          </p:nvPr>
        </p:nvSpPr>
        <p:spPr/>
        <p:txBody>
          <a:bodyPr/>
          <a:lstStyle/>
          <a:p>
            <a:r>
              <a:rPr lang="en-US"/>
              <a:t>Anonymous Inner Classes </a:t>
            </a:r>
            <a:r>
              <a:rPr lang="en-US" sz="2000" b="0"/>
              <a:t>(1 of 3)</a:t>
            </a:r>
          </a:p>
        </p:txBody>
      </p:sp>
      <p:sp>
        <p:nvSpPr>
          <p:cNvPr id="3" name="Content Placeholder 2">
            <a:extLst>
              <a:ext uri="{FF2B5EF4-FFF2-40B4-BE49-F238E27FC236}">
                <a16:creationId xmlns:a16="http://schemas.microsoft.com/office/drawing/2014/main" id="{DC23CB34-85A9-4E0C-A221-7B11204A46F0}"/>
              </a:ext>
            </a:extLst>
          </p:cNvPr>
          <p:cNvSpPr>
            <a:spLocks noGrp="1"/>
          </p:cNvSpPr>
          <p:nvPr>
            <p:ph sz="quarter" idx="13"/>
          </p:nvPr>
        </p:nvSpPr>
        <p:spPr/>
        <p:txBody>
          <a:bodyPr/>
          <a:lstStyle/>
          <a:p>
            <a:r>
              <a:rPr lang="en-US" sz="2000" dirty="0"/>
              <a:t>An anonymous inner class must always extend a superclass or implement an interface, but it cannot have an explicit extends or implements clause.</a:t>
            </a:r>
          </a:p>
          <a:p>
            <a:r>
              <a:rPr lang="en-US" sz="2000" dirty="0"/>
              <a:t>An anonymous inner class must implement all the abstract methods in the superclass or in the interface.</a:t>
            </a:r>
          </a:p>
          <a:p>
            <a:r>
              <a:rPr lang="en-US" sz="2000" dirty="0"/>
              <a:t>An anonymous inner class always uses the no-</a:t>
            </a:r>
            <a:r>
              <a:rPr lang="en-US" sz="2000" dirty="0" err="1"/>
              <a:t>arg</a:t>
            </a:r>
            <a:r>
              <a:rPr lang="en-US" sz="2000" dirty="0"/>
              <a:t> constructor from its superclass to create an instance. If an anonymous inner class implements an interface, the constructor is </a:t>
            </a:r>
            <a:r>
              <a:rPr lang="en-US" sz="2000" dirty="0">
                <a:latin typeface="Courier New" panose="02070309020205020404" pitchFamily="49" charset="0"/>
                <a:cs typeface="Courier New" panose="02070309020205020404" pitchFamily="49" charset="0"/>
              </a:rPr>
              <a:t>Object().</a:t>
            </a:r>
          </a:p>
          <a:p>
            <a:r>
              <a:rPr lang="en-US" sz="2000" dirty="0"/>
              <a:t>An anonymous inner class is compiled into a class named </a:t>
            </a:r>
            <a:r>
              <a:rPr lang="en-US" sz="2000" dirty="0" err="1">
                <a:latin typeface="Courier New" panose="02070309020205020404" pitchFamily="49" charset="0"/>
                <a:cs typeface="Courier New" panose="02070309020205020404" pitchFamily="49" charset="0"/>
              </a:rPr>
              <a:t>OuterClassName$n.class</a:t>
            </a:r>
            <a:r>
              <a:rPr lang="en-US" sz="2000" dirty="0"/>
              <a:t>. For example, if the outer class Test has two anonymous inner classes, these two classes are compiled into </a:t>
            </a:r>
            <a:r>
              <a:rPr lang="en-US" sz="2000" dirty="0">
                <a:latin typeface="Courier New" panose="02070309020205020404" pitchFamily="49" charset="0"/>
                <a:cs typeface="Courier New" panose="02070309020205020404" pitchFamily="49" charset="0"/>
              </a:rPr>
              <a:t>Test$1.class </a:t>
            </a:r>
            <a:r>
              <a:rPr lang="en-US" sz="2000" dirty="0"/>
              <a:t>and </a:t>
            </a:r>
            <a:r>
              <a:rPr lang="en-US" sz="2000" dirty="0">
                <a:latin typeface="Courier New" panose="02070309020205020404" pitchFamily="49" charset="0"/>
                <a:cs typeface="Courier New" panose="02070309020205020404" pitchFamily="49" charset="0"/>
              </a:rPr>
              <a:t>Test$2.class</a:t>
            </a:r>
            <a:r>
              <a:rPr lang="en-US" sz="2000" dirty="0"/>
              <a:t>.</a:t>
            </a:r>
          </a:p>
        </p:txBody>
      </p:sp>
    </p:spTree>
    <p:extLst>
      <p:ext uri="{BB962C8B-B14F-4D97-AF65-F5344CB8AC3E}">
        <p14:creationId xmlns:p14="http://schemas.microsoft.com/office/powerpoint/2010/main" val="37381569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96864-AEF8-471C-9FED-90FB2120CCA5}"/>
              </a:ext>
            </a:extLst>
          </p:cNvPr>
          <p:cNvSpPr>
            <a:spLocks noGrp="1"/>
          </p:cNvSpPr>
          <p:nvPr>
            <p:ph type="title"/>
          </p:nvPr>
        </p:nvSpPr>
        <p:spPr/>
        <p:txBody>
          <a:bodyPr/>
          <a:lstStyle/>
          <a:p>
            <a:r>
              <a:rPr lang="en-US"/>
              <a:t>Anonymous Inner Classes </a:t>
            </a:r>
            <a:r>
              <a:rPr lang="en-US" sz="2000" b="0"/>
              <a:t>(2 of 3)</a:t>
            </a:r>
            <a:endParaRPr lang="en-US"/>
          </a:p>
        </p:txBody>
      </p:sp>
      <p:sp>
        <p:nvSpPr>
          <p:cNvPr id="3" name="Content Placeholder 2">
            <a:extLst>
              <a:ext uri="{FF2B5EF4-FFF2-40B4-BE49-F238E27FC236}">
                <a16:creationId xmlns:a16="http://schemas.microsoft.com/office/drawing/2014/main" id="{D14F8ED7-FB0D-4369-83F4-D861D1098C35}"/>
              </a:ext>
            </a:extLst>
          </p:cNvPr>
          <p:cNvSpPr>
            <a:spLocks noGrp="1"/>
          </p:cNvSpPr>
          <p:nvPr>
            <p:ph sz="quarter" idx="13"/>
          </p:nvPr>
        </p:nvSpPr>
        <p:spPr>
          <a:xfrm>
            <a:off x="457200" y="1556327"/>
            <a:ext cx="8229600" cy="1445861"/>
          </a:xfrm>
        </p:spPr>
        <p:txBody>
          <a:bodyPr/>
          <a:lstStyle/>
          <a:p>
            <a:pPr marL="432" indent="0">
              <a:buNone/>
            </a:pPr>
            <a:r>
              <a:rPr lang="en-US" altLang="en-US" sz="2000" dirty="0"/>
              <a:t>Inner class listeners can be shortened using anonymous inner classes. An </a:t>
            </a:r>
            <a:r>
              <a:rPr lang="en-US" altLang="en-US" sz="2000" b="1" dirty="0"/>
              <a:t>anonymous inner class</a:t>
            </a:r>
            <a:r>
              <a:rPr lang="en-US" altLang="en-US" sz="2000" dirty="0"/>
              <a:t> is an inner class without a name. It combines declaring an inner class and creating an instance of the class in one step. An anonymous inner class is declared as follows:</a:t>
            </a:r>
          </a:p>
        </p:txBody>
      </p:sp>
      <p:sp>
        <p:nvSpPr>
          <p:cNvPr id="4" name="Content Placeholder 3">
            <a:extLst>
              <a:ext uri="{FF2B5EF4-FFF2-40B4-BE49-F238E27FC236}">
                <a16:creationId xmlns:a16="http://schemas.microsoft.com/office/drawing/2014/main" id="{C0A415B6-4885-4999-A042-7BA0BB852E54}"/>
              </a:ext>
            </a:extLst>
          </p:cNvPr>
          <p:cNvSpPr>
            <a:spLocks noGrp="1"/>
          </p:cNvSpPr>
          <p:nvPr>
            <p:ph sz="quarter" idx="14"/>
          </p:nvPr>
        </p:nvSpPr>
        <p:spPr>
          <a:xfrm>
            <a:off x="457200" y="3535295"/>
            <a:ext cx="8229600" cy="1715429"/>
          </a:xfrm>
        </p:spPr>
        <p:txBody>
          <a:bodyPr/>
          <a:lstStyle/>
          <a:p>
            <a:pPr>
              <a:spcBef>
                <a:spcPct val="0"/>
              </a:spcBef>
              <a:buClrTx/>
              <a:buSzTx/>
              <a:buFontTx/>
              <a:buNone/>
            </a:pPr>
            <a:r>
              <a:rPr lang="en-US" altLang="en-US" sz="2000" b="1">
                <a:solidFill>
                  <a:schemeClr val="bg2"/>
                </a:solidFill>
                <a:latin typeface="Courier New" panose="02070309020205020404" pitchFamily="49" charset="0"/>
                <a:cs typeface="Courier New" panose="02070309020205020404" pitchFamily="49" charset="0"/>
              </a:rPr>
              <a:t>new</a:t>
            </a:r>
            <a:r>
              <a:rPr lang="en-US" altLang="en-US" sz="2000">
                <a:solidFill>
                  <a:schemeClr val="bg2"/>
                </a:solidFill>
                <a:latin typeface="Courier New" panose="02070309020205020404" pitchFamily="49" charset="0"/>
                <a:cs typeface="Courier New" panose="02070309020205020404" pitchFamily="49" charset="0"/>
              </a:rPr>
              <a:t> SuperClassName/InterfaceName() {</a:t>
            </a:r>
          </a:p>
          <a:p>
            <a:pPr marL="255588" indent="-79375">
              <a:spcBef>
                <a:spcPct val="0"/>
              </a:spcBef>
              <a:buClrTx/>
              <a:buSzTx/>
              <a:buFontTx/>
              <a:buNone/>
            </a:pPr>
            <a:r>
              <a:rPr lang="en-US" altLang="en-US" sz="2000">
                <a:solidFill>
                  <a:schemeClr val="bg2"/>
                </a:solidFill>
                <a:latin typeface="Courier New" panose="02070309020205020404" pitchFamily="49" charset="0"/>
                <a:cs typeface="Courier New" panose="02070309020205020404" pitchFamily="49" charset="0"/>
              </a:rPr>
              <a:t>// Implement or override methods in superclass or interface</a:t>
            </a:r>
          </a:p>
          <a:p>
            <a:pPr marL="255588" indent="-79375">
              <a:spcBef>
                <a:spcPct val="0"/>
              </a:spcBef>
              <a:buClrTx/>
              <a:buSzTx/>
              <a:buFontTx/>
              <a:buNone/>
            </a:pPr>
            <a:r>
              <a:rPr lang="en-US" altLang="en-US" sz="2000">
                <a:solidFill>
                  <a:schemeClr val="bg2"/>
                </a:solidFill>
                <a:latin typeface="Courier New" panose="02070309020205020404" pitchFamily="49" charset="0"/>
                <a:cs typeface="Courier New" panose="02070309020205020404" pitchFamily="49" charset="0"/>
              </a:rPr>
              <a:t>// Other methods if necessary</a:t>
            </a:r>
          </a:p>
          <a:p>
            <a:pPr>
              <a:spcBef>
                <a:spcPct val="0"/>
              </a:spcBef>
              <a:buClrTx/>
              <a:buSzTx/>
              <a:buFontTx/>
              <a:buNone/>
            </a:pPr>
            <a:r>
              <a:rPr lang="en-US" altLang="en-US" sz="2000">
                <a:solidFill>
                  <a:schemeClr val="bg2"/>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3111692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3A6F1-2316-43B5-8FE6-5E18176E6AC0}"/>
              </a:ext>
            </a:extLst>
          </p:cNvPr>
          <p:cNvSpPr>
            <a:spLocks noGrp="1"/>
          </p:cNvSpPr>
          <p:nvPr>
            <p:ph type="title"/>
          </p:nvPr>
        </p:nvSpPr>
        <p:spPr/>
        <p:txBody>
          <a:bodyPr/>
          <a:lstStyle/>
          <a:p>
            <a:r>
              <a:rPr lang="en-US"/>
              <a:t>Anonymous Inner Classes </a:t>
            </a:r>
            <a:r>
              <a:rPr lang="en-US" sz="2000" b="0"/>
              <a:t>(3 of 3)</a:t>
            </a:r>
            <a:endParaRPr lang="en-US"/>
          </a:p>
        </p:txBody>
      </p:sp>
      <p:pic>
        <p:nvPicPr>
          <p:cNvPr id="8" name="Picture 7" descr="The computer code shows the Anonymous Inner Classes open parenthesis cont dot close parenthesis. For long description in Notes pane, press F6.">
            <a:extLst>
              <a:ext uri="{FF2B5EF4-FFF2-40B4-BE49-F238E27FC236}">
                <a16:creationId xmlns:a16="http://schemas.microsoft.com/office/drawing/2014/main" id="{4E1386A3-4273-4F22-A048-E794F6710C62}"/>
              </a:ext>
            </a:extLst>
          </p:cNvPr>
          <p:cNvPicPr>
            <a:picLocks noChangeAspect="1"/>
          </p:cNvPicPr>
          <p:nvPr/>
        </p:nvPicPr>
        <p:blipFill>
          <a:blip r:embed="rId3"/>
          <a:stretch>
            <a:fillRect/>
          </a:stretch>
        </p:blipFill>
        <p:spPr>
          <a:xfrm>
            <a:off x="493059" y="1586743"/>
            <a:ext cx="8157881" cy="2544826"/>
          </a:xfrm>
          <a:prstGeom prst="rect">
            <a:avLst/>
          </a:prstGeom>
        </p:spPr>
      </p:pic>
      <p:pic>
        <p:nvPicPr>
          <p:cNvPr id="11" name="Picture 10" descr="A screenshot of Anonymous Handler Demo window shows buttons for New, Open, Save, and Print.">
            <a:extLst>
              <a:ext uri="{FF2B5EF4-FFF2-40B4-BE49-F238E27FC236}">
                <a16:creationId xmlns:a16="http://schemas.microsoft.com/office/drawing/2014/main" id="{DB6068A1-3E20-406D-A72E-F193F62254DB}"/>
              </a:ext>
            </a:extLst>
          </p:cNvPr>
          <p:cNvPicPr>
            <a:picLocks noChangeAspect="1"/>
          </p:cNvPicPr>
          <p:nvPr/>
        </p:nvPicPr>
        <p:blipFill>
          <a:blip r:embed="rId4"/>
          <a:stretch>
            <a:fillRect/>
          </a:stretch>
        </p:blipFill>
        <p:spPr>
          <a:xfrm>
            <a:off x="2642297" y="4275251"/>
            <a:ext cx="3620866" cy="1301057"/>
          </a:xfrm>
          <a:prstGeom prst="rect">
            <a:avLst/>
          </a:prstGeom>
        </p:spPr>
      </p:pic>
      <p:sp>
        <p:nvSpPr>
          <p:cNvPr id="10" name="Text Placeholder 9">
            <a:extLst>
              <a:ext uri="{FF2B5EF4-FFF2-40B4-BE49-F238E27FC236}">
                <a16:creationId xmlns:a16="http://schemas.microsoft.com/office/drawing/2014/main" id="{AC15C5B0-B72F-4669-A378-E94E7DF37415}"/>
              </a:ext>
            </a:extLst>
          </p:cNvPr>
          <p:cNvSpPr>
            <a:spLocks noGrp="1"/>
          </p:cNvSpPr>
          <p:nvPr>
            <p:ph type="body" sz="quarter" idx="20"/>
          </p:nvPr>
        </p:nvSpPr>
        <p:spPr>
          <a:xfrm>
            <a:off x="4847631" y="5719990"/>
            <a:ext cx="3839169" cy="529233"/>
          </a:xfrm>
        </p:spPr>
        <p:txBody>
          <a:bodyPr/>
          <a:lstStyle/>
          <a:p>
            <a:pPr marL="432" indent="0">
              <a:buNone/>
            </a:pPr>
            <a:r>
              <a:rPr lang="en-US" altLang="en-US" dirty="0">
                <a:hlinkClick r:id="rId5" tooltip="https://liveexample.pearsoncmg.com/html/AnonymousHandlerDemo.html"/>
              </a:rPr>
              <a:t>AnonymousHandlerDemo</a:t>
            </a:r>
          </a:p>
        </p:txBody>
      </p:sp>
    </p:spTree>
    <p:extLst>
      <p:ext uri="{BB962C8B-B14F-4D97-AF65-F5344CB8AC3E}">
        <p14:creationId xmlns:p14="http://schemas.microsoft.com/office/powerpoint/2010/main" val="42451556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2BDD5-338B-4503-9F47-13FCB69DC649}"/>
              </a:ext>
            </a:extLst>
          </p:cNvPr>
          <p:cNvSpPr>
            <a:spLocks noGrp="1"/>
          </p:cNvSpPr>
          <p:nvPr>
            <p:ph type="title"/>
          </p:nvPr>
        </p:nvSpPr>
        <p:spPr/>
        <p:txBody>
          <a:bodyPr/>
          <a:lstStyle/>
          <a:p>
            <a:r>
              <a:rPr lang="en-US" sz="3200"/>
              <a:t>Simplifying Event Handing Using Lambda Expressions</a:t>
            </a:r>
          </a:p>
        </p:txBody>
      </p:sp>
      <p:sp>
        <p:nvSpPr>
          <p:cNvPr id="3" name="Content Placeholder 2">
            <a:extLst>
              <a:ext uri="{FF2B5EF4-FFF2-40B4-BE49-F238E27FC236}">
                <a16:creationId xmlns:a16="http://schemas.microsoft.com/office/drawing/2014/main" id="{E0AA5143-A3BD-4539-A20E-D68A5685E34C}"/>
              </a:ext>
            </a:extLst>
          </p:cNvPr>
          <p:cNvSpPr>
            <a:spLocks noGrp="1"/>
          </p:cNvSpPr>
          <p:nvPr>
            <p:ph sz="quarter" idx="13"/>
          </p:nvPr>
        </p:nvSpPr>
        <p:spPr>
          <a:xfrm>
            <a:off x="457200" y="1556327"/>
            <a:ext cx="8229600" cy="2043216"/>
          </a:xfrm>
        </p:spPr>
        <p:txBody>
          <a:bodyPr/>
          <a:lstStyle/>
          <a:p>
            <a:pPr marL="432" indent="0">
              <a:buNone/>
            </a:pPr>
            <a:r>
              <a:rPr lang="en-US" altLang="en-US" b="1" dirty="0"/>
              <a:t>Lambda expression</a:t>
            </a:r>
            <a:r>
              <a:rPr lang="en-US" altLang="en-US" dirty="0"/>
              <a:t> is a new feature in Java 8. Lambda expressions can be viewed as an anonymous method with a concise syntax. For example, the following code in (a) can be greatly simplified using a lambda expression in (b) in three lines.</a:t>
            </a:r>
          </a:p>
        </p:txBody>
      </p:sp>
      <p:pic>
        <p:nvPicPr>
          <p:cNvPr id="8" name="Picture 7" descr="The computer code shows Simplifying Event Handing Using Lambda Expressions period. For long description in Notes pane, press F6.">
            <a:extLst>
              <a:ext uri="{FF2B5EF4-FFF2-40B4-BE49-F238E27FC236}">
                <a16:creationId xmlns:a16="http://schemas.microsoft.com/office/drawing/2014/main" id="{EF795857-EE66-4DF4-944D-9EA850022A4E}"/>
              </a:ext>
            </a:extLst>
          </p:cNvPr>
          <p:cNvPicPr>
            <a:picLocks noChangeAspect="1"/>
          </p:cNvPicPr>
          <p:nvPr/>
        </p:nvPicPr>
        <p:blipFill>
          <a:blip r:embed="rId3"/>
          <a:stretch>
            <a:fillRect/>
          </a:stretch>
        </p:blipFill>
        <p:spPr>
          <a:xfrm>
            <a:off x="613619" y="3906168"/>
            <a:ext cx="7678222" cy="2105319"/>
          </a:xfrm>
          <a:prstGeom prst="rect">
            <a:avLst/>
          </a:prstGeom>
        </p:spPr>
      </p:pic>
    </p:spTree>
    <p:extLst>
      <p:ext uri="{BB962C8B-B14F-4D97-AF65-F5344CB8AC3E}">
        <p14:creationId xmlns:p14="http://schemas.microsoft.com/office/powerpoint/2010/main" val="3987186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B812A-86CF-44C8-B54D-8F7018394B05}"/>
              </a:ext>
            </a:extLst>
          </p:cNvPr>
          <p:cNvSpPr>
            <a:spLocks noGrp="1"/>
          </p:cNvSpPr>
          <p:nvPr>
            <p:ph type="title"/>
          </p:nvPr>
        </p:nvSpPr>
        <p:spPr/>
        <p:txBody>
          <a:bodyPr/>
          <a:lstStyle/>
          <a:p>
            <a:r>
              <a:rPr lang="en-US" sz="3200"/>
              <a:t>Basic Syntax for a Lambda Expression</a:t>
            </a:r>
          </a:p>
        </p:txBody>
      </p:sp>
      <p:sp>
        <p:nvSpPr>
          <p:cNvPr id="3" name="Content Placeholder 2">
            <a:extLst>
              <a:ext uri="{FF2B5EF4-FFF2-40B4-BE49-F238E27FC236}">
                <a16:creationId xmlns:a16="http://schemas.microsoft.com/office/drawing/2014/main" id="{18EBC23B-F808-4582-ACC6-128A46E2F51D}"/>
              </a:ext>
            </a:extLst>
          </p:cNvPr>
          <p:cNvSpPr>
            <a:spLocks noGrp="1"/>
          </p:cNvSpPr>
          <p:nvPr>
            <p:ph sz="quarter" idx="13"/>
          </p:nvPr>
        </p:nvSpPr>
        <p:spPr>
          <a:xfrm>
            <a:off x="457200" y="1552575"/>
            <a:ext cx="7017657" cy="508454"/>
          </a:xfrm>
        </p:spPr>
        <p:txBody>
          <a:bodyPr/>
          <a:lstStyle/>
          <a:p>
            <a:pPr marL="432" indent="0">
              <a:buNone/>
            </a:pPr>
            <a:r>
              <a:rPr lang="en-US" altLang="en-US" sz="2000" dirty="0"/>
              <a:t>The basic syntax for a lambda expression is either</a:t>
            </a:r>
          </a:p>
        </p:txBody>
      </p:sp>
      <p:sp>
        <p:nvSpPr>
          <p:cNvPr id="4" name="Content Placeholder 3">
            <a:extLst>
              <a:ext uri="{FF2B5EF4-FFF2-40B4-BE49-F238E27FC236}">
                <a16:creationId xmlns:a16="http://schemas.microsoft.com/office/drawing/2014/main" id="{C66CCAEC-08F3-4368-92DE-D203EDE594B1}"/>
              </a:ext>
            </a:extLst>
          </p:cNvPr>
          <p:cNvSpPr>
            <a:spLocks noGrp="1"/>
          </p:cNvSpPr>
          <p:nvPr>
            <p:ph sz="quarter" idx="14"/>
          </p:nvPr>
        </p:nvSpPr>
        <p:spPr>
          <a:xfrm>
            <a:off x="457200" y="2480727"/>
            <a:ext cx="8208000" cy="1705609"/>
          </a:xfrm>
        </p:spPr>
        <p:txBody>
          <a:bodyPr/>
          <a:lstStyle/>
          <a:p>
            <a:pPr marL="0" indent="0">
              <a:buFont typeface="Monotype Sorts"/>
              <a:buNone/>
            </a:pPr>
            <a:r>
              <a:rPr lang="en-US" altLang="en-US" sz="2000" dirty="0">
                <a:latin typeface="Courier New" panose="02070309020205020404" pitchFamily="49" charset="0"/>
                <a:cs typeface="Courier New" panose="02070309020205020404" pitchFamily="49" charset="0"/>
              </a:rPr>
              <a:t>(type1 param1, type2 param2, ...) -&gt; expression</a:t>
            </a:r>
          </a:p>
          <a:p>
            <a:pPr marL="0" indent="0">
              <a:buFont typeface="Monotype Sorts"/>
              <a:buNone/>
            </a:pPr>
            <a:r>
              <a:rPr lang="en-US" altLang="en-US" sz="2000" dirty="0"/>
              <a:t>or</a:t>
            </a:r>
          </a:p>
          <a:p>
            <a:pPr marL="0" indent="0">
              <a:buFont typeface="Monotype Sorts"/>
              <a:buNone/>
            </a:pPr>
            <a:r>
              <a:rPr lang="en-US" altLang="en-US" sz="2000" dirty="0">
                <a:latin typeface="Courier New" panose="02070309020205020404" pitchFamily="49" charset="0"/>
                <a:cs typeface="Courier New" panose="02070309020205020404" pitchFamily="49" charset="0"/>
              </a:rPr>
              <a:t>(type1 param1, type2 param2, ...) -&gt; { statements; }</a:t>
            </a:r>
          </a:p>
        </p:txBody>
      </p:sp>
      <p:sp>
        <p:nvSpPr>
          <p:cNvPr id="5" name="Content Placeholder 4">
            <a:extLst>
              <a:ext uri="{FF2B5EF4-FFF2-40B4-BE49-F238E27FC236}">
                <a16:creationId xmlns:a16="http://schemas.microsoft.com/office/drawing/2014/main" id="{31130E3D-6DBA-4FEA-BD46-FF35A2C29C10}"/>
              </a:ext>
            </a:extLst>
          </p:cNvPr>
          <p:cNvSpPr>
            <a:spLocks noGrp="1"/>
          </p:cNvSpPr>
          <p:nvPr>
            <p:ph sz="quarter" idx="15"/>
          </p:nvPr>
        </p:nvSpPr>
        <p:spPr>
          <a:xfrm>
            <a:off x="457200" y="4516981"/>
            <a:ext cx="8208000" cy="1157956"/>
          </a:xfrm>
        </p:spPr>
        <p:txBody>
          <a:bodyPr/>
          <a:lstStyle/>
          <a:p>
            <a:pPr marL="432" indent="0">
              <a:buNone/>
            </a:pPr>
            <a:r>
              <a:rPr lang="en-US" altLang="en-US" sz="2000" dirty="0"/>
              <a:t>The data type for a parameter may be explicitly declared or implicitly inferred by the compiler. The parentheses can be omitted if there is only one parameter without an explicit data type.</a:t>
            </a:r>
          </a:p>
        </p:txBody>
      </p:sp>
    </p:spTree>
    <p:extLst>
      <p:ext uri="{BB962C8B-B14F-4D97-AF65-F5344CB8AC3E}">
        <p14:creationId xmlns:p14="http://schemas.microsoft.com/office/powerpoint/2010/main" val="13627853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56CEC-5F21-40CE-B1F2-1B9A62EBCF82}"/>
              </a:ext>
            </a:extLst>
          </p:cNvPr>
          <p:cNvSpPr>
            <a:spLocks noGrp="1"/>
          </p:cNvSpPr>
          <p:nvPr>
            <p:ph type="title"/>
          </p:nvPr>
        </p:nvSpPr>
        <p:spPr/>
        <p:txBody>
          <a:bodyPr/>
          <a:lstStyle/>
          <a:p>
            <a:r>
              <a:rPr lang="en-US" altLang="en-US" sz="3200" dirty="0"/>
              <a:t>Single Abstract Method Interface (S</a:t>
            </a:r>
            <a:r>
              <a:rPr lang="en-US" altLang="en-US" sz="100" dirty="0"/>
              <a:t> </a:t>
            </a:r>
            <a:r>
              <a:rPr lang="en-US" altLang="en-US" sz="3200" dirty="0"/>
              <a:t>A</a:t>
            </a:r>
            <a:r>
              <a:rPr lang="en-US" altLang="en-US" sz="100" dirty="0"/>
              <a:t> </a:t>
            </a:r>
            <a:r>
              <a:rPr lang="en-US" altLang="en-US" sz="3200" dirty="0"/>
              <a:t>M)</a:t>
            </a:r>
            <a:endParaRPr lang="en-US" sz="3200" dirty="0"/>
          </a:p>
        </p:txBody>
      </p:sp>
      <p:sp>
        <p:nvSpPr>
          <p:cNvPr id="3" name="Content Placeholder 2">
            <a:extLst>
              <a:ext uri="{FF2B5EF4-FFF2-40B4-BE49-F238E27FC236}">
                <a16:creationId xmlns:a16="http://schemas.microsoft.com/office/drawing/2014/main" id="{0C540A9E-08BB-40D2-BFA3-24404009E6D6}"/>
              </a:ext>
            </a:extLst>
          </p:cNvPr>
          <p:cNvSpPr>
            <a:spLocks noGrp="1"/>
          </p:cNvSpPr>
          <p:nvPr>
            <p:ph sz="quarter" idx="13"/>
          </p:nvPr>
        </p:nvSpPr>
        <p:spPr>
          <a:xfrm>
            <a:off x="457200" y="1552576"/>
            <a:ext cx="8229600" cy="2758168"/>
          </a:xfrm>
        </p:spPr>
        <p:txBody>
          <a:bodyPr/>
          <a:lstStyle/>
          <a:p>
            <a:pPr marL="432" indent="0">
              <a:buNone/>
            </a:pPr>
            <a:r>
              <a:rPr lang="en-US" altLang="en-US" dirty="0"/>
              <a:t>The statements in the lambda expression is all for that method. If it contains multiple methods, the compiler will not be able to compile the lambda expression. So, for the compiler to understand lambda expressions, the interface must contain exactly one abstract method. Such an interface is known as a </a:t>
            </a:r>
            <a:r>
              <a:rPr lang="en-US" altLang="en-US" b="1" dirty="0"/>
              <a:t>functional interface</a:t>
            </a:r>
            <a:r>
              <a:rPr lang="en-US" altLang="en-US" dirty="0"/>
              <a:t>, or a </a:t>
            </a:r>
            <a:r>
              <a:rPr lang="en-US" altLang="en-US" b="1" dirty="0"/>
              <a:t>Single Abstract Method </a:t>
            </a:r>
            <a:r>
              <a:rPr lang="en-US" altLang="en-US" dirty="0"/>
              <a:t>(S</a:t>
            </a:r>
            <a:r>
              <a:rPr lang="en-US" altLang="en-US" sz="100" dirty="0"/>
              <a:t> </a:t>
            </a:r>
            <a:r>
              <a:rPr lang="en-US" altLang="en-US" dirty="0"/>
              <a:t>A</a:t>
            </a:r>
            <a:r>
              <a:rPr lang="en-US" altLang="en-US" sz="100" dirty="0"/>
              <a:t> </a:t>
            </a:r>
            <a:r>
              <a:rPr lang="en-US" altLang="en-US" dirty="0"/>
              <a:t>M) interface.</a:t>
            </a:r>
          </a:p>
        </p:txBody>
      </p:sp>
      <p:sp>
        <p:nvSpPr>
          <p:cNvPr id="10" name="Text Placeholder 9">
            <a:extLst>
              <a:ext uri="{FF2B5EF4-FFF2-40B4-BE49-F238E27FC236}">
                <a16:creationId xmlns:a16="http://schemas.microsoft.com/office/drawing/2014/main" id="{C11F2703-DDCE-4E4B-B071-4BACD15909EB}"/>
              </a:ext>
            </a:extLst>
          </p:cNvPr>
          <p:cNvSpPr>
            <a:spLocks noGrp="1"/>
          </p:cNvSpPr>
          <p:nvPr>
            <p:ph type="body" sz="quarter" idx="20"/>
          </p:nvPr>
        </p:nvSpPr>
        <p:spPr>
          <a:xfrm>
            <a:off x="4769963" y="5712052"/>
            <a:ext cx="3916837" cy="582156"/>
          </a:xfrm>
        </p:spPr>
        <p:txBody>
          <a:bodyPr/>
          <a:lstStyle/>
          <a:p>
            <a:pPr marL="432" indent="0">
              <a:buNone/>
            </a:pPr>
            <a:r>
              <a:rPr lang="en-US" dirty="0">
                <a:hlinkClick r:id="rId3" tooltip="https://liveexample.pearsoncmg.com/html/AnonymousHandlerDemo.html"/>
              </a:rPr>
              <a:t>AnonymousHandlerDemo</a:t>
            </a:r>
          </a:p>
        </p:txBody>
      </p:sp>
    </p:spTree>
    <p:extLst>
      <p:ext uri="{BB962C8B-B14F-4D97-AF65-F5344CB8AC3E}">
        <p14:creationId xmlns:p14="http://schemas.microsoft.com/office/powerpoint/2010/main" val="27985588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56CEC-5F21-40CE-B1F2-1B9A62EBCF82}"/>
              </a:ext>
            </a:extLst>
          </p:cNvPr>
          <p:cNvSpPr>
            <a:spLocks noGrp="1"/>
          </p:cNvSpPr>
          <p:nvPr>
            <p:ph type="title"/>
          </p:nvPr>
        </p:nvSpPr>
        <p:spPr/>
        <p:txBody>
          <a:bodyPr/>
          <a:lstStyle/>
          <a:p>
            <a:r>
              <a:rPr lang="en-US" altLang="en-US"/>
              <a:t>Problem: Loan Calculator</a:t>
            </a:r>
            <a:endParaRPr lang="en-US"/>
          </a:p>
        </p:txBody>
      </p:sp>
      <p:sp>
        <p:nvSpPr>
          <p:cNvPr id="10" name="Text Placeholder 9">
            <a:extLst>
              <a:ext uri="{FF2B5EF4-FFF2-40B4-BE49-F238E27FC236}">
                <a16:creationId xmlns:a16="http://schemas.microsoft.com/office/drawing/2014/main" id="{C11F2703-DDCE-4E4B-B071-4BACD15909EB}"/>
              </a:ext>
            </a:extLst>
          </p:cNvPr>
          <p:cNvSpPr>
            <a:spLocks noGrp="1"/>
          </p:cNvSpPr>
          <p:nvPr>
            <p:ph type="body" sz="quarter" idx="20"/>
          </p:nvPr>
        </p:nvSpPr>
        <p:spPr>
          <a:xfrm>
            <a:off x="3421930" y="3331518"/>
            <a:ext cx="2290713" cy="582156"/>
          </a:xfrm>
        </p:spPr>
        <p:txBody>
          <a:bodyPr/>
          <a:lstStyle/>
          <a:p>
            <a:pPr>
              <a:spcBef>
                <a:spcPct val="0"/>
              </a:spcBef>
              <a:buClrTx/>
              <a:buSzTx/>
              <a:buFontTx/>
              <a:buNone/>
            </a:pPr>
            <a:r>
              <a:rPr lang="en-US" altLang="en-US" dirty="0">
                <a:hlinkClick r:id="rId3" tooltip="https://liveexample.pearsoncmg.com/html/LoanCalculator.html"/>
              </a:rPr>
              <a:t>LoanCalculator</a:t>
            </a:r>
          </a:p>
        </p:txBody>
      </p:sp>
    </p:spTree>
    <p:extLst>
      <p:ext uri="{BB962C8B-B14F-4D97-AF65-F5344CB8AC3E}">
        <p14:creationId xmlns:p14="http://schemas.microsoft.com/office/powerpoint/2010/main" val="20628044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56CEC-5F21-40CE-B1F2-1B9A62EBCF82}"/>
              </a:ext>
            </a:extLst>
          </p:cNvPr>
          <p:cNvSpPr>
            <a:spLocks noGrp="1"/>
          </p:cNvSpPr>
          <p:nvPr>
            <p:ph type="title"/>
          </p:nvPr>
        </p:nvSpPr>
        <p:spPr/>
        <p:txBody>
          <a:bodyPr/>
          <a:lstStyle/>
          <a:p>
            <a:r>
              <a:rPr lang="en-US" altLang="en-US"/>
              <a:t>The </a:t>
            </a:r>
            <a:r>
              <a:rPr lang="en-US" altLang="en-US">
                <a:latin typeface="Courier New" panose="02070309020205020404" pitchFamily="49" charset="0"/>
              </a:rPr>
              <a:t>MouseEvent</a:t>
            </a:r>
            <a:r>
              <a:rPr lang="en-US" altLang="en-US"/>
              <a:t> Class</a:t>
            </a:r>
            <a:endParaRPr lang="en-US"/>
          </a:p>
        </p:txBody>
      </p:sp>
      <p:pic>
        <p:nvPicPr>
          <p:cNvPr id="7" name="Picture 6" descr="The computer code shows the mouse event class. For long description in Notes pane, press F6.">
            <a:extLst>
              <a:ext uri="{FF2B5EF4-FFF2-40B4-BE49-F238E27FC236}">
                <a16:creationId xmlns:a16="http://schemas.microsoft.com/office/drawing/2014/main" id="{FD301A84-0A54-4726-8100-6E3493ACA9E5}"/>
              </a:ext>
            </a:extLst>
          </p:cNvPr>
          <p:cNvPicPr>
            <a:picLocks noChangeAspect="1"/>
          </p:cNvPicPr>
          <p:nvPr/>
        </p:nvPicPr>
        <p:blipFill>
          <a:blip r:embed="rId3"/>
          <a:stretch>
            <a:fillRect/>
          </a:stretch>
        </p:blipFill>
        <p:spPr>
          <a:xfrm>
            <a:off x="527677" y="1710623"/>
            <a:ext cx="8088646" cy="3436754"/>
          </a:xfrm>
          <a:prstGeom prst="rect">
            <a:avLst/>
          </a:prstGeom>
        </p:spPr>
      </p:pic>
      <p:sp>
        <p:nvSpPr>
          <p:cNvPr id="10" name="Text Placeholder 9">
            <a:extLst>
              <a:ext uri="{FF2B5EF4-FFF2-40B4-BE49-F238E27FC236}">
                <a16:creationId xmlns:a16="http://schemas.microsoft.com/office/drawing/2014/main" id="{C11F2703-DDCE-4E4B-B071-4BACD15909EB}"/>
              </a:ext>
            </a:extLst>
          </p:cNvPr>
          <p:cNvSpPr>
            <a:spLocks noGrp="1"/>
          </p:cNvSpPr>
          <p:nvPr>
            <p:ph type="body" sz="quarter" idx="20"/>
          </p:nvPr>
        </p:nvSpPr>
        <p:spPr>
          <a:xfrm>
            <a:off x="5823788" y="5713187"/>
            <a:ext cx="2863012" cy="582156"/>
          </a:xfrm>
        </p:spPr>
        <p:txBody>
          <a:bodyPr/>
          <a:lstStyle/>
          <a:p>
            <a:pPr>
              <a:spcBef>
                <a:spcPct val="0"/>
              </a:spcBef>
              <a:buClrTx/>
              <a:buSzTx/>
              <a:buFontTx/>
              <a:buNone/>
            </a:pPr>
            <a:r>
              <a:rPr lang="en-US" altLang="en-US" dirty="0">
                <a:hlinkClick r:id="rId4" tooltip="https://liveexample.pearsoncmg.com/html/MouseEventDemo.html"/>
              </a:rPr>
              <a:t>MouseEventDemo</a:t>
            </a:r>
          </a:p>
        </p:txBody>
      </p:sp>
    </p:spTree>
    <p:extLst>
      <p:ext uri="{BB962C8B-B14F-4D97-AF65-F5344CB8AC3E}">
        <p14:creationId xmlns:p14="http://schemas.microsoft.com/office/powerpoint/2010/main" val="8681999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56CEC-5F21-40CE-B1F2-1B9A62EBCF82}"/>
              </a:ext>
            </a:extLst>
          </p:cNvPr>
          <p:cNvSpPr>
            <a:spLocks noGrp="1"/>
          </p:cNvSpPr>
          <p:nvPr>
            <p:ph type="title"/>
          </p:nvPr>
        </p:nvSpPr>
        <p:spPr/>
        <p:txBody>
          <a:bodyPr/>
          <a:lstStyle/>
          <a:p>
            <a:r>
              <a:rPr lang="en-US" altLang="en-US"/>
              <a:t>The </a:t>
            </a:r>
            <a:r>
              <a:rPr lang="en-US" altLang="en-US">
                <a:latin typeface="Courier New" panose="02070309020205020404" pitchFamily="49" charset="0"/>
              </a:rPr>
              <a:t>KeyEvent</a:t>
            </a:r>
            <a:r>
              <a:rPr lang="en-US" altLang="en-US"/>
              <a:t> Class</a:t>
            </a:r>
            <a:endParaRPr lang="en-US"/>
          </a:p>
        </p:txBody>
      </p:sp>
      <p:pic>
        <p:nvPicPr>
          <p:cNvPr id="7" name="Picture 6" descr="The computer code shows The Keyevent Class. For long description in Notes pane, press F6.">
            <a:extLst>
              <a:ext uri="{FF2B5EF4-FFF2-40B4-BE49-F238E27FC236}">
                <a16:creationId xmlns:a16="http://schemas.microsoft.com/office/drawing/2014/main" id="{74E648DA-A8F7-4FA2-9966-4C078132F4AA}"/>
              </a:ext>
            </a:extLst>
          </p:cNvPr>
          <p:cNvPicPr>
            <a:picLocks noChangeAspect="1"/>
          </p:cNvPicPr>
          <p:nvPr/>
        </p:nvPicPr>
        <p:blipFill>
          <a:blip r:embed="rId3"/>
          <a:stretch>
            <a:fillRect/>
          </a:stretch>
        </p:blipFill>
        <p:spPr>
          <a:xfrm>
            <a:off x="650418" y="2247615"/>
            <a:ext cx="7843164" cy="2362769"/>
          </a:xfrm>
          <a:prstGeom prst="rect">
            <a:avLst/>
          </a:prstGeom>
        </p:spPr>
      </p:pic>
      <p:sp>
        <p:nvSpPr>
          <p:cNvPr id="10" name="Text Placeholder 9">
            <a:extLst>
              <a:ext uri="{FF2B5EF4-FFF2-40B4-BE49-F238E27FC236}">
                <a16:creationId xmlns:a16="http://schemas.microsoft.com/office/drawing/2014/main" id="{C11F2703-DDCE-4E4B-B071-4BACD15909EB}"/>
              </a:ext>
            </a:extLst>
          </p:cNvPr>
          <p:cNvSpPr>
            <a:spLocks noGrp="1"/>
          </p:cNvSpPr>
          <p:nvPr>
            <p:ph type="body" sz="quarter" idx="20"/>
          </p:nvPr>
        </p:nvSpPr>
        <p:spPr>
          <a:xfrm>
            <a:off x="6331787" y="5732041"/>
            <a:ext cx="2355013" cy="504000"/>
          </a:xfrm>
        </p:spPr>
        <p:txBody>
          <a:bodyPr/>
          <a:lstStyle/>
          <a:p>
            <a:pPr>
              <a:spcBef>
                <a:spcPct val="0"/>
              </a:spcBef>
              <a:buClrTx/>
              <a:buSzTx/>
              <a:buFontTx/>
              <a:buNone/>
            </a:pPr>
            <a:r>
              <a:rPr lang="en-US" altLang="en-US" dirty="0">
                <a:hlinkClick r:id="rId4" tooltip="https://liveexample.pearsoncmg.com/html/KeyEventDemo.html"/>
              </a:rPr>
              <a:t>KeyEventDemo</a:t>
            </a:r>
          </a:p>
        </p:txBody>
      </p:sp>
    </p:spTree>
    <p:extLst>
      <p:ext uri="{BB962C8B-B14F-4D97-AF65-F5344CB8AC3E}">
        <p14:creationId xmlns:p14="http://schemas.microsoft.com/office/powerpoint/2010/main" val="29133139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D6C14-F5C0-45D8-9176-4B86CCC99DEC}"/>
              </a:ext>
            </a:extLst>
          </p:cNvPr>
          <p:cNvSpPr>
            <a:spLocks noGrp="1"/>
          </p:cNvSpPr>
          <p:nvPr>
            <p:ph type="title"/>
          </p:nvPr>
        </p:nvSpPr>
        <p:spPr/>
        <p:txBody>
          <a:bodyPr/>
          <a:lstStyle/>
          <a:p>
            <a:r>
              <a:rPr lang="en-US" altLang="en-US"/>
              <a:t>The </a:t>
            </a:r>
            <a:r>
              <a:rPr lang="en-US" altLang="en-US">
                <a:latin typeface="Courier New" panose="02070309020205020404" pitchFamily="49" charset="0"/>
              </a:rPr>
              <a:t>KeyCode</a:t>
            </a:r>
            <a:r>
              <a:rPr lang="en-US" altLang="en-US"/>
              <a:t> Constants</a:t>
            </a:r>
            <a:endParaRPr lang="en-US"/>
          </a:p>
        </p:txBody>
      </p:sp>
      <p:graphicFrame>
        <p:nvGraphicFramePr>
          <p:cNvPr id="5" name="Table 4"/>
          <p:cNvGraphicFramePr>
            <a:graphicFrameLocks noGrp="1"/>
          </p:cNvGraphicFramePr>
          <p:nvPr>
            <p:extLst>
              <p:ext uri="{D42A27DB-BD31-4B8C-83A1-F6EECF244321}">
                <p14:modId xmlns:p14="http://schemas.microsoft.com/office/powerpoint/2010/main" val="705201205"/>
              </p:ext>
            </p:extLst>
          </p:nvPr>
        </p:nvGraphicFramePr>
        <p:xfrm>
          <a:off x="457200" y="1578429"/>
          <a:ext cx="3618410" cy="4079240"/>
        </p:xfrm>
        <a:graphic>
          <a:graphicData uri="http://schemas.openxmlformats.org/drawingml/2006/table">
            <a:tbl>
              <a:tblPr firstRow="1" firstCol="1" bandRow="1" bandCol="1">
                <a:tableStyleId>{40F9630F-82C1-40B7-BC3A-925EFCFF5E92}</a:tableStyleId>
              </a:tblPr>
              <a:tblGrid>
                <a:gridCol w="1436914">
                  <a:extLst>
                    <a:ext uri="{9D8B030D-6E8A-4147-A177-3AD203B41FA5}">
                      <a16:colId xmlns:a16="http://schemas.microsoft.com/office/drawing/2014/main" val="3728867009"/>
                    </a:ext>
                  </a:extLst>
                </a:gridCol>
                <a:gridCol w="2181496">
                  <a:extLst>
                    <a:ext uri="{9D8B030D-6E8A-4147-A177-3AD203B41FA5}">
                      <a16:colId xmlns:a16="http://schemas.microsoft.com/office/drawing/2014/main" val="1695402758"/>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u="none" strike="noStrike" cap="none" baseline="0" noProof="0" dirty="0">
                          <a:solidFill>
                            <a:schemeClr val="tx1"/>
                          </a:solidFill>
                          <a:latin typeface="+mn-lt"/>
                          <a:ea typeface="Arial"/>
                          <a:cs typeface="Arial"/>
                          <a:sym typeface="Arial"/>
                        </a:rPr>
                        <a:t>Constant</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u="none" strike="noStrike" cap="none" baseline="0" noProof="0" dirty="0">
                          <a:solidFill>
                            <a:schemeClr val="tx1"/>
                          </a:solidFill>
                          <a:latin typeface="+mn-lt"/>
                          <a:ea typeface="Arial"/>
                          <a:cs typeface="Arial"/>
                          <a:sym typeface="Arial"/>
                        </a:rPr>
                        <a:t>Description</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9336192"/>
                  </a:ext>
                </a:extLst>
              </a:tr>
              <a:tr h="370840">
                <a:tc>
                  <a:txBody>
                    <a:bodyPr/>
                    <a:lstStyle/>
                    <a:p>
                      <a:pPr rtl="0"/>
                      <a:r>
                        <a:rPr lang="en-US" sz="1400" b="1" i="0" u="none" strike="noStrike" cap="none" baseline="0" noProof="0" dirty="0">
                          <a:solidFill>
                            <a:schemeClr val="tx1"/>
                          </a:solidFill>
                          <a:latin typeface="+mn-lt"/>
                          <a:ea typeface="Arial"/>
                          <a:cs typeface="Arial"/>
                          <a:sym typeface="Arial"/>
                        </a:rPr>
                        <a:t>Home</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baseline="0" noProof="0" dirty="0">
                          <a:solidFill>
                            <a:schemeClr val="tx1"/>
                          </a:solidFill>
                          <a:latin typeface="+mn-lt"/>
                          <a:ea typeface="Arial"/>
                          <a:cs typeface="Arial"/>
                          <a:sym typeface="Arial"/>
                        </a:rPr>
                        <a:t>The Home key</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3579568"/>
                  </a:ext>
                </a:extLst>
              </a:tr>
              <a:tr h="370840">
                <a:tc>
                  <a:txBody>
                    <a:bodyPr/>
                    <a:lstStyle/>
                    <a:p>
                      <a:pPr rtl="0"/>
                      <a:r>
                        <a:rPr lang="en-US" sz="1400" b="1" i="0" u="none" strike="noStrike" cap="none" baseline="0" noProof="0" dirty="0">
                          <a:solidFill>
                            <a:schemeClr val="tx1"/>
                          </a:solidFill>
                          <a:latin typeface="+mn-lt"/>
                          <a:ea typeface="Arial"/>
                          <a:cs typeface="Arial"/>
                          <a:sym typeface="Arial"/>
                        </a:rPr>
                        <a:t>End</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baseline="0" noProof="0" dirty="0">
                          <a:solidFill>
                            <a:schemeClr val="tx1"/>
                          </a:solidFill>
                          <a:latin typeface="+mn-lt"/>
                          <a:ea typeface="Arial"/>
                          <a:cs typeface="Arial"/>
                          <a:sym typeface="Arial"/>
                        </a:rPr>
                        <a:t>The End key</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87348"/>
                  </a:ext>
                </a:extLst>
              </a:tr>
              <a:tr h="370840">
                <a:tc>
                  <a:txBody>
                    <a:bodyPr/>
                    <a:lstStyle/>
                    <a:p>
                      <a:pPr rtl="0"/>
                      <a:r>
                        <a:rPr lang="en-US" sz="1400" b="1" i="0" u="none" strike="noStrike" cap="none" baseline="0" noProof="0" dirty="0" err="1">
                          <a:solidFill>
                            <a:schemeClr val="tx1"/>
                          </a:solidFill>
                          <a:latin typeface="+mn-lt"/>
                          <a:ea typeface="Arial"/>
                          <a:cs typeface="Arial"/>
                          <a:sym typeface="Arial"/>
                        </a:rPr>
                        <a:t>Page_up</a:t>
                      </a:r>
                      <a:endParaRPr lang="en-US" sz="1400" b="1" i="0" u="none" strike="noStrike" cap="none" baseline="0" noProof="0" dirty="0">
                        <a:solidFill>
                          <a:schemeClr val="tx1"/>
                        </a:solidFill>
                        <a:latin typeface="+mn-lt"/>
                        <a:ea typeface="Arial"/>
                        <a:cs typeface="Arial"/>
                        <a:sym typeface="Arial"/>
                      </a:endParaRP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baseline="0" noProof="0" dirty="0">
                          <a:solidFill>
                            <a:schemeClr val="tx1"/>
                          </a:solidFill>
                          <a:latin typeface="+mn-lt"/>
                          <a:ea typeface="Arial"/>
                          <a:cs typeface="Arial"/>
                          <a:sym typeface="Arial"/>
                        </a:rPr>
                        <a:t>The Page Up key</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2145841"/>
                  </a:ext>
                </a:extLst>
              </a:tr>
              <a:tr h="370840">
                <a:tc>
                  <a:txBody>
                    <a:bodyPr/>
                    <a:lstStyle/>
                    <a:p>
                      <a:pPr rtl="0"/>
                      <a:r>
                        <a:rPr lang="en-US" sz="1400" b="1" i="0" u="none" strike="noStrike" cap="none" baseline="0" noProof="0" dirty="0" err="1">
                          <a:solidFill>
                            <a:schemeClr val="tx1"/>
                          </a:solidFill>
                          <a:latin typeface="+mn-lt"/>
                          <a:ea typeface="Arial"/>
                          <a:cs typeface="Arial"/>
                          <a:sym typeface="Arial"/>
                        </a:rPr>
                        <a:t>Pace_down</a:t>
                      </a:r>
                      <a:endParaRPr lang="en-US" sz="1400" b="1" i="0" u="none" strike="noStrike" cap="none" baseline="0" noProof="0" dirty="0">
                        <a:solidFill>
                          <a:schemeClr val="tx1"/>
                        </a:solidFill>
                        <a:latin typeface="+mn-lt"/>
                        <a:ea typeface="Arial"/>
                        <a:cs typeface="Arial"/>
                        <a:sym typeface="Arial"/>
                      </a:endParaRP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baseline="0" noProof="0" dirty="0">
                          <a:solidFill>
                            <a:schemeClr val="tx1"/>
                          </a:solidFill>
                          <a:latin typeface="+mn-lt"/>
                          <a:ea typeface="Arial"/>
                          <a:cs typeface="Arial"/>
                          <a:sym typeface="Arial"/>
                        </a:rPr>
                        <a:t>The Page Down key</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7730133"/>
                  </a:ext>
                </a:extLst>
              </a:tr>
              <a:tr h="370840">
                <a:tc>
                  <a:txBody>
                    <a:bodyPr/>
                    <a:lstStyle/>
                    <a:p>
                      <a:pPr rtl="0"/>
                      <a:r>
                        <a:rPr lang="en-US" sz="1400" b="1" i="0" u="none" strike="noStrike" cap="none" baseline="0" noProof="0" dirty="0">
                          <a:solidFill>
                            <a:schemeClr val="tx1"/>
                          </a:solidFill>
                          <a:latin typeface="+mn-lt"/>
                          <a:ea typeface="Arial"/>
                          <a:cs typeface="Arial"/>
                          <a:sym typeface="Arial"/>
                        </a:rPr>
                        <a:t>Up</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baseline="0" noProof="0" dirty="0">
                          <a:solidFill>
                            <a:schemeClr val="tx1"/>
                          </a:solidFill>
                          <a:latin typeface="+mn-lt"/>
                          <a:ea typeface="Arial"/>
                          <a:cs typeface="Arial"/>
                          <a:sym typeface="Arial"/>
                        </a:rPr>
                        <a:t>The up-arrow key</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4272644"/>
                  </a:ext>
                </a:extLst>
              </a:tr>
              <a:tr h="370840">
                <a:tc>
                  <a:txBody>
                    <a:bodyPr/>
                    <a:lstStyle/>
                    <a:p>
                      <a:pPr rtl="0"/>
                      <a:r>
                        <a:rPr lang="en-US" sz="1400" b="1" i="0" u="none" strike="noStrike" cap="none" baseline="0" noProof="0" dirty="0">
                          <a:solidFill>
                            <a:schemeClr val="tx1"/>
                          </a:solidFill>
                          <a:latin typeface="+mn-lt"/>
                          <a:ea typeface="Arial"/>
                          <a:cs typeface="Arial"/>
                          <a:sym typeface="Arial"/>
                        </a:rPr>
                        <a:t>Down</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baseline="0" noProof="0" dirty="0">
                          <a:solidFill>
                            <a:schemeClr val="tx1"/>
                          </a:solidFill>
                          <a:latin typeface="+mn-lt"/>
                          <a:ea typeface="Arial"/>
                          <a:cs typeface="Arial"/>
                          <a:sym typeface="Arial"/>
                        </a:rPr>
                        <a:t>The down-arrow key</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9255987"/>
                  </a:ext>
                </a:extLst>
              </a:tr>
              <a:tr h="370840">
                <a:tc>
                  <a:txBody>
                    <a:bodyPr/>
                    <a:lstStyle/>
                    <a:p>
                      <a:pPr rtl="0"/>
                      <a:r>
                        <a:rPr lang="en-US" sz="1400" b="1" i="0" u="none" strike="noStrike" cap="none" baseline="0" noProof="0">
                          <a:solidFill>
                            <a:schemeClr val="tx1"/>
                          </a:solidFill>
                          <a:latin typeface="+mn-lt"/>
                          <a:ea typeface="Arial"/>
                          <a:cs typeface="Arial"/>
                          <a:sym typeface="Arial"/>
                        </a:rPr>
                        <a:t>Left</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baseline="0" noProof="0" dirty="0">
                          <a:solidFill>
                            <a:schemeClr val="tx1"/>
                          </a:solidFill>
                          <a:latin typeface="+mn-lt"/>
                          <a:ea typeface="Arial"/>
                          <a:cs typeface="Arial"/>
                          <a:sym typeface="Arial"/>
                        </a:rPr>
                        <a:t>The left-arrow key</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27929494"/>
                  </a:ext>
                </a:extLst>
              </a:tr>
              <a:tr h="370840">
                <a:tc>
                  <a:txBody>
                    <a:bodyPr/>
                    <a:lstStyle/>
                    <a:p>
                      <a:pPr rtl="0"/>
                      <a:r>
                        <a:rPr lang="en-US" sz="1400" b="1" i="0" u="none" strike="noStrike" cap="none" baseline="0" noProof="0" dirty="0">
                          <a:solidFill>
                            <a:schemeClr val="tx1"/>
                          </a:solidFill>
                          <a:latin typeface="+mn-lt"/>
                          <a:ea typeface="Arial"/>
                          <a:cs typeface="Arial"/>
                          <a:sym typeface="Arial"/>
                        </a:rPr>
                        <a:t>Right</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baseline="0" noProof="0" dirty="0">
                          <a:solidFill>
                            <a:schemeClr val="tx1"/>
                          </a:solidFill>
                          <a:latin typeface="+mn-lt"/>
                          <a:ea typeface="Arial"/>
                          <a:cs typeface="Arial"/>
                          <a:sym typeface="Arial"/>
                        </a:rPr>
                        <a:t>The right-arrow key</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83961497"/>
                  </a:ext>
                </a:extLst>
              </a:tr>
              <a:tr h="370840">
                <a:tc>
                  <a:txBody>
                    <a:bodyPr/>
                    <a:lstStyle/>
                    <a:p>
                      <a:pPr rtl="0"/>
                      <a:r>
                        <a:rPr lang="en-US" sz="1400" b="1" i="0" u="none" strike="noStrike" cap="none" baseline="0" noProof="0">
                          <a:solidFill>
                            <a:schemeClr val="tx1"/>
                          </a:solidFill>
                          <a:latin typeface="+mn-lt"/>
                          <a:ea typeface="Arial"/>
                          <a:cs typeface="Arial"/>
                          <a:sym typeface="Arial"/>
                        </a:rPr>
                        <a:t>Escape</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b="0" i="0" u="none" strike="noStrike" cap="none" baseline="0" noProof="0" dirty="0">
                          <a:solidFill>
                            <a:schemeClr val="tx1"/>
                          </a:solidFill>
                          <a:latin typeface="+mn-lt"/>
                          <a:ea typeface="Arial"/>
                          <a:cs typeface="Arial"/>
                          <a:sym typeface="Arial"/>
                        </a:rPr>
                        <a:t>The Esc key</a:t>
                      </a:r>
                      <a:endParaRPr lang="en-US" noProof="0" dirty="0">
                        <a:solidFill>
                          <a:schemeClr val="tx1"/>
                        </a:solidFill>
                        <a:latin typeface="+mn-lt"/>
                      </a:endParaRP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0430404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u="none" strike="noStrike" cap="none" baseline="0" noProof="0" dirty="0">
                          <a:solidFill>
                            <a:schemeClr val="tx1"/>
                          </a:solidFill>
                          <a:latin typeface="+mn-lt"/>
                          <a:ea typeface="Arial"/>
                          <a:cs typeface="Arial"/>
                          <a:sym typeface="Arial"/>
                        </a:rPr>
                        <a:t>Tab</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b="0" i="0" u="none" strike="noStrike" cap="none" baseline="0" noProof="0" dirty="0">
                          <a:solidFill>
                            <a:schemeClr val="tx1"/>
                          </a:solidFill>
                          <a:latin typeface="+mn-lt"/>
                          <a:ea typeface="Arial"/>
                          <a:cs typeface="Arial"/>
                          <a:sym typeface="Arial"/>
                        </a:rPr>
                        <a:t>The Tab key</a:t>
                      </a:r>
                      <a:endParaRPr lang="en-US" noProof="0" dirty="0">
                        <a:solidFill>
                          <a:schemeClr val="tx1"/>
                        </a:solidFill>
                        <a:latin typeface="+mn-lt"/>
                      </a:endParaRP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2740200"/>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191464617"/>
              </p:ext>
            </p:extLst>
          </p:nvPr>
        </p:nvGraphicFramePr>
        <p:xfrm>
          <a:off x="4650377" y="1578429"/>
          <a:ext cx="3749041" cy="4079238"/>
        </p:xfrm>
        <a:graphic>
          <a:graphicData uri="http://schemas.openxmlformats.org/drawingml/2006/table">
            <a:tbl>
              <a:tblPr firstRow="1" firstCol="1" bandRow="1" bandCol="1">
                <a:tableStyleId>{40F9630F-82C1-40B7-BC3A-925EFCFF5E92}</a:tableStyleId>
              </a:tblPr>
              <a:tblGrid>
                <a:gridCol w="1267099">
                  <a:extLst>
                    <a:ext uri="{9D8B030D-6E8A-4147-A177-3AD203B41FA5}">
                      <a16:colId xmlns:a16="http://schemas.microsoft.com/office/drawing/2014/main" val="310122627"/>
                    </a:ext>
                  </a:extLst>
                </a:gridCol>
                <a:gridCol w="2481942">
                  <a:extLst>
                    <a:ext uri="{9D8B030D-6E8A-4147-A177-3AD203B41FA5}">
                      <a16:colId xmlns:a16="http://schemas.microsoft.com/office/drawing/2014/main" val="202879"/>
                    </a:ext>
                  </a:extLst>
                </a:gridCol>
              </a:tblGrid>
              <a:tr h="3551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u="none" strike="noStrike" cap="none" baseline="0" noProof="0" dirty="0">
                          <a:solidFill>
                            <a:schemeClr val="tx1"/>
                          </a:solidFill>
                          <a:latin typeface="+mn-lt"/>
                          <a:ea typeface="Arial"/>
                          <a:cs typeface="Arial"/>
                          <a:sym typeface="Arial"/>
                        </a:rPr>
                        <a:t>Constant</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u="none" strike="noStrike" cap="none" baseline="0" noProof="0" dirty="0">
                          <a:solidFill>
                            <a:schemeClr val="tx1"/>
                          </a:solidFill>
                          <a:latin typeface="+mn-lt"/>
                          <a:ea typeface="Arial"/>
                          <a:cs typeface="Arial"/>
                          <a:sym typeface="Arial"/>
                        </a:rPr>
                        <a:t>Description</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28070633"/>
                  </a:ext>
                </a:extLst>
              </a:tr>
              <a:tr h="355139">
                <a:tc>
                  <a:txBody>
                    <a:bodyPr/>
                    <a:lstStyle/>
                    <a:p>
                      <a:pPr rtl="0"/>
                      <a:r>
                        <a:rPr lang="en-US" sz="1400" b="1" i="0" u="none" strike="noStrike" cap="none" baseline="0" noProof="0" dirty="0">
                          <a:solidFill>
                            <a:schemeClr val="tx1"/>
                          </a:solidFill>
                          <a:latin typeface="+mn-lt"/>
                          <a:ea typeface="Arial"/>
                          <a:cs typeface="Arial"/>
                          <a:sym typeface="Arial"/>
                        </a:rPr>
                        <a:t>Control</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sz="1400" b="0" i="0" u="none" strike="noStrike" cap="none" baseline="0" noProof="0">
                          <a:solidFill>
                            <a:schemeClr val="tx1"/>
                          </a:solidFill>
                          <a:latin typeface="+mn-lt"/>
                          <a:ea typeface="Arial"/>
                          <a:cs typeface="Arial"/>
                          <a:sym typeface="Arial"/>
                        </a:rPr>
                        <a:t>The Control key</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71330232"/>
                  </a:ext>
                </a:extLst>
              </a:tr>
              <a:tr h="355139">
                <a:tc>
                  <a:txBody>
                    <a:bodyPr/>
                    <a:lstStyle/>
                    <a:p>
                      <a:pPr rtl="0"/>
                      <a:r>
                        <a:rPr lang="en-US" sz="1400" b="1" i="0" u="none" strike="noStrike" cap="none" baseline="0" noProof="0" dirty="0">
                          <a:solidFill>
                            <a:schemeClr val="tx1"/>
                          </a:solidFill>
                          <a:latin typeface="+mn-lt"/>
                          <a:ea typeface="Arial"/>
                          <a:cs typeface="Arial"/>
                          <a:sym typeface="Arial"/>
                        </a:rPr>
                        <a:t>Shift</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sz="1400" b="0" i="0" u="none" strike="noStrike" cap="none" baseline="0" noProof="0">
                          <a:solidFill>
                            <a:schemeClr val="tx1"/>
                          </a:solidFill>
                          <a:latin typeface="+mn-lt"/>
                          <a:ea typeface="Arial"/>
                          <a:cs typeface="Arial"/>
                          <a:sym typeface="Arial"/>
                        </a:rPr>
                        <a:t>The Shift key</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2447286"/>
                  </a:ext>
                </a:extLst>
              </a:tr>
              <a:tr h="355139">
                <a:tc>
                  <a:txBody>
                    <a:bodyPr/>
                    <a:lstStyle/>
                    <a:p>
                      <a:pPr rtl="0"/>
                      <a:r>
                        <a:rPr lang="en-US" sz="1400" b="1" i="0" u="none" strike="noStrike" cap="none" baseline="0" noProof="0" dirty="0" err="1">
                          <a:solidFill>
                            <a:schemeClr val="tx1"/>
                          </a:solidFill>
                          <a:latin typeface="+mn-lt"/>
                          <a:ea typeface="Arial"/>
                          <a:cs typeface="Arial"/>
                          <a:sym typeface="Arial"/>
                        </a:rPr>
                        <a:t>Back_space</a:t>
                      </a:r>
                      <a:endParaRPr lang="en-US" sz="1400" b="1" i="0" u="none" strike="noStrike" cap="none" baseline="0" noProof="0" dirty="0">
                        <a:solidFill>
                          <a:schemeClr val="tx1"/>
                        </a:solidFill>
                        <a:latin typeface="+mn-lt"/>
                        <a:ea typeface="Arial"/>
                        <a:cs typeface="Arial"/>
                        <a:sym typeface="Arial"/>
                      </a:endParaRP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sz="1400" b="0" i="0" u="none" strike="noStrike" cap="none" baseline="0" noProof="0" dirty="0">
                          <a:solidFill>
                            <a:schemeClr val="tx1"/>
                          </a:solidFill>
                          <a:latin typeface="+mn-lt"/>
                          <a:ea typeface="Arial"/>
                          <a:cs typeface="Arial"/>
                          <a:sym typeface="Arial"/>
                        </a:rPr>
                        <a:t>The Backspace key</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42047573"/>
                  </a:ext>
                </a:extLst>
              </a:tr>
              <a:tr h="355139">
                <a:tc>
                  <a:txBody>
                    <a:bodyPr/>
                    <a:lstStyle/>
                    <a:p>
                      <a:pPr rtl="0"/>
                      <a:r>
                        <a:rPr lang="en-US" sz="1400" b="1" i="0" u="none" strike="noStrike" cap="none" baseline="0" noProof="0" dirty="0">
                          <a:solidFill>
                            <a:schemeClr val="tx1"/>
                          </a:solidFill>
                          <a:latin typeface="+mn-lt"/>
                          <a:ea typeface="Arial"/>
                          <a:cs typeface="Arial"/>
                          <a:sym typeface="Arial"/>
                        </a:rPr>
                        <a:t>Caps</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sz="1400" b="0" i="0" u="none" strike="noStrike" cap="none" baseline="0" noProof="0" dirty="0">
                          <a:solidFill>
                            <a:schemeClr val="tx1"/>
                          </a:solidFill>
                          <a:latin typeface="+mn-lt"/>
                          <a:ea typeface="Arial"/>
                          <a:cs typeface="Arial"/>
                          <a:sym typeface="Arial"/>
                        </a:rPr>
                        <a:t>The Caps Lock key</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53824864"/>
                  </a:ext>
                </a:extLst>
              </a:tr>
              <a:tr h="355139">
                <a:tc>
                  <a:txBody>
                    <a:bodyPr/>
                    <a:lstStyle/>
                    <a:p>
                      <a:pPr rtl="0"/>
                      <a:r>
                        <a:rPr lang="en-US" sz="1400" b="1" i="0" u="none" strike="noStrike" cap="none" baseline="0" noProof="0" dirty="0" err="1">
                          <a:solidFill>
                            <a:schemeClr val="tx1"/>
                          </a:solidFill>
                          <a:latin typeface="+mn-lt"/>
                          <a:ea typeface="Arial"/>
                          <a:cs typeface="Arial"/>
                          <a:sym typeface="Arial"/>
                        </a:rPr>
                        <a:t>Num_lock</a:t>
                      </a:r>
                      <a:endParaRPr lang="en-US" sz="1400" b="1" i="0" u="none" strike="noStrike" cap="none" baseline="0" noProof="0" dirty="0">
                        <a:solidFill>
                          <a:schemeClr val="tx1"/>
                        </a:solidFill>
                        <a:latin typeface="+mn-lt"/>
                        <a:ea typeface="Arial"/>
                        <a:cs typeface="Arial"/>
                        <a:sym typeface="Arial"/>
                      </a:endParaRP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sz="1400" b="0" i="0" u="none" strike="noStrike" cap="none" baseline="0" noProof="0" dirty="0">
                          <a:solidFill>
                            <a:schemeClr val="tx1"/>
                          </a:solidFill>
                          <a:latin typeface="+mn-lt"/>
                          <a:ea typeface="Arial"/>
                          <a:cs typeface="Arial"/>
                          <a:sym typeface="Arial"/>
                        </a:rPr>
                        <a:t>The Num Lock key</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30970384"/>
                  </a:ext>
                </a:extLst>
              </a:tr>
              <a:tr h="355139">
                <a:tc>
                  <a:txBody>
                    <a:bodyPr/>
                    <a:lstStyle/>
                    <a:p>
                      <a:pPr rtl="0"/>
                      <a:r>
                        <a:rPr lang="en-US" sz="1400" b="1" i="0" u="none" strike="noStrike" cap="none" baseline="0" noProof="0" dirty="0">
                          <a:solidFill>
                            <a:schemeClr val="tx1"/>
                          </a:solidFill>
                          <a:latin typeface="+mn-lt"/>
                          <a:ea typeface="Arial"/>
                          <a:cs typeface="Arial"/>
                          <a:sym typeface="Arial"/>
                        </a:rPr>
                        <a:t>Enter</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sz="1400" b="0" i="0" u="none" strike="noStrike" cap="none" baseline="0" noProof="0" dirty="0">
                          <a:solidFill>
                            <a:schemeClr val="tx1"/>
                          </a:solidFill>
                          <a:latin typeface="+mn-lt"/>
                          <a:ea typeface="Arial"/>
                          <a:cs typeface="Arial"/>
                          <a:sym typeface="Arial"/>
                        </a:rPr>
                        <a:t>The Enter key</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75782157"/>
                  </a:ext>
                </a:extLst>
              </a:tr>
              <a:tr h="355139">
                <a:tc>
                  <a:txBody>
                    <a:bodyPr/>
                    <a:lstStyle/>
                    <a:p>
                      <a:pPr rtl="0"/>
                      <a:r>
                        <a:rPr lang="en-US" sz="1400" b="1" i="0" u="none" strike="noStrike" cap="none" baseline="0" noProof="0" dirty="0">
                          <a:solidFill>
                            <a:schemeClr val="tx1"/>
                          </a:solidFill>
                          <a:latin typeface="+mn-lt"/>
                          <a:ea typeface="Arial"/>
                          <a:cs typeface="Arial"/>
                          <a:sym typeface="Arial"/>
                        </a:rPr>
                        <a:t>Undefined</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sz="1400" b="0" i="0" u="none" strike="noStrike" cap="none" baseline="0" noProof="0" dirty="0">
                          <a:solidFill>
                            <a:schemeClr val="tx1"/>
                          </a:solidFill>
                          <a:latin typeface="+mn-lt"/>
                          <a:ea typeface="Arial"/>
                          <a:cs typeface="Arial"/>
                          <a:sym typeface="Arial"/>
                        </a:rPr>
                        <a:t>The </a:t>
                      </a:r>
                      <a:r>
                        <a:rPr lang="en-US" sz="1400" b="0" i="0" u="none" strike="noStrike" cap="none" baseline="0" noProof="0" dirty="0" err="1">
                          <a:solidFill>
                            <a:schemeClr val="tx1"/>
                          </a:solidFill>
                          <a:latin typeface="+mn-lt"/>
                          <a:ea typeface="Arial"/>
                          <a:cs typeface="Arial"/>
                          <a:sym typeface="Arial"/>
                        </a:rPr>
                        <a:t>keyCode</a:t>
                      </a:r>
                      <a:r>
                        <a:rPr lang="en-US" sz="1400" b="1" i="0" u="none" strike="noStrike" cap="none" baseline="0" noProof="0" dirty="0">
                          <a:solidFill>
                            <a:schemeClr val="tx1"/>
                          </a:solidFill>
                          <a:latin typeface="+mn-lt"/>
                          <a:ea typeface="Arial"/>
                          <a:cs typeface="Arial"/>
                          <a:sym typeface="Arial"/>
                        </a:rPr>
                        <a:t> </a:t>
                      </a:r>
                      <a:r>
                        <a:rPr lang="en-US" sz="1400" b="0" i="0" u="none" strike="noStrike" cap="none" baseline="0" noProof="0" dirty="0">
                          <a:solidFill>
                            <a:schemeClr val="tx1"/>
                          </a:solidFill>
                          <a:latin typeface="+mn-lt"/>
                          <a:ea typeface="Arial"/>
                          <a:cs typeface="Arial"/>
                          <a:sym typeface="Arial"/>
                        </a:rPr>
                        <a:t>unknown</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80278917"/>
                  </a:ext>
                </a:extLst>
              </a:tr>
              <a:tr h="527848">
                <a:tc>
                  <a:txBody>
                    <a:bodyPr/>
                    <a:lstStyle/>
                    <a:p>
                      <a:pPr rtl="0"/>
                      <a:r>
                        <a:rPr lang="en-US" sz="1400" b="0" i="0" u="none" strike="noStrike" cap="none" baseline="0" noProof="0" dirty="0">
                          <a:solidFill>
                            <a:schemeClr val="tx1"/>
                          </a:solidFill>
                          <a:latin typeface="+mn-lt"/>
                          <a:ea typeface="Arial"/>
                          <a:cs typeface="Arial"/>
                          <a:sym typeface="Arial"/>
                        </a:rPr>
                        <a:t>F1 to F12</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baseline="0" noProof="0" dirty="0">
                          <a:solidFill>
                            <a:schemeClr val="tx1"/>
                          </a:solidFill>
                          <a:latin typeface="+mn-lt"/>
                          <a:ea typeface="Arial"/>
                          <a:cs typeface="Arial"/>
                          <a:sym typeface="Arial"/>
                        </a:rPr>
                        <a:t>The function keys from F1 to F12</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82855998"/>
                  </a:ext>
                </a:extLst>
              </a:tr>
              <a:tr h="355139">
                <a:tc>
                  <a:txBody>
                    <a:bodyPr/>
                    <a:lstStyle/>
                    <a:p>
                      <a:pPr rtl="0"/>
                      <a:r>
                        <a:rPr lang="en-US" sz="1400" b="0" i="0" u="none" strike="noStrike" cap="none" baseline="0" noProof="0" dirty="0">
                          <a:solidFill>
                            <a:schemeClr val="tx1"/>
                          </a:solidFill>
                          <a:latin typeface="+mn-lt"/>
                          <a:ea typeface="Arial"/>
                          <a:cs typeface="Arial"/>
                          <a:sym typeface="Arial"/>
                        </a:rPr>
                        <a:t>0 to 9</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baseline="0" noProof="0" dirty="0">
                          <a:solidFill>
                            <a:schemeClr val="tx1"/>
                          </a:solidFill>
                          <a:latin typeface="+mn-lt"/>
                          <a:ea typeface="Arial"/>
                          <a:cs typeface="Arial"/>
                          <a:sym typeface="Arial"/>
                        </a:rPr>
                        <a:t>The number keys from 0 to 9</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6781355"/>
                  </a:ext>
                </a:extLst>
              </a:tr>
              <a:tr h="3551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baseline="0" noProof="0" dirty="0">
                          <a:solidFill>
                            <a:schemeClr val="tx1"/>
                          </a:solidFill>
                          <a:latin typeface="+mn-lt"/>
                          <a:ea typeface="Arial"/>
                          <a:cs typeface="Arial"/>
                          <a:sym typeface="Arial"/>
                        </a:rPr>
                        <a:t>A to Z</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sz="1400" b="0" i="0" u="none" strike="noStrike" cap="none" baseline="0" noProof="0" dirty="0">
                          <a:solidFill>
                            <a:schemeClr val="tx1"/>
                          </a:solidFill>
                          <a:latin typeface="+mn-lt"/>
                          <a:ea typeface="Arial"/>
                          <a:cs typeface="Arial"/>
                          <a:sym typeface="Arial"/>
                        </a:rPr>
                        <a:t>The letter keys from A to Z</a:t>
                      </a:r>
                    </a:p>
                  </a:txBody>
                  <a:tcPr marL="91405" marR="914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90509685"/>
                  </a:ext>
                </a:extLst>
              </a:tr>
            </a:tbl>
          </a:graphicData>
        </a:graphic>
      </p:graphicFrame>
    </p:spTree>
    <p:extLst>
      <p:ext uri="{BB962C8B-B14F-4D97-AF65-F5344CB8AC3E}">
        <p14:creationId xmlns:p14="http://schemas.microsoft.com/office/powerpoint/2010/main" val="2943497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56CEC-5F21-40CE-B1F2-1B9A62EBCF82}"/>
              </a:ext>
            </a:extLst>
          </p:cNvPr>
          <p:cNvSpPr>
            <a:spLocks noGrp="1"/>
          </p:cNvSpPr>
          <p:nvPr>
            <p:ph type="title"/>
          </p:nvPr>
        </p:nvSpPr>
        <p:spPr/>
        <p:txBody>
          <a:bodyPr/>
          <a:lstStyle/>
          <a:p>
            <a:r>
              <a:rPr lang="en-US" altLang="en-US" sz="3000" dirty="0"/>
              <a:t>Example: Control Circle With Mouse and Key</a:t>
            </a:r>
            <a:endParaRPr lang="en-US" sz="3000" dirty="0"/>
          </a:p>
        </p:txBody>
      </p:sp>
      <p:sp>
        <p:nvSpPr>
          <p:cNvPr id="10" name="Text Placeholder 9">
            <a:extLst>
              <a:ext uri="{FF2B5EF4-FFF2-40B4-BE49-F238E27FC236}">
                <a16:creationId xmlns:a16="http://schemas.microsoft.com/office/drawing/2014/main" id="{C11F2703-DDCE-4E4B-B071-4BACD15909EB}"/>
              </a:ext>
            </a:extLst>
          </p:cNvPr>
          <p:cNvSpPr>
            <a:spLocks noGrp="1"/>
          </p:cNvSpPr>
          <p:nvPr>
            <p:ph type="body" sz="quarter" idx="20"/>
          </p:nvPr>
        </p:nvSpPr>
        <p:spPr>
          <a:xfrm>
            <a:off x="2419331" y="3368450"/>
            <a:ext cx="4589042" cy="582156"/>
          </a:xfrm>
        </p:spPr>
        <p:txBody>
          <a:bodyPr/>
          <a:lstStyle/>
          <a:p>
            <a:pPr>
              <a:spcBef>
                <a:spcPct val="0"/>
              </a:spcBef>
              <a:buClrTx/>
              <a:buSzTx/>
              <a:buFontTx/>
              <a:buNone/>
            </a:pPr>
            <a:r>
              <a:rPr lang="en-US" altLang="en-US" dirty="0">
                <a:hlinkClick r:id="rId3" tooltip="https://liveexample.pearsoncmg.com/html/ControlCircleWithMouseAndKey.html"/>
              </a:rPr>
              <a:t>ControlCircleWithMouseAndKey</a:t>
            </a:r>
          </a:p>
        </p:txBody>
      </p:sp>
    </p:spTree>
    <p:extLst>
      <p:ext uri="{BB962C8B-B14F-4D97-AF65-F5344CB8AC3E}">
        <p14:creationId xmlns:p14="http://schemas.microsoft.com/office/powerpoint/2010/main" val="25193368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08270-4F0D-4D5F-9054-FAE592A6008F}"/>
              </a:ext>
            </a:extLst>
          </p:cNvPr>
          <p:cNvSpPr>
            <a:spLocks noGrp="1"/>
          </p:cNvSpPr>
          <p:nvPr>
            <p:ph type="title"/>
          </p:nvPr>
        </p:nvSpPr>
        <p:spPr/>
        <p:txBody>
          <a:bodyPr/>
          <a:lstStyle/>
          <a:p>
            <a:r>
              <a:rPr lang="en-US"/>
              <a:t>Listeners for Observable Objects</a:t>
            </a:r>
          </a:p>
        </p:txBody>
      </p:sp>
      <p:sp>
        <p:nvSpPr>
          <p:cNvPr id="3" name="Content Placeholder 2">
            <a:extLst>
              <a:ext uri="{FF2B5EF4-FFF2-40B4-BE49-F238E27FC236}">
                <a16:creationId xmlns:a16="http://schemas.microsoft.com/office/drawing/2014/main" id="{DAB8283A-A00D-4259-877D-7DE66D70F04F}"/>
              </a:ext>
            </a:extLst>
          </p:cNvPr>
          <p:cNvSpPr>
            <a:spLocks noGrp="1"/>
          </p:cNvSpPr>
          <p:nvPr>
            <p:ph sz="quarter" idx="13"/>
          </p:nvPr>
        </p:nvSpPr>
        <p:spPr>
          <a:xfrm>
            <a:off x="457200" y="1552575"/>
            <a:ext cx="8229600" cy="3152160"/>
          </a:xfrm>
        </p:spPr>
        <p:txBody>
          <a:bodyPr/>
          <a:lstStyle/>
          <a:p>
            <a:pPr marL="0" indent="0">
              <a:buFont typeface="Monotype Sorts"/>
              <a:buNone/>
            </a:pPr>
            <a:r>
              <a:rPr lang="en-US" altLang="en-US" sz="2000" dirty="0"/>
              <a:t>You can add a listener to process a value change in an observable object.</a:t>
            </a:r>
          </a:p>
          <a:p>
            <a:pPr marL="0" indent="0">
              <a:buFont typeface="Monotype Sorts"/>
              <a:buNone/>
            </a:pPr>
            <a:r>
              <a:rPr lang="en-US" altLang="en-US" sz="2000" dirty="0"/>
              <a:t>An instance of </a:t>
            </a:r>
            <a:r>
              <a:rPr lang="en-US" altLang="en-US" sz="2000" b="1" dirty="0"/>
              <a:t>Observable</a:t>
            </a:r>
            <a:r>
              <a:rPr lang="en-US" altLang="en-US" sz="2000" dirty="0"/>
              <a:t> is known as an </a:t>
            </a:r>
            <a:r>
              <a:rPr lang="en-US" altLang="en-US" sz="2000" b="1" dirty="0"/>
              <a:t>observable object</a:t>
            </a:r>
            <a:r>
              <a:rPr lang="en-US" altLang="en-US" sz="2000" dirty="0"/>
              <a:t>, which contains the </a:t>
            </a:r>
            <a:r>
              <a:rPr lang="en-US" altLang="en-US" sz="2000" b="1" dirty="0" err="1">
                <a:latin typeface="Courier New" panose="02070309020205020404" pitchFamily="49" charset="0"/>
                <a:cs typeface="Courier New" panose="02070309020205020404" pitchFamily="49" charset="0"/>
              </a:rPr>
              <a:t>addListener</a:t>
            </a:r>
            <a:r>
              <a:rPr lang="en-US" altLang="en-US" sz="2000" b="1" dirty="0">
                <a:latin typeface="Courier New" panose="02070309020205020404" pitchFamily="49" charset="0"/>
                <a:cs typeface="Courier New" panose="02070309020205020404" pitchFamily="49" charset="0"/>
              </a:rPr>
              <a:t>(</a:t>
            </a:r>
            <a:r>
              <a:rPr lang="en-US" altLang="en-US" sz="2000" b="1" dirty="0" err="1">
                <a:latin typeface="Courier New" panose="02070309020205020404" pitchFamily="49" charset="0"/>
                <a:cs typeface="Courier New" panose="02070309020205020404" pitchFamily="49" charset="0"/>
              </a:rPr>
              <a:t>InvalidationListener</a:t>
            </a:r>
            <a:r>
              <a:rPr lang="en-US" altLang="en-US" sz="2000" b="1" dirty="0">
                <a:latin typeface="Courier New" panose="02070309020205020404" pitchFamily="49" charset="0"/>
                <a:cs typeface="Courier New" panose="02070309020205020404" pitchFamily="49" charset="0"/>
              </a:rPr>
              <a:t> listener)</a:t>
            </a:r>
            <a:r>
              <a:rPr lang="en-US" altLang="en-US" sz="2000" dirty="0">
                <a:latin typeface="Courier New" panose="02070309020205020404" pitchFamily="49" charset="0"/>
                <a:cs typeface="Courier New" panose="02070309020205020404" pitchFamily="49" charset="0"/>
              </a:rPr>
              <a:t> </a:t>
            </a:r>
            <a:r>
              <a:rPr lang="en-US" altLang="en-US" sz="2000" dirty="0"/>
              <a:t>method for adding a listener. Once the value is changed in the property, a listener is notified. The listener class should implement the </a:t>
            </a:r>
            <a:r>
              <a:rPr lang="en-US" altLang="en-US" sz="2000" b="1" dirty="0" err="1">
                <a:latin typeface="Courier New" panose="02070309020205020404" pitchFamily="49" charset="0"/>
                <a:cs typeface="Courier New" panose="02070309020205020404" pitchFamily="49" charset="0"/>
              </a:rPr>
              <a:t>InvalidationListener</a:t>
            </a:r>
            <a:r>
              <a:rPr lang="en-US" altLang="en-US" sz="2000" dirty="0"/>
              <a:t> interface, which uses the </a:t>
            </a:r>
            <a:r>
              <a:rPr lang="en-US" altLang="en-US" sz="2000" b="1" dirty="0">
                <a:latin typeface="Courier New" panose="02070309020205020404" pitchFamily="49" charset="0"/>
                <a:cs typeface="Courier New" panose="02070309020205020404" pitchFamily="49" charset="0"/>
              </a:rPr>
              <a:t>invalidated(Observable o)</a:t>
            </a:r>
            <a:r>
              <a:rPr lang="en-US" altLang="en-US" sz="2000" dirty="0">
                <a:latin typeface="Courier New" panose="02070309020205020404" pitchFamily="49" charset="0"/>
                <a:cs typeface="Courier New" panose="02070309020205020404" pitchFamily="49" charset="0"/>
              </a:rPr>
              <a:t> </a:t>
            </a:r>
            <a:r>
              <a:rPr lang="en-US" altLang="en-US" sz="2000" dirty="0"/>
              <a:t>method to handle the property value change. Every binding property is an instance of </a:t>
            </a:r>
            <a:r>
              <a:rPr lang="en-US" altLang="en-US" sz="2000" b="1" dirty="0"/>
              <a:t>Observable</a:t>
            </a:r>
            <a:r>
              <a:rPr lang="en-US" altLang="en-US" sz="2000" dirty="0"/>
              <a:t>.</a:t>
            </a:r>
          </a:p>
        </p:txBody>
      </p:sp>
      <p:sp>
        <p:nvSpPr>
          <p:cNvPr id="10" name="Text Placeholder 9">
            <a:extLst>
              <a:ext uri="{FF2B5EF4-FFF2-40B4-BE49-F238E27FC236}">
                <a16:creationId xmlns:a16="http://schemas.microsoft.com/office/drawing/2014/main" id="{FD477E7F-1EC8-48A8-8BA0-B160CC3A2762}"/>
              </a:ext>
            </a:extLst>
          </p:cNvPr>
          <p:cNvSpPr>
            <a:spLocks noGrp="1"/>
          </p:cNvSpPr>
          <p:nvPr>
            <p:ph type="body" sz="quarter" idx="20"/>
          </p:nvPr>
        </p:nvSpPr>
        <p:spPr>
          <a:xfrm>
            <a:off x="5513933" y="5127027"/>
            <a:ext cx="3172867" cy="437383"/>
          </a:xfrm>
        </p:spPr>
        <p:txBody>
          <a:bodyPr/>
          <a:lstStyle/>
          <a:p>
            <a:pPr marL="432" indent="0">
              <a:buNone/>
            </a:pPr>
            <a:r>
              <a:rPr lang="en-US" altLang="en-US" sz="2000" dirty="0">
                <a:hlinkClick r:id="rId3" tooltip="https://liveexample.pearsoncmg.com/html/ObservablePropertyDemo.html"/>
              </a:rPr>
              <a:t>ObservablePropertyDemo</a:t>
            </a:r>
          </a:p>
        </p:txBody>
      </p:sp>
      <p:sp>
        <p:nvSpPr>
          <p:cNvPr id="11" name="Text Placeholder 10">
            <a:extLst>
              <a:ext uri="{FF2B5EF4-FFF2-40B4-BE49-F238E27FC236}">
                <a16:creationId xmlns:a16="http://schemas.microsoft.com/office/drawing/2014/main" id="{D89BBB87-5408-4A3A-A30F-C0928971EC0E}"/>
              </a:ext>
            </a:extLst>
          </p:cNvPr>
          <p:cNvSpPr>
            <a:spLocks noGrp="1"/>
          </p:cNvSpPr>
          <p:nvPr>
            <p:ph type="body" sz="quarter" idx="21"/>
          </p:nvPr>
        </p:nvSpPr>
        <p:spPr>
          <a:xfrm>
            <a:off x="5779567" y="5712052"/>
            <a:ext cx="2907233" cy="520286"/>
          </a:xfrm>
        </p:spPr>
        <p:txBody>
          <a:bodyPr/>
          <a:lstStyle/>
          <a:p>
            <a:pPr>
              <a:spcBef>
                <a:spcPct val="0"/>
              </a:spcBef>
              <a:buClrTx/>
              <a:buSzTx/>
              <a:buFontTx/>
              <a:buNone/>
            </a:pPr>
            <a:r>
              <a:rPr lang="en-US" altLang="en-US" sz="2000" dirty="0">
                <a:hlinkClick r:id="rId4" tooltip="https://liveexample.pearsoncmg.com/html/DisplayResizableClock.html"/>
              </a:rPr>
              <a:t>DisplayResizableClock</a:t>
            </a:r>
          </a:p>
        </p:txBody>
      </p:sp>
    </p:spTree>
    <p:extLst>
      <p:ext uri="{BB962C8B-B14F-4D97-AF65-F5344CB8AC3E}">
        <p14:creationId xmlns:p14="http://schemas.microsoft.com/office/powerpoint/2010/main" val="8605593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D926D-95BB-428F-80B0-77C2D7F23A7F}"/>
              </a:ext>
            </a:extLst>
          </p:cNvPr>
          <p:cNvSpPr>
            <a:spLocks noGrp="1"/>
          </p:cNvSpPr>
          <p:nvPr>
            <p:ph type="title"/>
          </p:nvPr>
        </p:nvSpPr>
        <p:spPr>
          <a:xfrm>
            <a:off x="457200" y="206662"/>
            <a:ext cx="8229600" cy="1097279"/>
          </a:xfrm>
        </p:spPr>
        <p:txBody>
          <a:bodyPr/>
          <a:lstStyle/>
          <a:p>
            <a:r>
              <a:rPr lang="en-US" dirty="0">
                <a:latin typeface="Courier New" panose="02070309020205020404" pitchFamily="49" charset="0"/>
                <a:cs typeface="Courier New" panose="02070309020205020404" pitchFamily="49" charset="0"/>
              </a:rPr>
              <a:t>Animation</a:t>
            </a:r>
          </a:p>
        </p:txBody>
      </p:sp>
      <p:sp>
        <p:nvSpPr>
          <p:cNvPr id="3" name="Content Placeholder 2">
            <a:extLst>
              <a:ext uri="{FF2B5EF4-FFF2-40B4-BE49-F238E27FC236}">
                <a16:creationId xmlns:a16="http://schemas.microsoft.com/office/drawing/2014/main" id="{3E24AFE6-0E66-4C86-A690-1BD16941F488}"/>
              </a:ext>
            </a:extLst>
          </p:cNvPr>
          <p:cNvSpPr>
            <a:spLocks noGrp="1"/>
          </p:cNvSpPr>
          <p:nvPr>
            <p:ph sz="quarter" idx="13"/>
          </p:nvPr>
        </p:nvSpPr>
        <p:spPr>
          <a:xfrm>
            <a:off x="457200" y="1556327"/>
            <a:ext cx="8229600" cy="921402"/>
          </a:xfrm>
        </p:spPr>
        <p:txBody>
          <a:bodyPr/>
          <a:lstStyle/>
          <a:p>
            <a:pPr marL="432" indent="0">
              <a:buNone/>
            </a:pPr>
            <a:r>
              <a:rPr lang="en-US" altLang="en-US" dirty="0" err="1"/>
              <a:t>JavaF</a:t>
            </a:r>
            <a:r>
              <a:rPr lang="en-US" altLang="en-US" sz="100" dirty="0"/>
              <a:t> </a:t>
            </a:r>
            <a:r>
              <a:rPr lang="en-US" altLang="en-US" dirty="0"/>
              <a:t>X provides the </a:t>
            </a:r>
            <a:r>
              <a:rPr lang="en-US" altLang="en-US" b="1" dirty="0">
                <a:latin typeface="Courier New" panose="02070309020205020404" pitchFamily="49" charset="0"/>
                <a:cs typeface="Courier New" panose="02070309020205020404" pitchFamily="49" charset="0"/>
              </a:rPr>
              <a:t>Animation</a:t>
            </a:r>
            <a:r>
              <a:rPr lang="en-US" altLang="en-US" dirty="0"/>
              <a:t> class with the core functionality for all animations.</a:t>
            </a:r>
          </a:p>
        </p:txBody>
      </p:sp>
      <p:pic>
        <p:nvPicPr>
          <p:cNvPr id="8" name="Picture 7" descr="The computer code shows Animation. For long description in Notes pane, press F6.">
            <a:extLst>
              <a:ext uri="{FF2B5EF4-FFF2-40B4-BE49-F238E27FC236}">
                <a16:creationId xmlns:a16="http://schemas.microsoft.com/office/drawing/2014/main" id="{E9A8E842-57EB-4F0B-8BA8-6AF7A71F38C7}"/>
              </a:ext>
            </a:extLst>
          </p:cNvPr>
          <p:cNvPicPr>
            <a:picLocks noChangeAspect="1"/>
          </p:cNvPicPr>
          <p:nvPr/>
        </p:nvPicPr>
        <p:blipFill>
          <a:blip r:embed="rId3"/>
          <a:stretch>
            <a:fillRect/>
          </a:stretch>
        </p:blipFill>
        <p:spPr>
          <a:xfrm>
            <a:off x="552225" y="2895103"/>
            <a:ext cx="8039550" cy="2970338"/>
          </a:xfrm>
          <a:prstGeom prst="rect">
            <a:avLst/>
          </a:prstGeom>
        </p:spPr>
      </p:pic>
    </p:spTree>
    <p:extLst>
      <p:ext uri="{BB962C8B-B14F-4D97-AF65-F5344CB8AC3E}">
        <p14:creationId xmlns:p14="http://schemas.microsoft.com/office/powerpoint/2010/main" val="3537873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08270-4F0D-4D5F-9054-FAE592A6008F}"/>
              </a:ext>
            </a:extLst>
          </p:cNvPr>
          <p:cNvSpPr>
            <a:spLocks noGrp="1"/>
          </p:cNvSpPr>
          <p:nvPr>
            <p:ph type="title"/>
          </p:nvPr>
        </p:nvSpPr>
        <p:spPr/>
        <p:txBody>
          <a:bodyPr/>
          <a:lstStyle/>
          <a:p>
            <a:r>
              <a:rPr lang="en-US" altLang="en-US" dirty="0" err="1">
                <a:latin typeface="Courier New" panose="02070309020205020404" pitchFamily="49" charset="0"/>
                <a:cs typeface="Courier New" panose="02070309020205020404" pitchFamily="49" charset="0"/>
              </a:rPr>
              <a:t>PathTransition</a:t>
            </a:r>
            <a:endParaRPr lang="en-US" dirty="0">
              <a:latin typeface="Courier New" panose="02070309020205020404" pitchFamily="49" charset="0"/>
              <a:cs typeface="Courier New" panose="02070309020205020404" pitchFamily="49" charset="0"/>
            </a:endParaRPr>
          </a:p>
        </p:txBody>
      </p:sp>
      <p:pic>
        <p:nvPicPr>
          <p:cNvPr id="7" name="Picture 6" descr="The computer code shows PathTransition. For long description in Notes pane, press F6.">
            <a:extLst>
              <a:ext uri="{FF2B5EF4-FFF2-40B4-BE49-F238E27FC236}">
                <a16:creationId xmlns:a16="http://schemas.microsoft.com/office/drawing/2014/main" id="{E8AE265A-202B-488E-9B5D-78C7A1ACCD9A}"/>
              </a:ext>
            </a:extLst>
          </p:cNvPr>
          <p:cNvPicPr>
            <a:picLocks noChangeAspect="1"/>
          </p:cNvPicPr>
          <p:nvPr/>
        </p:nvPicPr>
        <p:blipFill>
          <a:blip r:embed="rId3"/>
          <a:stretch>
            <a:fillRect/>
          </a:stretch>
        </p:blipFill>
        <p:spPr>
          <a:xfrm>
            <a:off x="494804" y="1873467"/>
            <a:ext cx="8154392" cy="3111064"/>
          </a:xfrm>
          <a:prstGeom prst="rect">
            <a:avLst/>
          </a:prstGeom>
        </p:spPr>
      </p:pic>
      <p:sp>
        <p:nvSpPr>
          <p:cNvPr id="10" name="Text Placeholder 9">
            <a:extLst>
              <a:ext uri="{FF2B5EF4-FFF2-40B4-BE49-F238E27FC236}">
                <a16:creationId xmlns:a16="http://schemas.microsoft.com/office/drawing/2014/main" id="{FD477E7F-1EC8-48A8-8BA0-B160CC3A2762}"/>
              </a:ext>
            </a:extLst>
          </p:cNvPr>
          <p:cNvSpPr>
            <a:spLocks noGrp="1"/>
          </p:cNvSpPr>
          <p:nvPr>
            <p:ph type="body" sz="quarter" idx="20"/>
          </p:nvPr>
        </p:nvSpPr>
        <p:spPr>
          <a:xfrm>
            <a:off x="5937858" y="5143723"/>
            <a:ext cx="2725421" cy="437383"/>
          </a:xfrm>
        </p:spPr>
        <p:txBody>
          <a:bodyPr/>
          <a:lstStyle/>
          <a:p>
            <a:pPr>
              <a:spcBef>
                <a:spcPct val="0"/>
              </a:spcBef>
              <a:buClrTx/>
              <a:buSzTx/>
              <a:buFontTx/>
              <a:buNone/>
            </a:pPr>
            <a:r>
              <a:rPr lang="en-US" altLang="en-US" sz="2000" dirty="0">
                <a:hlinkClick r:id="rId4" tooltip="https://liveexample.pearsoncmg.com/html/PathTransitionDemo.html"/>
              </a:rPr>
              <a:t>PathTransitionDemo</a:t>
            </a:r>
          </a:p>
        </p:txBody>
      </p:sp>
      <p:sp>
        <p:nvSpPr>
          <p:cNvPr id="11" name="Text Placeholder 10">
            <a:extLst>
              <a:ext uri="{FF2B5EF4-FFF2-40B4-BE49-F238E27FC236}">
                <a16:creationId xmlns:a16="http://schemas.microsoft.com/office/drawing/2014/main" id="{D89BBB87-5408-4A3A-A30F-C0928971EC0E}"/>
              </a:ext>
            </a:extLst>
          </p:cNvPr>
          <p:cNvSpPr>
            <a:spLocks noGrp="1"/>
          </p:cNvSpPr>
          <p:nvPr>
            <p:ph type="body" sz="quarter" idx="21"/>
          </p:nvPr>
        </p:nvSpPr>
        <p:spPr>
          <a:xfrm>
            <a:off x="5937858" y="5681937"/>
            <a:ext cx="2725421" cy="520286"/>
          </a:xfrm>
        </p:spPr>
        <p:txBody>
          <a:bodyPr/>
          <a:lstStyle/>
          <a:p>
            <a:pPr>
              <a:spcBef>
                <a:spcPct val="0"/>
              </a:spcBef>
              <a:buClrTx/>
              <a:buSzTx/>
              <a:buFontTx/>
              <a:buNone/>
            </a:pPr>
            <a:r>
              <a:rPr lang="en-US" altLang="en-US" sz="2000" dirty="0">
                <a:hlinkClick r:id="rId5" tooltip="https://liveexample.pearsoncmg.com/html/FlagRisingAnimation.html"/>
              </a:rPr>
              <a:t>FlagRisingAnimation</a:t>
            </a:r>
          </a:p>
        </p:txBody>
      </p:sp>
    </p:spTree>
    <p:extLst>
      <p:ext uri="{BB962C8B-B14F-4D97-AF65-F5344CB8AC3E}">
        <p14:creationId xmlns:p14="http://schemas.microsoft.com/office/powerpoint/2010/main" val="35411863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7F3CE-CFED-4699-9895-FF4B409234C3}"/>
              </a:ext>
            </a:extLst>
          </p:cNvPr>
          <p:cNvSpPr>
            <a:spLocks noGrp="1"/>
          </p:cNvSpPr>
          <p:nvPr>
            <p:ph type="title"/>
          </p:nvPr>
        </p:nvSpPr>
        <p:spPr/>
        <p:txBody>
          <a:bodyPr/>
          <a:lstStyle/>
          <a:p>
            <a:r>
              <a:rPr lang="en-US" dirty="0" err="1">
                <a:latin typeface="Courier New" panose="02070309020205020404" pitchFamily="49" charset="0"/>
                <a:cs typeface="Courier New" panose="02070309020205020404" pitchFamily="49" charset="0"/>
              </a:rPr>
              <a:t>FadeTransition</a:t>
            </a:r>
            <a:endParaRPr lang="en-US" dirty="0">
              <a:latin typeface="Courier New" panose="02070309020205020404" pitchFamily="49" charset="0"/>
              <a:cs typeface="Courier New" panose="02070309020205020404" pitchFamily="49" charset="0"/>
            </a:endParaRPr>
          </a:p>
        </p:txBody>
      </p:sp>
      <p:sp>
        <p:nvSpPr>
          <p:cNvPr id="3" name="Content Placeholder 2">
            <a:extLst>
              <a:ext uri="{FF2B5EF4-FFF2-40B4-BE49-F238E27FC236}">
                <a16:creationId xmlns:a16="http://schemas.microsoft.com/office/drawing/2014/main" id="{3CC72965-F467-4765-A507-67413051452E}"/>
              </a:ext>
            </a:extLst>
          </p:cNvPr>
          <p:cNvSpPr>
            <a:spLocks noGrp="1"/>
          </p:cNvSpPr>
          <p:nvPr>
            <p:ph sz="quarter" idx="13"/>
          </p:nvPr>
        </p:nvSpPr>
        <p:spPr>
          <a:xfrm>
            <a:off x="457200" y="1552575"/>
            <a:ext cx="8229600" cy="885825"/>
          </a:xfrm>
        </p:spPr>
        <p:txBody>
          <a:bodyPr/>
          <a:lstStyle/>
          <a:p>
            <a:pPr marL="432" indent="0">
              <a:buNone/>
            </a:pPr>
            <a:r>
              <a:rPr lang="en-US" altLang="en-US" dirty="0"/>
              <a:t>The </a:t>
            </a:r>
            <a:r>
              <a:rPr lang="en-US" altLang="en-US" b="1" dirty="0" err="1">
                <a:latin typeface="Courier New" panose="02070309020205020404" pitchFamily="49" charset="0"/>
                <a:cs typeface="Courier New" panose="02070309020205020404" pitchFamily="49" charset="0"/>
              </a:rPr>
              <a:t>FadeTransition</a:t>
            </a:r>
            <a:r>
              <a:rPr lang="en-US" altLang="en-US" dirty="0"/>
              <a:t> class animates the change of the opacity in a node over a given time.</a:t>
            </a:r>
          </a:p>
        </p:txBody>
      </p:sp>
      <p:pic>
        <p:nvPicPr>
          <p:cNvPr id="7" name="Picture 6" descr="The computer code shows FadeTransition. For long description in Notes pane, press F6.">
            <a:extLst>
              <a:ext uri="{FF2B5EF4-FFF2-40B4-BE49-F238E27FC236}">
                <a16:creationId xmlns:a16="http://schemas.microsoft.com/office/drawing/2014/main" id="{3CF56E49-0AA1-4270-B577-B8F6F5A6ECFC}"/>
              </a:ext>
            </a:extLst>
          </p:cNvPr>
          <p:cNvPicPr>
            <a:picLocks noChangeAspect="1"/>
          </p:cNvPicPr>
          <p:nvPr/>
        </p:nvPicPr>
        <p:blipFill>
          <a:blip r:embed="rId3"/>
          <a:stretch>
            <a:fillRect/>
          </a:stretch>
        </p:blipFill>
        <p:spPr>
          <a:xfrm>
            <a:off x="859078" y="2678325"/>
            <a:ext cx="7425844" cy="2890556"/>
          </a:xfrm>
          <a:prstGeom prst="rect">
            <a:avLst/>
          </a:prstGeom>
        </p:spPr>
      </p:pic>
      <p:sp>
        <p:nvSpPr>
          <p:cNvPr id="10" name="Text Placeholder 9">
            <a:extLst>
              <a:ext uri="{FF2B5EF4-FFF2-40B4-BE49-F238E27FC236}">
                <a16:creationId xmlns:a16="http://schemas.microsoft.com/office/drawing/2014/main" id="{3BDF7CD9-C108-4335-B543-4A83254678FB}"/>
              </a:ext>
            </a:extLst>
          </p:cNvPr>
          <p:cNvSpPr>
            <a:spLocks noGrp="1"/>
          </p:cNvSpPr>
          <p:nvPr>
            <p:ph type="body" sz="quarter" idx="20"/>
          </p:nvPr>
        </p:nvSpPr>
        <p:spPr>
          <a:xfrm>
            <a:off x="5576366" y="5679041"/>
            <a:ext cx="3110434" cy="529233"/>
          </a:xfrm>
        </p:spPr>
        <p:txBody>
          <a:bodyPr/>
          <a:lstStyle/>
          <a:p>
            <a:pPr marL="432" indent="0">
              <a:buNone/>
            </a:pPr>
            <a:r>
              <a:rPr lang="en-US" altLang="en-US" dirty="0">
                <a:hlinkClick r:id="rId4" tooltip="https://liveexample.pearsoncmg.com/html/FadeTransitionDemo.html"/>
              </a:rPr>
              <a:t>FadeTransitionDemo</a:t>
            </a:r>
          </a:p>
        </p:txBody>
      </p:sp>
    </p:spTree>
    <p:extLst>
      <p:ext uri="{BB962C8B-B14F-4D97-AF65-F5344CB8AC3E}">
        <p14:creationId xmlns:p14="http://schemas.microsoft.com/office/powerpoint/2010/main" val="27228407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0D01F-7715-4E1D-97BF-CFE6E471358B}"/>
              </a:ext>
            </a:extLst>
          </p:cNvPr>
          <p:cNvSpPr>
            <a:spLocks noGrp="1"/>
          </p:cNvSpPr>
          <p:nvPr>
            <p:ph type="title"/>
          </p:nvPr>
        </p:nvSpPr>
        <p:spPr/>
        <p:txBody>
          <a:bodyPr/>
          <a:lstStyle/>
          <a:p>
            <a:r>
              <a:rPr lang="en-US" dirty="0">
                <a:latin typeface="Courier New" panose="02070309020205020404" pitchFamily="49" charset="0"/>
                <a:cs typeface="Courier New" panose="02070309020205020404" pitchFamily="49" charset="0"/>
              </a:rPr>
              <a:t>Timeline</a:t>
            </a:r>
          </a:p>
        </p:txBody>
      </p:sp>
      <p:sp>
        <p:nvSpPr>
          <p:cNvPr id="3" name="Content Placeholder 2">
            <a:extLst>
              <a:ext uri="{FF2B5EF4-FFF2-40B4-BE49-F238E27FC236}">
                <a16:creationId xmlns:a16="http://schemas.microsoft.com/office/drawing/2014/main" id="{17DB5E91-A11A-48F3-A985-BDB16120E4AC}"/>
              </a:ext>
            </a:extLst>
          </p:cNvPr>
          <p:cNvSpPr>
            <a:spLocks noGrp="1"/>
          </p:cNvSpPr>
          <p:nvPr>
            <p:ph sz="quarter" idx="13"/>
          </p:nvPr>
        </p:nvSpPr>
        <p:spPr>
          <a:xfrm>
            <a:off x="457200" y="1552575"/>
            <a:ext cx="8229600" cy="2088000"/>
          </a:xfrm>
        </p:spPr>
        <p:txBody>
          <a:bodyPr/>
          <a:lstStyle/>
          <a:p>
            <a:pPr marL="432" indent="0">
              <a:buNone/>
            </a:pPr>
            <a:r>
              <a:rPr lang="en-US" altLang="en-US" b="1" dirty="0" err="1">
                <a:latin typeface="Courier New" panose="02070309020205020404" pitchFamily="49" charset="0"/>
                <a:cs typeface="Courier New" panose="02070309020205020404" pitchFamily="49" charset="0"/>
              </a:rPr>
              <a:t>PathTransition</a:t>
            </a:r>
            <a:r>
              <a:rPr lang="en-US" altLang="en-US" dirty="0"/>
              <a:t> and </a:t>
            </a:r>
            <a:r>
              <a:rPr lang="en-US" altLang="en-US" b="1" dirty="0" err="1">
                <a:latin typeface="Courier New" panose="02070309020205020404" pitchFamily="49" charset="0"/>
                <a:cs typeface="Courier New" panose="02070309020205020404" pitchFamily="49" charset="0"/>
              </a:rPr>
              <a:t>FadeTransition</a:t>
            </a:r>
            <a:r>
              <a:rPr lang="en-US" altLang="en-US" dirty="0"/>
              <a:t> define specialized animations. The </a:t>
            </a:r>
            <a:r>
              <a:rPr lang="en-US" altLang="en-US" b="1" dirty="0">
                <a:latin typeface="Courier New" panose="02070309020205020404" pitchFamily="49" charset="0"/>
                <a:cs typeface="Courier New" panose="02070309020205020404" pitchFamily="49" charset="0"/>
              </a:rPr>
              <a:t>Timeline</a:t>
            </a:r>
            <a:r>
              <a:rPr lang="en-US" altLang="en-US" dirty="0"/>
              <a:t> class can be used to program any animation using one or more </a:t>
            </a:r>
            <a:r>
              <a:rPr lang="en-US" altLang="en-US" b="1" dirty="0" err="1">
                <a:latin typeface="Courier New" panose="02070309020205020404" pitchFamily="49" charset="0"/>
                <a:cs typeface="Courier New" panose="02070309020205020404" pitchFamily="49" charset="0"/>
              </a:rPr>
              <a:t>KeyFrame</a:t>
            </a:r>
            <a:r>
              <a:rPr lang="en-US" altLang="en-US" dirty="0" err="1">
                <a:latin typeface="Courier New" panose="02070309020205020404" pitchFamily="49" charset="0"/>
                <a:cs typeface="Courier New" panose="02070309020205020404" pitchFamily="49" charset="0"/>
              </a:rPr>
              <a:t>s</a:t>
            </a:r>
            <a:r>
              <a:rPr lang="en-US" altLang="en-US" dirty="0"/>
              <a:t>. Each </a:t>
            </a:r>
            <a:r>
              <a:rPr lang="en-US" altLang="en-US" b="1" dirty="0" err="1">
                <a:latin typeface="Courier New" panose="02070309020205020404" pitchFamily="49" charset="0"/>
                <a:cs typeface="Courier New" panose="02070309020205020404" pitchFamily="49" charset="0"/>
              </a:rPr>
              <a:t>KeyFrame</a:t>
            </a:r>
            <a:r>
              <a:rPr lang="en-US" altLang="en-US" dirty="0"/>
              <a:t> is executed sequentially at a specified time interval. </a:t>
            </a:r>
            <a:r>
              <a:rPr lang="en-US" altLang="en-US" b="1" dirty="0">
                <a:latin typeface="Courier New" panose="02070309020205020404" pitchFamily="49" charset="0"/>
                <a:cs typeface="Courier New" panose="02070309020205020404" pitchFamily="49" charset="0"/>
              </a:rPr>
              <a:t>Timeline</a:t>
            </a:r>
            <a:r>
              <a:rPr lang="en-US" altLang="en-US" dirty="0"/>
              <a:t> inherits from </a:t>
            </a:r>
            <a:r>
              <a:rPr lang="en-US" altLang="en-US" b="1" dirty="0">
                <a:latin typeface="Courier New" panose="02070309020205020404" pitchFamily="49" charset="0"/>
                <a:cs typeface="Courier New" panose="02070309020205020404" pitchFamily="49" charset="0"/>
              </a:rPr>
              <a:t>Animation</a:t>
            </a:r>
            <a:r>
              <a:rPr lang="en-US" altLang="en-US" dirty="0">
                <a:latin typeface="Courier New" panose="02070309020205020404" pitchFamily="49" charset="0"/>
                <a:cs typeface="Courier New" panose="02070309020205020404" pitchFamily="49" charset="0"/>
              </a:rPr>
              <a:t>.</a:t>
            </a:r>
          </a:p>
        </p:txBody>
      </p:sp>
      <p:sp>
        <p:nvSpPr>
          <p:cNvPr id="10" name="Text Placeholder 9">
            <a:extLst>
              <a:ext uri="{FF2B5EF4-FFF2-40B4-BE49-F238E27FC236}">
                <a16:creationId xmlns:a16="http://schemas.microsoft.com/office/drawing/2014/main" id="{0C2BBAAA-1D97-4E5D-A4E3-D3B4BC8F631B}"/>
              </a:ext>
            </a:extLst>
          </p:cNvPr>
          <p:cNvSpPr>
            <a:spLocks noGrp="1"/>
          </p:cNvSpPr>
          <p:nvPr>
            <p:ph sz="quarter" idx="14"/>
          </p:nvPr>
        </p:nvSpPr>
        <p:spPr>
          <a:xfrm>
            <a:off x="5439267" y="5728241"/>
            <a:ext cx="2244505" cy="504000"/>
          </a:xfrm>
        </p:spPr>
        <p:txBody>
          <a:bodyPr/>
          <a:lstStyle/>
          <a:p>
            <a:pPr marL="432" indent="0">
              <a:buNone/>
            </a:pPr>
            <a:r>
              <a:rPr lang="en-US" altLang="en-US" dirty="0">
                <a:hlinkClick r:id="rId3" tooltip="https://liveexample.pearsoncmg.com/html/TimelineDemo.html"/>
              </a:rPr>
              <a:t>TimelineDemo</a:t>
            </a:r>
          </a:p>
        </p:txBody>
      </p:sp>
      <p:sp>
        <p:nvSpPr>
          <p:cNvPr id="9" name="Content Placeholder 8">
            <a:extLst>
              <a:ext uri="{FF2B5EF4-FFF2-40B4-BE49-F238E27FC236}">
                <a16:creationId xmlns:a16="http://schemas.microsoft.com/office/drawing/2014/main" id="{07EC4FE9-4E70-4E37-A9E4-29FF5FA86A66}"/>
              </a:ext>
            </a:extLst>
          </p:cNvPr>
          <p:cNvSpPr>
            <a:spLocks noGrp="1"/>
          </p:cNvSpPr>
          <p:nvPr>
            <p:ph sz="quarter" idx="15"/>
          </p:nvPr>
        </p:nvSpPr>
        <p:spPr>
          <a:xfrm>
            <a:off x="7822398" y="5753673"/>
            <a:ext cx="864402" cy="483615"/>
          </a:xfrm>
        </p:spPr>
        <p:txBody>
          <a:bodyPr/>
          <a:lstStyle/>
          <a:p>
            <a:pPr marL="432" indent="0">
              <a:buNone/>
            </a:pPr>
            <a:r>
              <a:rPr lang="en-US" altLang="en-US">
                <a:latin typeface="Arial" panose="020B0604020202020204" pitchFamily="34" charset="0"/>
                <a:cs typeface="Arial" panose="020B0604020202020204" pitchFamily="34" charset="0"/>
              </a:rPr>
              <a:t>Run</a:t>
            </a:r>
            <a:endParaRPr lang="en-US"/>
          </a:p>
        </p:txBody>
      </p:sp>
    </p:spTree>
    <p:extLst>
      <p:ext uri="{BB962C8B-B14F-4D97-AF65-F5344CB8AC3E}">
        <p14:creationId xmlns:p14="http://schemas.microsoft.com/office/powerpoint/2010/main" val="32391369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08270-4F0D-4D5F-9054-FAE592A6008F}"/>
              </a:ext>
            </a:extLst>
          </p:cNvPr>
          <p:cNvSpPr>
            <a:spLocks noGrp="1"/>
          </p:cNvSpPr>
          <p:nvPr>
            <p:ph type="title"/>
          </p:nvPr>
        </p:nvSpPr>
        <p:spPr/>
        <p:txBody>
          <a:bodyPr/>
          <a:lstStyle/>
          <a:p>
            <a:r>
              <a:rPr lang="en-US" altLang="en-US"/>
              <a:t>Clock Animation</a:t>
            </a:r>
            <a:endParaRPr lang="en-US"/>
          </a:p>
        </p:txBody>
      </p:sp>
      <p:pic>
        <p:nvPicPr>
          <p:cNvPr id="7" name="Picture 6" descr="An object shows the Clock Animation. The program shows the clock and in the clock represents the hour hand, minute hand and second hand. ">
            <a:extLst>
              <a:ext uri="{FF2B5EF4-FFF2-40B4-BE49-F238E27FC236}">
                <a16:creationId xmlns:a16="http://schemas.microsoft.com/office/drawing/2014/main" id="{6F23210B-6A27-4240-9A59-D2E1C5FF99F4}"/>
              </a:ext>
            </a:extLst>
          </p:cNvPr>
          <p:cNvPicPr>
            <a:picLocks noChangeAspect="1"/>
          </p:cNvPicPr>
          <p:nvPr/>
        </p:nvPicPr>
        <p:blipFill>
          <a:blip r:embed="rId3"/>
          <a:stretch>
            <a:fillRect/>
          </a:stretch>
        </p:blipFill>
        <p:spPr>
          <a:xfrm>
            <a:off x="2939542" y="1661526"/>
            <a:ext cx="3264916" cy="3534947"/>
          </a:xfrm>
          <a:prstGeom prst="rect">
            <a:avLst/>
          </a:prstGeom>
        </p:spPr>
      </p:pic>
      <p:sp>
        <p:nvSpPr>
          <p:cNvPr id="10" name="Text Placeholder 9">
            <a:extLst>
              <a:ext uri="{FF2B5EF4-FFF2-40B4-BE49-F238E27FC236}">
                <a16:creationId xmlns:a16="http://schemas.microsoft.com/office/drawing/2014/main" id="{FD477E7F-1EC8-48A8-8BA0-B160CC3A2762}"/>
              </a:ext>
            </a:extLst>
          </p:cNvPr>
          <p:cNvSpPr>
            <a:spLocks noGrp="1"/>
          </p:cNvSpPr>
          <p:nvPr>
            <p:ph type="body" sz="quarter" idx="20"/>
          </p:nvPr>
        </p:nvSpPr>
        <p:spPr>
          <a:xfrm>
            <a:off x="6217798" y="5711598"/>
            <a:ext cx="2389174" cy="515031"/>
          </a:xfrm>
        </p:spPr>
        <p:txBody>
          <a:bodyPr/>
          <a:lstStyle/>
          <a:p>
            <a:pPr>
              <a:spcBef>
                <a:spcPct val="0"/>
              </a:spcBef>
              <a:buClrTx/>
              <a:buSzTx/>
              <a:buFontTx/>
              <a:buNone/>
            </a:pPr>
            <a:r>
              <a:rPr lang="en-US" altLang="en-US" dirty="0">
                <a:hlinkClick r:id="rId4" tooltip="https://liveexample.pearsoncmg.com/html/ClockAnimation.html"/>
              </a:rPr>
              <a:t>ClockAnimation</a:t>
            </a:r>
          </a:p>
        </p:txBody>
      </p:sp>
    </p:spTree>
    <p:extLst>
      <p:ext uri="{BB962C8B-B14F-4D97-AF65-F5344CB8AC3E}">
        <p14:creationId xmlns:p14="http://schemas.microsoft.com/office/powerpoint/2010/main" val="16118492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E1365-33DA-4F5C-9F9D-A0F1205A7095}"/>
              </a:ext>
            </a:extLst>
          </p:cNvPr>
          <p:cNvSpPr>
            <a:spLocks noGrp="1"/>
          </p:cNvSpPr>
          <p:nvPr>
            <p:ph type="title"/>
          </p:nvPr>
        </p:nvSpPr>
        <p:spPr/>
        <p:txBody>
          <a:bodyPr/>
          <a:lstStyle/>
          <a:p>
            <a:r>
              <a:rPr lang="en-US" dirty="0"/>
              <a:t>Case Study: Bouncing Ball</a:t>
            </a:r>
          </a:p>
        </p:txBody>
      </p:sp>
      <p:pic>
        <p:nvPicPr>
          <p:cNvPr id="14" name="Picture 13" descr="A screenshot of Bounce Ball Control window shows a circle near top left corner. The circle is shaded in green.">
            <a:extLst>
              <a:ext uri="{FF2B5EF4-FFF2-40B4-BE49-F238E27FC236}">
                <a16:creationId xmlns:a16="http://schemas.microsoft.com/office/drawing/2014/main" id="{9607986C-4A33-45F7-A9F1-A2D817803048}"/>
              </a:ext>
            </a:extLst>
          </p:cNvPr>
          <p:cNvPicPr>
            <a:picLocks noChangeAspect="1"/>
          </p:cNvPicPr>
          <p:nvPr/>
        </p:nvPicPr>
        <p:blipFill>
          <a:blip r:embed="rId3"/>
          <a:stretch>
            <a:fillRect/>
          </a:stretch>
        </p:blipFill>
        <p:spPr>
          <a:xfrm>
            <a:off x="590898" y="1592898"/>
            <a:ext cx="2025230" cy="1104671"/>
          </a:xfrm>
          <a:prstGeom prst="rect">
            <a:avLst/>
          </a:prstGeom>
        </p:spPr>
      </p:pic>
      <p:pic>
        <p:nvPicPr>
          <p:cNvPr id="20" name="Picture 19" descr="A screenshot of Bounce Ball Control window shows a circle in the middle. The circle is shaded in green.">
            <a:extLst>
              <a:ext uri="{FF2B5EF4-FFF2-40B4-BE49-F238E27FC236}">
                <a16:creationId xmlns:a16="http://schemas.microsoft.com/office/drawing/2014/main" id="{AEF44DDB-42AC-4C07-AE13-5B442BC85636}"/>
              </a:ext>
            </a:extLst>
          </p:cNvPr>
          <p:cNvPicPr>
            <a:picLocks noChangeAspect="1"/>
          </p:cNvPicPr>
          <p:nvPr/>
        </p:nvPicPr>
        <p:blipFill>
          <a:blip r:embed="rId4"/>
          <a:stretch>
            <a:fillRect/>
          </a:stretch>
        </p:blipFill>
        <p:spPr>
          <a:xfrm>
            <a:off x="3054556" y="1576192"/>
            <a:ext cx="2160245" cy="1178316"/>
          </a:xfrm>
          <a:prstGeom prst="rect">
            <a:avLst/>
          </a:prstGeom>
        </p:spPr>
      </p:pic>
      <p:pic>
        <p:nvPicPr>
          <p:cNvPr id="22" name="Picture 21" descr="A screenshot of Bounce Ball Control window shows a circle near bottom right corner. The circle is shaded in green.">
            <a:extLst>
              <a:ext uri="{FF2B5EF4-FFF2-40B4-BE49-F238E27FC236}">
                <a16:creationId xmlns:a16="http://schemas.microsoft.com/office/drawing/2014/main" id="{145F609C-7481-4F4A-993B-8D637647FE0D}"/>
              </a:ext>
            </a:extLst>
          </p:cNvPr>
          <p:cNvPicPr>
            <a:picLocks noChangeAspect="1"/>
          </p:cNvPicPr>
          <p:nvPr/>
        </p:nvPicPr>
        <p:blipFill>
          <a:blip r:embed="rId5"/>
          <a:stretch>
            <a:fillRect/>
          </a:stretch>
        </p:blipFill>
        <p:spPr>
          <a:xfrm>
            <a:off x="5991447" y="1587326"/>
            <a:ext cx="2270713" cy="1239686"/>
          </a:xfrm>
          <a:prstGeom prst="rect">
            <a:avLst/>
          </a:prstGeom>
        </p:spPr>
      </p:pic>
      <p:pic>
        <p:nvPicPr>
          <p:cNvPr id="24" name="Picture 23" descr="A diagram shows BallPane leading to javafx.scene.layout.Pane and BounceBallControl leading to javafx.application.Application. For long description in Notes pane, press F6.">
            <a:extLst>
              <a:ext uri="{FF2B5EF4-FFF2-40B4-BE49-F238E27FC236}">
                <a16:creationId xmlns:a16="http://schemas.microsoft.com/office/drawing/2014/main" id="{AC8A61C0-0B9F-41D3-9E8C-E25A229E9651}"/>
              </a:ext>
            </a:extLst>
          </p:cNvPr>
          <p:cNvPicPr>
            <a:picLocks noChangeAspect="1"/>
          </p:cNvPicPr>
          <p:nvPr/>
        </p:nvPicPr>
        <p:blipFill>
          <a:blip r:embed="rId6"/>
          <a:stretch>
            <a:fillRect/>
          </a:stretch>
        </p:blipFill>
        <p:spPr>
          <a:xfrm>
            <a:off x="590898" y="2958963"/>
            <a:ext cx="4829867" cy="3228094"/>
          </a:xfrm>
          <a:prstGeom prst="rect">
            <a:avLst/>
          </a:prstGeom>
        </p:spPr>
      </p:pic>
      <p:sp>
        <p:nvSpPr>
          <p:cNvPr id="10" name="Text Placeholder 9">
            <a:extLst>
              <a:ext uri="{FF2B5EF4-FFF2-40B4-BE49-F238E27FC236}">
                <a16:creationId xmlns:a16="http://schemas.microsoft.com/office/drawing/2014/main" id="{CCDA9386-7312-48C9-8BCB-DEEAE407D5D8}"/>
              </a:ext>
            </a:extLst>
          </p:cNvPr>
          <p:cNvSpPr>
            <a:spLocks noGrp="1"/>
          </p:cNvSpPr>
          <p:nvPr>
            <p:ph type="body" sz="quarter" idx="20"/>
          </p:nvPr>
        </p:nvSpPr>
        <p:spPr>
          <a:xfrm>
            <a:off x="7126804" y="5064608"/>
            <a:ext cx="1480167" cy="529233"/>
          </a:xfrm>
        </p:spPr>
        <p:txBody>
          <a:bodyPr/>
          <a:lstStyle/>
          <a:p>
            <a:pPr marL="432" indent="0">
              <a:buNone/>
            </a:pPr>
            <a:r>
              <a:rPr lang="en-US" altLang="en-US" dirty="0">
                <a:hlinkClick r:id="rId7" tooltip="https://liveexample.pearsoncmg.com/html/BallPane.html"/>
              </a:rPr>
              <a:t>BallPane</a:t>
            </a:r>
            <a:endParaRPr lang="en-US" dirty="0">
              <a:hlinkClick r:id="rId7" tooltip="https://liveexample.pearsoncmg.com/html/BallPane.html"/>
            </a:endParaRPr>
          </a:p>
        </p:txBody>
      </p:sp>
      <p:sp>
        <p:nvSpPr>
          <p:cNvPr id="11" name="Text Placeholder 10">
            <a:extLst>
              <a:ext uri="{FF2B5EF4-FFF2-40B4-BE49-F238E27FC236}">
                <a16:creationId xmlns:a16="http://schemas.microsoft.com/office/drawing/2014/main" id="{29D84478-0043-4E10-A4DC-358F3BFFA38D}"/>
              </a:ext>
            </a:extLst>
          </p:cNvPr>
          <p:cNvSpPr>
            <a:spLocks noGrp="1"/>
          </p:cNvSpPr>
          <p:nvPr>
            <p:ph type="body" sz="quarter" idx="21"/>
          </p:nvPr>
        </p:nvSpPr>
        <p:spPr>
          <a:xfrm>
            <a:off x="5802374" y="5655661"/>
            <a:ext cx="2804597" cy="572315"/>
          </a:xfrm>
        </p:spPr>
        <p:txBody>
          <a:bodyPr/>
          <a:lstStyle/>
          <a:p>
            <a:pPr marL="432" indent="0">
              <a:buNone/>
            </a:pPr>
            <a:r>
              <a:rPr lang="en-US" altLang="en-US" dirty="0">
                <a:hlinkClick r:id="rId8" tooltip="https://liveexample.pearsoncmg.com/html/BounceBallControl.html"/>
              </a:rPr>
              <a:t>BounceBallControl</a:t>
            </a:r>
          </a:p>
        </p:txBody>
      </p:sp>
    </p:spTree>
    <p:extLst>
      <p:ext uri="{BB962C8B-B14F-4D97-AF65-F5344CB8AC3E}">
        <p14:creationId xmlns:p14="http://schemas.microsoft.com/office/powerpoint/2010/main" val="24386332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de507ab-19d9-42c9-b69f-59bb821f2f61">
      <Terms xmlns="http://schemas.microsoft.com/office/infopath/2007/PartnerControls"/>
    </lcf76f155ced4ddcb4097134ff3c332f>
    <TaxCatchAll xmlns="2b22d00c-ba54-415e-ac47-142f0dfcf7e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27C0A014A242A40A6712776A1B494A0" ma:contentTypeVersion="18" ma:contentTypeDescription="Create a new document." ma:contentTypeScope="" ma:versionID="4c6acf0bdd8d3c68de79bfafae2501c2">
  <xsd:schema xmlns:xsd="http://www.w3.org/2001/XMLSchema" xmlns:xs="http://www.w3.org/2001/XMLSchema" xmlns:p="http://schemas.microsoft.com/office/2006/metadata/properties" xmlns:ns2="bde507ab-19d9-42c9-b69f-59bb821f2f61" xmlns:ns3="2b22d00c-ba54-415e-ac47-142f0dfcf7e9" targetNamespace="http://schemas.microsoft.com/office/2006/metadata/properties" ma:root="true" ma:fieldsID="db735535aa43796101af087dcd28ba92" ns2:_="" ns3:_="">
    <xsd:import namespace="bde507ab-19d9-42c9-b69f-59bb821f2f61"/>
    <xsd:import namespace="2b22d00c-ba54-415e-ac47-142f0dfcf7e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ServiceLocatio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e507ab-19d9-42c9-b69f-59bb821f2f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2b22d00c-ba54-415e-ac47-142f0dfcf7e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15ee8f1-b0c3-4805-b80a-d212239595e5}" ma:internalName="TaxCatchAll" ma:showField="CatchAllData" ma:web="2b22d00c-ba54-415e-ac47-142f0dfcf7e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07BE7F2-FBBE-4BB8-B82B-D8B9F591911E}">
  <ds:schemaRefs>
    <ds:schemaRef ds:uri="bde507ab-19d9-42c9-b69f-59bb821f2f61"/>
    <ds:schemaRef ds:uri="http://schemas.microsoft.com/office/2006/documentManagement/types"/>
    <ds:schemaRef ds:uri="http://schemas.openxmlformats.org/package/2006/metadata/core-properties"/>
    <ds:schemaRef ds:uri="http://www.w3.org/XML/1998/namespace"/>
    <ds:schemaRef ds:uri="http://purl.org/dc/elements/1.1/"/>
    <ds:schemaRef ds:uri="http://purl.org/dc/terms/"/>
    <ds:schemaRef ds:uri="http://purl.org/dc/dcmitype/"/>
    <ds:schemaRef ds:uri="http://schemas.microsoft.com/office/infopath/2007/PartnerControls"/>
    <ds:schemaRef ds:uri="2b22d00c-ba54-415e-ac47-142f0dfcf7e9"/>
    <ds:schemaRef ds:uri="http://schemas.microsoft.com/office/2006/metadata/properties"/>
  </ds:schemaRefs>
</ds:datastoreItem>
</file>

<file path=customXml/itemProps2.xml><?xml version="1.0" encoding="utf-8"?>
<ds:datastoreItem xmlns:ds="http://schemas.openxmlformats.org/officeDocument/2006/customXml" ds:itemID="{9E336D40-0D5D-46A0-86AF-99DA68D26E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e507ab-19d9-42c9-b69f-59bb821f2f61"/>
    <ds:schemaRef ds:uri="2b22d00c-ba54-415e-ac47-142f0dfcf7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0570A4F-4AD0-4C1C-8531-5FD1DCFE903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148169</TotalTime>
  <Words>5377</Words>
  <Application>Microsoft Office PowerPoint</Application>
  <PresentationFormat>On-screen Show (4:3)</PresentationFormat>
  <Paragraphs>373</Paragraphs>
  <Slides>42</Slides>
  <Notes>28</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42</vt:i4>
      </vt:variant>
    </vt:vector>
  </HeadingPairs>
  <TitlesOfParts>
    <vt:vector size="50" baseType="lpstr">
      <vt:lpstr>Arial</vt:lpstr>
      <vt:lpstr>Times New Roman</vt:lpstr>
      <vt:lpstr>Verdana</vt:lpstr>
      <vt:lpstr>Noto Sans Symbols</vt:lpstr>
      <vt:lpstr>Courier New</vt:lpstr>
      <vt:lpstr>Monotype Sorts</vt:lpstr>
      <vt:lpstr>USHE</vt:lpstr>
      <vt:lpstr>USHE_slide options</vt:lpstr>
      <vt:lpstr>Introduction to Java Programming and Data Structures</vt:lpstr>
      <vt:lpstr>Motivations</vt:lpstr>
      <vt:lpstr>Objectives (1 of 2)</vt:lpstr>
      <vt:lpstr>Objectives (2 of 2)</vt:lpstr>
      <vt:lpstr>Procedural versus Event-Driven Programming</vt:lpstr>
      <vt:lpstr>Taste of Event-Driven Programming</vt:lpstr>
      <vt:lpstr>Handling G U I Events</vt:lpstr>
      <vt:lpstr>Trace Execution (1 of 3)</vt:lpstr>
      <vt:lpstr>Trace Execution (2 of 3)</vt:lpstr>
      <vt:lpstr>Trace Execution (3 of 3)</vt:lpstr>
      <vt:lpstr>Events</vt:lpstr>
      <vt:lpstr>Event Classes</vt:lpstr>
      <vt:lpstr>Event Information</vt:lpstr>
      <vt:lpstr>Selected User Actions and Handlers</vt:lpstr>
      <vt:lpstr>The Delegation Model</vt:lpstr>
      <vt:lpstr>The Delegation Model: Example</vt:lpstr>
      <vt:lpstr>Example: First Version for Controlcircle (No Listeners)</vt:lpstr>
      <vt:lpstr>Example: Second Version for Controlcircle (With Listener for Enlarge)</vt:lpstr>
      <vt:lpstr>Inner Class Listeners</vt:lpstr>
      <vt:lpstr>Inner Classes (1 of 4)</vt:lpstr>
      <vt:lpstr>Inner Classes (2 of 4)</vt:lpstr>
      <vt:lpstr>Inner Classes (3 of 4)</vt:lpstr>
      <vt:lpstr>Inner Classes (4 of 4)</vt:lpstr>
      <vt:lpstr>Anonymous Inner Classes (1 of 3)</vt:lpstr>
      <vt:lpstr>Anonymous Inner Classes (2 of 3)</vt:lpstr>
      <vt:lpstr>Anonymous Inner Classes (3 of 3)</vt:lpstr>
      <vt:lpstr>Simplifying Event Handing Using Lambda Expressions</vt:lpstr>
      <vt:lpstr>Basic Syntax for a Lambda Expression</vt:lpstr>
      <vt:lpstr>Single Abstract Method Interface (S A M)</vt:lpstr>
      <vt:lpstr>Problem: Loan Calculator</vt:lpstr>
      <vt:lpstr>The MouseEvent Class</vt:lpstr>
      <vt:lpstr>The KeyEvent Class</vt:lpstr>
      <vt:lpstr>The KeyCode Constants</vt:lpstr>
      <vt:lpstr>Example: Control Circle With Mouse and Key</vt:lpstr>
      <vt:lpstr>Listeners for Observable Objects</vt:lpstr>
      <vt:lpstr>Animation</vt:lpstr>
      <vt:lpstr>PathTransition</vt:lpstr>
      <vt:lpstr>FadeTransition</vt:lpstr>
      <vt:lpstr>Timeline</vt:lpstr>
      <vt:lpstr>Clock Animation</vt:lpstr>
      <vt:lpstr>Case Study: Bouncing Ball</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Java Programming and Data Structures, Thirteenth Edition, Chapter 15, Event-Driven Programming and Animations</dc:title>
  <dc:subject>IT</dc:subject>
  <dc:creator>Liang</dc:creator>
  <cp:keywords>Introduction to Java Programming and Data Structures</cp:keywords>
  <dc:description>This deck contains code snippets and symbols, screen reader users may need to increase verbosity levels; Long description alt-text is inserted in the notes pane; This presentation contains the hyperlinks located in Notes Pane.</dc:description>
  <cp:lastModifiedBy>Chellapandi Murugan</cp:lastModifiedBy>
  <cp:revision>1000</cp:revision>
  <dcterms:modified xsi:type="dcterms:W3CDTF">2023-05-18T23:52:54Z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0x010100D27C0A014A242A40A6712776A1B494A0</vt:lpwstr>
  </property>
</Properties>
</file>