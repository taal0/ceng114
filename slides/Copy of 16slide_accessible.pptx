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4"/>
    <p:sldMasterId id="2147483659" r:id="rId5"/>
  </p:sldMasterIdLst>
  <p:notesMasterIdLst>
    <p:notesMasterId r:id="rId41"/>
  </p:notesMasterIdLst>
  <p:handoutMasterIdLst>
    <p:handoutMasterId r:id="rId42"/>
  </p:handoutMasterIdLst>
  <p:sldIdLst>
    <p:sldId id="330" r:id="rId6"/>
    <p:sldId id="530" r:id="rId7"/>
    <p:sldId id="531" r:id="rId8"/>
    <p:sldId id="532" r:id="rId9"/>
    <p:sldId id="533" r:id="rId10"/>
    <p:sldId id="534" r:id="rId11"/>
    <p:sldId id="535" r:id="rId12"/>
    <p:sldId id="536" r:id="rId13"/>
    <p:sldId id="537" r:id="rId14"/>
    <p:sldId id="563" r:id="rId15"/>
    <p:sldId id="539" r:id="rId16"/>
    <p:sldId id="540" r:id="rId17"/>
    <p:sldId id="541" r:id="rId18"/>
    <p:sldId id="542" r:id="rId19"/>
    <p:sldId id="543" r:id="rId20"/>
    <p:sldId id="544" r:id="rId21"/>
    <p:sldId id="545" r:id="rId22"/>
    <p:sldId id="546" r:id="rId23"/>
    <p:sldId id="547" r:id="rId24"/>
    <p:sldId id="548" r:id="rId25"/>
    <p:sldId id="549" r:id="rId26"/>
    <p:sldId id="550" r:id="rId27"/>
    <p:sldId id="551" r:id="rId28"/>
    <p:sldId id="552" r:id="rId29"/>
    <p:sldId id="553" r:id="rId30"/>
    <p:sldId id="554" r:id="rId31"/>
    <p:sldId id="555" r:id="rId32"/>
    <p:sldId id="556" r:id="rId33"/>
    <p:sldId id="557" r:id="rId34"/>
    <p:sldId id="558" r:id="rId35"/>
    <p:sldId id="559" r:id="rId36"/>
    <p:sldId id="560" r:id="rId37"/>
    <p:sldId id="561" r:id="rId38"/>
    <p:sldId id="562" r:id="rId39"/>
    <p:sldId id="298" r:id="rId40"/>
  </p:sldIdLst>
  <p:sldSz cx="9144000" cy="6858000" type="screen4x3"/>
  <p:notesSz cx="6858000" cy="9144000"/>
  <p:embeddedFontLst>
    <p:embeddedFont>
      <p:font typeface="Book Antiqua" panose="02040602050305030304" pitchFamily="18" charset="0"/>
      <p:regular r:id="rId43"/>
      <p:bold r:id="rId44"/>
      <p:italic r:id="rId45"/>
      <p:boldItalic r:id="rId46"/>
    </p:embeddedFont>
    <p:embeddedFont>
      <p:font typeface="Noto Sans Symbols" panose="020B0604020202020204" charset="0"/>
      <p:regular r:id="rId47"/>
      <p:bold r:id="rId48"/>
      <p:italic r:id="rId49"/>
      <p:boldItalic r:id="rId50"/>
    </p:embeddedFont>
    <p:embeddedFont>
      <p:font typeface="Verdana" panose="020B0604030504040204" pitchFamily="34"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19" userDrawn="1">
          <p15:clr>
            <a:srgbClr val="A4A3A4"/>
          </p15:clr>
        </p15:guide>
        <p15:guide id="9" pos="295" userDrawn="1">
          <p15:clr>
            <a:srgbClr val="A4A3A4"/>
          </p15:clr>
        </p15:guide>
        <p15:guide id="10" orient="horz" pos="3974" userDrawn="1">
          <p15:clr>
            <a:srgbClr val="A4A3A4"/>
          </p15:clr>
        </p15:guide>
        <p15:guide id="11" pos="5488" userDrawn="1">
          <p15:clr>
            <a:srgbClr val="A4A3A4"/>
          </p15:clr>
        </p15:guide>
        <p15:guide id="12" orient="horz" pos="845" userDrawn="1">
          <p15:clr>
            <a:srgbClr val="A4A3A4"/>
          </p15:clr>
        </p15:guide>
        <p15:guide id="13" orient="horz" pos="98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KR Anandda Kumarr" initials="KAK" lastIdx="1" clrIdx="7">
    <p:extLst>
      <p:ext uri="{19B8F6BF-5375-455C-9EA6-DF929625EA0E}">
        <p15:presenceInfo xmlns:p15="http://schemas.microsoft.com/office/powerpoint/2012/main" userId="874ae4b53f93d15d" providerId="Windows Live"/>
      </p:ext>
    </p:extLst>
  </p:cmAuthor>
  <p:cmAuthor id="1" name="Ruchi Sachdev" initials="" lastIdx="8" clrIdx="1"/>
  <p:cmAuthor id="8" name="admin" initials="a" lastIdx="1" clrIdx="8">
    <p:extLst>
      <p:ext uri="{19B8F6BF-5375-455C-9EA6-DF929625EA0E}">
        <p15:presenceInfo xmlns:p15="http://schemas.microsoft.com/office/powerpoint/2012/main" userId="admin" providerId="None"/>
      </p:ext>
    </p:extLst>
  </p:cmAuthor>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19" autoAdjust="0"/>
    <p:restoredTop sz="78650" autoAdjust="0"/>
  </p:normalViewPr>
  <p:slideViewPr>
    <p:cSldViewPr snapToGrid="0" snapToObjects="1">
      <p:cViewPr varScale="1">
        <p:scale>
          <a:sx n="86" d="100"/>
          <a:sy n="86" d="100"/>
        </p:scale>
        <p:origin x="1194" y="84"/>
      </p:cViewPr>
      <p:guideLst>
        <p:guide orient="horz" pos="119"/>
        <p:guide pos="295"/>
        <p:guide orient="horz" pos="3974"/>
        <p:guide pos="5488"/>
        <p:guide orient="horz" pos="845"/>
        <p:guide orient="horz" pos="98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handoutMaster" Target="handoutMasters/handout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commentAuthors" Target="commentAuthor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font" Target="fonts/font9.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4.fntdata"/><Relationship Id="rId59"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notesMaster" Target="notesMasters/notesMaster1.xml"/><Relationship Id="rId54" Type="http://schemas.openxmlformats.org/officeDocument/2006/relationships/font" Target="fonts/font12.fntdata"/><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7.fntdata"/><Relationship Id="rId57" Type="http://schemas.openxmlformats.org/officeDocument/2006/relationships/viewProps" Target="view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font" Target="fonts/font2.fntdata"/><Relationship Id="rId52" Type="http://schemas.openxmlformats.org/officeDocument/2006/relationships/font" Target="fonts/font10.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5/16/2023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liveexample.pearsoncmg.com/html/LabelWithGraphic.htm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liveexample.pearsoncmg.com/html/ButtonDemo.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liveexample.pearsoncmg.com/html/CheckBoxDemo.html"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liveexample.pearsoncmg.com/html/RadioButtonDemo.html"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liveexample.pearsoncmg.com/html/TextFieldDemo.html"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liveexample.pearsoncmg.com/html/DescriptionPane.html"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liveexample.pearsoncmg.com/html/TextAreaDemo.html"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liveexample.pearsoncmg.com/html/ComboBoxDemo.html"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liveexample.pearsoncmg.com/html/ListViewDemo.html"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liveexample.pearsoncmg.com/html/ScrollBarDemo.html"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liveexample.pearsoncmg.com/html/SliderDemo.html"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liveexample.pearsoncmg.com/html/TicTacToe.html"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liveexample.pearsoncmg.com/html/MediaDemo.html"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liveexample.pearsoncmg.com/html/FlagAnthem.html"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Slides in this presentation contain hyperlinks. JAWS users should be able to get a list of links by using INSERT+F7</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many boxes. Box 1 shows the Node. Box 2 shows the Parent, Image View, Media View and it makes an arrow to represent Box 1. Box 3 shows the Control it represents Box 2. Box 4 shows the Labeled, Scroll Bar, Slider, Text Input Control, List View, Combo Box Base it's represent the Box 3. Now, Labeled box has 2 parts that is Button Base, Label. Text Input Control box has 2 boxes that is Text Area, Text Field. Combo Box Base has one box that is Combo Box. Then, the Button base has 3 parts that is Button, Check Box, Toggle Button. The text Field box has one part that is Password Field. At last, the Toggle Button box also has 1 box that is Radio Button.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10479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 rows. Row 1, java </a:t>
            </a:r>
            <a:r>
              <a:rPr lang="en-US" dirty="0" err="1"/>
              <a:t>fx</a:t>
            </a:r>
            <a:r>
              <a:rPr lang="en-US" dirty="0"/>
              <a:t> period scene period control period it was Labeled. Row 2, has 9 lines.</a:t>
            </a:r>
          </a:p>
          <a:p>
            <a:r>
              <a:rPr lang="en-US" dirty="0"/>
              <a:t>Line 1, minus alignment colon Object Property less than Pos greater than. Specifies the alignment of the text and node in the labeled.</a:t>
            </a:r>
          </a:p>
          <a:p>
            <a:r>
              <a:rPr lang="en-US" dirty="0"/>
              <a:t>Line 2, minus content Display colon. Specifies the position of the node relative to the text using the constants TOP, BOTTOM, LEFT, and RIGHT defined in </a:t>
            </a:r>
            <a:r>
              <a:rPr lang="en-US" dirty="0" err="1"/>
              <a:t>ContentDisplay</a:t>
            </a:r>
            <a:r>
              <a:rPr lang="en-US" dirty="0"/>
              <a:t>.</a:t>
            </a:r>
          </a:p>
          <a:p>
            <a:r>
              <a:rPr lang="en-US" dirty="0"/>
              <a:t>Line 3, Object Property less than Content Display greater than. </a:t>
            </a:r>
          </a:p>
          <a:p>
            <a:r>
              <a:rPr lang="en-US" dirty="0"/>
              <a:t>Line 4, minus graphic colon Object Property less than Node greater than. A graphic for the labeled.</a:t>
            </a:r>
          </a:p>
          <a:p>
            <a:r>
              <a:rPr lang="en-US" dirty="0"/>
              <a:t>Line 5, minus graphic Text Gap colon Double Property. The gap between the graphic and the text.</a:t>
            </a:r>
          </a:p>
          <a:p>
            <a:r>
              <a:rPr lang="en-US" dirty="0"/>
              <a:t>Line 6, minus text Fill colon Object Property less than Paint greater than. The paint used to fill the text. The paint used to fill the text.</a:t>
            </a:r>
          </a:p>
          <a:p>
            <a:r>
              <a:rPr lang="en-US" dirty="0"/>
              <a:t>Line 7, minus text colon String Property. A text for the labeled.</a:t>
            </a:r>
          </a:p>
          <a:p>
            <a:r>
              <a:rPr lang="en-US" dirty="0"/>
              <a:t>Line 8, minus underline colon Boolean Property. Whether text should be underlined.</a:t>
            </a:r>
          </a:p>
          <a:p>
            <a:r>
              <a:rPr lang="en-US" dirty="0"/>
              <a:t>Line 9, minus wrap Text colon Boolean Property. Whether text should be wrapped if the text exceeds the width.</a:t>
            </a:r>
          </a:p>
          <a:p>
            <a:r>
              <a:rPr lang="en-US" dirty="0"/>
              <a:t>The first line is labeled, the getter and setter methods for property values and a getter for property itself are provided in the class, but omitted in the UML diagram for brevity.</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43628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Box 1, java </a:t>
            </a:r>
            <a:r>
              <a:rPr lang="en-IN" dirty="0" err="1"/>
              <a:t>fx</a:t>
            </a:r>
            <a:r>
              <a:rPr lang="en-IN" dirty="0"/>
              <a:t> period scene period control period it was </a:t>
            </a:r>
            <a:r>
              <a:rPr lang="en-IN" dirty="0" err="1"/>
              <a:t>Labeled</a:t>
            </a:r>
            <a:r>
              <a:rPr lang="en-IN" dirty="0"/>
              <a:t>. Box 2 has 2 rows and it represents Row 1, java </a:t>
            </a:r>
            <a:r>
              <a:rPr lang="en-IN" dirty="0" err="1"/>
              <a:t>fx</a:t>
            </a:r>
            <a:r>
              <a:rPr lang="en-IN" dirty="0"/>
              <a:t> period scene period control period </a:t>
            </a:r>
            <a:r>
              <a:rPr lang="en-IN" dirty="0" err="1"/>
              <a:t>Labeled</a:t>
            </a:r>
            <a:r>
              <a:rPr lang="en-IN" dirty="0"/>
              <a:t>. Row 2 has 3 lines. Line 1, plus Label open parenthesis close parenthesis. Line 2, plus Label open parenthesis text colon String close parenthesis. Line 3, plus Label open parenthesis text colon String comma graphic colon Node close parenthesis. </a:t>
            </a:r>
          </a:p>
          <a:p>
            <a:endParaRPr lang="en-IN" dirty="0"/>
          </a:p>
          <a:p>
            <a:r>
              <a:rPr lang="en-IN" dirty="0" err="1"/>
              <a:t>LabelWithGraphic</a:t>
            </a:r>
            <a:r>
              <a:rPr lang="en-IN" dirty="0"/>
              <a:t>: </a:t>
            </a:r>
            <a:r>
              <a:rPr lang="en-IN" dirty="0">
                <a:hlinkClick r:id="rId3"/>
              </a:rPr>
              <a:t>https://liveexample.pearsoncmg.com/html/LabelWithGraphic.html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85165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3 boxes. Box 1, java </a:t>
            </a:r>
            <a:r>
              <a:rPr lang="en-US" dirty="0" err="1"/>
              <a:t>fx</a:t>
            </a:r>
            <a:r>
              <a:rPr lang="en-US" dirty="0"/>
              <a:t> period scene period control period Labeled. Box 2, has 2 rows and it's represents Box 1. Row 1, java </a:t>
            </a:r>
            <a:r>
              <a:rPr lang="en-US" dirty="0" err="1"/>
              <a:t>fx</a:t>
            </a:r>
            <a:r>
              <a:rPr lang="en-US" dirty="0"/>
              <a:t> period scene period control period Button Base. Row 2, has 2 lines. Line 1, minus on Action colon Object Property less than Event Handler. Line 2, less than Action Event greater than. Box 3, has 2 rows and it represents the Box 2. Row 1, java </a:t>
            </a:r>
            <a:r>
              <a:rPr lang="en-US" dirty="0" err="1"/>
              <a:t>fx</a:t>
            </a:r>
            <a:r>
              <a:rPr lang="en-US" dirty="0"/>
              <a:t> period scene period control period Button. Row 2 has 3 lines. Line 1, plus Button open parenthesis close parenthesis. Line 2, plus Button open parenthesis text colon String close parenthesis. Line 3, plus Button open parenthesis text colon String comma graphic colon Node close parenthesis.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100659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ButtonDemo</a:t>
            </a:r>
            <a:r>
              <a:rPr lang="en-IN" dirty="0"/>
              <a:t>: </a:t>
            </a:r>
            <a:r>
              <a:rPr lang="en-IN" dirty="0">
                <a:hlinkClick r:id="rId3"/>
              </a:rPr>
              <a:t>https://liveexample.pearsoncmg.com/html/ButtonDemo.html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234337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3 boxes. Box 1, java </a:t>
            </a:r>
            <a:r>
              <a:rPr lang="en-US" dirty="0" err="1"/>
              <a:t>fx</a:t>
            </a:r>
            <a:r>
              <a:rPr lang="en-US" dirty="0"/>
              <a:t> period scene period control period it was Labeled. Box 2, has 2 rows and it's represents Box 1. Row 1, java </a:t>
            </a:r>
            <a:r>
              <a:rPr lang="en-US" dirty="0" err="1"/>
              <a:t>fx</a:t>
            </a:r>
            <a:r>
              <a:rPr lang="en-US" dirty="0"/>
              <a:t> period scene period control period Button Base. Row 2, has 2 lines. Line 1, minus on Action colon Object Property less than Event Handler. Line 2, less than Action Event greater than. Box 3, has 3 rows and it represents Box 2. Row 1, java </a:t>
            </a:r>
            <a:r>
              <a:rPr lang="en-US" dirty="0" err="1"/>
              <a:t>fx</a:t>
            </a:r>
            <a:r>
              <a:rPr lang="en-US" dirty="0"/>
              <a:t> period scene period control period Check Box. Row 2, minus selected colon Boolean Property. Row 3, has 2 lines. Line 1, plus Check Box open parenthesis close parenthesis. Line 2, plus Check Box open parenthesis text colon String close parenthesis.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37508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CheckBoxDemo</a:t>
            </a:r>
            <a:r>
              <a:rPr lang="en-IN" dirty="0"/>
              <a:t>: </a:t>
            </a:r>
            <a:r>
              <a:rPr lang="en-IN" dirty="0">
                <a:hlinkClick r:id="rId3"/>
              </a:rPr>
              <a:t>https://liveexample.pearsoncmg.com/html/CheckBoxDemo.html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9680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It has 2 boxes. Box 1, has 3 rows. Row 1, java </a:t>
            </a:r>
            <a:r>
              <a:rPr lang="en-IN" dirty="0" err="1"/>
              <a:t>fx</a:t>
            </a:r>
            <a:r>
              <a:rPr lang="en-IN" dirty="0"/>
              <a:t> period scene period control period Toggle Button. Row 2, has 3 lines. Line 1, minus selected colon Boolean Property. Line 2, minus toggle Group colon. Line 3, Object Property less than Toggle Group greater than. Row 3, has 3 lines. Line 1, plus Toggle Button open parenthesis close parenthesis. Line 2, plus Toggle Button open parenthesis text colon String close parenthesis. Line 3, plus Toggle Button open parenthesis text colon String comma graphic colon Node close parenthesis. Box 2, has 2 rows. Row 1, java </a:t>
            </a:r>
            <a:r>
              <a:rPr lang="en-IN" dirty="0" err="1"/>
              <a:t>fx</a:t>
            </a:r>
            <a:r>
              <a:rPr lang="en-IN" dirty="0"/>
              <a:t> period scene period control period Radio Button. Row 2, has 2 lines. Line 1, plus Radio Button open parenthesis close parenthesis. Line 2, plus Radio Button open parenthesis text colon String close parenthesis.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359792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for Button Demo. In the mid shows the Java FX Programming. The leftward side shows the three checkboxes that is Red, Green and Blue. The rightward side also shows the 2 checkboxes that is Bold and Italic. </a:t>
            </a:r>
            <a:r>
              <a:rPr lang="en-US" dirty="0" err="1"/>
              <a:t>And,in</a:t>
            </a:r>
            <a:r>
              <a:rPr lang="en-US" dirty="0"/>
              <a:t> the last there are w buttons that is Left and Right. </a:t>
            </a:r>
          </a:p>
          <a:p>
            <a:endParaRPr lang="en-US" dirty="0"/>
          </a:p>
          <a:p>
            <a:r>
              <a:rPr lang="en-IN" dirty="0" err="1"/>
              <a:t>RadioButtonDemo</a:t>
            </a:r>
            <a:r>
              <a:rPr lang="en-IN" dirty="0"/>
              <a:t>: </a:t>
            </a:r>
            <a:r>
              <a:rPr lang="en-IN" dirty="0">
                <a:hlinkClick r:id="rId3"/>
              </a:rPr>
              <a:t>https://liveexample.pearsoncmg.com/html/RadioButtonDemo.html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466034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 boxes, and the Text Field is the subclass of Text Input Control. Box 1, has 2 rows. Row 1, java </a:t>
            </a:r>
            <a:r>
              <a:rPr lang="en-US" dirty="0" err="1"/>
              <a:t>fx</a:t>
            </a:r>
            <a:r>
              <a:rPr lang="en-US" dirty="0"/>
              <a:t> period scene period control period Text Input Control. Row 2, has 2 lines. Line 1, minus text colon String Property. Line 2, minus editable colon Boolean Property. Box 2, has 3 rows. Row 1, java </a:t>
            </a:r>
            <a:r>
              <a:rPr lang="en-US" dirty="0" err="1"/>
              <a:t>fx</a:t>
            </a:r>
            <a:r>
              <a:rPr lang="en-US" dirty="0"/>
              <a:t> period scene period control period Text Field. Row 2, has 4 lines. Line 1, minus alignment colon Object Property less than Pos greater than. Line 2, minus </a:t>
            </a:r>
            <a:r>
              <a:rPr lang="en-US" dirty="0" err="1"/>
              <a:t>pref</a:t>
            </a:r>
            <a:r>
              <a:rPr lang="en-US" dirty="0"/>
              <a:t> Column Count colon Integer Property. Line 3, minus on Action colon. Line 4, Object Property less than Event Handler less than Action Event greater than greater than. Row 3, has 2 lines. Line 1, plus Text Field open parenthesis close parenthesis. Line 2, plus Text Field open parenthesis text colon String close parenthesis.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205716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is for Button Demo. In this, there is a line on the top that is Enter a new message colon, and in front of the box, Programming is fun. Now, on the page shows in the mid that is Programming is fun. The left side shows the e checkboxes that is Red, Green and Blue. The right side also shows the 2 checkboxes that is Bold and Italic. The downward side shows the 2 buttons that is Left and Right.</a:t>
            </a:r>
          </a:p>
          <a:p>
            <a:endParaRPr lang="en-US" dirty="0"/>
          </a:p>
          <a:p>
            <a:r>
              <a:rPr lang="en-IN" dirty="0" err="1"/>
              <a:t>TextFieldDemo</a:t>
            </a:r>
            <a:r>
              <a:rPr lang="en-IN" dirty="0"/>
              <a:t>: </a:t>
            </a:r>
            <a:r>
              <a:rPr lang="en-IN" dirty="0">
                <a:hlinkClick r:id="rId3"/>
              </a:rPr>
              <a:t>https://liveexample.pearsoncmg.com/html/TextFieldDemo.html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022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 boxes. Box 1, has 2 rows. Row 1, java </a:t>
            </a:r>
            <a:r>
              <a:rPr lang="en-US" dirty="0" err="1"/>
              <a:t>fx</a:t>
            </a:r>
            <a:r>
              <a:rPr lang="en-US" dirty="0"/>
              <a:t> period scene period control period Text Input Control. Row 2, has 2 lines.</a:t>
            </a:r>
          </a:p>
          <a:p>
            <a:r>
              <a:rPr lang="en-US" dirty="0"/>
              <a:t>Line 1, minus text colon String Property. The text content of this control.</a:t>
            </a:r>
          </a:p>
          <a:p>
            <a:r>
              <a:rPr lang="en-US" dirty="0"/>
              <a:t>Line 2, minus editable colon Boolean Property. Indicates whether the text can be edited by the user.</a:t>
            </a:r>
          </a:p>
          <a:p>
            <a:r>
              <a:rPr lang="en-US" dirty="0"/>
              <a:t>Box 2, has 3 rows. Row 1, java </a:t>
            </a:r>
            <a:r>
              <a:rPr lang="en-US" dirty="0" err="1"/>
              <a:t>fx</a:t>
            </a:r>
            <a:r>
              <a:rPr lang="en-US" dirty="0"/>
              <a:t> period scene period control period Text Area. Row 2, has 3 lines.</a:t>
            </a:r>
          </a:p>
          <a:p>
            <a:r>
              <a:rPr lang="en-US" dirty="0"/>
              <a:t>Line 1, minus </a:t>
            </a:r>
            <a:r>
              <a:rPr lang="en-US" dirty="0" err="1"/>
              <a:t>pref</a:t>
            </a:r>
            <a:r>
              <a:rPr lang="en-US" dirty="0"/>
              <a:t> Column Count colon Integer Property. Specifies the preferred number of text columns.</a:t>
            </a:r>
          </a:p>
          <a:p>
            <a:r>
              <a:rPr lang="en-US" dirty="0"/>
              <a:t>Line 2, minus </a:t>
            </a:r>
            <a:r>
              <a:rPr lang="en-US" dirty="0" err="1"/>
              <a:t>pref</a:t>
            </a:r>
            <a:r>
              <a:rPr lang="en-US" dirty="0"/>
              <a:t> Row Count colon Integer Property. Specifies the preferred number of text rows.</a:t>
            </a:r>
          </a:p>
          <a:p>
            <a:r>
              <a:rPr lang="en-US" dirty="0"/>
              <a:t>Line 3, minus wrap Text colon Boolean Property. Specifies whether the text is wrapped to the next line.</a:t>
            </a:r>
          </a:p>
          <a:p>
            <a:r>
              <a:rPr lang="en-US" dirty="0"/>
              <a:t>Row 3, has 2 lines. </a:t>
            </a:r>
          </a:p>
          <a:p>
            <a:r>
              <a:rPr lang="en-US" dirty="0"/>
              <a:t>Line 1, plus Text Area open parenthesis close parenthesis. Creates an empty text area.</a:t>
            </a:r>
          </a:p>
          <a:p>
            <a:r>
              <a:rPr lang="en-US" dirty="0"/>
              <a:t>Line 2, plus Text Area open parenthesis text colon String close parenthesis. Creates a text area with the specified text.</a:t>
            </a:r>
          </a:p>
          <a:p>
            <a:r>
              <a:rPr lang="en-US" dirty="0"/>
              <a:t>The first line is labeled, the getter and setter methods for property values and a getter for property itself are provided in the class, but omitted in the UML diagram for brevity.</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40687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4 boxes that are interrelated with each other. Box 1, java </a:t>
            </a:r>
            <a:r>
              <a:rPr lang="en-US" dirty="0" err="1"/>
              <a:t>fx</a:t>
            </a:r>
            <a:r>
              <a:rPr lang="en-US" dirty="0"/>
              <a:t> period scene period layout period Border Pane. Box 2, has 3 rows. Row 1, Description Pane. Row 2, has 2 lines. Line 1, minus LBL Image Title colon Label. Line 2, minus ta Description colon Text Area. Row 3, has 2 lines. Line 1, plus set Image View open parenthesis in colon Image View close parenthesis. Line 2, plus set Description open parenthesis text colon String close parenthesis and it's represent the Bix 1 and Box 3. Box 3, shows the Text Area Demo and this represents the Box 4. Box 4, java </a:t>
            </a:r>
            <a:r>
              <a:rPr lang="en-US" dirty="0" err="1"/>
              <a:t>fx</a:t>
            </a:r>
            <a:r>
              <a:rPr lang="en-US" dirty="0"/>
              <a:t> period application period Application. An object shows the Text Area Demo. </a:t>
            </a:r>
          </a:p>
          <a:p>
            <a:endParaRPr lang="en-US" dirty="0"/>
          </a:p>
          <a:p>
            <a:r>
              <a:rPr lang="en-IN" dirty="0" err="1"/>
              <a:t>DescriptionPane</a:t>
            </a:r>
            <a:r>
              <a:rPr lang="en-IN" dirty="0"/>
              <a:t>: </a:t>
            </a:r>
            <a:r>
              <a:rPr lang="en-IN" dirty="0">
                <a:hlinkClick r:id="rId3"/>
              </a:rPr>
              <a:t>https://liveexample.pearsoncmg.com/html/DescriptionPane.html</a:t>
            </a:r>
            <a:endParaRPr lang="en-IN" dirty="0"/>
          </a:p>
          <a:p>
            <a:r>
              <a:rPr lang="en-IN" dirty="0" err="1"/>
              <a:t>TextAreaDemo</a:t>
            </a:r>
            <a:r>
              <a:rPr lang="en-IN" dirty="0"/>
              <a:t>: </a:t>
            </a:r>
            <a:r>
              <a:rPr lang="en-IN" dirty="0">
                <a:hlinkClick r:id="rId4"/>
              </a:rPr>
              <a:t>https://liveexample.pearsoncmg.com/html/TextAreaDemo.html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863112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 boxes. Box 1, has 2 rows. Row 1, java </a:t>
            </a:r>
            <a:r>
              <a:rPr lang="en-US" dirty="0" err="1"/>
              <a:t>fx</a:t>
            </a:r>
            <a:r>
              <a:rPr lang="en-US" dirty="0"/>
              <a:t> period scene period control period Combo Box Base less than T greater than. Row 2, has 4 lines.</a:t>
            </a:r>
          </a:p>
          <a:p>
            <a:r>
              <a:rPr lang="en-US" dirty="0"/>
              <a:t>Line 1, minus value colon Object Property less than T greater than. The value selected in the combo box.</a:t>
            </a:r>
          </a:p>
          <a:p>
            <a:r>
              <a:rPr lang="en-US" dirty="0"/>
              <a:t>Line 2, minus editable colon Boolean Property. Specifies whether the combo box allows user input.</a:t>
            </a:r>
          </a:p>
          <a:p>
            <a:r>
              <a:rPr lang="en-US" dirty="0"/>
              <a:t>Line 3, minus on Action colon.</a:t>
            </a:r>
          </a:p>
          <a:p>
            <a:r>
              <a:rPr lang="en-US" dirty="0"/>
              <a:t>Line 4, Object Property less than Event Handler less than Action Event greater than. Specifies the handler for processing the action event.</a:t>
            </a:r>
          </a:p>
          <a:p>
            <a:r>
              <a:rPr lang="en-US" dirty="0"/>
              <a:t>Box 2, has 3 rows. Row 1, java </a:t>
            </a:r>
            <a:r>
              <a:rPr lang="en-US" dirty="0" err="1"/>
              <a:t>fx</a:t>
            </a:r>
            <a:r>
              <a:rPr lang="en-US" dirty="0"/>
              <a:t> period scene period control period Combo Box less than T greater than. Row 2, has 2 lines.</a:t>
            </a:r>
          </a:p>
          <a:p>
            <a:r>
              <a:rPr lang="en-US" dirty="0"/>
              <a:t>Line 1, minus items colon Object Property less than Observable List less than T greater than greater than. The items in the combo box popup.</a:t>
            </a:r>
          </a:p>
          <a:p>
            <a:r>
              <a:rPr lang="en-US" dirty="0"/>
              <a:t>Line 2, minus visible Row Count colon Integer Property. The maximum number of visible rows of the items in the combo box popup.</a:t>
            </a:r>
          </a:p>
          <a:p>
            <a:r>
              <a:rPr lang="en-US" dirty="0"/>
              <a:t>Row 3, has 2 lines.</a:t>
            </a:r>
          </a:p>
          <a:p>
            <a:r>
              <a:rPr lang="en-US" dirty="0"/>
              <a:t>Line 1, plus Combo Box open parenthesis close parenthesis. Creates an empty combo box.</a:t>
            </a:r>
          </a:p>
          <a:p>
            <a:r>
              <a:rPr lang="en-US" dirty="0"/>
              <a:t>Line 2, plus Combo Box open parenthesis items colon Observable List less than T greater than close parenthesis. Creates a combo box with the specified items.</a:t>
            </a:r>
          </a:p>
          <a:p>
            <a:r>
              <a:rPr lang="en-US" dirty="0"/>
              <a:t>The first line is labeled, the getter and setter methods for property values and a getter for property itself are provided in the class, but omitted in the UML diagram for brevity.</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08040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program shows the Combo Box Demo, on the top there is a line that is Select a country colon and in the box shows Canada. On the left side there is one national flag for Canada and the right side is a box with The Canadian national flag is write inside. </a:t>
            </a:r>
          </a:p>
          <a:p>
            <a:endParaRPr lang="en-US" dirty="0"/>
          </a:p>
          <a:p>
            <a:r>
              <a:rPr lang="en-IN" dirty="0" err="1"/>
              <a:t>ComboBoxDemo</a:t>
            </a:r>
            <a:r>
              <a:rPr lang="en-IN" dirty="0"/>
              <a:t>: </a:t>
            </a:r>
            <a:r>
              <a:rPr lang="en-IN" dirty="0">
                <a:hlinkClick r:id="rId3"/>
              </a:rPr>
              <a:t>https://liveexample.pearsoncmg.com/html/ComboBoxDemo.html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942439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Hyphen items colon </a:t>
            </a:r>
            <a:r>
              <a:rPr lang="en-US" dirty="0" err="1"/>
              <a:t>ObjectProperty</a:t>
            </a:r>
            <a:r>
              <a:rPr lang="en-US" dirty="0"/>
              <a:t> less than symbol </a:t>
            </a:r>
            <a:r>
              <a:rPr lang="en-US" dirty="0" err="1"/>
              <a:t>ObservableList</a:t>
            </a:r>
            <a:r>
              <a:rPr lang="en-US" dirty="0"/>
              <a:t> less than symbol T greater than symbol greater than symbol. The items in the list view.</a:t>
            </a:r>
          </a:p>
          <a:p>
            <a:r>
              <a:rPr lang="en-US" dirty="0"/>
              <a:t>Hyphen orientation colon </a:t>
            </a:r>
            <a:r>
              <a:rPr lang="en-US" dirty="0" err="1"/>
              <a:t>BooleanProperty</a:t>
            </a:r>
            <a:r>
              <a:rPr lang="en-US" dirty="0"/>
              <a:t>. Indicates whether the items are displayed horizontally or vertically in the list view.</a:t>
            </a:r>
          </a:p>
          <a:p>
            <a:r>
              <a:rPr lang="en-US" dirty="0"/>
              <a:t>Hyphen </a:t>
            </a:r>
            <a:r>
              <a:rPr lang="en-US" dirty="0" err="1"/>
              <a:t>selectionModel</a:t>
            </a:r>
            <a:r>
              <a:rPr lang="en-US" dirty="0"/>
              <a:t> colon </a:t>
            </a:r>
            <a:r>
              <a:rPr lang="en-US" dirty="0" err="1"/>
              <a:t>ObjectProperty</a:t>
            </a:r>
            <a:r>
              <a:rPr lang="en-US" dirty="0"/>
              <a:t> less than symbol </a:t>
            </a:r>
            <a:r>
              <a:rPr lang="en-US" dirty="0" err="1"/>
              <a:t>MultipleSelectionModel</a:t>
            </a:r>
            <a:r>
              <a:rPr lang="en-US" dirty="0"/>
              <a:t> less than symbol T greater than symbol less than symbol. Specifies how items are selected. The </a:t>
            </a:r>
            <a:r>
              <a:rPr lang="en-US" dirty="0" err="1"/>
              <a:t>SelectionModel</a:t>
            </a:r>
            <a:r>
              <a:rPr lang="en-US" dirty="0"/>
              <a:t> is also used to obtain the selected items.</a:t>
            </a:r>
          </a:p>
          <a:p>
            <a:r>
              <a:rPr lang="en-US" dirty="0"/>
              <a:t>+</a:t>
            </a:r>
            <a:r>
              <a:rPr lang="en-US" dirty="0" err="1"/>
              <a:t>ListView</a:t>
            </a:r>
            <a:r>
              <a:rPr lang="en-US" dirty="0"/>
              <a:t> left parenthesis right parenthesis. Creates an empty list view.</a:t>
            </a:r>
          </a:p>
          <a:p>
            <a:r>
              <a:rPr lang="en-US" dirty="0"/>
              <a:t>+</a:t>
            </a:r>
            <a:r>
              <a:rPr lang="en-US" dirty="0" err="1"/>
              <a:t>ListView</a:t>
            </a:r>
            <a:r>
              <a:rPr lang="en-US" dirty="0"/>
              <a:t> left parenthesis items colon </a:t>
            </a:r>
            <a:r>
              <a:rPr lang="en-US" dirty="0" err="1"/>
              <a:t>ObservableList</a:t>
            </a:r>
            <a:r>
              <a:rPr lang="en-US" dirty="0"/>
              <a:t> less than symbol T greater than symbol. Creates a list view with the specified items.</a:t>
            </a:r>
          </a:p>
          <a:p>
            <a:r>
              <a:rPr lang="en-US" dirty="0"/>
              <a:t>The first line is labeled, the getter and setter methods for property values and a getter for property itself are provided in the class, but omitted in the UML diagram for brevity.</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244383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program shows the List View Demo, On the left side there is a list of countries but in these countries choose China and Germany. The right side is a box with The China national flag and The Germany national flag.</a:t>
            </a:r>
          </a:p>
          <a:p>
            <a:endParaRPr lang="en-US" dirty="0"/>
          </a:p>
          <a:p>
            <a:r>
              <a:rPr lang="en-IN" dirty="0" err="1"/>
              <a:t>ListViewDemo</a:t>
            </a:r>
            <a:r>
              <a:rPr lang="en-IN" dirty="0"/>
              <a:t>: </a:t>
            </a:r>
            <a:r>
              <a:rPr lang="en-IN" dirty="0">
                <a:hlinkClick r:id="rId3"/>
              </a:rPr>
              <a:t>https://liveexample.pearsoncmg.com/html/ListViewDemo.html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894852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3 rows. Row 1, java </a:t>
            </a:r>
            <a:r>
              <a:rPr lang="en-US" dirty="0" err="1"/>
              <a:t>fx</a:t>
            </a:r>
            <a:r>
              <a:rPr lang="en-US" dirty="0"/>
              <a:t> period scene period control period Scroll Bar. Row 2, has 7 lines.</a:t>
            </a:r>
          </a:p>
          <a:p>
            <a:r>
              <a:rPr lang="en-US" dirty="0"/>
              <a:t>Line 1, minus block Increment colon Double Property. The amount to adjust the scroll bar if the track of the bar is clicked (default colon 10).</a:t>
            </a:r>
          </a:p>
          <a:p>
            <a:r>
              <a:rPr lang="en-US" dirty="0"/>
              <a:t>Line 2, minus max colon Double Property. The maximum value represented by this scroll bar (default colon 100).</a:t>
            </a:r>
          </a:p>
          <a:p>
            <a:r>
              <a:rPr lang="en-US" dirty="0"/>
              <a:t>Line 3, minus min colon Double Property. The minimum value represented by this scroll bar (default colon 0).</a:t>
            </a:r>
          </a:p>
          <a:p>
            <a:r>
              <a:rPr lang="en-US" dirty="0"/>
              <a:t>Line 4, minus unit Increment colon Double Property. The amount to adjust the scroll bar when the increment left parenthesis right parenthesis and decrement left parenthesis right parenthesis methods are called (default colon 1).</a:t>
            </a:r>
          </a:p>
          <a:p>
            <a:r>
              <a:rPr lang="en-US" dirty="0"/>
              <a:t>Line 5, minus value colon Double Property. Current value of the scroll bar (default colon 0).</a:t>
            </a:r>
          </a:p>
          <a:p>
            <a:r>
              <a:rPr lang="en-US" dirty="0"/>
              <a:t>Line 6, minus visible Amount colon Double Property. The width of the scroll bar (default colon 15). </a:t>
            </a:r>
          </a:p>
          <a:p>
            <a:r>
              <a:rPr lang="en-US" dirty="0"/>
              <a:t>Line 7, minus orientation colon Object Property less than Orientation greater than. Specifies the orientation of the scroll bar (default colon HORIZONTAL).</a:t>
            </a:r>
          </a:p>
          <a:p>
            <a:r>
              <a:rPr lang="en-US" dirty="0"/>
              <a:t>Row 3, has 3 lines.</a:t>
            </a:r>
          </a:p>
          <a:p>
            <a:r>
              <a:rPr lang="en-US" dirty="0"/>
              <a:t>Line 1, plus Scroll Bar open parenthesis close parenthesis. Creates a default horizontal scroll bar.</a:t>
            </a:r>
          </a:p>
          <a:p>
            <a:r>
              <a:rPr lang="en-US" dirty="0"/>
              <a:t>Line 2, plus increment open parenthesis close parenthesis. Increments the value of the scroll bar by </a:t>
            </a:r>
            <a:r>
              <a:rPr lang="en-US" dirty="0" err="1"/>
              <a:t>unitIncrement</a:t>
            </a:r>
            <a:r>
              <a:rPr lang="en-US" dirty="0"/>
              <a:t>.</a:t>
            </a:r>
          </a:p>
          <a:p>
            <a:r>
              <a:rPr lang="en-US" dirty="0"/>
              <a:t>Line 3, plus decrement open parenthesis close parenthesis. Decrements the value of the scroll bar by </a:t>
            </a:r>
            <a:r>
              <a:rPr lang="en-US" dirty="0" err="1"/>
              <a:t>unitIncrement</a:t>
            </a:r>
            <a:r>
              <a:rPr lang="en-US" dirty="0"/>
              <a:t>.</a:t>
            </a:r>
          </a:p>
          <a:p>
            <a:r>
              <a:rPr lang="en-US" dirty="0"/>
              <a:t>The first line is labeled, the getter and setter methods for property values and a getter for property itself are provided in the class, but omitted in the UML diagram for brevity.</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857406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shows the Bar which indicates the Track, on the left side is a small box which indicates Left button and the line is for Minimal value. In the mid there is a oval shape which indicates the Thumb. On the right side is also a small box which indicates Right button and the line is for Maximal value.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720739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panel displayed the message and it is controlled by horizontal and vertical scrollbars. The horizontal bar is used to move the message to the left or right side. The vertical bar is used to move the message to move it up and down. </a:t>
            </a:r>
          </a:p>
          <a:p>
            <a:endParaRPr lang="en-US" dirty="0"/>
          </a:p>
          <a:p>
            <a:r>
              <a:rPr lang="en-IN" dirty="0" err="1"/>
              <a:t>ScrollBarDemo</a:t>
            </a:r>
            <a:r>
              <a:rPr lang="en-IN" dirty="0"/>
              <a:t>: </a:t>
            </a:r>
            <a:r>
              <a:rPr lang="en-IN" dirty="0">
                <a:hlinkClick r:id="rId3"/>
              </a:rPr>
              <a:t>https://liveexample.pearsoncmg.com/html/ScrollBarDemo.html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162709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3 rows. Row 1, java </a:t>
            </a:r>
            <a:r>
              <a:rPr lang="en-US" dirty="0" err="1"/>
              <a:t>fx</a:t>
            </a:r>
            <a:r>
              <a:rPr lang="en-US" dirty="0"/>
              <a:t> period scene period control period Slider. Row 2, has 9 lines.</a:t>
            </a:r>
          </a:p>
          <a:p>
            <a:r>
              <a:rPr lang="en-US" dirty="0"/>
              <a:t>Line 1, minus block Increment colon Double Property. The amount to adjust the slider if the track of the bar is clicked (default colon 10).</a:t>
            </a:r>
          </a:p>
          <a:p>
            <a:r>
              <a:rPr lang="en-US" dirty="0"/>
              <a:t>Line 2, minus max colon Double Property. The maximum value represented by this slider (default colon 100).</a:t>
            </a:r>
          </a:p>
          <a:p>
            <a:r>
              <a:rPr lang="en-US" dirty="0"/>
              <a:t>Line 3, minus min colon Double Property. The minimum value represented by this slider (default colon 0).</a:t>
            </a:r>
          </a:p>
          <a:p>
            <a:r>
              <a:rPr lang="en-US" dirty="0"/>
              <a:t>Line 4, minus value colon Double Property. Current value of the slider (default colon 0).</a:t>
            </a:r>
          </a:p>
          <a:p>
            <a:r>
              <a:rPr lang="en-US" dirty="0"/>
              <a:t>Line 5, minus orientation colon Object Property less than Orientation greater than. Specifies the orientation of the slider (default colon HORIZONTAL).</a:t>
            </a:r>
          </a:p>
          <a:p>
            <a:r>
              <a:rPr lang="en-US" dirty="0"/>
              <a:t>Line 6, minus major Tick Unit colon Double Property. The unit distance between major tick marks.</a:t>
            </a:r>
          </a:p>
          <a:p>
            <a:r>
              <a:rPr lang="en-US" dirty="0"/>
              <a:t>Line 7, minus minor Tick Count colon Integer Property. The number of minor ticks to place between two major ticks.</a:t>
            </a:r>
          </a:p>
          <a:p>
            <a:r>
              <a:rPr lang="en-US" dirty="0"/>
              <a:t>Line 8, minus show Tick Labels colon Boolean Property. Specifies whether the labels for tick marks are shown.</a:t>
            </a:r>
          </a:p>
          <a:p>
            <a:r>
              <a:rPr lang="en-US" dirty="0"/>
              <a:t>Line 9, minus show Tick Marks colon Boolean Property. Specifies whether the tick marks are shown.</a:t>
            </a:r>
          </a:p>
          <a:p>
            <a:r>
              <a:rPr lang="en-US" dirty="0"/>
              <a:t>Row 3, has 3 lines.</a:t>
            </a:r>
          </a:p>
          <a:p>
            <a:r>
              <a:rPr lang="en-US" dirty="0"/>
              <a:t>Line 1, plus Slider open parenthesis close parenthesis. Creates a default horizontal slider.</a:t>
            </a:r>
          </a:p>
          <a:p>
            <a:r>
              <a:rPr lang="en-US" dirty="0"/>
              <a:t>Line 2, plus Slider open parenthesis min colon double comma max colon double comma.</a:t>
            </a:r>
          </a:p>
          <a:p>
            <a:r>
              <a:rPr lang="en-US" dirty="0"/>
              <a:t>Line 3, value colon double close parenthesis. Creates a slider with the specified min., max., and value.</a:t>
            </a:r>
          </a:p>
          <a:p>
            <a:r>
              <a:rPr lang="en-US" dirty="0"/>
              <a:t>The first line is labeled, the getter and setter methods for property values and a getter for property itself are provided in the class, but omitted in the UML diagram for brevity.</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48666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SliderDemo</a:t>
            </a:r>
            <a:r>
              <a:rPr lang="en-IN" dirty="0"/>
              <a:t>: </a:t>
            </a:r>
            <a:r>
              <a:rPr lang="en-IN" dirty="0">
                <a:hlinkClick r:id="rId3"/>
              </a:rPr>
              <a:t>https://liveexample.pearsoncmg.com/html/SliderDemo.html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970102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two boxes. Box 1, shows the X won, and then the game is over. Box 2, shows the match is drawn then the game is over. The computer code shows the Case Study for Tic Tac Toe. It has two boxes. Box 1, java </a:t>
            </a:r>
            <a:r>
              <a:rPr lang="en-US" dirty="0" err="1"/>
              <a:t>fx</a:t>
            </a:r>
            <a:r>
              <a:rPr lang="en-US" dirty="0"/>
              <a:t> period scene period layout period Pane. Box 2, has 3 rows. Row 1, shows the Cell. Row 2, minus token colon char. Row 3, has 3 lines. Line 1, plus get Token open parenthesis close parenthesis colon char. Line 2, plus set Token open parenthesis token colon char close parenthesis colon void. Line 3, minus handle Mouse Click open parenthesis close parenthesis colon void.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720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3 boxes and they are interrelated with each other. Box 1, shows the Cell. Box 2, java </a:t>
            </a:r>
            <a:r>
              <a:rPr lang="en-US" dirty="0" err="1"/>
              <a:t>fx</a:t>
            </a:r>
            <a:r>
              <a:rPr lang="en-US" dirty="0"/>
              <a:t> period application period Application. Box 3, has 3 rows. Row 1, shows the Tic Tac Toe. Row 2, has 3 lines.</a:t>
            </a:r>
          </a:p>
          <a:p>
            <a:r>
              <a:rPr lang="en-US" dirty="0"/>
              <a:t>Line 1, minus whose Turn colon char. Indicates which player has the turn, initially X.</a:t>
            </a:r>
          </a:p>
          <a:p>
            <a:r>
              <a:rPr lang="en-US" dirty="0"/>
              <a:t>Line 2, minus cell colon Cell open braces close braces open braces close braces. A 3 by 3, two-dimensional array for cells.</a:t>
            </a:r>
          </a:p>
          <a:p>
            <a:r>
              <a:rPr lang="en-US" dirty="0"/>
              <a:t>Line 3, </a:t>
            </a:r>
            <a:r>
              <a:rPr lang="en-US" dirty="0" err="1"/>
              <a:t>LbL</a:t>
            </a:r>
            <a:r>
              <a:rPr lang="en-US" dirty="0"/>
              <a:t> Status colon Label. A label to display game status.</a:t>
            </a:r>
          </a:p>
          <a:p>
            <a:r>
              <a:rPr lang="en-US" dirty="0"/>
              <a:t>Row 3, has 3 lines.</a:t>
            </a:r>
          </a:p>
          <a:p>
            <a:r>
              <a:rPr lang="en-US" dirty="0"/>
              <a:t>Line 1, plus Tic Tac Toe open parenthesis close parenthesis. Constructs the TicTacToe user interface.</a:t>
            </a:r>
          </a:p>
          <a:p>
            <a:r>
              <a:rPr lang="en-US" dirty="0"/>
              <a:t>Line 2, plus is Full open parenthesis close parenthesis colon </a:t>
            </a:r>
            <a:r>
              <a:rPr lang="en-US" dirty="0" err="1"/>
              <a:t>boolean</a:t>
            </a:r>
            <a:r>
              <a:rPr lang="en-US" dirty="0"/>
              <a:t>. Returns true if all cells are filled.</a:t>
            </a:r>
          </a:p>
          <a:p>
            <a:r>
              <a:rPr lang="en-US" dirty="0"/>
              <a:t>Line 3, plus is Won open parenthesis token colon char close parenthesis colon </a:t>
            </a:r>
            <a:r>
              <a:rPr lang="en-US" dirty="0" err="1"/>
              <a:t>boolean</a:t>
            </a:r>
            <a:r>
              <a:rPr lang="en-US" dirty="0"/>
              <a:t>. Returns true if a player with the specified token has won.</a:t>
            </a:r>
          </a:p>
          <a:p>
            <a:endParaRPr lang="en-US" dirty="0"/>
          </a:p>
          <a:p>
            <a:r>
              <a:rPr lang="en-IN" dirty="0" err="1"/>
              <a:t>TicTacToe</a:t>
            </a:r>
            <a:r>
              <a:rPr lang="en-IN" dirty="0"/>
              <a:t>: </a:t>
            </a:r>
            <a:r>
              <a:rPr lang="en-IN" dirty="0">
                <a:hlinkClick r:id="rId3"/>
              </a:rPr>
              <a:t>https://liveexample.pearsoncmg.com/html/TicTacToe.html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751621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1 box. Box 1, has 3 rows. Row 1, java </a:t>
            </a:r>
            <a:r>
              <a:rPr lang="en-US" dirty="0" err="1"/>
              <a:t>fx</a:t>
            </a:r>
            <a:r>
              <a:rPr lang="en-US" dirty="0"/>
              <a:t> period scene period media period Media. Row 2, has 4 lines.</a:t>
            </a:r>
          </a:p>
          <a:p>
            <a:r>
              <a:rPr lang="en-US" dirty="0"/>
              <a:t>Line 1, minus duration colon Read Only Object Property. The durations in seconds of the source media.</a:t>
            </a:r>
          </a:p>
          <a:p>
            <a:r>
              <a:rPr lang="en-US" dirty="0"/>
              <a:t>Line 2, less than Duration greater than. The width in pixels of the source video.</a:t>
            </a:r>
          </a:p>
          <a:p>
            <a:r>
              <a:rPr lang="en-US" dirty="0"/>
              <a:t>Line 3, minus width colon Read Only Integer Property. The height in pixels of the source video.</a:t>
            </a:r>
          </a:p>
          <a:p>
            <a:r>
              <a:rPr lang="en-US" dirty="0"/>
              <a:t>Line 4, minus height colon Read Only Integer Property. Creates a Media from a URL source.</a:t>
            </a:r>
          </a:p>
          <a:p>
            <a:r>
              <a:rPr lang="en-US" dirty="0"/>
              <a:t>The first line is labeled, the getter and setter methods for property values and a getter for property itself are provided in the class, but omitted in the UML diagram for brevity.</a:t>
            </a:r>
          </a:p>
          <a:p>
            <a:r>
              <a:rPr lang="en-US" dirty="0"/>
              <a:t>Row 3, plus Media open parenthesis source colon String close parenthesis.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703264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1 box. Box 1, has 3 rows. Row 1, java </a:t>
            </a:r>
            <a:r>
              <a:rPr lang="en-US" dirty="0" err="1"/>
              <a:t>fx</a:t>
            </a:r>
            <a:r>
              <a:rPr lang="en-US" dirty="0"/>
              <a:t> period scene period media period Media Player. Row 2, has 7 lines.</a:t>
            </a:r>
          </a:p>
          <a:p>
            <a:r>
              <a:rPr lang="en-US" dirty="0"/>
              <a:t>Line 1, minus auto Play colon Boolean Property. Specifies whether the playing should start automatically.</a:t>
            </a:r>
          </a:p>
          <a:p>
            <a:r>
              <a:rPr lang="en-US" dirty="0"/>
              <a:t>Line 2, minus current Count colon Read Only Integer Property. The number of completed playback cycles.</a:t>
            </a:r>
          </a:p>
          <a:p>
            <a:r>
              <a:rPr lang="en-US" dirty="0"/>
              <a:t>Line 3, minus cycle Count colon Integer Property. Specifies the number of time the media will be played.</a:t>
            </a:r>
          </a:p>
          <a:p>
            <a:r>
              <a:rPr lang="en-US" dirty="0"/>
              <a:t>Line 4, minus mute colon Boolean Property. Specifies whether the audio is muted.</a:t>
            </a:r>
          </a:p>
          <a:p>
            <a:r>
              <a:rPr lang="en-US" dirty="0"/>
              <a:t>Line 5, minus volume colon Double Property. The volume for the audio.</a:t>
            </a:r>
          </a:p>
          <a:p>
            <a:r>
              <a:rPr lang="en-US" dirty="0"/>
              <a:t>Line 6, minus total Duration colon.</a:t>
            </a:r>
          </a:p>
          <a:p>
            <a:r>
              <a:rPr lang="en-US" dirty="0"/>
              <a:t>Line 7, Read Only Object Property less than Duration greater than. The amount of time to play the media from start to finish.</a:t>
            </a:r>
          </a:p>
          <a:p>
            <a:r>
              <a:rPr lang="en-US" dirty="0"/>
              <a:t>Row 3, has 4 lines.</a:t>
            </a:r>
          </a:p>
          <a:p>
            <a:r>
              <a:rPr lang="en-US" dirty="0"/>
              <a:t>Line 1, plus Media Player open parenthesis media colon Media close parenthesis. Creates a player for a specified media.</a:t>
            </a:r>
          </a:p>
          <a:p>
            <a:r>
              <a:rPr lang="en-US" dirty="0"/>
              <a:t>Line 2, plus Play open parenthesis close parenthesis colon void. Plays the media.</a:t>
            </a:r>
          </a:p>
          <a:p>
            <a:r>
              <a:rPr lang="en-US" dirty="0"/>
              <a:t>Line 3, plus pause open parenthesis close parenthesis colon void. Pauses the media.</a:t>
            </a:r>
          </a:p>
          <a:p>
            <a:r>
              <a:rPr lang="en-US" dirty="0"/>
              <a:t>Line 4, plus seek open parenthesis close parenthesis colon void. Seeks the player to a new playback time.</a:t>
            </a:r>
          </a:p>
          <a:p>
            <a:r>
              <a:rPr lang="en-US" dirty="0"/>
              <a:t>The first line is labeled, the getter and setter methods for property values and a getter for property itself are provided in the class, but omitted in the UML diagram for brevity.</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23904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1 box. Box 1, has 3 rows. Row 1, java </a:t>
            </a:r>
            <a:r>
              <a:rPr lang="en-US" dirty="0" err="1"/>
              <a:t>fx</a:t>
            </a:r>
            <a:r>
              <a:rPr lang="en-US" dirty="0"/>
              <a:t> period scene period media period Media View. Row 2, has 6 lines.</a:t>
            </a:r>
          </a:p>
          <a:p>
            <a:r>
              <a:rPr lang="en-US" dirty="0"/>
              <a:t>Line 1, minus x colon Double Property. Specifies the current x coordinate of the media view.</a:t>
            </a:r>
          </a:p>
          <a:p>
            <a:r>
              <a:rPr lang="en-US" dirty="0"/>
              <a:t>Line 2, minus y colon Double Property. Specifies the current y coordinate of the media view.</a:t>
            </a:r>
          </a:p>
          <a:p>
            <a:r>
              <a:rPr lang="en-US" dirty="0"/>
              <a:t>Line 3, minus media Player colon. </a:t>
            </a:r>
          </a:p>
          <a:p>
            <a:r>
              <a:rPr lang="en-US" dirty="0"/>
              <a:t>Line 4, Object Property less than Media Player greater than. Specifies a media player for the media view.</a:t>
            </a:r>
          </a:p>
          <a:p>
            <a:r>
              <a:rPr lang="en-US" dirty="0"/>
              <a:t>Line 5, minus fit Width colon Double Property. Specifies the width of the view for the media to fit.</a:t>
            </a:r>
          </a:p>
          <a:p>
            <a:r>
              <a:rPr lang="en-US" dirty="0"/>
              <a:t>Line 6, minus fit Height colon Double Property. Specifies the height of the view for the media to fit.</a:t>
            </a:r>
          </a:p>
          <a:p>
            <a:r>
              <a:rPr lang="en-US" dirty="0"/>
              <a:t>The first line is labeled, the getter and setter methods for property values and a getter for property itself are provided in the class, but omitted in the UML diagram for brevity.</a:t>
            </a:r>
          </a:p>
          <a:p>
            <a:r>
              <a:rPr lang="en-US" dirty="0"/>
              <a:t>Row 3, has 2 lines.</a:t>
            </a:r>
          </a:p>
          <a:p>
            <a:r>
              <a:rPr lang="en-US" dirty="0"/>
              <a:t>Line 1, plus Media View open parenthesis close parenthesis. Creates an empty media view.</a:t>
            </a:r>
          </a:p>
          <a:p>
            <a:r>
              <a:rPr lang="en-US" dirty="0"/>
              <a:t>Line 2, plus Media View open parenthesis media Player colon Media Player close parenthesis. Creates a media view with the specified media player.</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092255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MediaDemo</a:t>
            </a:r>
            <a:r>
              <a:rPr lang="en-IN" dirty="0"/>
              <a:t>: </a:t>
            </a:r>
            <a:r>
              <a:rPr lang="en-IN" dirty="0">
                <a:hlinkClick r:id="rId3"/>
              </a:rPr>
              <a:t>https://liveexample.pearsoncmg.com/html/MediaDemo.html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201210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3 panels. Panel 1, shows the National Flag of Denmark and on the downward side there is a play and pause button, one bar for Select a nation, one drop-down arrow box which shows the Denmark.</a:t>
            </a:r>
          </a:p>
          <a:p>
            <a:endParaRPr lang="en-US" dirty="0"/>
          </a:p>
          <a:p>
            <a:r>
              <a:rPr lang="en-IN" dirty="0" err="1"/>
              <a:t>FlagAnthem</a:t>
            </a:r>
            <a:r>
              <a:rPr lang="en-IN" dirty="0"/>
              <a:t>: </a:t>
            </a:r>
            <a:r>
              <a:rPr lang="en-IN" dirty="0">
                <a:hlinkClick r:id="rId3"/>
              </a:rPr>
              <a:t>https://liveexample.pearsoncmg.com/html/FlagAnthem.html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541417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35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1841636"/>
            <a:ext cx="82296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191482"/>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515536"/>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2840656"/>
            <a:ext cx="8229600" cy="20092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169638"/>
            <a:ext cx="8229600" cy="21700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3488845"/>
            <a:ext cx="8229600" cy="23910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quarter" idx="20"/>
          </p:nvPr>
        </p:nvSpPr>
        <p:spPr>
          <a:xfrm>
            <a:off x="457200" y="3727450"/>
            <a:ext cx="8229600" cy="328613"/>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8"/>
          <p:cNvSpPr>
            <a:spLocks noGrp="1"/>
          </p:cNvSpPr>
          <p:nvPr>
            <p:ph type="body" sz="quarter" idx="21"/>
          </p:nvPr>
        </p:nvSpPr>
        <p:spPr>
          <a:xfrm>
            <a:off x="457200" y="40560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22"/>
          </p:nvPr>
        </p:nvSpPr>
        <p:spPr>
          <a:xfrm>
            <a:off x="457200" y="4349750"/>
            <a:ext cx="8229600" cy="280988"/>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19"/>
          <p:cNvSpPr>
            <a:spLocks noGrp="1"/>
          </p:cNvSpPr>
          <p:nvPr>
            <p:ph type="body" sz="quarter" idx="23"/>
          </p:nvPr>
        </p:nvSpPr>
        <p:spPr>
          <a:xfrm>
            <a:off x="457200" y="4630738"/>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23"/>
          <p:cNvSpPr>
            <a:spLocks noGrp="1"/>
          </p:cNvSpPr>
          <p:nvPr>
            <p:ph type="body" sz="quarter" idx="24"/>
          </p:nvPr>
        </p:nvSpPr>
        <p:spPr>
          <a:xfrm>
            <a:off x="457200" y="49704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26"/>
          <p:cNvSpPr>
            <a:spLocks noGrp="1"/>
          </p:cNvSpPr>
          <p:nvPr>
            <p:ph type="body" sz="quarter" idx="25"/>
          </p:nvPr>
        </p:nvSpPr>
        <p:spPr>
          <a:xfrm>
            <a:off x="457200" y="5264150"/>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73144346"/>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2024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hyperlink" Target="https://liveexample.pearsoncmg.com/html/LabelWithGraphic.html" TargetMode="Externa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hyperlink" Target="https://liveexample.pearsoncmg.com/html/ButtonDemo.html"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hyperlink" Target="https://liveexample.pearsoncmg.com/html/CheckBoxDemo.html"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hyperlink" Target="https://liveexample.pearsoncmg.com/html/RadioButtonDemo.html"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hyperlink" Target="https://liveexample.pearsoncmg.com/html/TextFieldDemo.ht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0.xml"/><Relationship Id="rId6" Type="http://schemas.openxmlformats.org/officeDocument/2006/relationships/hyperlink" Target="https://liveexample.pearsoncmg.com/html/TextAreaDemo.html" TargetMode="External"/><Relationship Id="rId5" Type="http://schemas.openxmlformats.org/officeDocument/2006/relationships/hyperlink" Target="https://liveexample.pearsoncmg.com/html/DescriptionPane.html" TargetMode="Externa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hyperlink" Target="https://liveexample.pearsoncmg.com/html/ComboBoxDemo.html"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0.xml"/><Relationship Id="rId4" Type="http://schemas.openxmlformats.org/officeDocument/2006/relationships/hyperlink" Target="https://liveexample.pearsoncmg.com/html/ListViewDemo.html"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0.xml"/><Relationship Id="rId4" Type="http://schemas.openxmlformats.org/officeDocument/2006/relationships/hyperlink" Target="https://liveexample.pearsoncmg.com/html/ScrollBarDemo.html"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0.xml"/><Relationship Id="rId5" Type="http://schemas.openxmlformats.org/officeDocument/2006/relationships/hyperlink" Target="https://liveexample.pearsoncmg.com/html/SliderDemo.html" TargetMode="Externa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0.xml"/><Relationship Id="rId4" Type="http://schemas.openxmlformats.org/officeDocument/2006/relationships/hyperlink" Target="https://liveexample.pearsoncmg.com/html/TicTacToe.html"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10.xml"/><Relationship Id="rId5" Type="http://schemas.openxmlformats.org/officeDocument/2006/relationships/hyperlink" Target="https://liveexample.pearsoncmg.com/html/MediaDemo.html" TargetMode="Externa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0.xml"/><Relationship Id="rId6" Type="http://schemas.openxmlformats.org/officeDocument/2006/relationships/hyperlink" Target="https://liveexample.pearsoncmg.com/html/FlagAnthem.html" TargetMode="External"/><Relationship Id="rId5" Type="http://schemas.openxmlformats.org/officeDocument/2006/relationships/image" Target="../media/image38.png"/><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4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57199" y="143692"/>
            <a:ext cx="8229601" cy="987333"/>
          </a:xfrm>
        </p:spPr>
        <p:txBody>
          <a:bodyPr anchor="ctr"/>
          <a:lstStyle/>
          <a:p>
            <a:r>
              <a:rPr lang="en-US" sz="3000"/>
              <a:t>Introduction to Java Programming and Data Structures</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a:solidFill>
                  <a:schemeClr val="tx2"/>
                </a:solidFill>
              </a:rPr>
              <a:t>Thirteenth Edition</a:t>
            </a:r>
          </a:p>
        </p:txBody>
      </p:sp>
      <p:pic>
        <p:nvPicPr>
          <p:cNvPr id="4" name="Picture 3" descr="Front Cover: Introduction to Java Programming and Data Structures Thirteenth Edition by Liang.">
            <a:extLst>
              <a:ext uri="{FF2B5EF4-FFF2-40B4-BE49-F238E27FC236}">
                <a16:creationId xmlns:a16="http://schemas.microsoft.com/office/drawing/2014/main" id="{95720884-FDF3-688A-58BC-34E95D0BD7BE}"/>
              </a:ext>
            </a:extLst>
          </p:cNvPr>
          <p:cNvPicPr>
            <a:picLocks noChangeAspect="1"/>
          </p:cNvPicPr>
          <p:nvPr/>
        </p:nvPicPr>
        <p:blipFill>
          <a:blip r:embed="rId3"/>
          <a:stretch>
            <a:fillRect/>
          </a:stretch>
        </p:blipFill>
        <p:spPr>
          <a:xfrm>
            <a:off x="581108" y="1707337"/>
            <a:ext cx="3797134" cy="4523213"/>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a:latin typeface="+mn-lt"/>
              </a:rPr>
              <a:t>Chapter 16</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5029200" y="3252789"/>
            <a:ext cx="3657600" cy="1589177"/>
          </a:xfrm>
        </p:spPr>
        <p:txBody>
          <a:bodyPr/>
          <a:lstStyle/>
          <a:p>
            <a:r>
              <a:rPr lang="en-US" altLang="en-US" sz="2400" dirty="0" err="1"/>
              <a:t>JavaF</a:t>
            </a:r>
            <a:r>
              <a:rPr lang="en-US" altLang="en-US" sz="100" dirty="0"/>
              <a:t> </a:t>
            </a:r>
            <a:r>
              <a:rPr lang="en-US" altLang="en-US" sz="2400" dirty="0"/>
              <a:t>X U</a:t>
            </a:r>
            <a:r>
              <a:rPr lang="en-US" altLang="en-US" sz="100" dirty="0"/>
              <a:t> </a:t>
            </a:r>
            <a:r>
              <a:rPr lang="en-US" altLang="en-US" sz="2400" dirty="0"/>
              <a:t>I Controls and Multimedia</a:t>
            </a:r>
            <a:endParaRPr lang="en-US" dirty="0"/>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a:latin typeface="Verdana"/>
                <a:ea typeface="Verdana" panose="020B0604030504040204" pitchFamily="34" charset="0"/>
                <a:cs typeface="Verdana" panose="020B0604030504040204" pitchFamily="34" charset="0"/>
              </a:rPr>
              <a:t>Copyright © </a:t>
            </a:r>
            <a:r>
              <a:rPr lang="en-US"/>
              <a:t>2024 </a:t>
            </a:r>
            <a:r>
              <a:rPr lang="en-US" altLang="en-US" sz="1200" b="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E6E7E-ABD9-41E0-874E-DE6712572E5B}"/>
              </a:ext>
            </a:extLst>
          </p:cNvPr>
          <p:cNvSpPr>
            <a:spLocks noGrp="1"/>
          </p:cNvSpPr>
          <p:nvPr>
            <p:ph type="title"/>
          </p:nvPr>
        </p:nvSpPr>
        <p:spPr>
          <a:xfrm>
            <a:off x="457200" y="215371"/>
            <a:ext cx="8244000" cy="1097279"/>
          </a:xfrm>
        </p:spPr>
        <p:txBody>
          <a:bodyPr/>
          <a:lstStyle/>
          <a:p>
            <a:r>
              <a:rPr lang="en-US" altLang="en-US" dirty="0"/>
              <a:t>Motivations</a:t>
            </a:r>
            <a:endParaRPr lang="en-US" dirty="0"/>
          </a:p>
        </p:txBody>
      </p:sp>
      <p:sp>
        <p:nvSpPr>
          <p:cNvPr id="3" name="Content Placeholder 2">
            <a:extLst>
              <a:ext uri="{FF2B5EF4-FFF2-40B4-BE49-F238E27FC236}">
                <a16:creationId xmlns:a16="http://schemas.microsoft.com/office/drawing/2014/main" id="{0D79CD39-0924-436E-935A-BF93BD607C9F}"/>
              </a:ext>
            </a:extLst>
          </p:cNvPr>
          <p:cNvSpPr>
            <a:spLocks noGrp="1"/>
          </p:cNvSpPr>
          <p:nvPr>
            <p:ph sz="quarter" idx="13"/>
          </p:nvPr>
        </p:nvSpPr>
        <p:spPr>
          <a:xfrm>
            <a:off x="457200" y="1554920"/>
            <a:ext cx="8244000" cy="3240103"/>
          </a:xfrm>
        </p:spPr>
        <p:txBody>
          <a:bodyPr/>
          <a:lstStyle/>
          <a:p>
            <a:pPr marL="0" indent="0">
              <a:buFont typeface="Monotype Sorts"/>
              <a:buNone/>
            </a:pPr>
            <a:r>
              <a:rPr lang="en-US" altLang="en-US" sz="2200" dirty="0"/>
              <a:t>A graphical user interface (G</a:t>
            </a:r>
            <a:r>
              <a:rPr lang="en-US" altLang="en-US" sz="100" dirty="0"/>
              <a:t> </a:t>
            </a:r>
            <a:r>
              <a:rPr lang="en-US" altLang="en-US" sz="2200" dirty="0"/>
              <a:t>U</a:t>
            </a:r>
            <a:r>
              <a:rPr lang="en-US" altLang="en-US" sz="100" dirty="0"/>
              <a:t> </a:t>
            </a:r>
            <a:r>
              <a:rPr lang="en-US" altLang="en-US" sz="2200" dirty="0"/>
              <a:t>I) makes a system user-friendly and easy to use. Creating a G</a:t>
            </a:r>
            <a:r>
              <a:rPr lang="en-US" altLang="en-US" sz="100" dirty="0"/>
              <a:t> </a:t>
            </a:r>
            <a:r>
              <a:rPr lang="en-US" altLang="en-US" sz="2200" dirty="0"/>
              <a:t>U</a:t>
            </a:r>
            <a:r>
              <a:rPr lang="en-US" altLang="en-US" sz="100" dirty="0"/>
              <a:t> </a:t>
            </a:r>
            <a:r>
              <a:rPr lang="en-US" altLang="en-US" sz="2200" dirty="0"/>
              <a:t>I requires creativity and knowledge of how G</a:t>
            </a:r>
            <a:r>
              <a:rPr lang="en-US" altLang="en-US" sz="100" dirty="0"/>
              <a:t> </a:t>
            </a:r>
            <a:r>
              <a:rPr lang="en-US" altLang="en-US" sz="2200" dirty="0"/>
              <a:t>U</a:t>
            </a:r>
            <a:r>
              <a:rPr lang="en-US" altLang="en-US" sz="100" dirty="0"/>
              <a:t> </a:t>
            </a:r>
            <a:r>
              <a:rPr lang="en-US" altLang="en-US" sz="2200" dirty="0"/>
              <a:t>I components work. Since the G</a:t>
            </a:r>
            <a:r>
              <a:rPr lang="en-US" altLang="en-US" sz="100" dirty="0"/>
              <a:t> </a:t>
            </a:r>
            <a:r>
              <a:rPr lang="en-US" altLang="en-US" sz="2200" dirty="0"/>
              <a:t>U</a:t>
            </a:r>
            <a:r>
              <a:rPr lang="en-US" altLang="en-US" sz="100" dirty="0"/>
              <a:t> </a:t>
            </a:r>
            <a:r>
              <a:rPr lang="en-US" altLang="en-US" sz="2200" dirty="0"/>
              <a:t>I components in Java are very flexible and versatile, you can create a wide assortment of useful user interfaces.</a:t>
            </a:r>
          </a:p>
          <a:p>
            <a:pPr marL="0" indent="0">
              <a:buFont typeface="Monotype Sorts"/>
              <a:buNone/>
            </a:pPr>
            <a:r>
              <a:rPr lang="en-US" altLang="en-US" sz="2200" dirty="0"/>
              <a:t>Previous chapters briefly introduced several G</a:t>
            </a:r>
            <a:r>
              <a:rPr lang="en-US" altLang="en-US" sz="100" dirty="0"/>
              <a:t> </a:t>
            </a:r>
            <a:r>
              <a:rPr lang="en-US" altLang="en-US" sz="2200" dirty="0"/>
              <a:t>U</a:t>
            </a:r>
            <a:r>
              <a:rPr lang="en-US" altLang="en-US" sz="100" dirty="0"/>
              <a:t> </a:t>
            </a:r>
            <a:r>
              <a:rPr lang="en-US" altLang="en-US" sz="2200" dirty="0"/>
              <a:t>I components. This chapter introduces the frequently used G</a:t>
            </a:r>
            <a:r>
              <a:rPr lang="en-US" altLang="en-US" sz="100" dirty="0"/>
              <a:t> </a:t>
            </a:r>
            <a:r>
              <a:rPr lang="en-US" altLang="en-US" sz="2200" dirty="0"/>
              <a:t>U</a:t>
            </a:r>
            <a:r>
              <a:rPr lang="en-US" altLang="en-US" sz="100" dirty="0"/>
              <a:t> </a:t>
            </a:r>
            <a:r>
              <a:rPr lang="en-US" altLang="en-US" sz="2200" dirty="0"/>
              <a:t>I components in detail.</a:t>
            </a:r>
          </a:p>
        </p:txBody>
      </p:sp>
    </p:spTree>
    <p:extLst>
      <p:ext uri="{BB962C8B-B14F-4D97-AF65-F5344CB8AC3E}">
        <p14:creationId xmlns:p14="http://schemas.microsoft.com/office/powerpoint/2010/main" val="2222193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80ABE-DD82-4E61-82F4-9CE9A73FDD4A}"/>
              </a:ext>
            </a:extLst>
          </p:cNvPr>
          <p:cNvSpPr>
            <a:spLocks noGrp="1"/>
          </p:cNvSpPr>
          <p:nvPr>
            <p:ph type="title"/>
          </p:nvPr>
        </p:nvSpPr>
        <p:spPr/>
        <p:txBody>
          <a:bodyPr/>
          <a:lstStyle/>
          <a:p>
            <a:r>
              <a:rPr lang="en-US"/>
              <a:t>Objectives </a:t>
            </a:r>
            <a:r>
              <a:rPr lang="en-US" sz="2000" b="0"/>
              <a:t>(1 of 2)</a:t>
            </a:r>
          </a:p>
        </p:txBody>
      </p:sp>
      <p:sp>
        <p:nvSpPr>
          <p:cNvPr id="3" name="Content Placeholder 2">
            <a:extLst>
              <a:ext uri="{FF2B5EF4-FFF2-40B4-BE49-F238E27FC236}">
                <a16:creationId xmlns:a16="http://schemas.microsoft.com/office/drawing/2014/main" id="{EC849E00-522C-4586-BDAC-74B47EAB08FC}"/>
              </a:ext>
            </a:extLst>
          </p:cNvPr>
          <p:cNvSpPr>
            <a:spLocks noGrp="1"/>
          </p:cNvSpPr>
          <p:nvPr>
            <p:ph sz="quarter" idx="13"/>
          </p:nvPr>
        </p:nvSpPr>
        <p:spPr>
          <a:xfrm>
            <a:off x="457200" y="1554920"/>
            <a:ext cx="8465820" cy="4823020"/>
          </a:xfrm>
        </p:spPr>
        <p:txBody>
          <a:bodyPr tIns="46800" bIns="90000"/>
          <a:lstStyle/>
          <a:p>
            <a:pPr marL="432" indent="0">
              <a:buNone/>
              <a:defRPr/>
            </a:pPr>
            <a:r>
              <a:rPr lang="en-US" sz="1800" b="1" dirty="0">
                <a:solidFill>
                  <a:srgbClr val="007FA3"/>
                </a:solidFill>
              </a:rPr>
              <a:t>16.1 </a:t>
            </a:r>
            <a:r>
              <a:rPr lang="en-US" sz="1800" dirty="0"/>
              <a:t>To create graphical user interfaces with various user-interface controls (§§16.2–16.11).</a:t>
            </a:r>
          </a:p>
          <a:p>
            <a:pPr marL="432" indent="0">
              <a:buNone/>
              <a:defRPr/>
            </a:pPr>
            <a:r>
              <a:rPr lang="en-US" sz="1800" b="1" dirty="0">
                <a:solidFill>
                  <a:srgbClr val="007FA3"/>
                </a:solidFill>
              </a:rPr>
              <a:t>16.2 </a:t>
            </a:r>
            <a:r>
              <a:rPr lang="en-US" sz="1800" dirty="0"/>
              <a:t>To create a label with text and graphic using the </a:t>
            </a:r>
            <a:r>
              <a:rPr lang="en-US" sz="1800" b="1" dirty="0">
                <a:latin typeface="Courier New" panose="02070309020205020404" pitchFamily="49" charset="0"/>
                <a:cs typeface="Courier New" panose="02070309020205020404" pitchFamily="49" charset="0"/>
              </a:rPr>
              <a:t>Label</a:t>
            </a:r>
            <a:r>
              <a:rPr lang="en-US" sz="1800" dirty="0"/>
              <a:t> class and explore properties in the abstract </a:t>
            </a:r>
            <a:r>
              <a:rPr lang="en-US" sz="1800" b="1" dirty="0">
                <a:latin typeface="Courier New" panose="02070309020205020404" pitchFamily="49" charset="0"/>
                <a:cs typeface="Courier New" panose="02070309020205020404" pitchFamily="49" charset="0"/>
              </a:rPr>
              <a:t>Labeled</a:t>
            </a:r>
            <a:r>
              <a:rPr lang="en-US" sz="1800" dirty="0"/>
              <a:t> class (§16.2).</a:t>
            </a:r>
          </a:p>
          <a:p>
            <a:pPr marL="432" indent="0">
              <a:buNone/>
              <a:defRPr/>
            </a:pPr>
            <a:r>
              <a:rPr lang="en-US" sz="1800" b="1" dirty="0">
                <a:solidFill>
                  <a:srgbClr val="007FA3"/>
                </a:solidFill>
              </a:rPr>
              <a:t>16.3 </a:t>
            </a:r>
            <a:r>
              <a:rPr lang="en-US" sz="1800" dirty="0"/>
              <a:t>To create a button with text and graphic using the </a:t>
            </a:r>
            <a:r>
              <a:rPr lang="en-US" sz="1800" b="1" dirty="0">
                <a:latin typeface="Courier New" panose="02070309020205020404" pitchFamily="49" charset="0"/>
                <a:cs typeface="Courier New" panose="02070309020205020404" pitchFamily="49" charset="0"/>
              </a:rPr>
              <a:t>Button</a:t>
            </a:r>
            <a:r>
              <a:rPr lang="en-US" sz="1800" dirty="0"/>
              <a:t> class and set a handler using the </a:t>
            </a:r>
            <a:r>
              <a:rPr lang="en-US" sz="1800" b="1" dirty="0" err="1">
                <a:latin typeface="Courier New" panose="02070309020205020404" pitchFamily="49" charset="0"/>
                <a:cs typeface="Courier New" panose="02070309020205020404" pitchFamily="49" charset="0"/>
              </a:rPr>
              <a:t>setOnAction</a:t>
            </a:r>
            <a:r>
              <a:rPr lang="en-US" sz="1800" dirty="0"/>
              <a:t> method in the abstract </a:t>
            </a:r>
            <a:r>
              <a:rPr lang="en-US" sz="1800" b="1" dirty="0" err="1">
                <a:latin typeface="Courier New" panose="02070309020205020404" pitchFamily="49" charset="0"/>
                <a:cs typeface="Courier New" panose="02070309020205020404" pitchFamily="49" charset="0"/>
              </a:rPr>
              <a:t>ButtonBase</a:t>
            </a:r>
            <a:r>
              <a:rPr lang="en-US" sz="1800" dirty="0"/>
              <a:t> class (§16.3).</a:t>
            </a:r>
          </a:p>
          <a:p>
            <a:pPr marL="432" indent="0">
              <a:buNone/>
              <a:defRPr/>
            </a:pPr>
            <a:r>
              <a:rPr lang="en-US" sz="1800" b="1" dirty="0">
                <a:solidFill>
                  <a:srgbClr val="007FA3"/>
                </a:solidFill>
              </a:rPr>
              <a:t>16.4 </a:t>
            </a:r>
            <a:r>
              <a:rPr lang="en-US" sz="1800" dirty="0"/>
              <a:t>To create a check box using the </a:t>
            </a:r>
            <a:r>
              <a:rPr lang="en-US" sz="1800" b="1" dirty="0" err="1">
                <a:latin typeface="Courier New" panose="02070309020205020404" pitchFamily="49" charset="0"/>
                <a:cs typeface="Courier New" panose="02070309020205020404" pitchFamily="49" charset="0"/>
              </a:rPr>
              <a:t>CheckBox</a:t>
            </a:r>
            <a:r>
              <a:rPr lang="en-US" sz="1800" dirty="0"/>
              <a:t> class (§16.4).</a:t>
            </a:r>
          </a:p>
          <a:p>
            <a:pPr marL="432" indent="0">
              <a:buNone/>
              <a:defRPr/>
            </a:pPr>
            <a:r>
              <a:rPr lang="en-US" sz="1800" b="1" dirty="0">
                <a:solidFill>
                  <a:srgbClr val="007FA3"/>
                </a:solidFill>
              </a:rPr>
              <a:t>16.5 </a:t>
            </a:r>
            <a:r>
              <a:rPr lang="en-US" sz="1800" dirty="0"/>
              <a:t>To create a radio button using the </a:t>
            </a:r>
            <a:r>
              <a:rPr lang="en-US" sz="1800" b="1" dirty="0" err="1">
                <a:latin typeface="Courier New" panose="02070309020205020404" pitchFamily="49" charset="0"/>
                <a:cs typeface="Courier New" panose="02070309020205020404" pitchFamily="49" charset="0"/>
              </a:rPr>
              <a:t>RadioButton</a:t>
            </a:r>
            <a:r>
              <a:rPr lang="en-US" sz="1800" dirty="0"/>
              <a:t> class and group radio buttons using a </a:t>
            </a:r>
            <a:r>
              <a:rPr lang="en-US" sz="1800" b="1" dirty="0" err="1">
                <a:latin typeface="Courier New" panose="02070309020205020404" pitchFamily="49" charset="0"/>
                <a:cs typeface="Courier New" panose="02070309020205020404" pitchFamily="49" charset="0"/>
              </a:rPr>
              <a:t>ToggleGroup</a:t>
            </a:r>
            <a:r>
              <a:rPr lang="en-US" sz="1800" dirty="0"/>
              <a:t> (§16.5).</a:t>
            </a:r>
          </a:p>
          <a:p>
            <a:pPr marL="432" indent="0">
              <a:buNone/>
              <a:defRPr/>
            </a:pPr>
            <a:r>
              <a:rPr lang="en-US" sz="1800" b="1" dirty="0">
                <a:solidFill>
                  <a:srgbClr val="007FA3"/>
                </a:solidFill>
              </a:rPr>
              <a:t>16.6 </a:t>
            </a:r>
            <a:r>
              <a:rPr lang="en-US" sz="1800" dirty="0"/>
              <a:t>To enter data using the </a:t>
            </a:r>
            <a:r>
              <a:rPr lang="en-US" sz="1800" b="1" dirty="0" err="1">
                <a:latin typeface="Courier New" panose="02070309020205020404" pitchFamily="49" charset="0"/>
                <a:cs typeface="Courier New" panose="02070309020205020404" pitchFamily="49" charset="0"/>
              </a:rPr>
              <a:t>TextField</a:t>
            </a:r>
            <a:r>
              <a:rPr lang="en-US" sz="1800" dirty="0"/>
              <a:t> class and password using the </a:t>
            </a:r>
            <a:r>
              <a:rPr lang="en-US" sz="1800" b="1" dirty="0" err="1">
                <a:latin typeface="Courier New" panose="02070309020205020404" pitchFamily="49" charset="0"/>
                <a:cs typeface="Courier New" panose="02070309020205020404" pitchFamily="49" charset="0"/>
              </a:rPr>
              <a:t>PasswordField</a:t>
            </a:r>
            <a:r>
              <a:rPr lang="en-US" sz="1800" dirty="0"/>
              <a:t> class (§16.6).</a:t>
            </a:r>
          </a:p>
          <a:p>
            <a:pPr marL="432" indent="0">
              <a:buNone/>
              <a:defRPr/>
            </a:pPr>
            <a:r>
              <a:rPr lang="en-US" sz="1800" b="1" dirty="0">
                <a:solidFill>
                  <a:srgbClr val="007FA3"/>
                </a:solidFill>
              </a:rPr>
              <a:t>16.7 </a:t>
            </a:r>
            <a:r>
              <a:rPr lang="en-US" sz="1800" dirty="0"/>
              <a:t>To enter data in multiple lines using the </a:t>
            </a:r>
            <a:r>
              <a:rPr lang="en-US" sz="1800" b="1" dirty="0" err="1">
                <a:latin typeface="Courier New" panose="02070309020205020404" pitchFamily="49" charset="0"/>
                <a:cs typeface="Courier New" panose="02070309020205020404" pitchFamily="49" charset="0"/>
              </a:rPr>
              <a:t>TextArea</a:t>
            </a:r>
            <a:r>
              <a:rPr lang="en-US" sz="1800" dirty="0"/>
              <a:t> class (§16.7).</a:t>
            </a:r>
          </a:p>
        </p:txBody>
      </p:sp>
    </p:spTree>
    <p:extLst>
      <p:ext uri="{BB962C8B-B14F-4D97-AF65-F5344CB8AC3E}">
        <p14:creationId xmlns:p14="http://schemas.microsoft.com/office/powerpoint/2010/main" val="2192847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80ABE-DD82-4E61-82F4-9CE9A73FDD4A}"/>
              </a:ext>
            </a:extLst>
          </p:cNvPr>
          <p:cNvSpPr>
            <a:spLocks noGrp="1"/>
          </p:cNvSpPr>
          <p:nvPr>
            <p:ph type="title"/>
          </p:nvPr>
        </p:nvSpPr>
        <p:spPr/>
        <p:txBody>
          <a:bodyPr/>
          <a:lstStyle/>
          <a:p>
            <a:r>
              <a:rPr lang="en-US"/>
              <a:t>Objectives </a:t>
            </a:r>
            <a:r>
              <a:rPr lang="en-US" sz="2000" b="0"/>
              <a:t>(2 of 2)</a:t>
            </a:r>
          </a:p>
        </p:txBody>
      </p:sp>
      <p:sp>
        <p:nvSpPr>
          <p:cNvPr id="3" name="Content Placeholder 2">
            <a:extLst>
              <a:ext uri="{FF2B5EF4-FFF2-40B4-BE49-F238E27FC236}">
                <a16:creationId xmlns:a16="http://schemas.microsoft.com/office/drawing/2014/main" id="{EC849E00-522C-4586-BDAC-74B47EAB08FC}"/>
              </a:ext>
            </a:extLst>
          </p:cNvPr>
          <p:cNvSpPr>
            <a:spLocks noGrp="1"/>
          </p:cNvSpPr>
          <p:nvPr>
            <p:ph sz="quarter" idx="13"/>
          </p:nvPr>
        </p:nvSpPr>
        <p:spPr>
          <a:xfrm>
            <a:off x="457200" y="1554918"/>
            <a:ext cx="8232775" cy="4388681"/>
          </a:xfrm>
        </p:spPr>
        <p:txBody>
          <a:bodyPr/>
          <a:lstStyle/>
          <a:p>
            <a:pPr marL="432" indent="0">
              <a:buNone/>
              <a:defRPr/>
            </a:pPr>
            <a:r>
              <a:rPr lang="en-US" sz="1800" b="1" dirty="0">
                <a:solidFill>
                  <a:srgbClr val="007FA3"/>
                </a:solidFill>
              </a:rPr>
              <a:t>16.8 </a:t>
            </a:r>
            <a:r>
              <a:rPr lang="en-US" sz="1800" dirty="0"/>
              <a:t>To select a single item using </a:t>
            </a:r>
            <a:r>
              <a:rPr lang="en-US" sz="1800" b="1" dirty="0" err="1">
                <a:latin typeface="Courier New" panose="02070309020205020404" pitchFamily="49" charset="0"/>
                <a:cs typeface="Courier New" panose="02070309020205020404" pitchFamily="49" charset="0"/>
              </a:rPr>
              <a:t>ComboBox</a:t>
            </a:r>
            <a:r>
              <a:rPr lang="en-US" sz="1800" dirty="0"/>
              <a:t> (§16.8).</a:t>
            </a:r>
            <a:endParaRPr lang="en-US" sz="1800" b="1" dirty="0">
              <a:solidFill>
                <a:srgbClr val="007FA3"/>
              </a:solidFill>
            </a:endParaRPr>
          </a:p>
          <a:p>
            <a:pPr marL="432" indent="0">
              <a:buNone/>
              <a:defRPr/>
            </a:pPr>
            <a:r>
              <a:rPr lang="en-US" sz="1800" b="1" dirty="0">
                <a:solidFill>
                  <a:srgbClr val="007FA3"/>
                </a:solidFill>
              </a:rPr>
              <a:t>16.9 </a:t>
            </a:r>
            <a:r>
              <a:rPr lang="en-US" sz="1800" dirty="0"/>
              <a:t>To select a single or multiple items using </a:t>
            </a:r>
            <a:r>
              <a:rPr lang="en-US" sz="1800" b="1" dirty="0" err="1">
                <a:latin typeface="Courier New" panose="02070309020205020404" pitchFamily="49" charset="0"/>
                <a:cs typeface="Courier New" panose="02070309020205020404" pitchFamily="49" charset="0"/>
              </a:rPr>
              <a:t>ListView</a:t>
            </a:r>
            <a:r>
              <a:rPr lang="en-US" sz="1800" dirty="0"/>
              <a:t> (§16.9).</a:t>
            </a:r>
          </a:p>
          <a:p>
            <a:pPr marL="432" indent="0">
              <a:buNone/>
              <a:defRPr/>
            </a:pPr>
            <a:r>
              <a:rPr lang="en-US" sz="1800" b="1" dirty="0">
                <a:solidFill>
                  <a:srgbClr val="007FA3"/>
                </a:solidFill>
              </a:rPr>
              <a:t>16.10 </a:t>
            </a:r>
            <a:r>
              <a:rPr lang="en-US" sz="1800" dirty="0"/>
              <a:t>To select a range of values using </a:t>
            </a:r>
            <a:r>
              <a:rPr lang="en-US" sz="1800" b="1" dirty="0" err="1">
                <a:latin typeface="Courier New" panose="02070309020205020404" pitchFamily="49" charset="0"/>
                <a:cs typeface="Courier New" panose="02070309020205020404" pitchFamily="49" charset="0"/>
              </a:rPr>
              <a:t>ScrollBar</a:t>
            </a:r>
            <a:r>
              <a:rPr lang="en-US" sz="1800" dirty="0"/>
              <a:t> (§16.10).</a:t>
            </a:r>
          </a:p>
          <a:p>
            <a:pPr marL="432" indent="0">
              <a:buNone/>
              <a:defRPr/>
            </a:pPr>
            <a:r>
              <a:rPr lang="en-US" sz="1800" b="1" dirty="0">
                <a:solidFill>
                  <a:srgbClr val="007FA3"/>
                </a:solidFill>
              </a:rPr>
              <a:t>16.11 </a:t>
            </a:r>
            <a:r>
              <a:rPr lang="en-US" sz="1800" dirty="0"/>
              <a:t>To select a range of values using </a:t>
            </a:r>
            <a:r>
              <a:rPr lang="en-US" sz="1800" b="1" dirty="0">
                <a:latin typeface="Courier New" panose="02070309020205020404" pitchFamily="49" charset="0"/>
                <a:cs typeface="Courier New" panose="02070309020205020404" pitchFamily="49" charset="0"/>
              </a:rPr>
              <a:t>Slider</a:t>
            </a:r>
            <a:r>
              <a:rPr lang="en-US" sz="1800" dirty="0"/>
              <a:t> and explore differences between </a:t>
            </a:r>
            <a:r>
              <a:rPr lang="en-US" sz="1800" b="1" dirty="0" err="1">
                <a:latin typeface="Courier New" panose="02070309020205020404" pitchFamily="49" charset="0"/>
                <a:cs typeface="Courier New" panose="02070309020205020404" pitchFamily="49" charset="0"/>
              </a:rPr>
              <a:t>ScrollBar</a:t>
            </a:r>
            <a:r>
              <a:rPr lang="en-US" sz="1800" dirty="0"/>
              <a:t> and </a:t>
            </a:r>
            <a:r>
              <a:rPr lang="en-US" sz="1800" b="1" dirty="0">
                <a:latin typeface="Courier New" panose="02070309020205020404" pitchFamily="49" charset="0"/>
                <a:cs typeface="Courier New" panose="02070309020205020404" pitchFamily="49" charset="0"/>
              </a:rPr>
              <a:t>Slider</a:t>
            </a:r>
            <a:r>
              <a:rPr lang="en-US" sz="1800" dirty="0"/>
              <a:t> (§16.11).</a:t>
            </a:r>
          </a:p>
          <a:p>
            <a:pPr marL="432" indent="0">
              <a:buNone/>
              <a:defRPr/>
            </a:pPr>
            <a:r>
              <a:rPr lang="en-US" sz="1800" b="1" dirty="0">
                <a:solidFill>
                  <a:srgbClr val="007FA3"/>
                </a:solidFill>
              </a:rPr>
              <a:t>16.12 </a:t>
            </a:r>
            <a:r>
              <a:rPr lang="en-US" sz="1800" dirty="0"/>
              <a:t>To develop a tic-tac-toe game (§16.12).</a:t>
            </a:r>
          </a:p>
          <a:p>
            <a:pPr marL="432" indent="0">
              <a:buNone/>
              <a:defRPr/>
            </a:pPr>
            <a:r>
              <a:rPr lang="en-US" sz="1800" b="1" dirty="0">
                <a:solidFill>
                  <a:srgbClr val="007FA3"/>
                </a:solidFill>
              </a:rPr>
              <a:t>16.13 </a:t>
            </a:r>
            <a:r>
              <a:rPr lang="en-US" sz="1800" dirty="0"/>
              <a:t>To view and play video and audio using the </a:t>
            </a:r>
            <a:r>
              <a:rPr lang="en-US" sz="1800" b="1" dirty="0">
                <a:latin typeface="Courier New" panose="02070309020205020404" pitchFamily="49" charset="0"/>
                <a:cs typeface="Courier New" panose="02070309020205020404" pitchFamily="49" charset="0"/>
              </a:rPr>
              <a:t>Media</a:t>
            </a:r>
            <a:r>
              <a:rPr lang="en-US" sz="1800" dirty="0"/>
              <a:t>, </a:t>
            </a:r>
            <a:r>
              <a:rPr lang="en-US" sz="1800" b="1" dirty="0" err="1">
                <a:latin typeface="Courier New" panose="02070309020205020404" pitchFamily="49" charset="0"/>
                <a:cs typeface="Courier New" panose="02070309020205020404" pitchFamily="49" charset="0"/>
              </a:rPr>
              <a:t>MediaPlayer</a:t>
            </a:r>
            <a:r>
              <a:rPr lang="en-US" sz="1800" dirty="0"/>
              <a:t>, and </a:t>
            </a:r>
            <a:r>
              <a:rPr lang="en-US" sz="1800" b="1" dirty="0">
                <a:latin typeface="Courier New" panose="02070309020205020404" pitchFamily="49" charset="0"/>
                <a:cs typeface="Courier New" panose="02070309020205020404" pitchFamily="49" charset="0"/>
              </a:rPr>
              <a:t>MediaView</a:t>
            </a:r>
            <a:r>
              <a:rPr lang="en-US" sz="1800" dirty="0"/>
              <a:t> (§16.13).</a:t>
            </a:r>
          </a:p>
          <a:p>
            <a:pPr marL="432" indent="0">
              <a:buNone/>
              <a:defRPr/>
            </a:pPr>
            <a:r>
              <a:rPr lang="en-US" sz="1800" b="1" dirty="0">
                <a:solidFill>
                  <a:srgbClr val="007FA3"/>
                </a:solidFill>
              </a:rPr>
              <a:t>16.14 </a:t>
            </a:r>
            <a:r>
              <a:rPr lang="en-US" sz="1800" dirty="0"/>
              <a:t>To develop a case study for showing the national flag and play anthem (§16.14).</a:t>
            </a:r>
          </a:p>
        </p:txBody>
      </p:sp>
    </p:spTree>
    <p:extLst>
      <p:ext uri="{BB962C8B-B14F-4D97-AF65-F5344CB8AC3E}">
        <p14:creationId xmlns:p14="http://schemas.microsoft.com/office/powerpoint/2010/main" val="3823588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49730-B7D6-4CDB-928A-250628683C8A}"/>
              </a:ext>
            </a:extLst>
          </p:cNvPr>
          <p:cNvSpPr>
            <a:spLocks noGrp="1"/>
          </p:cNvSpPr>
          <p:nvPr>
            <p:ph type="title"/>
          </p:nvPr>
        </p:nvSpPr>
        <p:spPr/>
        <p:txBody>
          <a:bodyPr/>
          <a:lstStyle/>
          <a:p>
            <a:r>
              <a:rPr lang="en-US" altLang="en-US" dirty="0"/>
              <a:t>Frequently Used U</a:t>
            </a:r>
            <a:r>
              <a:rPr lang="en-US" altLang="en-US" sz="100" dirty="0"/>
              <a:t> </a:t>
            </a:r>
            <a:r>
              <a:rPr lang="en-US" altLang="en-US" dirty="0"/>
              <a:t>I Controls</a:t>
            </a:r>
            <a:endParaRPr lang="en-US" dirty="0"/>
          </a:p>
        </p:txBody>
      </p:sp>
      <p:pic>
        <p:nvPicPr>
          <p:cNvPr id="8" name="Picture 7" descr="An object shows the Frequently Used UI Controls. For long description in Notes pane, press F6.">
            <a:extLst>
              <a:ext uri="{FF2B5EF4-FFF2-40B4-BE49-F238E27FC236}">
                <a16:creationId xmlns:a16="http://schemas.microsoft.com/office/drawing/2014/main" id="{EB42C906-D43D-49FC-8A94-EB406024A965}"/>
              </a:ext>
            </a:extLst>
          </p:cNvPr>
          <p:cNvPicPr>
            <a:picLocks noChangeAspect="1"/>
          </p:cNvPicPr>
          <p:nvPr/>
        </p:nvPicPr>
        <p:blipFill>
          <a:blip r:embed="rId3"/>
          <a:stretch>
            <a:fillRect/>
          </a:stretch>
        </p:blipFill>
        <p:spPr>
          <a:xfrm>
            <a:off x="655996" y="1556160"/>
            <a:ext cx="7832007" cy="2901618"/>
          </a:xfrm>
          <a:prstGeom prst="rect">
            <a:avLst/>
          </a:prstGeom>
        </p:spPr>
      </p:pic>
      <p:sp>
        <p:nvSpPr>
          <p:cNvPr id="4" name="Content Placeholder 3">
            <a:extLst>
              <a:ext uri="{FF2B5EF4-FFF2-40B4-BE49-F238E27FC236}">
                <a16:creationId xmlns:a16="http://schemas.microsoft.com/office/drawing/2014/main" id="{F7FF0AF5-0F0E-473A-A40C-3CDFDED2DF63}"/>
              </a:ext>
            </a:extLst>
          </p:cNvPr>
          <p:cNvSpPr>
            <a:spLocks noGrp="1"/>
          </p:cNvSpPr>
          <p:nvPr>
            <p:ph sz="quarter" idx="14"/>
          </p:nvPr>
        </p:nvSpPr>
        <p:spPr>
          <a:xfrm>
            <a:off x="457200" y="4627941"/>
            <a:ext cx="8028000" cy="1584000"/>
          </a:xfrm>
        </p:spPr>
        <p:txBody>
          <a:bodyPr tIns="0"/>
          <a:lstStyle/>
          <a:p>
            <a:pPr marL="432" indent="0">
              <a:buNone/>
            </a:pPr>
            <a:r>
              <a:rPr lang="en-US" altLang="en-US" sz="2000" dirty="0"/>
              <a:t>Throughout this book, the prefixes </a:t>
            </a:r>
            <a:r>
              <a:rPr lang="en-US" altLang="en-US" sz="2000" b="1" dirty="0"/>
              <a:t>l</a:t>
            </a:r>
            <a:r>
              <a:rPr lang="en-US" altLang="en-US" sz="100" b="1" dirty="0"/>
              <a:t> </a:t>
            </a:r>
            <a:r>
              <a:rPr lang="en-US" altLang="en-US" sz="2000" b="1" dirty="0"/>
              <a:t>b</a:t>
            </a:r>
            <a:r>
              <a:rPr lang="en-US" altLang="en-US" sz="100" b="1" dirty="0"/>
              <a:t> </a:t>
            </a:r>
            <a:r>
              <a:rPr lang="en-US" altLang="en-US" sz="2000" b="1" dirty="0"/>
              <a:t>l</a:t>
            </a:r>
            <a:r>
              <a:rPr lang="en-US" altLang="en-US" sz="2000" dirty="0"/>
              <a:t>, </a:t>
            </a:r>
            <a:r>
              <a:rPr lang="en-US" altLang="en-US" sz="2000" b="1" dirty="0"/>
              <a:t>b</a:t>
            </a:r>
            <a:r>
              <a:rPr lang="en-US" altLang="en-US" sz="100" b="1" dirty="0"/>
              <a:t> </a:t>
            </a:r>
            <a:r>
              <a:rPr lang="en-US" altLang="en-US" sz="2000" b="1" dirty="0"/>
              <a:t>t</a:t>
            </a:r>
            <a:r>
              <a:rPr lang="en-US" altLang="en-US" sz="2000" dirty="0"/>
              <a:t>, </a:t>
            </a:r>
            <a:r>
              <a:rPr lang="en-US" altLang="en-US" sz="2000" b="1" dirty="0"/>
              <a:t>c</a:t>
            </a:r>
            <a:r>
              <a:rPr lang="en-US" altLang="en-US" sz="100" b="1" dirty="0"/>
              <a:t> </a:t>
            </a:r>
            <a:r>
              <a:rPr lang="en-US" altLang="en-US" sz="2000" b="1" dirty="0"/>
              <a:t>h</a:t>
            </a:r>
            <a:r>
              <a:rPr lang="en-US" altLang="en-US" sz="100" b="1" dirty="0"/>
              <a:t> </a:t>
            </a:r>
            <a:r>
              <a:rPr lang="en-US" altLang="en-US" sz="2000" b="1" dirty="0"/>
              <a:t>k</a:t>
            </a:r>
            <a:r>
              <a:rPr lang="en-US" altLang="en-US" sz="2000" dirty="0"/>
              <a:t>, </a:t>
            </a:r>
            <a:r>
              <a:rPr lang="en-US" altLang="en-US" sz="2000" b="1" dirty="0"/>
              <a:t>r</a:t>
            </a:r>
            <a:r>
              <a:rPr lang="en-US" altLang="en-US" sz="100" b="1" dirty="0"/>
              <a:t> </a:t>
            </a:r>
            <a:r>
              <a:rPr lang="en-US" altLang="en-US" sz="2000" b="1" dirty="0"/>
              <a:t>b</a:t>
            </a:r>
            <a:r>
              <a:rPr lang="en-US" altLang="en-US" sz="2000" dirty="0"/>
              <a:t>, </a:t>
            </a:r>
            <a:r>
              <a:rPr lang="en-US" altLang="en-US" sz="2000" b="1" dirty="0"/>
              <a:t>t</a:t>
            </a:r>
            <a:r>
              <a:rPr lang="en-US" altLang="en-US" sz="100" b="1" dirty="0"/>
              <a:t> </a:t>
            </a:r>
            <a:r>
              <a:rPr lang="en-US" altLang="en-US" sz="2000" b="1" dirty="0"/>
              <a:t>f</a:t>
            </a:r>
            <a:r>
              <a:rPr lang="en-US" altLang="en-US" sz="2000" dirty="0"/>
              <a:t>, </a:t>
            </a:r>
            <a:r>
              <a:rPr lang="en-US" altLang="en-US" sz="2000" b="1" dirty="0"/>
              <a:t>p</a:t>
            </a:r>
            <a:r>
              <a:rPr lang="en-US" altLang="en-US" sz="100" b="1" dirty="0"/>
              <a:t> </a:t>
            </a:r>
            <a:r>
              <a:rPr lang="en-US" altLang="en-US" sz="2000" b="1" dirty="0"/>
              <a:t>f</a:t>
            </a:r>
            <a:r>
              <a:rPr lang="en-US" altLang="en-US" sz="2000" dirty="0"/>
              <a:t>, </a:t>
            </a:r>
            <a:r>
              <a:rPr lang="en-US" altLang="en-US" sz="2000" b="1" dirty="0"/>
              <a:t>t</a:t>
            </a:r>
            <a:r>
              <a:rPr lang="en-US" altLang="en-US" sz="100" b="1" dirty="0"/>
              <a:t> </a:t>
            </a:r>
            <a:r>
              <a:rPr lang="en-US" altLang="en-US" sz="2000" b="1" dirty="0"/>
              <a:t>a</a:t>
            </a:r>
            <a:r>
              <a:rPr lang="en-US" altLang="en-US" sz="2000" dirty="0"/>
              <a:t>, </a:t>
            </a:r>
            <a:r>
              <a:rPr lang="en-US" altLang="en-US" sz="2000" b="1" dirty="0"/>
              <a:t>c</a:t>
            </a:r>
            <a:r>
              <a:rPr lang="en-US" altLang="en-US" sz="100" b="1" dirty="0"/>
              <a:t> </a:t>
            </a:r>
            <a:r>
              <a:rPr lang="en-US" altLang="en-US" sz="2000" b="1" dirty="0"/>
              <a:t>b</a:t>
            </a:r>
            <a:r>
              <a:rPr lang="en-US" altLang="en-US" sz="100" b="1" dirty="0"/>
              <a:t> </a:t>
            </a:r>
            <a:r>
              <a:rPr lang="en-US" altLang="en-US" sz="2000" b="1" dirty="0"/>
              <a:t>o</a:t>
            </a:r>
            <a:r>
              <a:rPr lang="en-US" altLang="en-US" sz="2000" dirty="0"/>
              <a:t>, </a:t>
            </a:r>
            <a:r>
              <a:rPr lang="en-US" altLang="en-US" sz="2000" b="1" dirty="0"/>
              <a:t>l</a:t>
            </a:r>
            <a:r>
              <a:rPr lang="en-US" altLang="en-US" sz="100" b="1" dirty="0"/>
              <a:t> </a:t>
            </a:r>
            <a:r>
              <a:rPr lang="en-US" altLang="en-US" sz="2000" b="1" dirty="0"/>
              <a:t>v</a:t>
            </a:r>
            <a:r>
              <a:rPr lang="en-US" altLang="en-US" sz="2000" dirty="0"/>
              <a:t>, </a:t>
            </a:r>
            <a:r>
              <a:rPr lang="en-US" altLang="en-US" sz="2000" b="1" dirty="0"/>
              <a:t>s</a:t>
            </a:r>
            <a:r>
              <a:rPr lang="en-US" altLang="en-US" sz="100" b="1" dirty="0"/>
              <a:t> </a:t>
            </a:r>
            <a:r>
              <a:rPr lang="en-US" altLang="en-US" sz="2000" b="1" dirty="0"/>
              <a:t>c</a:t>
            </a:r>
            <a:r>
              <a:rPr lang="en-US" altLang="en-US" sz="100" b="1" dirty="0"/>
              <a:t> </a:t>
            </a:r>
            <a:r>
              <a:rPr lang="en-US" altLang="en-US" sz="2000" b="1" dirty="0"/>
              <a:t>b</a:t>
            </a:r>
            <a:r>
              <a:rPr lang="en-US" altLang="en-US" sz="2000" dirty="0"/>
              <a:t>, </a:t>
            </a:r>
            <a:r>
              <a:rPr lang="en-US" altLang="en-US" sz="2000" b="1" dirty="0"/>
              <a:t>s</a:t>
            </a:r>
            <a:r>
              <a:rPr lang="en-US" altLang="en-US" sz="100" b="1" dirty="0"/>
              <a:t> </a:t>
            </a:r>
            <a:r>
              <a:rPr lang="en-US" altLang="en-US" sz="2000" b="1" dirty="0"/>
              <a:t>l</a:t>
            </a:r>
            <a:r>
              <a:rPr lang="en-US" altLang="en-US" sz="100" b="1" dirty="0"/>
              <a:t> </a:t>
            </a:r>
            <a:r>
              <a:rPr lang="en-US" altLang="en-US" sz="2000" b="1" dirty="0"/>
              <a:t>d</a:t>
            </a:r>
            <a:r>
              <a:rPr lang="en-US" altLang="en-US" sz="2000" dirty="0"/>
              <a:t>, and </a:t>
            </a:r>
            <a:r>
              <a:rPr lang="en-US" altLang="en-US" sz="2000" b="1" dirty="0"/>
              <a:t>m</a:t>
            </a:r>
            <a:r>
              <a:rPr lang="en-US" altLang="en-US" sz="100" b="1" dirty="0"/>
              <a:t> </a:t>
            </a:r>
            <a:r>
              <a:rPr lang="en-US" altLang="en-US" sz="2000" b="1" dirty="0"/>
              <a:t>p</a:t>
            </a:r>
            <a:r>
              <a:rPr lang="en-US" altLang="en-US" sz="2000" dirty="0"/>
              <a:t> are used to name reference variables for </a:t>
            </a:r>
            <a:r>
              <a:rPr lang="en-US" altLang="en-US" sz="2000" b="1" dirty="0">
                <a:latin typeface="Courier New" panose="02070309020205020404" pitchFamily="49" charset="0"/>
                <a:cs typeface="Courier New" panose="02070309020205020404" pitchFamily="49" charset="0"/>
              </a:rPr>
              <a:t>Label</a:t>
            </a:r>
            <a:r>
              <a:rPr lang="en-US" altLang="en-US" sz="2000" dirty="0"/>
              <a:t>, </a:t>
            </a:r>
            <a:r>
              <a:rPr lang="en-US" altLang="en-US" sz="2000" b="1" dirty="0">
                <a:latin typeface="Courier New" panose="02070309020205020404" pitchFamily="49" charset="0"/>
                <a:cs typeface="Courier New" panose="02070309020205020404" pitchFamily="49" charset="0"/>
              </a:rPr>
              <a:t>Button</a:t>
            </a:r>
            <a:r>
              <a:rPr lang="en-US" altLang="en-US" sz="2000" dirty="0"/>
              <a:t>, </a:t>
            </a:r>
            <a:r>
              <a:rPr lang="en-US" altLang="en-US" sz="2000" b="1" dirty="0" err="1">
                <a:latin typeface="Courier New" panose="02070309020205020404" pitchFamily="49" charset="0"/>
                <a:cs typeface="Courier New" panose="02070309020205020404" pitchFamily="49" charset="0"/>
              </a:rPr>
              <a:t>CheckBox</a:t>
            </a:r>
            <a:r>
              <a:rPr lang="en-US" altLang="en-US" sz="2000" dirty="0"/>
              <a:t>, </a:t>
            </a:r>
            <a:r>
              <a:rPr lang="en-US" altLang="en-US" sz="2000" b="1" dirty="0" err="1">
                <a:latin typeface="Courier New" panose="02070309020205020404" pitchFamily="49" charset="0"/>
                <a:cs typeface="Courier New" panose="02070309020205020404" pitchFamily="49" charset="0"/>
              </a:rPr>
              <a:t>RadioButton</a:t>
            </a:r>
            <a:r>
              <a:rPr lang="en-US" altLang="en-US" sz="2000" dirty="0"/>
              <a:t>, </a:t>
            </a:r>
            <a:r>
              <a:rPr lang="en-US" altLang="en-US" sz="2000" b="1" dirty="0" err="1">
                <a:latin typeface="Courier New" panose="02070309020205020404" pitchFamily="49" charset="0"/>
                <a:cs typeface="Courier New" panose="02070309020205020404" pitchFamily="49" charset="0"/>
              </a:rPr>
              <a:t>TextField</a:t>
            </a:r>
            <a:r>
              <a:rPr lang="en-US" altLang="en-US" sz="2000" dirty="0"/>
              <a:t>, </a:t>
            </a:r>
            <a:r>
              <a:rPr lang="en-US" altLang="en-US" sz="2000" b="1" dirty="0" err="1">
                <a:latin typeface="Courier New" panose="02070309020205020404" pitchFamily="49" charset="0"/>
                <a:cs typeface="Courier New" panose="02070309020205020404" pitchFamily="49" charset="0"/>
              </a:rPr>
              <a:t>PasswordField</a:t>
            </a:r>
            <a:r>
              <a:rPr lang="en-US" altLang="en-US" sz="2000" dirty="0"/>
              <a:t>, </a:t>
            </a:r>
            <a:r>
              <a:rPr lang="en-US" altLang="en-US" sz="2000" b="1" dirty="0" err="1">
                <a:latin typeface="Courier New" panose="02070309020205020404" pitchFamily="49" charset="0"/>
                <a:cs typeface="Courier New" panose="02070309020205020404" pitchFamily="49" charset="0"/>
              </a:rPr>
              <a:t>TextArea</a:t>
            </a:r>
            <a:r>
              <a:rPr lang="en-US" altLang="en-US" sz="2000" dirty="0"/>
              <a:t>, </a:t>
            </a:r>
            <a:r>
              <a:rPr lang="en-US" altLang="en-US" sz="2000" b="1" dirty="0" err="1">
                <a:latin typeface="Courier New" panose="02070309020205020404" pitchFamily="49" charset="0"/>
                <a:cs typeface="Courier New" panose="02070309020205020404" pitchFamily="49" charset="0"/>
              </a:rPr>
              <a:t>ComboBox</a:t>
            </a:r>
            <a:r>
              <a:rPr lang="en-US" altLang="en-US" sz="2000" dirty="0"/>
              <a:t>, </a:t>
            </a:r>
            <a:r>
              <a:rPr lang="en-US" altLang="en-US" sz="2000" b="1" dirty="0" err="1">
                <a:latin typeface="Courier New" panose="02070309020205020404" pitchFamily="49" charset="0"/>
                <a:cs typeface="Courier New" panose="02070309020205020404" pitchFamily="49" charset="0"/>
              </a:rPr>
              <a:t>ListView</a:t>
            </a:r>
            <a:r>
              <a:rPr lang="en-US" altLang="en-US" sz="2000" dirty="0"/>
              <a:t>, </a:t>
            </a:r>
            <a:r>
              <a:rPr lang="en-US" altLang="en-US" sz="2000" b="1" dirty="0" err="1">
                <a:latin typeface="Courier New" panose="02070309020205020404" pitchFamily="49" charset="0"/>
                <a:cs typeface="Courier New" panose="02070309020205020404" pitchFamily="49" charset="0"/>
              </a:rPr>
              <a:t>ScrollBar</a:t>
            </a:r>
            <a:r>
              <a:rPr lang="en-US" altLang="en-US" sz="2000" dirty="0"/>
              <a:t>, </a:t>
            </a:r>
            <a:r>
              <a:rPr lang="en-US" altLang="en-US" sz="2000" b="1" dirty="0">
                <a:latin typeface="Courier New" panose="02070309020205020404" pitchFamily="49" charset="0"/>
                <a:cs typeface="Courier New" panose="02070309020205020404" pitchFamily="49" charset="0"/>
              </a:rPr>
              <a:t>Slider</a:t>
            </a:r>
            <a:r>
              <a:rPr lang="en-US" altLang="en-US" sz="2000" dirty="0"/>
              <a:t>, and </a:t>
            </a:r>
            <a:r>
              <a:rPr lang="en-US" altLang="en-US" sz="2000" b="1" dirty="0" err="1">
                <a:latin typeface="Courier New" panose="02070309020205020404" pitchFamily="49" charset="0"/>
                <a:cs typeface="Courier New" panose="02070309020205020404" pitchFamily="49" charset="0"/>
              </a:rPr>
              <a:t>MediaPlayer</a:t>
            </a:r>
            <a:r>
              <a:rPr lang="en-US" altLang="en-US" sz="2000" dirty="0"/>
              <a:t>.</a:t>
            </a:r>
          </a:p>
        </p:txBody>
      </p:sp>
    </p:spTree>
    <p:extLst>
      <p:ext uri="{BB962C8B-B14F-4D97-AF65-F5344CB8AC3E}">
        <p14:creationId xmlns:p14="http://schemas.microsoft.com/office/powerpoint/2010/main" val="338462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02713-61EA-4552-A7A1-9A352538D32E}"/>
              </a:ext>
            </a:extLst>
          </p:cNvPr>
          <p:cNvSpPr>
            <a:spLocks noGrp="1"/>
          </p:cNvSpPr>
          <p:nvPr>
            <p:ph type="title"/>
          </p:nvPr>
        </p:nvSpPr>
        <p:spPr/>
        <p:txBody>
          <a:bodyPr/>
          <a:lstStyle/>
          <a:p>
            <a:r>
              <a:rPr lang="en-US" altLang="en-US">
                <a:latin typeface="Courier New" panose="02070309020205020404" pitchFamily="49" charset="0"/>
              </a:rPr>
              <a:t>Labeled</a:t>
            </a:r>
            <a:endParaRPr lang="en-US"/>
          </a:p>
        </p:txBody>
      </p:sp>
      <p:sp>
        <p:nvSpPr>
          <p:cNvPr id="3" name="Content Placeholder 2">
            <a:extLst>
              <a:ext uri="{FF2B5EF4-FFF2-40B4-BE49-F238E27FC236}">
                <a16:creationId xmlns:a16="http://schemas.microsoft.com/office/drawing/2014/main" id="{29B66753-74DE-46B9-B3F2-211FB805A1DC}"/>
              </a:ext>
            </a:extLst>
          </p:cNvPr>
          <p:cNvSpPr>
            <a:spLocks noGrp="1"/>
          </p:cNvSpPr>
          <p:nvPr>
            <p:ph sz="quarter" idx="13"/>
          </p:nvPr>
        </p:nvSpPr>
        <p:spPr>
          <a:xfrm>
            <a:off x="457200" y="1556327"/>
            <a:ext cx="8229600" cy="1673570"/>
          </a:xfrm>
        </p:spPr>
        <p:txBody>
          <a:bodyPr/>
          <a:lstStyle/>
          <a:p>
            <a:pPr marL="432" indent="0">
              <a:buNone/>
            </a:pPr>
            <a:r>
              <a:rPr lang="en-US" altLang="en-US" dirty="0"/>
              <a:t>A</a:t>
            </a:r>
            <a:r>
              <a:rPr lang="en-US" altLang="en-US" i="1" dirty="0"/>
              <a:t> </a:t>
            </a:r>
            <a:r>
              <a:rPr lang="en-US" altLang="en-US" b="1" dirty="0">
                <a:latin typeface="Courier New" panose="02070309020205020404" pitchFamily="49" charset="0"/>
                <a:cs typeface="Courier New" panose="02070309020205020404" pitchFamily="49" charset="0"/>
              </a:rPr>
              <a:t>label</a:t>
            </a:r>
            <a:r>
              <a:rPr lang="en-US" altLang="en-US" b="1" dirty="0"/>
              <a:t> </a:t>
            </a:r>
            <a:r>
              <a:rPr lang="en-US" altLang="en-US" dirty="0"/>
              <a:t>is a display area for a short text, a node, or both. It is often used to label other controls (usually text fields). Labels and buttons share many common properties. These common properties are defined in the </a:t>
            </a:r>
            <a:r>
              <a:rPr lang="en-US" altLang="en-US" b="1" dirty="0">
                <a:latin typeface="Courier New" panose="02070309020205020404" pitchFamily="49" charset="0"/>
                <a:cs typeface="Courier New" panose="02070309020205020404" pitchFamily="49" charset="0"/>
              </a:rPr>
              <a:t>Labeled</a:t>
            </a:r>
            <a:r>
              <a:rPr lang="en-US" altLang="en-US" dirty="0"/>
              <a:t> class.</a:t>
            </a:r>
          </a:p>
        </p:txBody>
      </p:sp>
      <p:pic>
        <p:nvPicPr>
          <p:cNvPr id="8" name="Picture 7" descr="The computer code shows the Labeled. For long description in Notes pane, press F6.">
            <a:extLst>
              <a:ext uri="{FF2B5EF4-FFF2-40B4-BE49-F238E27FC236}">
                <a16:creationId xmlns:a16="http://schemas.microsoft.com/office/drawing/2014/main" id="{96D18506-B9CD-4200-B0C2-0D76F43A5444}"/>
              </a:ext>
            </a:extLst>
          </p:cNvPr>
          <p:cNvPicPr>
            <a:picLocks noChangeAspect="1"/>
          </p:cNvPicPr>
          <p:nvPr/>
        </p:nvPicPr>
        <p:blipFill>
          <a:blip r:embed="rId3"/>
          <a:stretch>
            <a:fillRect/>
          </a:stretch>
        </p:blipFill>
        <p:spPr>
          <a:xfrm>
            <a:off x="595184" y="3401931"/>
            <a:ext cx="7953631" cy="2896693"/>
          </a:xfrm>
          <a:prstGeom prst="rect">
            <a:avLst/>
          </a:prstGeom>
        </p:spPr>
      </p:pic>
    </p:spTree>
    <p:extLst>
      <p:ext uri="{BB962C8B-B14F-4D97-AF65-F5344CB8AC3E}">
        <p14:creationId xmlns:p14="http://schemas.microsoft.com/office/powerpoint/2010/main" val="1133144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9C776-5854-4A54-B12C-1B842053090F}"/>
              </a:ext>
            </a:extLst>
          </p:cNvPr>
          <p:cNvSpPr>
            <a:spLocks noGrp="1"/>
          </p:cNvSpPr>
          <p:nvPr>
            <p:ph type="title"/>
          </p:nvPr>
        </p:nvSpPr>
        <p:spPr>
          <a:xfrm>
            <a:off x="457200" y="215371"/>
            <a:ext cx="8229600" cy="1097279"/>
          </a:xfrm>
        </p:spPr>
        <p:txBody>
          <a:bodyPr/>
          <a:lstStyle/>
          <a:p>
            <a:r>
              <a:rPr lang="en-US" altLang="en-US" dirty="0">
                <a:latin typeface="Courier New" panose="02070309020205020404" pitchFamily="49" charset="0"/>
              </a:rPr>
              <a:t>Label</a:t>
            </a:r>
            <a:endParaRPr lang="en-US" dirty="0"/>
          </a:p>
        </p:txBody>
      </p:sp>
      <p:sp>
        <p:nvSpPr>
          <p:cNvPr id="3" name="Content Placeholder 2">
            <a:extLst>
              <a:ext uri="{FF2B5EF4-FFF2-40B4-BE49-F238E27FC236}">
                <a16:creationId xmlns:a16="http://schemas.microsoft.com/office/drawing/2014/main" id="{47378787-F5C6-4E67-AFEA-9F85A58D8080}"/>
              </a:ext>
            </a:extLst>
          </p:cNvPr>
          <p:cNvSpPr>
            <a:spLocks noGrp="1"/>
          </p:cNvSpPr>
          <p:nvPr>
            <p:ph sz="quarter" idx="13"/>
          </p:nvPr>
        </p:nvSpPr>
        <p:spPr>
          <a:xfrm>
            <a:off x="457200" y="1552575"/>
            <a:ext cx="4409768" cy="497451"/>
          </a:xfrm>
        </p:spPr>
        <p:txBody>
          <a:bodyPr/>
          <a:lstStyle/>
          <a:p>
            <a:pPr marL="432" indent="0">
              <a:buNone/>
            </a:pPr>
            <a:r>
              <a:rPr lang="en-US" altLang="en-US"/>
              <a:t>The Label class defines labels.</a:t>
            </a:r>
          </a:p>
        </p:txBody>
      </p:sp>
      <p:pic>
        <p:nvPicPr>
          <p:cNvPr id="9" name="Picture 8" descr="An object shows the Labels with a Graphic. A box shows the US flag, which indicates the US 50 states, a Circle, a Rectangle, an Ellipse, and a Javafx which indicates a Pane inside a label.">
            <a:extLst>
              <a:ext uri="{FF2B5EF4-FFF2-40B4-BE49-F238E27FC236}">
                <a16:creationId xmlns:a16="http://schemas.microsoft.com/office/drawing/2014/main" id="{43EF68C1-3510-4480-8BFF-B1B75F45DF34}"/>
              </a:ext>
            </a:extLst>
          </p:cNvPr>
          <p:cNvPicPr>
            <a:picLocks noChangeAspect="1"/>
          </p:cNvPicPr>
          <p:nvPr/>
        </p:nvPicPr>
        <p:blipFill>
          <a:blip r:embed="rId3"/>
          <a:stretch>
            <a:fillRect/>
          </a:stretch>
        </p:blipFill>
        <p:spPr>
          <a:xfrm>
            <a:off x="3148783" y="2246962"/>
            <a:ext cx="5406751" cy="1294920"/>
          </a:xfrm>
          <a:prstGeom prst="rect">
            <a:avLst/>
          </a:prstGeom>
        </p:spPr>
      </p:pic>
      <p:pic>
        <p:nvPicPr>
          <p:cNvPr id="12" name="Picture 11" descr="The computer code shows the labels. It has 2 boxes. For long description in Notes pane, press F6.">
            <a:extLst>
              <a:ext uri="{FF2B5EF4-FFF2-40B4-BE49-F238E27FC236}">
                <a16:creationId xmlns:a16="http://schemas.microsoft.com/office/drawing/2014/main" id="{63CD34C3-9399-4371-A278-D0F235F251E2}"/>
              </a:ext>
            </a:extLst>
          </p:cNvPr>
          <p:cNvPicPr>
            <a:picLocks noChangeAspect="1"/>
          </p:cNvPicPr>
          <p:nvPr/>
        </p:nvPicPr>
        <p:blipFill>
          <a:blip r:embed="rId4"/>
          <a:stretch>
            <a:fillRect/>
          </a:stretch>
        </p:blipFill>
        <p:spPr>
          <a:xfrm>
            <a:off x="476407" y="3694317"/>
            <a:ext cx="7056491" cy="2029690"/>
          </a:xfrm>
          <a:prstGeom prst="rect">
            <a:avLst/>
          </a:prstGeom>
        </p:spPr>
      </p:pic>
      <p:sp>
        <p:nvSpPr>
          <p:cNvPr id="10" name="Text Placeholder 9">
            <a:extLst>
              <a:ext uri="{FF2B5EF4-FFF2-40B4-BE49-F238E27FC236}">
                <a16:creationId xmlns:a16="http://schemas.microsoft.com/office/drawing/2014/main" id="{600D99AF-785A-4613-A507-45D8E18A1C52}"/>
              </a:ext>
            </a:extLst>
          </p:cNvPr>
          <p:cNvSpPr>
            <a:spLocks noGrp="1"/>
          </p:cNvSpPr>
          <p:nvPr>
            <p:ph type="body" sz="quarter" idx="20"/>
          </p:nvPr>
        </p:nvSpPr>
        <p:spPr>
          <a:xfrm>
            <a:off x="5874812" y="5830791"/>
            <a:ext cx="2728452" cy="432000"/>
          </a:xfrm>
        </p:spPr>
        <p:txBody>
          <a:bodyPr tIns="0"/>
          <a:lstStyle/>
          <a:p>
            <a:pPr marL="432" indent="0">
              <a:buNone/>
            </a:pPr>
            <a:r>
              <a:rPr lang="en-US" altLang="en-US" dirty="0">
                <a:hlinkClick r:id="rId5" tooltip="https://liveexample.pearsoncmg.com/html/LabelWithGraphic.html"/>
              </a:rPr>
              <a:t>LabelWithGraphic</a:t>
            </a:r>
            <a:endParaRPr lang="en-US" altLang="en-US" dirty="0">
              <a:hlinkClick r:id="rId5"/>
            </a:endParaRPr>
          </a:p>
        </p:txBody>
      </p:sp>
    </p:spTree>
    <p:extLst>
      <p:ext uri="{BB962C8B-B14F-4D97-AF65-F5344CB8AC3E}">
        <p14:creationId xmlns:p14="http://schemas.microsoft.com/office/powerpoint/2010/main" val="2406728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202A7-3F54-41EB-83EF-89816B1BF5CD}"/>
              </a:ext>
            </a:extLst>
          </p:cNvPr>
          <p:cNvSpPr>
            <a:spLocks noGrp="1"/>
          </p:cNvSpPr>
          <p:nvPr>
            <p:ph type="title"/>
          </p:nvPr>
        </p:nvSpPr>
        <p:spPr/>
        <p:txBody>
          <a:bodyPr/>
          <a:lstStyle/>
          <a:p>
            <a:r>
              <a:rPr lang="en-US" altLang="en-US" dirty="0" err="1">
                <a:latin typeface="Courier New" panose="02070309020205020404" pitchFamily="49" charset="0"/>
              </a:rPr>
              <a:t>Buttonbase</a:t>
            </a:r>
            <a:r>
              <a:rPr lang="en-US" altLang="en-US" dirty="0">
                <a:latin typeface="Courier New" panose="02070309020205020404" pitchFamily="49" charset="0"/>
              </a:rPr>
              <a:t> </a:t>
            </a:r>
            <a:r>
              <a:rPr lang="en-US" altLang="en-US" dirty="0"/>
              <a:t>and</a:t>
            </a:r>
            <a:r>
              <a:rPr lang="en-US" altLang="en-US" dirty="0">
                <a:latin typeface="Courier New" panose="02070309020205020404" pitchFamily="49" charset="0"/>
              </a:rPr>
              <a:t> Button</a:t>
            </a:r>
            <a:endParaRPr lang="en-US" dirty="0"/>
          </a:p>
        </p:txBody>
      </p:sp>
      <p:sp>
        <p:nvSpPr>
          <p:cNvPr id="3" name="Content Placeholder 2">
            <a:extLst>
              <a:ext uri="{FF2B5EF4-FFF2-40B4-BE49-F238E27FC236}">
                <a16:creationId xmlns:a16="http://schemas.microsoft.com/office/drawing/2014/main" id="{3DD2E2D6-C423-4790-8E61-17B33C7E5061}"/>
              </a:ext>
            </a:extLst>
          </p:cNvPr>
          <p:cNvSpPr>
            <a:spLocks noGrp="1"/>
          </p:cNvSpPr>
          <p:nvPr>
            <p:ph sz="quarter" idx="13"/>
          </p:nvPr>
        </p:nvSpPr>
        <p:spPr>
          <a:xfrm>
            <a:off x="457200" y="1556327"/>
            <a:ext cx="8229600" cy="1512000"/>
          </a:xfrm>
        </p:spPr>
        <p:txBody>
          <a:bodyPr/>
          <a:lstStyle/>
          <a:p>
            <a:pPr marL="432" indent="0">
              <a:buNone/>
            </a:pPr>
            <a:r>
              <a:rPr lang="en-US" altLang="en-US" sz="2200" dirty="0"/>
              <a:t>A </a:t>
            </a:r>
            <a:r>
              <a:rPr lang="en-US" altLang="en-US" sz="2200" b="1" dirty="0">
                <a:latin typeface="Courier New" panose="02070309020205020404" pitchFamily="49" charset="0"/>
                <a:cs typeface="Courier New" panose="02070309020205020404" pitchFamily="49" charset="0"/>
              </a:rPr>
              <a:t>button</a:t>
            </a:r>
            <a:r>
              <a:rPr lang="en-US" altLang="en-US" sz="2200" dirty="0"/>
              <a:t> is a control that triggers an action event when clicked. </a:t>
            </a:r>
            <a:r>
              <a:rPr lang="en-US" altLang="en-US" sz="2200" dirty="0" err="1"/>
              <a:t>JavaF</a:t>
            </a:r>
            <a:r>
              <a:rPr lang="en-US" altLang="en-US" sz="100" dirty="0"/>
              <a:t> </a:t>
            </a:r>
            <a:r>
              <a:rPr lang="en-US" altLang="en-US" sz="2200" dirty="0"/>
              <a:t>X provides regular buttons, toggle buttons, check box buttons, and radio buttons. The common features of these buttons are defined in </a:t>
            </a:r>
            <a:r>
              <a:rPr lang="en-US" altLang="en-US" sz="2200" b="1" dirty="0" err="1">
                <a:latin typeface="Courier New" panose="02070309020205020404" pitchFamily="49" charset="0"/>
                <a:cs typeface="Courier New" panose="02070309020205020404" pitchFamily="49" charset="0"/>
              </a:rPr>
              <a:t>ButtonBase</a:t>
            </a:r>
            <a:r>
              <a:rPr lang="en-US" altLang="en-US" sz="2200" dirty="0"/>
              <a:t> and </a:t>
            </a:r>
            <a:r>
              <a:rPr lang="en-US" altLang="en-US" sz="2200" b="1" dirty="0">
                <a:latin typeface="Courier New" panose="02070309020205020404" pitchFamily="49" charset="0"/>
                <a:cs typeface="Courier New" panose="02070309020205020404" pitchFamily="49" charset="0"/>
              </a:rPr>
              <a:t>Labeled</a:t>
            </a:r>
            <a:r>
              <a:rPr lang="en-US" altLang="en-US" sz="2200" dirty="0"/>
              <a:t> classes.</a:t>
            </a:r>
          </a:p>
        </p:txBody>
      </p:sp>
      <p:pic>
        <p:nvPicPr>
          <p:cNvPr id="8" name="Picture 7" descr="The computer code shows the Button Base and Button. For long description in Notes pane, press F6.">
            <a:extLst>
              <a:ext uri="{FF2B5EF4-FFF2-40B4-BE49-F238E27FC236}">
                <a16:creationId xmlns:a16="http://schemas.microsoft.com/office/drawing/2014/main" id="{6D2F0074-2153-4039-BEC9-F462328EC172}"/>
              </a:ext>
            </a:extLst>
          </p:cNvPr>
          <p:cNvPicPr>
            <a:picLocks noChangeAspect="1"/>
          </p:cNvPicPr>
          <p:nvPr/>
        </p:nvPicPr>
        <p:blipFill>
          <a:blip r:embed="rId3"/>
          <a:stretch>
            <a:fillRect/>
          </a:stretch>
        </p:blipFill>
        <p:spPr>
          <a:xfrm>
            <a:off x="1042795" y="3191909"/>
            <a:ext cx="7133826" cy="3063804"/>
          </a:xfrm>
          <a:prstGeom prst="rect">
            <a:avLst/>
          </a:prstGeom>
        </p:spPr>
      </p:pic>
    </p:spTree>
    <p:extLst>
      <p:ext uri="{BB962C8B-B14F-4D97-AF65-F5344CB8AC3E}">
        <p14:creationId xmlns:p14="http://schemas.microsoft.com/office/powerpoint/2010/main" val="1574328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9A59-CB74-406E-B7DC-B80214BE5FD3}"/>
              </a:ext>
            </a:extLst>
          </p:cNvPr>
          <p:cNvSpPr>
            <a:spLocks noGrp="1"/>
          </p:cNvSpPr>
          <p:nvPr>
            <p:ph type="title"/>
          </p:nvPr>
        </p:nvSpPr>
        <p:spPr/>
        <p:txBody>
          <a:bodyPr/>
          <a:lstStyle/>
          <a:p>
            <a:r>
              <a:rPr lang="en-US" altLang="en-US" dirty="0">
                <a:latin typeface="Courier New" panose="02070309020205020404" pitchFamily="49" charset="0"/>
              </a:rPr>
              <a:t>Button Example</a:t>
            </a:r>
            <a:endParaRPr lang="en-US" dirty="0"/>
          </a:p>
        </p:txBody>
      </p:sp>
      <p:pic>
        <p:nvPicPr>
          <p:cNvPr id="6" name="Picture 5" descr="An object shows the Button Example. In the mid of the box, it shows the Java FX Programming and at the downward side shows the Left and Right buttons. ">
            <a:extLst>
              <a:ext uri="{FF2B5EF4-FFF2-40B4-BE49-F238E27FC236}">
                <a16:creationId xmlns:a16="http://schemas.microsoft.com/office/drawing/2014/main" id="{2DB4784A-9EF8-48A5-9EAB-76A13E9B183B}"/>
              </a:ext>
            </a:extLst>
          </p:cNvPr>
          <p:cNvPicPr>
            <a:picLocks noChangeAspect="1"/>
          </p:cNvPicPr>
          <p:nvPr/>
        </p:nvPicPr>
        <p:blipFill>
          <a:blip r:embed="rId3"/>
          <a:stretch>
            <a:fillRect/>
          </a:stretch>
        </p:blipFill>
        <p:spPr>
          <a:xfrm>
            <a:off x="574814" y="1930711"/>
            <a:ext cx="7994373" cy="3524482"/>
          </a:xfrm>
          <a:prstGeom prst="rect">
            <a:avLst/>
          </a:prstGeom>
        </p:spPr>
      </p:pic>
      <p:sp>
        <p:nvSpPr>
          <p:cNvPr id="10" name="Text Placeholder 9">
            <a:extLst>
              <a:ext uri="{FF2B5EF4-FFF2-40B4-BE49-F238E27FC236}">
                <a16:creationId xmlns:a16="http://schemas.microsoft.com/office/drawing/2014/main" id="{C466BD4C-7445-4909-96D5-91CC5793F28F}"/>
              </a:ext>
            </a:extLst>
          </p:cNvPr>
          <p:cNvSpPr>
            <a:spLocks noGrp="1"/>
          </p:cNvSpPr>
          <p:nvPr>
            <p:ph type="body" sz="quarter" idx="20"/>
          </p:nvPr>
        </p:nvSpPr>
        <p:spPr>
          <a:xfrm>
            <a:off x="6706812" y="5820236"/>
            <a:ext cx="1979988" cy="432000"/>
          </a:xfrm>
        </p:spPr>
        <p:txBody>
          <a:bodyPr tIns="0"/>
          <a:lstStyle/>
          <a:p>
            <a:pPr marL="432" indent="0">
              <a:buNone/>
            </a:pPr>
            <a:r>
              <a:rPr lang="en-US" altLang="en-US" dirty="0">
                <a:hlinkClick r:id="rId4" tooltip="https://liveexample.pearsoncmg.com/html/ButtonDemo.html"/>
              </a:rPr>
              <a:t>ButtonDemo</a:t>
            </a:r>
            <a:endParaRPr lang="en-US" altLang="en-US" dirty="0">
              <a:hlinkClick r:id="rId4"/>
            </a:endParaRPr>
          </a:p>
        </p:txBody>
      </p:sp>
    </p:spTree>
    <p:extLst>
      <p:ext uri="{BB962C8B-B14F-4D97-AF65-F5344CB8AC3E}">
        <p14:creationId xmlns:p14="http://schemas.microsoft.com/office/powerpoint/2010/main" val="2957993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94E79-D2EC-4DE6-9EB6-59522A2E3D32}"/>
              </a:ext>
            </a:extLst>
          </p:cNvPr>
          <p:cNvSpPr>
            <a:spLocks noGrp="1"/>
          </p:cNvSpPr>
          <p:nvPr>
            <p:ph type="title"/>
          </p:nvPr>
        </p:nvSpPr>
        <p:spPr/>
        <p:txBody>
          <a:bodyPr/>
          <a:lstStyle/>
          <a:p>
            <a:r>
              <a:rPr lang="en-US" altLang="en-US">
                <a:latin typeface="Courier New" panose="02070309020205020404" pitchFamily="49" charset="0"/>
              </a:rPr>
              <a:t>CheckBox</a:t>
            </a:r>
            <a:endParaRPr lang="en-US"/>
          </a:p>
        </p:txBody>
      </p:sp>
      <p:sp>
        <p:nvSpPr>
          <p:cNvPr id="4" name="Content Placeholder 3">
            <a:extLst>
              <a:ext uri="{FF2B5EF4-FFF2-40B4-BE49-F238E27FC236}">
                <a16:creationId xmlns:a16="http://schemas.microsoft.com/office/drawing/2014/main" id="{F173B25F-91C6-4DA3-B85E-479B1C7A851F}"/>
              </a:ext>
            </a:extLst>
          </p:cNvPr>
          <p:cNvSpPr>
            <a:spLocks noGrp="1"/>
          </p:cNvSpPr>
          <p:nvPr>
            <p:ph sz="quarter" idx="15"/>
          </p:nvPr>
        </p:nvSpPr>
        <p:spPr>
          <a:xfrm>
            <a:off x="458886" y="1558413"/>
            <a:ext cx="8218487" cy="1368000"/>
          </a:xfrm>
        </p:spPr>
        <p:txBody>
          <a:bodyPr/>
          <a:lstStyle/>
          <a:p>
            <a:pPr marL="432" indent="0">
              <a:buNone/>
            </a:pPr>
            <a:r>
              <a:rPr lang="en-US" altLang="en-US" sz="2000"/>
              <a:t>A </a:t>
            </a:r>
            <a:r>
              <a:rPr lang="en-US" altLang="en-US" sz="2000" b="1">
                <a:latin typeface="Courier New" panose="02070309020205020404" pitchFamily="49" charset="0"/>
                <a:cs typeface="Courier New" panose="02070309020205020404" pitchFamily="49" charset="0"/>
              </a:rPr>
              <a:t>CheckBox</a:t>
            </a:r>
            <a:r>
              <a:rPr lang="en-US" altLang="en-US" sz="2000"/>
              <a:t> is used for the user to make a selection. Like </a:t>
            </a:r>
            <a:r>
              <a:rPr lang="en-US" altLang="en-US" sz="2000" b="1">
                <a:latin typeface="Courier New" panose="02070309020205020404" pitchFamily="49" charset="0"/>
                <a:cs typeface="Courier New" panose="02070309020205020404" pitchFamily="49" charset="0"/>
              </a:rPr>
              <a:t>Button</a:t>
            </a:r>
            <a:r>
              <a:rPr lang="en-US" altLang="en-US" sz="2000"/>
              <a:t>, </a:t>
            </a:r>
            <a:r>
              <a:rPr lang="en-US" altLang="en-US" sz="2000" b="1">
                <a:latin typeface="Courier New" panose="02070309020205020404" pitchFamily="49" charset="0"/>
                <a:cs typeface="Courier New" panose="02070309020205020404" pitchFamily="49" charset="0"/>
              </a:rPr>
              <a:t>CheckBox</a:t>
            </a:r>
            <a:r>
              <a:rPr lang="en-US" altLang="en-US" sz="2000"/>
              <a:t> inherits all the properties such as </a:t>
            </a:r>
            <a:r>
              <a:rPr lang="en-US" altLang="en-US" sz="2000" b="1">
                <a:latin typeface="Courier New" panose="02070309020205020404" pitchFamily="49" charset="0"/>
                <a:cs typeface="Courier New" panose="02070309020205020404" pitchFamily="49" charset="0"/>
              </a:rPr>
              <a:t>onAction</a:t>
            </a:r>
            <a:r>
              <a:rPr lang="en-US" altLang="en-US" sz="2000"/>
              <a:t>, </a:t>
            </a:r>
            <a:r>
              <a:rPr lang="en-US" altLang="en-US" sz="2000" b="1">
                <a:latin typeface="Courier New" panose="02070309020205020404" pitchFamily="49" charset="0"/>
                <a:cs typeface="Courier New" panose="02070309020205020404" pitchFamily="49" charset="0"/>
              </a:rPr>
              <a:t>text</a:t>
            </a:r>
            <a:r>
              <a:rPr lang="en-US" altLang="en-US" sz="2000"/>
              <a:t>, </a:t>
            </a:r>
            <a:r>
              <a:rPr lang="en-US" altLang="en-US" sz="2000" b="1">
                <a:latin typeface="Courier New" panose="02070309020205020404" pitchFamily="49" charset="0"/>
                <a:cs typeface="Courier New" panose="02070309020205020404" pitchFamily="49" charset="0"/>
              </a:rPr>
              <a:t>graphic</a:t>
            </a:r>
            <a:r>
              <a:rPr lang="en-US" altLang="en-US" sz="2000"/>
              <a:t>, </a:t>
            </a:r>
            <a:r>
              <a:rPr lang="en-US" altLang="en-US" sz="2000" b="1">
                <a:latin typeface="Courier New" panose="02070309020205020404" pitchFamily="49" charset="0"/>
                <a:cs typeface="Courier New" panose="02070309020205020404" pitchFamily="49" charset="0"/>
              </a:rPr>
              <a:t>alignment</a:t>
            </a:r>
            <a:r>
              <a:rPr lang="en-US" altLang="en-US" sz="2000"/>
              <a:t>, </a:t>
            </a:r>
            <a:r>
              <a:rPr lang="en-US" altLang="en-US" sz="2000" b="1">
                <a:latin typeface="Courier New" panose="02070309020205020404" pitchFamily="49" charset="0"/>
                <a:cs typeface="Courier New" panose="02070309020205020404" pitchFamily="49" charset="0"/>
              </a:rPr>
              <a:t>graphicTextGap</a:t>
            </a:r>
            <a:r>
              <a:rPr lang="en-US" altLang="en-US" sz="2000"/>
              <a:t>, </a:t>
            </a:r>
            <a:r>
              <a:rPr lang="en-US" altLang="en-US" sz="2000" b="1">
                <a:latin typeface="Courier New" panose="02070309020205020404" pitchFamily="49" charset="0"/>
                <a:cs typeface="Courier New" panose="02070309020205020404" pitchFamily="49" charset="0"/>
              </a:rPr>
              <a:t>textFill</a:t>
            </a:r>
            <a:r>
              <a:rPr lang="en-US" altLang="en-US" sz="2000"/>
              <a:t>, </a:t>
            </a:r>
            <a:r>
              <a:rPr lang="en-US" altLang="en-US" sz="2000" b="1">
                <a:latin typeface="Courier New" panose="02070309020205020404" pitchFamily="49" charset="0"/>
                <a:cs typeface="Courier New" panose="02070309020205020404" pitchFamily="49" charset="0"/>
              </a:rPr>
              <a:t>contentDisplay</a:t>
            </a:r>
            <a:r>
              <a:rPr lang="en-US" altLang="en-US" sz="2000"/>
              <a:t> from </a:t>
            </a:r>
            <a:r>
              <a:rPr lang="en-US" altLang="en-US" sz="2000" b="1">
                <a:latin typeface="Courier New" panose="02070309020205020404" pitchFamily="49" charset="0"/>
                <a:cs typeface="Courier New" panose="02070309020205020404" pitchFamily="49" charset="0"/>
              </a:rPr>
              <a:t>ButtonBase</a:t>
            </a:r>
            <a:r>
              <a:rPr lang="en-US" altLang="en-US" sz="2000"/>
              <a:t> and </a:t>
            </a:r>
            <a:r>
              <a:rPr lang="en-US" altLang="en-US" sz="2000" b="1">
                <a:latin typeface="Courier New" panose="02070309020205020404" pitchFamily="49" charset="0"/>
                <a:cs typeface="Courier New" panose="02070309020205020404" pitchFamily="49" charset="0"/>
              </a:rPr>
              <a:t>Labeled</a:t>
            </a:r>
            <a:r>
              <a:rPr lang="en-US" altLang="en-US" sz="2000"/>
              <a:t>.</a:t>
            </a:r>
          </a:p>
        </p:txBody>
      </p:sp>
      <p:pic>
        <p:nvPicPr>
          <p:cNvPr id="8" name="Picture 7" descr="The computer code shows the Check Box. For long description in Notes pane, press F6.">
            <a:extLst>
              <a:ext uri="{FF2B5EF4-FFF2-40B4-BE49-F238E27FC236}">
                <a16:creationId xmlns:a16="http://schemas.microsoft.com/office/drawing/2014/main" id="{7FEAC89E-0BC4-4652-943B-038923F4CEEC}"/>
              </a:ext>
            </a:extLst>
          </p:cNvPr>
          <p:cNvPicPr>
            <a:picLocks noChangeAspect="1"/>
          </p:cNvPicPr>
          <p:nvPr/>
        </p:nvPicPr>
        <p:blipFill>
          <a:blip r:embed="rId3"/>
          <a:stretch>
            <a:fillRect/>
          </a:stretch>
        </p:blipFill>
        <p:spPr>
          <a:xfrm>
            <a:off x="1084948" y="3186518"/>
            <a:ext cx="6974104" cy="3111426"/>
          </a:xfrm>
          <a:prstGeom prst="rect">
            <a:avLst/>
          </a:prstGeom>
        </p:spPr>
      </p:pic>
    </p:spTree>
    <p:extLst>
      <p:ext uri="{BB962C8B-B14F-4D97-AF65-F5344CB8AC3E}">
        <p14:creationId xmlns:p14="http://schemas.microsoft.com/office/powerpoint/2010/main" val="3102270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9A59-CB74-406E-B7DC-B80214BE5FD3}"/>
              </a:ext>
            </a:extLst>
          </p:cNvPr>
          <p:cNvSpPr>
            <a:spLocks noGrp="1"/>
          </p:cNvSpPr>
          <p:nvPr>
            <p:ph type="title"/>
          </p:nvPr>
        </p:nvSpPr>
        <p:spPr>
          <a:xfrm>
            <a:off x="457200" y="215371"/>
            <a:ext cx="8229600" cy="1097279"/>
          </a:xfrm>
        </p:spPr>
        <p:txBody>
          <a:bodyPr/>
          <a:lstStyle/>
          <a:p>
            <a:r>
              <a:rPr lang="en-US" altLang="en-US" dirty="0" err="1">
                <a:latin typeface="Courier New" panose="02070309020205020404" pitchFamily="49" charset="0"/>
              </a:rPr>
              <a:t>CheckBox</a:t>
            </a:r>
            <a:r>
              <a:rPr lang="en-US" altLang="en-US" dirty="0">
                <a:latin typeface="Courier New" panose="02070309020205020404" pitchFamily="49" charset="0"/>
              </a:rPr>
              <a:t> Example</a:t>
            </a:r>
            <a:endParaRPr lang="en-US" dirty="0"/>
          </a:p>
        </p:txBody>
      </p:sp>
      <p:pic>
        <p:nvPicPr>
          <p:cNvPr id="7" name="Picture 6" descr="An object shows the Button Example. In the mid of the box, shows the Java FX Programming, at rightward side shows the 2 check boxes that is for Bold and Italic then, at downward side shows the Left and Right buttons. ">
            <a:extLst>
              <a:ext uri="{FF2B5EF4-FFF2-40B4-BE49-F238E27FC236}">
                <a16:creationId xmlns:a16="http://schemas.microsoft.com/office/drawing/2014/main" id="{F7293430-66A7-49ED-A212-BFA7FE44A8F6}"/>
              </a:ext>
            </a:extLst>
          </p:cNvPr>
          <p:cNvPicPr>
            <a:picLocks noChangeAspect="1"/>
          </p:cNvPicPr>
          <p:nvPr/>
        </p:nvPicPr>
        <p:blipFill>
          <a:blip r:embed="rId3"/>
          <a:stretch>
            <a:fillRect/>
          </a:stretch>
        </p:blipFill>
        <p:spPr>
          <a:xfrm>
            <a:off x="830691" y="2000324"/>
            <a:ext cx="7482616" cy="3404108"/>
          </a:xfrm>
          <a:prstGeom prst="rect">
            <a:avLst/>
          </a:prstGeom>
        </p:spPr>
      </p:pic>
      <p:sp>
        <p:nvSpPr>
          <p:cNvPr id="10" name="Text Placeholder 9">
            <a:extLst>
              <a:ext uri="{FF2B5EF4-FFF2-40B4-BE49-F238E27FC236}">
                <a16:creationId xmlns:a16="http://schemas.microsoft.com/office/drawing/2014/main" id="{C466BD4C-7445-4909-96D5-91CC5793F28F}"/>
              </a:ext>
            </a:extLst>
          </p:cNvPr>
          <p:cNvSpPr>
            <a:spLocks noGrp="1"/>
          </p:cNvSpPr>
          <p:nvPr>
            <p:ph type="body" sz="quarter" idx="20"/>
          </p:nvPr>
        </p:nvSpPr>
        <p:spPr>
          <a:xfrm>
            <a:off x="6194116" y="5820236"/>
            <a:ext cx="2496181" cy="432000"/>
          </a:xfrm>
        </p:spPr>
        <p:txBody>
          <a:bodyPr tIns="0"/>
          <a:lstStyle/>
          <a:p>
            <a:pPr>
              <a:spcBef>
                <a:spcPct val="0"/>
              </a:spcBef>
              <a:buClrTx/>
              <a:buSzTx/>
              <a:buFontTx/>
              <a:buNone/>
            </a:pPr>
            <a:r>
              <a:rPr lang="en-US" altLang="en-US" dirty="0">
                <a:hlinkClick r:id="rId4" tooltip="https://liveexample.pearsoncmg.com/html/ButtonDemo.html"/>
              </a:rPr>
              <a:t>CheckBoxDemo</a:t>
            </a:r>
            <a:endParaRPr lang="en-US" altLang="en-US" dirty="0">
              <a:hlinkClick r:id="rId4"/>
            </a:endParaRPr>
          </a:p>
        </p:txBody>
      </p:sp>
    </p:spTree>
    <p:extLst>
      <p:ext uri="{BB962C8B-B14F-4D97-AF65-F5344CB8AC3E}">
        <p14:creationId xmlns:p14="http://schemas.microsoft.com/office/powerpoint/2010/main" val="4156872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E8B07-B082-421D-8D10-1954AC9675F8}"/>
              </a:ext>
            </a:extLst>
          </p:cNvPr>
          <p:cNvSpPr>
            <a:spLocks noGrp="1"/>
          </p:cNvSpPr>
          <p:nvPr>
            <p:ph type="title"/>
          </p:nvPr>
        </p:nvSpPr>
        <p:spPr/>
        <p:txBody>
          <a:bodyPr/>
          <a:lstStyle/>
          <a:p>
            <a:r>
              <a:rPr lang="en-US" altLang="en-US">
                <a:latin typeface="Courier New" panose="02070309020205020404" pitchFamily="49" charset="0"/>
              </a:rPr>
              <a:t>RadioButton</a:t>
            </a:r>
            <a:endParaRPr lang="en-US"/>
          </a:p>
        </p:txBody>
      </p:sp>
      <p:sp>
        <p:nvSpPr>
          <p:cNvPr id="3" name="Content Placeholder 2">
            <a:extLst>
              <a:ext uri="{FF2B5EF4-FFF2-40B4-BE49-F238E27FC236}">
                <a16:creationId xmlns:a16="http://schemas.microsoft.com/office/drawing/2014/main" id="{2EBB2E68-9CA1-441B-8867-EC5CD1B139C7}"/>
              </a:ext>
            </a:extLst>
          </p:cNvPr>
          <p:cNvSpPr>
            <a:spLocks noGrp="1"/>
          </p:cNvSpPr>
          <p:nvPr>
            <p:ph sz="quarter" idx="13"/>
          </p:nvPr>
        </p:nvSpPr>
        <p:spPr>
          <a:xfrm>
            <a:off x="457200" y="1556327"/>
            <a:ext cx="8229600" cy="1692000"/>
          </a:xfrm>
        </p:spPr>
        <p:txBody>
          <a:bodyPr/>
          <a:lstStyle/>
          <a:p>
            <a:pPr marL="432" indent="0">
              <a:buNone/>
            </a:pPr>
            <a:r>
              <a:rPr lang="en-US" altLang="en-US" sz="2000">
                <a:latin typeface="Courier New" panose="02070309020205020404" pitchFamily="49" charset="0"/>
                <a:cs typeface="Courier New" panose="02070309020205020404" pitchFamily="49" charset="0"/>
              </a:rPr>
              <a:t>Radio buttons</a:t>
            </a:r>
            <a:r>
              <a:rPr lang="en-US" altLang="en-US" sz="2000"/>
              <a:t>, also known as </a:t>
            </a:r>
            <a:r>
              <a:rPr lang="en-US" altLang="en-US" sz="2000" b="1">
                <a:latin typeface="Courier New" panose="02070309020205020404" pitchFamily="49" charset="0"/>
                <a:cs typeface="Courier New" panose="02070309020205020404" pitchFamily="49" charset="0"/>
              </a:rPr>
              <a:t>option buttons</a:t>
            </a:r>
            <a:r>
              <a:rPr lang="en-US" altLang="en-US" sz="2000"/>
              <a:t>, enable you to choose a single item from a group of choices. In appearance radio buttons resemble check boxes, but check boxes display a square that is either checked or blank, whereas radio buttons display a circle that is either filled (if selected) or blank (if not selected).</a:t>
            </a:r>
          </a:p>
        </p:txBody>
      </p:sp>
      <p:pic>
        <p:nvPicPr>
          <p:cNvPr id="8" name="Picture 7" descr="The computer code shows the Radio Button. For long description in Notes pane, press F6.">
            <a:extLst>
              <a:ext uri="{FF2B5EF4-FFF2-40B4-BE49-F238E27FC236}">
                <a16:creationId xmlns:a16="http://schemas.microsoft.com/office/drawing/2014/main" id="{82AF4E70-D291-48C4-8011-1F1BEF6F255C}"/>
              </a:ext>
            </a:extLst>
          </p:cNvPr>
          <p:cNvPicPr>
            <a:picLocks noChangeAspect="1"/>
          </p:cNvPicPr>
          <p:nvPr/>
        </p:nvPicPr>
        <p:blipFill>
          <a:blip r:embed="rId3"/>
          <a:stretch>
            <a:fillRect/>
          </a:stretch>
        </p:blipFill>
        <p:spPr>
          <a:xfrm>
            <a:off x="1491875" y="3336583"/>
            <a:ext cx="6160250" cy="2942396"/>
          </a:xfrm>
          <a:prstGeom prst="rect">
            <a:avLst/>
          </a:prstGeom>
        </p:spPr>
      </p:pic>
    </p:spTree>
    <p:extLst>
      <p:ext uri="{BB962C8B-B14F-4D97-AF65-F5344CB8AC3E}">
        <p14:creationId xmlns:p14="http://schemas.microsoft.com/office/powerpoint/2010/main" val="3369104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9A59-CB74-406E-B7DC-B80214BE5FD3}"/>
              </a:ext>
            </a:extLst>
          </p:cNvPr>
          <p:cNvSpPr>
            <a:spLocks noGrp="1"/>
          </p:cNvSpPr>
          <p:nvPr>
            <p:ph type="title"/>
          </p:nvPr>
        </p:nvSpPr>
        <p:spPr/>
        <p:txBody>
          <a:bodyPr/>
          <a:lstStyle/>
          <a:p>
            <a:r>
              <a:rPr lang="en-US" altLang="en-US" dirty="0" err="1">
                <a:latin typeface="Courier New" panose="02070309020205020404" pitchFamily="49" charset="0"/>
              </a:rPr>
              <a:t>RadioButton</a:t>
            </a:r>
            <a:r>
              <a:rPr lang="en-US" altLang="en-US" dirty="0">
                <a:latin typeface="Courier New" panose="02070309020205020404" pitchFamily="49" charset="0"/>
              </a:rPr>
              <a:t> Example</a:t>
            </a:r>
            <a:endParaRPr lang="en-US" dirty="0"/>
          </a:p>
        </p:txBody>
      </p:sp>
      <p:pic>
        <p:nvPicPr>
          <p:cNvPr id="7" name="Picture 6" descr="An object shows the Radio Button Example. For long description in Notes pane, press F6.">
            <a:extLst>
              <a:ext uri="{FF2B5EF4-FFF2-40B4-BE49-F238E27FC236}">
                <a16:creationId xmlns:a16="http://schemas.microsoft.com/office/drawing/2014/main" id="{F80E92B7-AF9D-4F4B-8A37-BF3F2B59E2A7}"/>
              </a:ext>
            </a:extLst>
          </p:cNvPr>
          <p:cNvPicPr>
            <a:picLocks noChangeAspect="1"/>
          </p:cNvPicPr>
          <p:nvPr/>
        </p:nvPicPr>
        <p:blipFill>
          <a:blip r:embed="rId3"/>
          <a:stretch>
            <a:fillRect/>
          </a:stretch>
        </p:blipFill>
        <p:spPr>
          <a:xfrm>
            <a:off x="843440" y="1925861"/>
            <a:ext cx="7457119" cy="3081695"/>
          </a:xfrm>
          <a:prstGeom prst="rect">
            <a:avLst/>
          </a:prstGeom>
        </p:spPr>
      </p:pic>
      <p:sp>
        <p:nvSpPr>
          <p:cNvPr id="10" name="Text Placeholder 9">
            <a:extLst>
              <a:ext uri="{FF2B5EF4-FFF2-40B4-BE49-F238E27FC236}">
                <a16:creationId xmlns:a16="http://schemas.microsoft.com/office/drawing/2014/main" id="{C466BD4C-7445-4909-96D5-91CC5793F28F}"/>
              </a:ext>
            </a:extLst>
          </p:cNvPr>
          <p:cNvSpPr>
            <a:spLocks noGrp="1"/>
          </p:cNvSpPr>
          <p:nvPr>
            <p:ph type="body" sz="quarter" idx="20"/>
          </p:nvPr>
        </p:nvSpPr>
        <p:spPr>
          <a:xfrm>
            <a:off x="5867400" y="5805488"/>
            <a:ext cx="2819400" cy="432000"/>
          </a:xfrm>
        </p:spPr>
        <p:txBody>
          <a:bodyPr tIns="0"/>
          <a:lstStyle/>
          <a:p>
            <a:pPr>
              <a:spcBef>
                <a:spcPct val="0"/>
              </a:spcBef>
              <a:buClrTx/>
              <a:buSzTx/>
              <a:buFontTx/>
              <a:buNone/>
            </a:pPr>
            <a:r>
              <a:rPr lang="en-US" altLang="en-US" dirty="0">
                <a:hlinkClick r:id="rId4" tooltip="https://liveexample.pearsoncmg.com/html/RadioButtonDemo.html"/>
              </a:rPr>
              <a:t>RadioButtonDemo</a:t>
            </a:r>
            <a:endParaRPr lang="en-US" altLang="en-US" dirty="0">
              <a:hlinkClick r:id="rId4"/>
            </a:endParaRPr>
          </a:p>
        </p:txBody>
      </p:sp>
    </p:spTree>
    <p:extLst>
      <p:ext uri="{BB962C8B-B14F-4D97-AF65-F5344CB8AC3E}">
        <p14:creationId xmlns:p14="http://schemas.microsoft.com/office/powerpoint/2010/main" val="4188388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076CD-5D6F-40DD-B2C5-ED28FA6C58BE}"/>
              </a:ext>
            </a:extLst>
          </p:cNvPr>
          <p:cNvSpPr>
            <a:spLocks noGrp="1"/>
          </p:cNvSpPr>
          <p:nvPr>
            <p:ph type="title"/>
          </p:nvPr>
        </p:nvSpPr>
        <p:spPr/>
        <p:txBody>
          <a:bodyPr/>
          <a:lstStyle/>
          <a:p>
            <a:r>
              <a:rPr lang="en-US" altLang="en-US">
                <a:latin typeface="Courier New" panose="02070309020205020404" pitchFamily="49" charset="0"/>
              </a:rPr>
              <a:t>TextField</a:t>
            </a:r>
            <a:endParaRPr lang="en-US"/>
          </a:p>
        </p:txBody>
      </p:sp>
      <p:sp>
        <p:nvSpPr>
          <p:cNvPr id="3" name="Content Placeholder 2">
            <a:extLst>
              <a:ext uri="{FF2B5EF4-FFF2-40B4-BE49-F238E27FC236}">
                <a16:creationId xmlns:a16="http://schemas.microsoft.com/office/drawing/2014/main" id="{B5E2F2CE-936A-4F37-A1FD-4AEC73A5926F}"/>
              </a:ext>
            </a:extLst>
          </p:cNvPr>
          <p:cNvSpPr>
            <a:spLocks noGrp="1"/>
          </p:cNvSpPr>
          <p:nvPr>
            <p:ph sz="quarter" idx="13"/>
          </p:nvPr>
        </p:nvSpPr>
        <p:spPr>
          <a:xfrm>
            <a:off x="457200" y="1556327"/>
            <a:ext cx="8229600" cy="950899"/>
          </a:xfrm>
        </p:spPr>
        <p:txBody>
          <a:bodyPr/>
          <a:lstStyle/>
          <a:p>
            <a:pPr marL="432" indent="0">
              <a:buNone/>
            </a:pPr>
            <a:r>
              <a:rPr lang="en-US" altLang="en-US" dirty="0"/>
              <a:t>A </a:t>
            </a:r>
            <a:r>
              <a:rPr lang="en-US" altLang="en-US" dirty="0">
                <a:latin typeface="Courier New" panose="02070309020205020404" pitchFamily="49" charset="0"/>
                <a:cs typeface="Courier New" panose="02070309020205020404" pitchFamily="49" charset="0"/>
              </a:rPr>
              <a:t>text field</a:t>
            </a:r>
            <a:r>
              <a:rPr lang="en-US" altLang="en-US" dirty="0"/>
              <a:t> can be used to enter or display a </a:t>
            </a:r>
            <a:r>
              <a:rPr lang="en-US" altLang="en-US" dirty="0">
                <a:cs typeface="Courier New" panose="02070309020205020404" pitchFamily="49" charset="0"/>
              </a:rPr>
              <a:t>string</a:t>
            </a:r>
            <a:r>
              <a:rPr lang="en-US" altLang="en-US" dirty="0"/>
              <a:t>. </a:t>
            </a:r>
            <a:r>
              <a:rPr lang="en-US" altLang="en-US" b="1" dirty="0" err="1">
                <a:latin typeface="Courier New" panose="02070309020205020404" pitchFamily="49" charset="0"/>
                <a:cs typeface="Courier New" panose="02070309020205020404" pitchFamily="49" charset="0"/>
              </a:rPr>
              <a:t>TextField</a:t>
            </a:r>
            <a:r>
              <a:rPr lang="en-US" altLang="en-US" dirty="0"/>
              <a:t> is a subclass of </a:t>
            </a:r>
            <a:r>
              <a:rPr lang="en-US" altLang="en-US" b="1" dirty="0" err="1">
                <a:latin typeface="Courier New" panose="02070309020205020404" pitchFamily="49" charset="0"/>
                <a:cs typeface="Courier New" panose="02070309020205020404" pitchFamily="49" charset="0"/>
              </a:rPr>
              <a:t>TextInputControl</a:t>
            </a:r>
            <a:r>
              <a:rPr lang="en-US" altLang="en-US" dirty="0"/>
              <a:t>.</a:t>
            </a:r>
          </a:p>
        </p:txBody>
      </p:sp>
      <p:pic>
        <p:nvPicPr>
          <p:cNvPr id="8" name="Picture 7" descr="The computer code shows the Text Field and Text Input Control. For long description in Notes pane, press F6.">
            <a:extLst>
              <a:ext uri="{FF2B5EF4-FFF2-40B4-BE49-F238E27FC236}">
                <a16:creationId xmlns:a16="http://schemas.microsoft.com/office/drawing/2014/main" id="{26ACB6F6-1591-4443-93C7-F09B9073A58C}"/>
              </a:ext>
            </a:extLst>
          </p:cNvPr>
          <p:cNvPicPr>
            <a:picLocks noChangeAspect="1"/>
          </p:cNvPicPr>
          <p:nvPr/>
        </p:nvPicPr>
        <p:blipFill>
          <a:blip r:embed="rId3"/>
          <a:stretch>
            <a:fillRect/>
          </a:stretch>
        </p:blipFill>
        <p:spPr>
          <a:xfrm>
            <a:off x="620618" y="2750903"/>
            <a:ext cx="7654114" cy="3533159"/>
          </a:xfrm>
          <a:prstGeom prst="rect">
            <a:avLst/>
          </a:prstGeom>
        </p:spPr>
      </p:pic>
    </p:spTree>
    <p:extLst>
      <p:ext uri="{BB962C8B-B14F-4D97-AF65-F5344CB8AC3E}">
        <p14:creationId xmlns:p14="http://schemas.microsoft.com/office/powerpoint/2010/main" val="3029763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9A59-CB74-406E-B7DC-B80214BE5FD3}"/>
              </a:ext>
            </a:extLst>
          </p:cNvPr>
          <p:cNvSpPr>
            <a:spLocks noGrp="1"/>
          </p:cNvSpPr>
          <p:nvPr>
            <p:ph type="title"/>
          </p:nvPr>
        </p:nvSpPr>
        <p:spPr/>
        <p:txBody>
          <a:bodyPr/>
          <a:lstStyle/>
          <a:p>
            <a:r>
              <a:rPr lang="en-US" altLang="en-US">
                <a:latin typeface="Courier New" panose="02070309020205020404" pitchFamily="49" charset="0"/>
              </a:rPr>
              <a:t>TextField Example</a:t>
            </a:r>
            <a:endParaRPr lang="en-US"/>
          </a:p>
        </p:txBody>
      </p:sp>
      <p:pic>
        <p:nvPicPr>
          <p:cNvPr id="6" name="Picture 5" descr="An object shows the Text Field Example. For long description in Notes pane, press F6.">
            <a:extLst>
              <a:ext uri="{FF2B5EF4-FFF2-40B4-BE49-F238E27FC236}">
                <a16:creationId xmlns:a16="http://schemas.microsoft.com/office/drawing/2014/main" id="{CA5A657D-D792-4ABB-856A-EAE07BD6EFE0}"/>
              </a:ext>
            </a:extLst>
          </p:cNvPr>
          <p:cNvPicPr>
            <a:picLocks noChangeAspect="1"/>
          </p:cNvPicPr>
          <p:nvPr/>
        </p:nvPicPr>
        <p:blipFill>
          <a:blip r:embed="rId3"/>
          <a:stretch>
            <a:fillRect/>
          </a:stretch>
        </p:blipFill>
        <p:spPr>
          <a:xfrm>
            <a:off x="938290" y="1784575"/>
            <a:ext cx="7267421" cy="3420828"/>
          </a:xfrm>
          <a:prstGeom prst="rect">
            <a:avLst/>
          </a:prstGeom>
        </p:spPr>
      </p:pic>
      <p:sp>
        <p:nvSpPr>
          <p:cNvPr id="10" name="Text Placeholder 9">
            <a:extLst>
              <a:ext uri="{FF2B5EF4-FFF2-40B4-BE49-F238E27FC236}">
                <a16:creationId xmlns:a16="http://schemas.microsoft.com/office/drawing/2014/main" id="{C466BD4C-7445-4909-96D5-91CC5793F28F}"/>
              </a:ext>
            </a:extLst>
          </p:cNvPr>
          <p:cNvSpPr>
            <a:spLocks noGrp="1"/>
          </p:cNvSpPr>
          <p:nvPr>
            <p:ph type="body" sz="quarter" idx="20"/>
          </p:nvPr>
        </p:nvSpPr>
        <p:spPr>
          <a:xfrm>
            <a:off x="6382347" y="5821825"/>
            <a:ext cx="2304453" cy="432000"/>
          </a:xfrm>
        </p:spPr>
        <p:txBody>
          <a:bodyPr tIns="0"/>
          <a:lstStyle/>
          <a:p>
            <a:pPr>
              <a:spcBef>
                <a:spcPct val="0"/>
              </a:spcBef>
              <a:buClrTx/>
              <a:buSzTx/>
              <a:buFontTx/>
              <a:buNone/>
            </a:pPr>
            <a:r>
              <a:rPr lang="en-US" altLang="en-US" dirty="0">
                <a:hlinkClick r:id="rId4" tooltip="https://liveexample.pearsoncmg.com/html/TextFieldDemo.html"/>
              </a:rPr>
              <a:t>TextFieldDemo</a:t>
            </a:r>
            <a:endParaRPr lang="en-US" altLang="en-US" dirty="0">
              <a:hlinkClick r:id="rId4"/>
            </a:endParaRPr>
          </a:p>
        </p:txBody>
      </p:sp>
    </p:spTree>
    <p:extLst>
      <p:ext uri="{BB962C8B-B14F-4D97-AF65-F5344CB8AC3E}">
        <p14:creationId xmlns:p14="http://schemas.microsoft.com/office/powerpoint/2010/main" val="3035898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527DB2-40CD-4263-8535-9F56B5E81CB9}"/>
              </a:ext>
            </a:extLst>
          </p:cNvPr>
          <p:cNvSpPr>
            <a:spLocks noGrp="1"/>
          </p:cNvSpPr>
          <p:nvPr>
            <p:ph type="title"/>
          </p:nvPr>
        </p:nvSpPr>
        <p:spPr/>
        <p:txBody>
          <a:bodyPr/>
          <a:lstStyle/>
          <a:p>
            <a:r>
              <a:rPr lang="en-US" altLang="en-US">
                <a:latin typeface="Courier New" panose="02070309020205020404" pitchFamily="49" charset="0"/>
              </a:rPr>
              <a:t>TextArea</a:t>
            </a:r>
            <a:endParaRPr lang="en-US"/>
          </a:p>
        </p:txBody>
      </p:sp>
      <p:sp>
        <p:nvSpPr>
          <p:cNvPr id="5" name="Content Placeholder 4">
            <a:extLst>
              <a:ext uri="{FF2B5EF4-FFF2-40B4-BE49-F238E27FC236}">
                <a16:creationId xmlns:a16="http://schemas.microsoft.com/office/drawing/2014/main" id="{70674A17-E2F8-475A-8999-92A7337859C9}"/>
              </a:ext>
            </a:extLst>
          </p:cNvPr>
          <p:cNvSpPr>
            <a:spLocks noGrp="1"/>
          </p:cNvSpPr>
          <p:nvPr>
            <p:ph sz="quarter" idx="13"/>
          </p:nvPr>
        </p:nvSpPr>
        <p:spPr>
          <a:xfrm>
            <a:off x="457200" y="1556327"/>
            <a:ext cx="8229600" cy="537944"/>
          </a:xfrm>
        </p:spPr>
        <p:txBody>
          <a:bodyPr/>
          <a:lstStyle/>
          <a:p>
            <a:pPr marL="432" indent="0">
              <a:buNone/>
            </a:pPr>
            <a:r>
              <a:rPr lang="en-US" altLang="en-US" sz="2200" dirty="0"/>
              <a:t>A </a:t>
            </a:r>
            <a:r>
              <a:rPr lang="en-US" altLang="en-US" sz="2200" b="1" dirty="0" err="1">
                <a:latin typeface="Courier New" panose="02070309020205020404" pitchFamily="49" charset="0"/>
                <a:cs typeface="Courier New" panose="02070309020205020404" pitchFamily="49" charset="0"/>
              </a:rPr>
              <a:t>TextArea</a:t>
            </a:r>
            <a:r>
              <a:rPr lang="en-US" altLang="en-US" sz="2200" dirty="0"/>
              <a:t> enables the user to enter multiple lines of text.</a:t>
            </a:r>
          </a:p>
        </p:txBody>
      </p:sp>
      <p:pic>
        <p:nvPicPr>
          <p:cNvPr id="8" name="Picture 7" descr="The computer code shows the Text Area and Text Input Control. For long description in Notes pane, press F6.">
            <a:extLst>
              <a:ext uri="{FF2B5EF4-FFF2-40B4-BE49-F238E27FC236}">
                <a16:creationId xmlns:a16="http://schemas.microsoft.com/office/drawing/2014/main" id="{30585017-FDEF-46F8-8F90-51A9194F6051}"/>
              </a:ext>
            </a:extLst>
          </p:cNvPr>
          <p:cNvPicPr>
            <a:picLocks noChangeAspect="1"/>
          </p:cNvPicPr>
          <p:nvPr/>
        </p:nvPicPr>
        <p:blipFill>
          <a:blip r:embed="rId3"/>
          <a:stretch>
            <a:fillRect/>
          </a:stretch>
        </p:blipFill>
        <p:spPr>
          <a:xfrm>
            <a:off x="932723" y="2415553"/>
            <a:ext cx="7278554" cy="3725196"/>
          </a:xfrm>
          <a:prstGeom prst="rect">
            <a:avLst/>
          </a:prstGeom>
        </p:spPr>
      </p:pic>
    </p:spTree>
    <p:extLst>
      <p:ext uri="{BB962C8B-B14F-4D97-AF65-F5344CB8AC3E}">
        <p14:creationId xmlns:p14="http://schemas.microsoft.com/office/powerpoint/2010/main" val="2758112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4F5AA-685E-465D-A83B-C2AC538F8021}"/>
              </a:ext>
            </a:extLst>
          </p:cNvPr>
          <p:cNvSpPr>
            <a:spLocks noGrp="1"/>
          </p:cNvSpPr>
          <p:nvPr>
            <p:ph type="title"/>
          </p:nvPr>
        </p:nvSpPr>
        <p:spPr/>
        <p:txBody>
          <a:bodyPr/>
          <a:lstStyle/>
          <a:p>
            <a:r>
              <a:rPr lang="en-US" altLang="en-US" dirty="0" err="1">
                <a:latin typeface="Courier New" panose="02070309020205020404" pitchFamily="49" charset="0"/>
              </a:rPr>
              <a:t>TextArea</a:t>
            </a:r>
            <a:r>
              <a:rPr lang="en-US" altLang="en-US" dirty="0">
                <a:latin typeface="Courier New" panose="02070309020205020404" pitchFamily="49" charset="0"/>
              </a:rPr>
              <a:t> Example</a:t>
            </a:r>
            <a:endParaRPr lang="en-US" dirty="0"/>
          </a:p>
        </p:txBody>
      </p:sp>
      <p:pic>
        <p:nvPicPr>
          <p:cNvPr id="8" name="Picture 7" descr="The computer code shows the Text Area Example. For long description in Notes pane, press F6.">
            <a:extLst>
              <a:ext uri="{FF2B5EF4-FFF2-40B4-BE49-F238E27FC236}">
                <a16:creationId xmlns:a16="http://schemas.microsoft.com/office/drawing/2014/main" id="{4BE0329F-FD5E-4478-A456-BE93D43323E9}"/>
              </a:ext>
            </a:extLst>
          </p:cNvPr>
          <p:cNvPicPr>
            <a:picLocks noChangeAspect="1"/>
          </p:cNvPicPr>
          <p:nvPr/>
        </p:nvPicPr>
        <p:blipFill>
          <a:blip r:embed="rId3"/>
          <a:stretch>
            <a:fillRect/>
          </a:stretch>
        </p:blipFill>
        <p:spPr>
          <a:xfrm>
            <a:off x="684108" y="1707612"/>
            <a:ext cx="5271735" cy="1951585"/>
          </a:xfrm>
          <a:prstGeom prst="rect">
            <a:avLst/>
          </a:prstGeom>
        </p:spPr>
      </p:pic>
      <p:pic>
        <p:nvPicPr>
          <p:cNvPr id="12" name="Picture 11" descr="On the left side there is one national flag for Canada and the right side is a box with The Canadian national flag is write inside. ">
            <a:extLst>
              <a:ext uri="{FF2B5EF4-FFF2-40B4-BE49-F238E27FC236}">
                <a16:creationId xmlns:a16="http://schemas.microsoft.com/office/drawing/2014/main" id="{E5F4D1B6-9A3D-4178-9733-1F827C87A46F}"/>
              </a:ext>
            </a:extLst>
          </p:cNvPr>
          <p:cNvPicPr>
            <a:picLocks noChangeAspect="1"/>
          </p:cNvPicPr>
          <p:nvPr/>
        </p:nvPicPr>
        <p:blipFill>
          <a:blip r:embed="rId4"/>
          <a:stretch>
            <a:fillRect/>
          </a:stretch>
        </p:blipFill>
        <p:spPr>
          <a:xfrm>
            <a:off x="3743134" y="3876132"/>
            <a:ext cx="4915356" cy="1741759"/>
          </a:xfrm>
          <a:prstGeom prst="rect">
            <a:avLst/>
          </a:prstGeom>
        </p:spPr>
      </p:pic>
      <p:sp>
        <p:nvSpPr>
          <p:cNvPr id="10" name="Text Placeholder 9">
            <a:extLst>
              <a:ext uri="{FF2B5EF4-FFF2-40B4-BE49-F238E27FC236}">
                <a16:creationId xmlns:a16="http://schemas.microsoft.com/office/drawing/2014/main" id="{CC55736A-9CF3-45F5-9CBF-EA89471DF019}"/>
              </a:ext>
            </a:extLst>
          </p:cNvPr>
          <p:cNvSpPr>
            <a:spLocks noGrp="1"/>
          </p:cNvSpPr>
          <p:nvPr>
            <p:ph type="body" sz="quarter" idx="20"/>
          </p:nvPr>
        </p:nvSpPr>
        <p:spPr>
          <a:xfrm>
            <a:off x="3539613" y="5820236"/>
            <a:ext cx="2492477" cy="490589"/>
          </a:xfrm>
        </p:spPr>
        <p:txBody>
          <a:bodyPr/>
          <a:lstStyle/>
          <a:p>
            <a:pPr marL="432" indent="0">
              <a:buNone/>
            </a:pPr>
            <a:r>
              <a:rPr lang="en-US" altLang="en-US" dirty="0">
                <a:hlinkClick r:id="rId5" tooltip="https://liveexample.pearsoncmg.com/html/DescriptionPane.html"/>
              </a:rPr>
              <a:t>DescriptionPane</a:t>
            </a:r>
            <a:endParaRPr lang="en-US" altLang="en-US" dirty="0">
              <a:hlinkClick r:id="rId5"/>
            </a:endParaRPr>
          </a:p>
        </p:txBody>
      </p:sp>
      <p:sp>
        <p:nvSpPr>
          <p:cNvPr id="11" name="Text Placeholder 10">
            <a:extLst>
              <a:ext uri="{FF2B5EF4-FFF2-40B4-BE49-F238E27FC236}">
                <a16:creationId xmlns:a16="http://schemas.microsoft.com/office/drawing/2014/main" id="{FAD0325D-0C5F-4F50-A9F5-E18D3FF7E759}"/>
              </a:ext>
            </a:extLst>
          </p:cNvPr>
          <p:cNvSpPr>
            <a:spLocks noGrp="1"/>
          </p:cNvSpPr>
          <p:nvPr>
            <p:ph type="body" sz="quarter" idx="21"/>
          </p:nvPr>
        </p:nvSpPr>
        <p:spPr>
          <a:xfrm>
            <a:off x="6400800" y="5839347"/>
            <a:ext cx="2286000" cy="530685"/>
          </a:xfrm>
        </p:spPr>
        <p:txBody>
          <a:bodyPr/>
          <a:lstStyle/>
          <a:p>
            <a:pPr marL="432" indent="0">
              <a:buNone/>
            </a:pPr>
            <a:r>
              <a:rPr lang="en-US" altLang="en-US" dirty="0">
                <a:hlinkClick r:id="rId6" tooltip="https://liveexample.pearsoncmg.com/html/TextAreaDemo.html"/>
              </a:rPr>
              <a:t>TextAreaDemo</a:t>
            </a:r>
            <a:endParaRPr lang="en-US" altLang="en-US" dirty="0">
              <a:hlinkClick r:id="rId6"/>
            </a:endParaRPr>
          </a:p>
        </p:txBody>
      </p:sp>
    </p:spTree>
    <p:extLst>
      <p:ext uri="{BB962C8B-B14F-4D97-AF65-F5344CB8AC3E}">
        <p14:creationId xmlns:p14="http://schemas.microsoft.com/office/powerpoint/2010/main" val="2859540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4CADB2-C02B-4AD5-9917-7AB78CC308CC}"/>
              </a:ext>
            </a:extLst>
          </p:cNvPr>
          <p:cNvSpPr>
            <a:spLocks noGrp="1"/>
          </p:cNvSpPr>
          <p:nvPr>
            <p:ph type="title"/>
          </p:nvPr>
        </p:nvSpPr>
        <p:spPr/>
        <p:txBody>
          <a:bodyPr/>
          <a:lstStyle/>
          <a:p>
            <a:r>
              <a:rPr lang="en-US" altLang="en-US">
                <a:latin typeface="Courier New" panose="02070309020205020404" pitchFamily="49" charset="0"/>
              </a:rPr>
              <a:t>ComboBox</a:t>
            </a:r>
            <a:endParaRPr lang="en-US"/>
          </a:p>
        </p:txBody>
      </p:sp>
      <p:sp>
        <p:nvSpPr>
          <p:cNvPr id="5" name="Content Placeholder 4">
            <a:extLst>
              <a:ext uri="{FF2B5EF4-FFF2-40B4-BE49-F238E27FC236}">
                <a16:creationId xmlns:a16="http://schemas.microsoft.com/office/drawing/2014/main" id="{EDFD0FBB-EE54-44DD-93F8-A83201E5F65A}"/>
              </a:ext>
            </a:extLst>
          </p:cNvPr>
          <p:cNvSpPr>
            <a:spLocks noGrp="1"/>
          </p:cNvSpPr>
          <p:nvPr>
            <p:ph sz="quarter" idx="13"/>
          </p:nvPr>
        </p:nvSpPr>
        <p:spPr>
          <a:xfrm>
            <a:off x="457200" y="1556327"/>
            <a:ext cx="8229600" cy="965647"/>
          </a:xfrm>
        </p:spPr>
        <p:txBody>
          <a:bodyPr/>
          <a:lstStyle/>
          <a:p>
            <a:pPr marL="432" indent="0">
              <a:buNone/>
            </a:pPr>
            <a:r>
              <a:rPr lang="en-US" altLang="en-US"/>
              <a:t>A </a:t>
            </a:r>
            <a:r>
              <a:rPr lang="en-US" altLang="en-US">
                <a:latin typeface="Courier New" panose="02070309020205020404" pitchFamily="49" charset="0"/>
                <a:cs typeface="Courier New" panose="02070309020205020404" pitchFamily="49" charset="0"/>
              </a:rPr>
              <a:t>combo box</a:t>
            </a:r>
            <a:r>
              <a:rPr lang="en-US" altLang="en-US"/>
              <a:t>, also known as a choice list or drop-down list, contains a list of items from which the user can choose.</a:t>
            </a:r>
          </a:p>
        </p:txBody>
      </p:sp>
      <p:pic>
        <p:nvPicPr>
          <p:cNvPr id="8" name="Picture 7" descr="The computer code shows the Combo Box. For long description in Notes pane, press F6.">
            <a:extLst>
              <a:ext uri="{FF2B5EF4-FFF2-40B4-BE49-F238E27FC236}">
                <a16:creationId xmlns:a16="http://schemas.microsoft.com/office/drawing/2014/main" id="{3353080F-FC71-4DD2-B812-4D507B1A967B}"/>
              </a:ext>
            </a:extLst>
          </p:cNvPr>
          <p:cNvPicPr>
            <a:picLocks noChangeAspect="1"/>
          </p:cNvPicPr>
          <p:nvPr/>
        </p:nvPicPr>
        <p:blipFill>
          <a:blip r:embed="rId3"/>
          <a:stretch>
            <a:fillRect/>
          </a:stretch>
        </p:blipFill>
        <p:spPr>
          <a:xfrm>
            <a:off x="727478" y="2658490"/>
            <a:ext cx="7689045" cy="3633777"/>
          </a:xfrm>
          <a:prstGeom prst="rect">
            <a:avLst/>
          </a:prstGeom>
        </p:spPr>
      </p:pic>
    </p:spTree>
    <p:extLst>
      <p:ext uri="{BB962C8B-B14F-4D97-AF65-F5344CB8AC3E}">
        <p14:creationId xmlns:p14="http://schemas.microsoft.com/office/powerpoint/2010/main" val="3434957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4F5AA-685E-465D-A83B-C2AC538F8021}"/>
              </a:ext>
            </a:extLst>
          </p:cNvPr>
          <p:cNvSpPr>
            <a:spLocks noGrp="1"/>
          </p:cNvSpPr>
          <p:nvPr>
            <p:ph type="title"/>
          </p:nvPr>
        </p:nvSpPr>
        <p:spPr/>
        <p:txBody>
          <a:bodyPr/>
          <a:lstStyle/>
          <a:p>
            <a:r>
              <a:rPr lang="en-US" altLang="en-US">
                <a:latin typeface="Courier New" panose="02070309020205020404" pitchFamily="49" charset="0"/>
              </a:rPr>
              <a:t>ComboBox Example</a:t>
            </a:r>
            <a:endParaRPr lang="en-US"/>
          </a:p>
        </p:txBody>
      </p:sp>
      <p:sp>
        <p:nvSpPr>
          <p:cNvPr id="4" name="Content Placeholder 3">
            <a:extLst>
              <a:ext uri="{FF2B5EF4-FFF2-40B4-BE49-F238E27FC236}">
                <a16:creationId xmlns:a16="http://schemas.microsoft.com/office/drawing/2014/main" id="{AC409C6C-ADB8-4512-8FF5-611A3318FE70}"/>
              </a:ext>
            </a:extLst>
          </p:cNvPr>
          <p:cNvSpPr>
            <a:spLocks noGrp="1"/>
          </p:cNvSpPr>
          <p:nvPr>
            <p:ph sz="quarter" idx="13"/>
          </p:nvPr>
        </p:nvSpPr>
        <p:spPr>
          <a:xfrm>
            <a:off x="457199" y="1567322"/>
            <a:ext cx="7939669" cy="1224000"/>
          </a:xfrm>
        </p:spPr>
        <p:txBody>
          <a:bodyPr/>
          <a:lstStyle/>
          <a:p>
            <a:pPr marL="432" indent="0">
              <a:buNone/>
            </a:pPr>
            <a:r>
              <a:rPr lang="en-US" altLang="en-US" dirty="0">
                <a:cs typeface="Times New Roman" panose="02020603050405020304" pitchFamily="18" charset="0"/>
              </a:rPr>
              <a:t>This example lets users view an image and a description of a country’s flag by selecting the country from a </a:t>
            </a:r>
            <a:r>
              <a:rPr lang="en-US" altLang="en-US" dirty="0">
                <a:latin typeface="Courier New" panose="02070309020205020404" pitchFamily="49" charset="0"/>
                <a:cs typeface="Courier New" panose="02070309020205020404" pitchFamily="49" charset="0"/>
              </a:rPr>
              <a:t>combo box</a:t>
            </a:r>
            <a:r>
              <a:rPr lang="en-US" altLang="en-US" dirty="0">
                <a:cs typeface="Times New Roman" panose="02020603050405020304" pitchFamily="18" charset="0"/>
              </a:rPr>
              <a:t>.</a:t>
            </a:r>
          </a:p>
        </p:txBody>
      </p:sp>
      <p:pic>
        <p:nvPicPr>
          <p:cNvPr id="8" name="Picture 7" descr="An object shows the Combo Box Example. For long description in Notes pane, press F6.">
            <a:extLst>
              <a:ext uri="{FF2B5EF4-FFF2-40B4-BE49-F238E27FC236}">
                <a16:creationId xmlns:a16="http://schemas.microsoft.com/office/drawing/2014/main" id="{6B6CFDF2-425F-4CE6-B63D-516B021CD5CA}"/>
              </a:ext>
            </a:extLst>
          </p:cNvPr>
          <p:cNvPicPr>
            <a:picLocks noChangeAspect="1"/>
          </p:cNvPicPr>
          <p:nvPr/>
        </p:nvPicPr>
        <p:blipFill>
          <a:blip r:embed="rId3"/>
          <a:stretch>
            <a:fillRect/>
          </a:stretch>
        </p:blipFill>
        <p:spPr>
          <a:xfrm>
            <a:off x="1131421" y="2949732"/>
            <a:ext cx="6881159" cy="2820934"/>
          </a:xfrm>
          <a:prstGeom prst="rect">
            <a:avLst/>
          </a:prstGeom>
        </p:spPr>
      </p:pic>
      <p:sp>
        <p:nvSpPr>
          <p:cNvPr id="10" name="Text Placeholder 9">
            <a:extLst>
              <a:ext uri="{FF2B5EF4-FFF2-40B4-BE49-F238E27FC236}">
                <a16:creationId xmlns:a16="http://schemas.microsoft.com/office/drawing/2014/main" id="{CC55736A-9CF3-45F5-9CBF-EA89471DF019}"/>
              </a:ext>
            </a:extLst>
          </p:cNvPr>
          <p:cNvSpPr>
            <a:spLocks noGrp="1"/>
          </p:cNvSpPr>
          <p:nvPr>
            <p:ph type="body" sz="quarter" idx="20"/>
          </p:nvPr>
        </p:nvSpPr>
        <p:spPr>
          <a:xfrm>
            <a:off x="6061587" y="5887656"/>
            <a:ext cx="2625213" cy="432000"/>
          </a:xfrm>
        </p:spPr>
        <p:txBody>
          <a:bodyPr tIns="0"/>
          <a:lstStyle/>
          <a:p>
            <a:pPr>
              <a:spcBef>
                <a:spcPct val="0"/>
              </a:spcBef>
              <a:buClrTx/>
              <a:buSzTx/>
              <a:buFontTx/>
              <a:buNone/>
            </a:pPr>
            <a:r>
              <a:rPr lang="en-US" altLang="en-US" dirty="0">
                <a:hlinkClick r:id="rId4" tooltip="https://liveexample.pearsoncmg.com/html/ComboBoxDemo.html"/>
              </a:rPr>
              <a:t>ComboBoxDemo</a:t>
            </a:r>
            <a:endParaRPr lang="en-US" altLang="en-US" dirty="0">
              <a:hlinkClick r:id="rId4"/>
            </a:endParaRPr>
          </a:p>
        </p:txBody>
      </p:sp>
    </p:spTree>
    <p:extLst>
      <p:ext uri="{BB962C8B-B14F-4D97-AF65-F5344CB8AC3E}">
        <p14:creationId xmlns:p14="http://schemas.microsoft.com/office/powerpoint/2010/main" val="3246071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4CADB2-C02B-4AD5-9917-7AB78CC308CC}"/>
              </a:ext>
            </a:extLst>
          </p:cNvPr>
          <p:cNvSpPr>
            <a:spLocks noGrp="1"/>
          </p:cNvSpPr>
          <p:nvPr>
            <p:ph type="title"/>
          </p:nvPr>
        </p:nvSpPr>
        <p:spPr/>
        <p:txBody>
          <a:bodyPr/>
          <a:lstStyle/>
          <a:p>
            <a:r>
              <a:rPr lang="en-US" altLang="en-US">
                <a:latin typeface="Courier New" panose="02070309020205020404" pitchFamily="49" charset="0"/>
              </a:rPr>
              <a:t>ListView</a:t>
            </a:r>
            <a:endParaRPr lang="en-US"/>
          </a:p>
        </p:txBody>
      </p:sp>
      <p:sp>
        <p:nvSpPr>
          <p:cNvPr id="5" name="Content Placeholder 4">
            <a:extLst>
              <a:ext uri="{FF2B5EF4-FFF2-40B4-BE49-F238E27FC236}">
                <a16:creationId xmlns:a16="http://schemas.microsoft.com/office/drawing/2014/main" id="{EDFD0FBB-EE54-44DD-93F8-A83201E5F65A}"/>
              </a:ext>
            </a:extLst>
          </p:cNvPr>
          <p:cNvSpPr>
            <a:spLocks noGrp="1"/>
          </p:cNvSpPr>
          <p:nvPr>
            <p:ph sz="quarter" idx="13"/>
          </p:nvPr>
        </p:nvSpPr>
        <p:spPr>
          <a:xfrm>
            <a:off x="457200" y="1556327"/>
            <a:ext cx="8229600" cy="1360609"/>
          </a:xfrm>
        </p:spPr>
        <p:txBody>
          <a:bodyPr/>
          <a:lstStyle/>
          <a:p>
            <a:pPr marL="0" indent="0">
              <a:buFont typeface="Monotype Sorts"/>
              <a:buNone/>
            </a:pPr>
            <a:r>
              <a:rPr lang="en-US" altLang="en-US"/>
              <a:t>A </a:t>
            </a:r>
            <a:r>
              <a:rPr lang="en-US" altLang="en-US" b="1">
                <a:latin typeface="Courier New" panose="02070309020205020404" pitchFamily="49" charset="0"/>
                <a:cs typeface="Courier New" panose="02070309020205020404" pitchFamily="49" charset="0"/>
              </a:rPr>
              <a:t>list view </a:t>
            </a:r>
            <a:r>
              <a:rPr lang="en-US" altLang="en-US"/>
              <a:t>is a component that performs basically the same function as a combo box, but it enables the user to choose a single value or multiple values.</a:t>
            </a:r>
            <a:endParaRPr lang="en-US" altLang="en-US" sz="2800">
              <a:latin typeface="Book Antiqua" panose="02040602050305030304" pitchFamily="18" charset="0"/>
            </a:endParaRPr>
          </a:p>
        </p:txBody>
      </p:sp>
      <p:pic>
        <p:nvPicPr>
          <p:cNvPr id="8" name="Picture 7" descr="Codes and descriptions for javaftscene.control.ListView less than symbol T greater than symbol as follows. For long description in Notes pane, press F6.">
            <a:extLst>
              <a:ext uri="{FF2B5EF4-FFF2-40B4-BE49-F238E27FC236}">
                <a16:creationId xmlns:a16="http://schemas.microsoft.com/office/drawing/2014/main" id="{5C1D4576-E74B-4248-BF6C-D4D4AC05B0D0}"/>
              </a:ext>
            </a:extLst>
          </p:cNvPr>
          <p:cNvPicPr>
            <a:picLocks noChangeAspect="1"/>
          </p:cNvPicPr>
          <p:nvPr/>
        </p:nvPicPr>
        <p:blipFill>
          <a:blip r:embed="rId3"/>
          <a:stretch>
            <a:fillRect/>
          </a:stretch>
        </p:blipFill>
        <p:spPr>
          <a:xfrm>
            <a:off x="589047" y="3156469"/>
            <a:ext cx="7965905" cy="2411865"/>
          </a:xfrm>
          <a:prstGeom prst="rect">
            <a:avLst/>
          </a:prstGeom>
        </p:spPr>
      </p:pic>
    </p:spTree>
    <p:extLst>
      <p:ext uri="{BB962C8B-B14F-4D97-AF65-F5344CB8AC3E}">
        <p14:creationId xmlns:p14="http://schemas.microsoft.com/office/powerpoint/2010/main" val="669960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4F5AA-685E-465D-A83B-C2AC538F8021}"/>
              </a:ext>
            </a:extLst>
          </p:cNvPr>
          <p:cNvSpPr>
            <a:spLocks noGrp="1"/>
          </p:cNvSpPr>
          <p:nvPr>
            <p:ph type="title"/>
          </p:nvPr>
        </p:nvSpPr>
        <p:spPr/>
        <p:txBody>
          <a:bodyPr/>
          <a:lstStyle/>
          <a:p>
            <a:r>
              <a:rPr lang="en-US" altLang="en-US"/>
              <a:t>Example: Using Listview</a:t>
            </a:r>
            <a:endParaRPr lang="en-US"/>
          </a:p>
        </p:txBody>
      </p:sp>
      <p:sp>
        <p:nvSpPr>
          <p:cNvPr id="4" name="Content Placeholder 3">
            <a:extLst>
              <a:ext uri="{FF2B5EF4-FFF2-40B4-BE49-F238E27FC236}">
                <a16:creationId xmlns:a16="http://schemas.microsoft.com/office/drawing/2014/main" id="{AC409C6C-ADB8-4512-8FF5-611A3318FE70}"/>
              </a:ext>
            </a:extLst>
          </p:cNvPr>
          <p:cNvSpPr>
            <a:spLocks noGrp="1"/>
          </p:cNvSpPr>
          <p:nvPr>
            <p:ph sz="quarter" idx="13"/>
          </p:nvPr>
        </p:nvSpPr>
        <p:spPr>
          <a:xfrm>
            <a:off x="457200" y="1552575"/>
            <a:ext cx="8229600" cy="1279115"/>
          </a:xfrm>
        </p:spPr>
        <p:txBody>
          <a:bodyPr/>
          <a:lstStyle/>
          <a:p>
            <a:pPr marL="0" indent="0">
              <a:buFont typeface="Monotype Sorts"/>
              <a:buNone/>
            </a:pPr>
            <a:r>
              <a:rPr lang="en-US" altLang="en-US">
                <a:cs typeface="Times New Roman" panose="02020603050405020304" pitchFamily="18" charset="0"/>
              </a:rPr>
              <a:t>This example gives a program that lets users select countries in a list and display the flags of the selected countries in the labels</a:t>
            </a:r>
            <a:r>
              <a:rPr lang="en-US" altLang="en-US"/>
              <a:t>.</a:t>
            </a:r>
            <a:endParaRPr lang="en-US" altLang="en-US">
              <a:latin typeface="Book Antiqua" panose="02040602050305030304" pitchFamily="18" charset="0"/>
            </a:endParaRPr>
          </a:p>
        </p:txBody>
      </p:sp>
      <p:pic>
        <p:nvPicPr>
          <p:cNvPr id="8" name="Picture 7" descr="An object shows the Example of Using List View. For long description in Notes pane, press F6.">
            <a:extLst>
              <a:ext uri="{FF2B5EF4-FFF2-40B4-BE49-F238E27FC236}">
                <a16:creationId xmlns:a16="http://schemas.microsoft.com/office/drawing/2014/main" id="{3F887F99-60F9-4731-8009-6FBFBC6B97B4}"/>
              </a:ext>
            </a:extLst>
          </p:cNvPr>
          <p:cNvPicPr>
            <a:picLocks noChangeAspect="1"/>
          </p:cNvPicPr>
          <p:nvPr/>
        </p:nvPicPr>
        <p:blipFill>
          <a:blip r:embed="rId3"/>
          <a:stretch>
            <a:fillRect/>
          </a:stretch>
        </p:blipFill>
        <p:spPr>
          <a:xfrm>
            <a:off x="1675750" y="2969866"/>
            <a:ext cx="5792500" cy="2814085"/>
          </a:xfrm>
          <a:prstGeom prst="rect">
            <a:avLst/>
          </a:prstGeom>
        </p:spPr>
      </p:pic>
      <p:sp>
        <p:nvSpPr>
          <p:cNvPr id="10" name="Text Placeholder 9">
            <a:extLst>
              <a:ext uri="{FF2B5EF4-FFF2-40B4-BE49-F238E27FC236}">
                <a16:creationId xmlns:a16="http://schemas.microsoft.com/office/drawing/2014/main" id="{CC55736A-9CF3-45F5-9CBF-EA89471DF019}"/>
              </a:ext>
            </a:extLst>
          </p:cNvPr>
          <p:cNvSpPr>
            <a:spLocks noGrp="1"/>
          </p:cNvSpPr>
          <p:nvPr>
            <p:ph type="body" sz="quarter" idx="20"/>
          </p:nvPr>
        </p:nvSpPr>
        <p:spPr>
          <a:xfrm>
            <a:off x="6430297" y="5887654"/>
            <a:ext cx="2256503" cy="432000"/>
          </a:xfrm>
        </p:spPr>
        <p:txBody>
          <a:bodyPr tIns="0"/>
          <a:lstStyle/>
          <a:p>
            <a:pPr>
              <a:spcBef>
                <a:spcPct val="0"/>
              </a:spcBef>
              <a:buClrTx/>
              <a:buSzTx/>
              <a:buFontTx/>
              <a:buNone/>
            </a:pPr>
            <a:r>
              <a:rPr lang="en-US" altLang="en-US" dirty="0">
                <a:hlinkClick r:id="rId4" tooltip="https://liveexample.pearsoncmg.com/html/ListViewDemo.html"/>
              </a:rPr>
              <a:t>ListViewDemo</a:t>
            </a:r>
            <a:endParaRPr lang="en-US" altLang="en-US" dirty="0">
              <a:hlinkClick r:id="rId4"/>
            </a:endParaRPr>
          </a:p>
        </p:txBody>
      </p:sp>
    </p:spTree>
    <p:extLst>
      <p:ext uri="{BB962C8B-B14F-4D97-AF65-F5344CB8AC3E}">
        <p14:creationId xmlns:p14="http://schemas.microsoft.com/office/powerpoint/2010/main" val="631369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4CADB2-C02B-4AD5-9917-7AB78CC308CC}"/>
              </a:ext>
            </a:extLst>
          </p:cNvPr>
          <p:cNvSpPr>
            <a:spLocks noGrp="1"/>
          </p:cNvSpPr>
          <p:nvPr>
            <p:ph type="title"/>
          </p:nvPr>
        </p:nvSpPr>
        <p:spPr/>
        <p:txBody>
          <a:bodyPr/>
          <a:lstStyle/>
          <a:p>
            <a:r>
              <a:rPr lang="en-US" altLang="en-US">
                <a:latin typeface="Courier New" panose="02070309020205020404" pitchFamily="49" charset="0"/>
              </a:rPr>
              <a:t>ScrollBar</a:t>
            </a:r>
            <a:endParaRPr lang="en-US"/>
          </a:p>
        </p:txBody>
      </p:sp>
      <p:sp>
        <p:nvSpPr>
          <p:cNvPr id="5" name="Content Placeholder 4">
            <a:extLst>
              <a:ext uri="{FF2B5EF4-FFF2-40B4-BE49-F238E27FC236}">
                <a16:creationId xmlns:a16="http://schemas.microsoft.com/office/drawing/2014/main" id="{EDFD0FBB-EE54-44DD-93F8-A83201E5F65A}"/>
              </a:ext>
            </a:extLst>
          </p:cNvPr>
          <p:cNvSpPr>
            <a:spLocks noGrp="1"/>
          </p:cNvSpPr>
          <p:nvPr>
            <p:ph sz="quarter" idx="13"/>
          </p:nvPr>
        </p:nvSpPr>
        <p:spPr>
          <a:xfrm>
            <a:off x="457200" y="1556327"/>
            <a:ext cx="8244000" cy="1188000"/>
          </a:xfrm>
        </p:spPr>
        <p:txBody>
          <a:bodyPr/>
          <a:lstStyle/>
          <a:p>
            <a:pPr marL="0" indent="0">
              <a:lnSpc>
                <a:spcPct val="90000"/>
              </a:lnSpc>
              <a:spcAft>
                <a:spcPts val="1200"/>
              </a:spcAft>
              <a:buFont typeface="Monotype Sorts"/>
              <a:buNone/>
            </a:pPr>
            <a:r>
              <a:rPr lang="en-US" altLang="en-US"/>
              <a:t>A </a:t>
            </a:r>
            <a:r>
              <a:rPr lang="en-US" altLang="en-US" b="1">
                <a:latin typeface="Courier New" panose="02070309020205020404" pitchFamily="49" charset="0"/>
                <a:cs typeface="Courier New" panose="02070309020205020404" pitchFamily="49" charset="0"/>
              </a:rPr>
              <a:t>scroll bar</a:t>
            </a:r>
            <a:r>
              <a:rPr lang="en-US" altLang="en-US">
                <a:latin typeface="Courier New" panose="02070309020205020404" pitchFamily="49" charset="0"/>
                <a:cs typeface="Courier New" panose="02070309020205020404" pitchFamily="49" charset="0"/>
              </a:rPr>
              <a:t> </a:t>
            </a:r>
            <a:r>
              <a:rPr lang="en-US" altLang="en-US"/>
              <a:t>is a control that enables the user to select from a range of values. The </a:t>
            </a:r>
            <a:r>
              <a:rPr lang="en-US" altLang="en-US">
                <a:latin typeface="Courier New" panose="02070309020205020404" pitchFamily="49" charset="0"/>
                <a:cs typeface="Courier New" panose="02070309020205020404" pitchFamily="49" charset="0"/>
              </a:rPr>
              <a:t>scrollbar</a:t>
            </a:r>
            <a:r>
              <a:rPr lang="en-US" altLang="en-US"/>
              <a:t> appears in two styles: </a:t>
            </a:r>
            <a:r>
              <a:rPr lang="en-US" altLang="en-US" b="1">
                <a:latin typeface="Courier New" panose="02070309020205020404" pitchFamily="49" charset="0"/>
                <a:cs typeface="Courier New" panose="02070309020205020404" pitchFamily="49" charset="0"/>
              </a:rPr>
              <a:t>horizontal</a:t>
            </a:r>
            <a:r>
              <a:rPr lang="en-US" altLang="en-US"/>
              <a:t> and </a:t>
            </a:r>
            <a:r>
              <a:rPr lang="en-US" altLang="en-US" b="1">
                <a:latin typeface="Courier New" panose="02070309020205020404" pitchFamily="49" charset="0"/>
                <a:cs typeface="Courier New" panose="02070309020205020404" pitchFamily="49" charset="0"/>
              </a:rPr>
              <a:t>vertical</a:t>
            </a:r>
            <a:r>
              <a:rPr lang="en-US" altLang="en-US"/>
              <a:t>.</a:t>
            </a:r>
          </a:p>
        </p:txBody>
      </p:sp>
      <p:pic>
        <p:nvPicPr>
          <p:cNvPr id="8" name="Picture 7" descr="The computer code shows the Scroll Bar. For long description in Notes pane, press F6.">
            <a:extLst>
              <a:ext uri="{FF2B5EF4-FFF2-40B4-BE49-F238E27FC236}">
                <a16:creationId xmlns:a16="http://schemas.microsoft.com/office/drawing/2014/main" id="{E9366A6F-A6CF-4677-98BF-57015E58CA31}"/>
              </a:ext>
            </a:extLst>
          </p:cNvPr>
          <p:cNvPicPr>
            <a:picLocks noChangeAspect="1"/>
          </p:cNvPicPr>
          <p:nvPr/>
        </p:nvPicPr>
        <p:blipFill>
          <a:blip r:embed="rId3"/>
          <a:stretch>
            <a:fillRect/>
          </a:stretch>
        </p:blipFill>
        <p:spPr>
          <a:xfrm>
            <a:off x="703101" y="3007529"/>
            <a:ext cx="7737799" cy="3000372"/>
          </a:xfrm>
          <a:prstGeom prst="rect">
            <a:avLst/>
          </a:prstGeom>
        </p:spPr>
      </p:pic>
    </p:spTree>
    <p:extLst>
      <p:ext uri="{BB962C8B-B14F-4D97-AF65-F5344CB8AC3E}">
        <p14:creationId xmlns:p14="http://schemas.microsoft.com/office/powerpoint/2010/main" val="1755480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113C5-AD59-422E-BA39-05BC98B65E5D}"/>
              </a:ext>
            </a:extLst>
          </p:cNvPr>
          <p:cNvSpPr>
            <a:spLocks noGrp="1"/>
          </p:cNvSpPr>
          <p:nvPr>
            <p:ph type="title"/>
          </p:nvPr>
        </p:nvSpPr>
        <p:spPr/>
        <p:txBody>
          <a:bodyPr/>
          <a:lstStyle/>
          <a:p>
            <a:r>
              <a:rPr lang="en-US"/>
              <a:t>Scroll Bar Properties</a:t>
            </a:r>
          </a:p>
        </p:txBody>
      </p:sp>
      <p:pic>
        <p:nvPicPr>
          <p:cNvPr id="7" name="Picture 6" descr="An object shows the Scroll Bar Properties. For long description in Notes pane, press F6.">
            <a:extLst>
              <a:ext uri="{FF2B5EF4-FFF2-40B4-BE49-F238E27FC236}">
                <a16:creationId xmlns:a16="http://schemas.microsoft.com/office/drawing/2014/main" id="{8F57BE2A-3B9D-4011-B7A9-BBE8BE0C7266}"/>
              </a:ext>
            </a:extLst>
          </p:cNvPr>
          <p:cNvPicPr>
            <a:picLocks noChangeAspect="1"/>
          </p:cNvPicPr>
          <p:nvPr/>
        </p:nvPicPr>
        <p:blipFill>
          <a:blip r:embed="rId3"/>
          <a:stretch>
            <a:fillRect/>
          </a:stretch>
        </p:blipFill>
        <p:spPr>
          <a:xfrm>
            <a:off x="558346" y="1941850"/>
            <a:ext cx="8027307" cy="3539912"/>
          </a:xfrm>
          <a:prstGeom prst="rect">
            <a:avLst/>
          </a:prstGeom>
        </p:spPr>
      </p:pic>
    </p:spTree>
    <p:extLst>
      <p:ext uri="{BB962C8B-B14F-4D97-AF65-F5344CB8AC3E}">
        <p14:creationId xmlns:p14="http://schemas.microsoft.com/office/powerpoint/2010/main" val="816981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4F5AA-685E-465D-A83B-C2AC538F8021}"/>
              </a:ext>
            </a:extLst>
          </p:cNvPr>
          <p:cNvSpPr>
            <a:spLocks noGrp="1"/>
          </p:cNvSpPr>
          <p:nvPr>
            <p:ph type="title"/>
          </p:nvPr>
        </p:nvSpPr>
        <p:spPr/>
        <p:txBody>
          <a:bodyPr/>
          <a:lstStyle/>
          <a:p>
            <a:r>
              <a:rPr lang="en-US" altLang="en-US"/>
              <a:t>Example: Using Scrollbars</a:t>
            </a:r>
            <a:endParaRPr lang="en-US"/>
          </a:p>
        </p:txBody>
      </p:sp>
      <p:sp>
        <p:nvSpPr>
          <p:cNvPr id="4" name="Content Placeholder 3">
            <a:extLst>
              <a:ext uri="{FF2B5EF4-FFF2-40B4-BE49-F238E27FC236}">
                <a16:creationId xmlns:a16="http://schemas.microsoft.com/office/drawing/2014/main" id="{AC409C6C-ADB8-4512-8FF5-611A3318FE70}"/>
              </a:ext>
            </a:extLst>
          </p:cNvPr>
          <p:cNvSpPr>
            <a:spLocks noGrp="1"/>
          </p:cNvSpPr>
          <p:nvPr>
            <p:ph sz="quarter" idx="13"/>
          </p:nvPr>
        </p:nvSpPr>
        <p:spPr>
          <a:xfrm>
            <a:off x="457200" y="1552575"/>
            <a:ext cx="8229600" cy="1515090"/>
          </a:xfrm>
        </p:spPr>
        <p:txBody>
          <a:bodyPr/>
          <a:lstStyle/>
          <a:p>
            <a:pPr marL="0" indent="0">
              <a:lnSpc>
                <a:spcPct val="90000"/>
              </a:lnSpc>
              <a:spcAft>
                <a:spcPts val="1200"/>
              </a:spcAft>
              <a:buFont typeface="Monotype Sorts"/>
              <a:buNone/>
            </a:pPr>
            <a:r>
              <a:rPr lang="en-US" altLang="en-US">
                <a:cs typeface="Times New Roman" panose="02020603050405020304" pitchFamily="18" charset="0"/>
              </a:rPr>
              <a:t>This example uses horizontal and vertical scrollbars to control a message displayed on a panel. The horizontal scrollbar is used to move the message to the left or the right, and the vertical scrollbar to move it up and down.</a:t>
            </a:r>
          </a:p>
        </p:txBody>
      </p:sp>
      <p:pic>
        <p:nvPicPr>
          <p:cNvPr id="8" name="Picture 7" descr="An object shows the Example for Using Scroll Bars. For long description in Notes pane, press F6.">
            <a:extLst>
              <a:ext uri="{FF2B5EF4-FFF2-40B4-BE49-F238E27FC236}">
                <a16:creationId xmlns:a16="http://schemas.microsoft.com/office/drawing/2014/main" id="{11305AF3-B43A-4AD2-A088-2E7BC7E284FB}"/>
              </a:ext>
            </a:extLst>
          </p:cNvPr>
          <p:cNvPicPr>
            <a:picLocks noChangeAspect="1"/>
          </p:cNvPicPr>
          <p:nvPr/>
        </p:nvPicPr>
        <p:blipFill>
          <a:blip r:embed="rId3"/>
          <a:stretch>
            <a:fillRect/>
          </a:stretch>
        </p:blipFill>
        <p:spPr>
          <a:xfrm>
            <a:off x="1643648" y="3179435"/>
            <a:ext cx="5856703" cy="2412343"/>
          </a:xfrm>
          <a:prstGeom prst="rect">
            <a:avLst/>
          </a:prstGeom>
        </p:spPr>
      </p:pic>
      <p:sp>
        <p:nvSpPr>
          <p:cNvPr id="10" name="Text Placeholder 9">
            <a:extLst>
              <a:ext uri="{FF2B5EF4-FFF2-40B4-BE49-F238E27FC236}">
                <a16:creationId xmlns:a16="http://schemas.microsoft.com/office/drawing/2014/main" id="{CC55736A-9CF3-45F5-9CBF-EA89471DF019}"/>
              </a:ext>
            </a:extLst>
          </p:cNvPr>
          <p:cNvSpPr>
            <a:spLocks noGrp="1"/>
          </p:cNvSpPr>
          <p:nvPr>
            <p:ph type="body" sz="quarter" idx="20"/>
          </p:nvPr>
        </p:nvSpPr>
        <p:spPr>
          <a:xfrm>
            <a:off x="6386051" y="5831041"/>
            <a:ext cx="2300749" cy="432000"/>
          </a:xfrm>
        </p:spPr>
        <p:txBody>
          <a:bodyPr tIns="0"/>
          <a:lstStyle/>
          <a:p>
            <a:pPr>
              <a:spcBef>
                <a:spcPct val="0"/>
              </a:spcBef>
              <a:buClrTx/>
              <a:buSzTx/>
              <a:buFontTx/>
              <a:buNone/>
            </a:pPr>
            <a:r>
              <a:rPr lang="en-US" altLang="en-US" dirty="0">
                <a:hlinkClick r:id="rId4" tooltip="https://liveexample.pearsoncmg.com/html/ScrollBarDemo.html"/>
              </a:rPr>
              <a:t>ScrollBarDemo</a:t>
            </a:r>
            <a:endParaRPr lang="en-US" altLang="en-US" dirty="0">
              <a:hlinkClick r:id="rId4"/>
            </a:endParaRPr>
          </a:p>
        </p:txBody>
      </p:sp>
    </p:spTree>
    <p:extLst>
      <p:ext uri="{BB962C8B-B14F-4D97-AF65-F5344CB8AC3E}">
        <p14:creationId xmlns:p14="http://schemas.microsoft.com/office/powerpoint/2010/main" val="2477432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4CADB2-C02B-4AD5-9917-7AB78CC308CC}"/>
              </a:ext>
            </a:extLst>
          </p:cNvPr>
          <p:cNvSpPr>
            <a:spLocks noGrp="1"/>
          </p:cNvSpPr>
          <p:nvPr>
            <p:ph type="title"/>
          </p:nvPr>
        </p:nvSpPr>
        <p:spPr/>
        <p:txBody>
          <a:bodyPr/>
          <a:lstStyle/>
          <a:p>
            <a:r>
              <a:rPr lang="en-US" altLang="en-US">
                <a:latin typeface="Courier New" panose="02070309020205020404" pitchFamily="49" charset="0"/>
              </a:rPr>
              <a:t>Slider</a:t>
            </a:r>
            <a:endParaRPr lang="en-US"/>
          </a:p>
        </p:txBody>
      </p:sp>
      <p:sp>
        <p:nvSpPr>
          <p:cNvPr id="5" name="Content Placeholder 4">
            <a:extLst>
              <a:ext uri="{FF2B5EF4-FFF2-40B4-BE49-F238E27FC236}">
                <a16:creationId xmlns:a16="http://schemas.microsoft.com/office/drawing/2014/main" id="{EDFD0FBB-EE54-44DD-93F8-A83201E5F65A}"/>
              </a:ext>
            </a:extLst>
          </p:cNvPr>
          <p:cNvSpPr>
            <a:spLocks noGrp="1"/>
          </p:cNvSpPr>
          <p:nvPr>
            <p:ph sz="quarter" idx="13"/>
          </p:nvPr>
        </p:nvSpPr>
        <p:spPr>
          <a:xfrm>
            <a:off x="457200" y="1556328"/>
            <a:ext cx="8244000" cy="885120"/>
          </a:xfrm>
        </p:spPr>
        <p:txBody>
          <a:bodyPr/>
          <a:lstStyle/>
          <a:p>
            <a:pPr marL="0" indent="0">
              <a:spcAft>
                <a:spcPts val="1200"/>
              </a:spcAft>
              <a:buFont typeface="Monotype Sorts"/>
              <a:buNone/>
            </a:pPr>
            <a:r>
              <a:rPr lang="en-US" altLang="en-US">
                <a:latin typeface="Courier New" panose="02070309020205020404" pitchFamily="49" charset="0"/>
                <a:cs typeface="Courier New" panose="02070309020205020404" pitchFamily="49" charset="0"/>
              </a:rPr>
              <a:t>Slider</a:t>
            </a:r>
            <a:r>
              <a:rPr lang="en-US" altLang="en-US"/>
              <a:t> is similar to ScrollBar, but </a:t>
            </a:r>
            <a:r>
              <a:rPr lang="en-US" altLang="en-US">
                <a:latin typeface="Courier New" panose="02070309020205020404" pitchFamily="49" charset="0"/>
                <a:cs typeface="Courier New" panose="02070309020205020404" pitchFamily="49" charset="0"/>
              </a:rPr>
              <a:t>Slider</a:t>
            </a:r>
            <a:r>
              <a:rPr lang="en-US" altLang="en-US"/>
              <a:t> has more properties and can appear in many forms.</a:t>
            </a:r>
          </a:p>
        </p:txBody>
      </p:sp>
      <p:pic>
        <p:nvPicPr>
          <p:cNvPr id="8" name="Picture 7" descr="The computer code shows the Slider. For long description in Notes pane, press F6.">
            <a:extLst>
              <a:ext uri="{FF2B5EF4-FFF2-40B4-BE49-F238E27FC236}">
                <a16:creationId xmlns:a16="http://schemas.microsoft.com/office/drawing/2014/main" id="{A33260A1-FC73-4005-B8B6-54B162F9D53A}"/>
              </a:ext>
            </a:extLst>
          </p:cNvPr>
          <p:cNvPicPr>
            <a:picLocks noChangeAspect="1"/>
          </p:cNvPicPr>
          <p:nvPr/>
        </p:nvPicPr>
        <p:blipFill>
          <a:blip r:embed="rId3"/>
          <a:stretch>
            <a:fillRect/>
          </a:stretch>
        </p:blipFill>
        <p:spPr>
          <a:xfrm>
            <a:off x="656782" y="2808825"/>
            <a:ext cx="7830436" cy="3237957"/>
          </a:xfrm>
          <a:prstGeom prst="rect">
            <a:avLst/>
          </a:prstGeom>
        </p:spPr>
      </p:pic>
    </p:spTree>
    <p:extLst>
      <p:ext uri="{BB962C8B-B14F-4D97-AF65-F5344CB8AC3E}">
        <p14:creationId xmlns:p14="http://schemas.microsoft.com/office/powerpoint/2010/main" val="2892233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4CADB2-C02B-4AD5-9917-7AB78CC308CC}"/>
              </a:ext>
            </a:extLst>
          </p:cNvPr>
          <p:cNvSpPr>
            <a:spLocks noGrp="1"/>
          </p:cNvSpPr>
          <p:nvPr>
            <p:ph type="title"/>
          </p:nvPr>
        </p:nvSpPr>
        <p:spPr>
          <a:xfrm>
            <a:off x="457200" y="215371"/>
            <a:ext cx="8244000" cy="1097279"/>
          </a:xfrm>
        </p:spPr>
        <p:txBody>
          <a:bodyPr/>
          <a:lstStyle/>
          <a:p>
            <a:r>
              <a:rPr lang="en-US" altLang="en-US"/>
              <a:t>Example: Using Sliders</a:t>
            </a:r>
            <a:endParaRPr lang="en-US"/>
          </a:p>
        </p:txBody>
      </p:sp>
      <p:sp>
        <p:nvSpPr>
          <p:cNvPr id="5" name="Content Placeholder 4">
            <a:extLst>
              <a:ext uri="{FF2B5EF4-FFF2-40B4-BE49-F238E27FC236}">
                <a16:creationId xmlns:a16="http://schemas.microsoft.com/office/drawing/2014/main" id="{EDFD0FBB-EE54-44DD-93F8-A83201E5F65A}"/>
              </a:ext>
            </a:extLst>
          </p:cNvPr>
          <p:cNvSpPr>
            <a:spLocks noGrp="1"/>
          </p:cNvSpPr>
          <p:nvPr>
            <p:ph sz="quarter" idx="13"/>
          </p:nvPr>
        </p:nvSpPr>
        <p:spPr>
          <a:xfrm>
            <a:off x="457200" y="1556328"/>
            <a:ext cx="8408020" cy="986150"/>
          </a:xfrm>
        </p:spPr>
        <p:txBody>
          <a:bodyPr/>
          <a:lstStyle/>
          <a:p>
            <a:pPr marL="0" indent="0">
              <a:spcAft>
                <a:spcPts val="1200"/>
              </a:spcAft>
              <a:buFont typeface="Monotype Sorts"/>
              <a:buNone/>
            </a:pPr>
            <a:r>
              <a:rPr lang="en-US" altLang="en-US" dirty="0">
                <a:cs typeface="Times New Roman" panose="02020603050405020304" pitchFamily="18" charset="0"/>
              </a:rPr>
              <a:t>Rewrite the preceding program using the sliders to control a message displayed on a panel instead of using scroll bars.</a:t>
            </a:r>
          </a:p>
        </p:txBody>
      </p:sp>
      <p:pic>
        <p:nvPicPr>
          <p:cNvPr id="8" name="Picture 7" descr="An object shows the Example for Using Sliders. Rewrite the preceding program using the sliders to control a message displayed on a panel instead of using scroll bars. ">
            <a:extLst>
              <a:ext uri="{FF2B5EF4-FFF2-40B4-BE49-F238E27FC236}">
                <a16:creationId xmlns:a16="http://schemas.microsoft.com/office/drawing/2014/main" id="{EC7A5782-BBB4-4605-8342-A6308224F78D}"/>
              </a:ext>
            </a:extLst>
          </p:cNvPr>
          <p:cNvPicPr>
            <a:picLocks noChangeAspect="1"/>
          </p:cNvPicPr>
          <p:nvPr/>
        </p:nvPicPr>
        <p:blipFill>
          <a:blip r:embed="rId2"/>
          <a:stretch>
            <a:fillRect/>
          </a:stretch>
        </p:blipFill>
        <p:spPr>
          <a:xfrm>
            <a:off x="1123366" y="2746653"/>
            <a:ext cx="6836857" cy="3374129"/>
          </a:xfrm>
          <a:prstGeom prst="rect">
            <a:avLst/>
          </a:prstGeom>
        </p:spPr>
      </p:pic>
    </p:spTree>
    <p:extLst>
      <p:ext uri="{BB962C8B-B14F-4D97-AF65-F5344CB8AC3E}">
        <p14:creationId xmlns:p14="http://schemas.microsoft.com/office/powerpoint/2010/main" val="66002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92175-AC1B-4EAD-8956-7175DB22BBB8}"/>
              </a:ext>
            </a:extLst>
          </p:cNvPr>
          <p:cNvSpPr>
            <a:spLocks noGrp="1"/>
          </p:cNvSpPr>
          <p:nvPr>
            <p:ph type="title"/>
          </p:nvPr>
        </p:nvSpPr>
        <p:spPr/>
        <p:txBody>
          <a:bodyPr/>
          <a:lstStyle/>
          <a:p>
            <a:r>
              <a:rPr lang="en-US"/>
              <a:t>Case Study: Bounce Ball</a:t>
            </a:r>
          </a:p>
        </p:txBody>
      </p:sp>
      <p:sp>
        <p:nvSpPr>
          <p:cNvPr id="3" name="Content Placeholder 2">
            <a:extLst>
              <a:ext uri="{FF2B5EF4-FFF2-40B4-BE49-F238E27FC236}">
                <a16:creationId xmlns:a16="http://schemas.microsoft.com/office/drawing/2014/main" id="{11A65FF0-A9CA-449F-B755-D13B77D8E54E}"/>
              </a:ext>
            </a:extLst>
          </p:cNvPr>
          <p:cNvSpPr>
            <a:spLocks noGrp="1"/>
          </p:cNvSpPr>
          <p:nvPr>
            <p:ph sz="quarter" idx="13"/>
          </p:nvPr>
        </p:nvSpPr>
        <p:spPr>
          <a:xfrm>
            <a:off x="457200" y="1552575"/>
            <a:ext cx="8229600" cy="1293864"/>
          </a:xfrm>
        </p:spPr>
        <p:txBody>
          <a:bodyPr/>
          <a:lstStyle/>
          <a:p>
            <a:pPr marL="432" indent="0">
              <a:buNone/>
            </a:pPr>
            <a:r>
              <a:rPr lang="en-US" altLang="en-US"/>
              <a:t>Listing 15.17 gives a program that displays a bouncing ball. You can add a slider to control the speed of the ball movement.</a:t>
            </a:r>
            <a:endParaRPr lang="en-US"/>
          </a:p>
        </p:txBody>
      </p:sp>
      <p:pic>
        <p:nvPicPr>
          <p:cNvPr id="9" name="Picture 8" descr="A screenshot of Bounce Ball Control window shows a circle near top left corner. The circle is shaded in green. A slider is at the bottom with control button near left end.">
            <a:extLst>
              <a:ext uri="{FF2B5EF4-FFF2-40B4-BE49-F238E27FC236}">
                <a16:creationId xmlns:a16="http://schemas.microsoft.com/office/drawing/2014/main" id="{C14F6B8E-35F1-4497-B60E-7AE988C6BC1F}"/>
              </a:ext>
            </a:extLst>
          </p:cNvPr>
          <p:cNvPicPr>
            <a:picLocks noChangeAspect="1"/>
          </p:cNvPicPr>
          <p:nvPr/>
        </p:nvPicPr>
        <p:blipFill>
          <a:blip r:embed="rId3"/>
          <a:stretch>
            <a:fillRect/>
          </a:stretch>
        </p:blipFill>
        <p:spPr>
          <a:xfrm>
            <a:off x="536357" y="3061886"/>
            <a:ext cx="4019775" cy="2301398"/>
          </a:xfrm>
          <a:prstGeom prst="rect">
            <a:avLst/>
          </a:prstGeom>
        </p:spPr>
      </p:pic>
      <p:pic>
        <p:nvPicPr>
          <p:cNvPr id="12" name="Picture 11" descr="A screenshot of Bounce Ball Control window shows a circle near top middle. The circle is shaded in green. A slider is at the bottom with control button slightly shifted to the right.">
            <a:extLst>
              <a:ext uri="{FF2B5EF4-FFF2-40B4-BE49-F238E27FC236}">
                <a16:creationId xmlns:a16="http://schemas.microsoft.com/office/drawing/2014/main" id="{530E6B6B-096B-413C-B7E4-E5BF83DFBE1B}"/>
              </a:ext>
            </a:extLst>
          </p:cNvPr>
          <p:cNvPicPr>
            <a:picLocks noChangeAspect="1"/>
          </p:cNvPicPr>
          <p:nvPr/>
        </p:nvPicPr>
        <p:blipFill>
          <a:blip r:embed="rId4"/>
          <a:stretch>
            <a:fillRect/>
          </a:stretch>
        </p:blipFill>
        <p:spPr>
          <a:xfrm>
            <a:off x="4709385" y="3082806"/>
            <a:ext cx="3878623" cy="2209342"/>
          </a:xfrm>
          <a:prstGeom prst="rect">
            <a:avLst/>
          </a:prstGeom>
        </p:spPr>
      </p:pic>
      <p:sp>
        <p:nvSpPr>
          <p:cNvPr id="10" name="Text Placeholder 9">
            <a:extLst>
              <a:ext uri="{FF2B5EF4-FFF2-40B4-BE49-F238E27FC236}">
                <a16:creationId xmlns:a16="http://schemas.microsoft.com/office/drawing/2014/main" id="{E0E789D0-A151-482A-BEC7-2C8B3D5B22AD}"/>
              </a:ext>
            </a:extLst>
          </p:cNvPr>
          <p:cNvSpPr>
            <a:spLocks noGrp="1"/>
          </p:cNvSpPr>
          <p:nvPr>
            <p:ph type="body" sz="quarter" idx="20"/>
          </p:nvPr>
        </p:nvSpPr>
        <p:spPr>
          <a:xfrm>
            <a:off x="6843252" y="5820236"/>
            <a:ext cx="1843548" cy="468000"/>
          </a:xfrm>
        </p:spPr>
        <p:txBody>
          <a:bodyPr tIns="0"/>
          <a:lstStyle/>
          <a:p>
            <a:pPr marL="432" indent="0">
              <a:buNone/>
            </a:pPr>
            <a:r>
              <a:rPr lang="en-US" altLang="en-US" dirty="0">
                <a:hlinkClick r:id="rId5" tooltip="https://liveexample.pearsoncmg.com/html/SliderDemo.html"/>
              </a:rPr>
              <a:t>SliderDemo</a:t>
            </a:r>
            <a:endParaRPr lang="en-US" altLang="en-US" dirty="0">
              <a:hlinkClick r:id="rId5"/>
            </a:endParaRPr>
          </a:p>
        </p:txBody>
      </p:sp>
    </p:spTree>
    <p:extLst>
      <p:ext uri="{BB962C8B-B14F-4D97-AF65-F5344CB8AC3E}">
        <p14:creationId xmlns:p14="http://schemas.microsoft.com/office/powerpoint/2010/main" val="3977767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DDB5D-AA9E-42C6-A055-043B2C10B451}"/>
              </a:ext>
            </a:extLst>
          </p:cNvPr>
          <p:cNvSpPr>
            <a:spLocks noGrp="1"/>
          </p:cNvSpPr>
          <p:nvPr>
            <p:ph type="title"/>
          </p:nvPr>
        </p:nvSpPr>
        <p:spPr/>
        <p:txBody>
          <a:bodyPr/>
          <a:lstStyle/>
          <a:p>
            <a:r>
              <a:rPr lang="en-US" dirty="0"/>
              <a:t>Case Study: TicTacToe </a:t>
            </a:r>
            <a:r>
              <a:rPr lang="en-US" sz="2000" b="0" dirty="0"/>
              <a:t>(1 of 2)</a:t>
            </a:r>
          </a:p>
        </p:txBody>
      </p:sp>
      <p:pic>
        <p:nvPicPr>
          <p:cNvPr id="7" name="Picture 6" descr="An object shows the Case Study for Tic Tac Toe. For long description in Notes pane, press F6.">
            <a:extLst>
              <a:ext uri="{FF2B5EF4-FFF2-40B4-BE49-F238E27FC236}">
                <a16:creationId xmlns:a16="http://schemas.microsoft.com/office/drawing/2014/main" id="{F6BDC2F8-4448-4910-831C-B848117B18FE}"/>
              </a:ext>
            </a:extLst>
          </p:cNvPr>
          <p:cNvPicPr>
            <a:picLocks noChangeAspect="1"/>
          </p:cNvPicPr>
          <p:nvPr/>
        </p:nvPicPr>
        <p:blipFill>
          <a:blip r:embed="rId3"/>
          <a:stretch>
            <a:fillRect/>
          </a:stretch>
        </p:blipFill>
        <p:spPr>
          <a:xfrm>
            <a:off x="1596752" y="1640882"/>
            <a:ext cx="5950495" cy="4617832"/>
          </a:xfrm>
          <a:prstGeom prst="rect">
            <a:avLst/>
          </a:prstGeom>
        </p:spPr>
      </p:pic>
    </p:spTree>
    <p:extLst>
      <p:ext uri="{BB962C8B-B14F-4D97-AF65-F5344CB8AC3E}">
        <p14:creationId xmlns:p14="http://schemas.microsoft.com/office/powerpoint/2010/main" val="2859721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4F5AA-685E-465D-A83B-C2AC538F8021}"/>
              </a:ext>
            </a:extLst>
          </p:cNvPr>
          <p:cNvSpPr>
            <a:spLocks noGrp="1"/>
          </p:cNvSpPr>
          <p:nvPr>
            <p:ph type="title"/>
          </p:nvPr>
        </p:nvSpPr>
        <p:spPr/>
        <p:txBody>
          <a:bodyPr/>
          <a:lstStyle/>
          <a:p>
            <a:r>
              <a:rPr lang="en-US" dirty="0"/>
              <a:t>Case Study: TicTacToe </a:t>
            </a:r>
            <a:r>
              <a:rPr lang="en-US" sz="2000" b="0" dirty="0"/>
              <a:t>(2 of 2)</a:t>
            </a:r>
            <a:endParaRPr lang="en-US" dirty="0"/>
          </a:p>
        </p:txBody>
      </p:sp>
      <p:pic>
        <p:nvPicPr>
          <p:cNvPr id="8" name="Picture 7" descr="The computer code shows the Case Study for Tic Tac Toe, cont. For long description in Notes pane, press F6.">
            <a:extLst>
              <a:ext uri="{FF2B5EF4-FFF2-40B4-BE49-F238E27FC236}">
                <a16:creationId xmlns:a16="http://schemas.microsoft.com/office/drawing/2014/main" id="{6F38EAB1-22F3-45A9-B691-2B3EBF084832}"/>
              </a:ext>
            </a:extLst>
          </p:cNvPr>
          <p:cNvPicPr>
            <a:picLocks noChangeAspect="1"/>
          </p:cNvPicPr>
          <p:nvPr/>
        </p:nvPicPr>
        <p:blipFill>
          <a:blip r:embed="rId3"/>
          <a:stretch>
            <a:fillRect/>
          </a:stretch>
        </p:blipFill>
        <p:spPr>
          <a:xfrm>
            <a:off x="527677" y="2026681"/>
            <a:ext cx="8088646" cy="2804637"/>
          </a:xfrm>
          <a:prstGeom prst="rect">
            <a:avLst/>
          </a:prstGeom>
        </p:spPr>
      </p:pic>
      <p:sp>
        <p:nvSpPr>
          <p:cNvPr id="10" name="Text Placeholder 9">
            <a:extLst>
              <a:ext uri="{FF2B5EF4-FFF2-40B4-BE49-F238E27FC236}">
                <a16:creationId xmlns:a16="http://schemas.microsoft.com/office/drawing/2014/main" id="{CC55736A-9CF3-45F5-9CBF-EA89471DF019}"/>
              </a:ext>
            </a:extLst>
          </p:cNvPr>
          <p:cNvSpPr>
            <a:spLocks noGrp="1"/>
          </p:cNvSpPr>
          <p:nvPr>
            <p:ph type="body" sz="quarter" idx="20"/>
          </p:nvPr>
        </p:nvSpPr>
        <p:spPr>
          <a:xfrm>
            <a:off x="6975987" y="5798958"/>
            <a:ext cx="1710813" cy="549583"/>
          </a:xfrm>
        </p:spPr>
        <p:txBody>
          <a:bodyPr/>
          <a:lstStyle/>
          <a:p>
            <a:pPr>
              <a:spcBef>
                <a:spcPct val="0"/>
              </a:spcBef>
              <a:buClrTx/>
              <a:buSzTx/>
              <a:buFontTx/>
              <a:buNone/>
            </a:pPr>
            <a:r>
              <a:rPr lang="en-US" altLang="en-US" dirty="0">
                <a:hlinkClick r:id="rId4" tooltip="https://liveexample.pearsoncmg.com/html/TicTacToe.html"/>
              </a:rPr>
              <a:t>TicTacToe</a:t>
            </a:r>
            <a:endParaRPr lang="en-US" altLang="en-US" dirty="0">
              <a:hlinkClick r:id="rId4"/>
            </a:endParaRPr>
          </a:p>
        </p:txBody>
      </p:sp>
    </p:spTree>
    <p:extLst>
      <p:ext uri="{BB962C8B-B14F-4D97-AF65-F5344CB8AC3E}">
        <p14:creationId xmlns:p14="http://schemas.microsoft.com/office/powerpoint/2010/main" val="20489174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38E88-3C14-4581-9DBA-56DAE59D3B2F}"/>
              </a:ext>
            </a:extLst>
          </p:cNvPr>
          <p:cNvSpPr>
            <a:spLocks noGrp="1"/>
          </p:cNvSpPr>
          <p:nvPr>
            <p:ph type="title"/>
          </p:nvPr>
        </p:nvSpPr>
        <p:spPr/>
        <p:txBody>
          <a:bodyPr/>
          <a:lstStyle/>
          <a:p>
            <a:r>
              <a:rPr lang="en-US" altLang="en-US">
                <a:latin typeface="Courier New" panose="02070309020205020404" pitchFamily="49" charset="0"/>
              </a:rPr>
              <a:t>Media</a:t>
            </a:r>
            <a:endParaRPr lang="en-US"/>
          </a:p>
        </p:txBody>
      </p:sp>
      <p:sp>
        <p:nvSpPr>
          <p:cNvPr id="3" name="Content Placeholder 2">
            <a:extLst>
              <a:ext uri="{FF2B5EF4-FFF2-40B4-BE49-F238E27FC236}">
                <a16:creationId xmlns:a16="http://schemas.microsoft.com/office/drawing/2014/main" id="{1EFCF033-3CFB-4115-B52B-37E9B48124AB}"/>
              </a:ext>
            </a:extLst>
          </p:cNvPr>
          <p:cNvSpPr>
            <a:spLocks noGrp="1"/>
          </p:cNvSpPr>
          <p:nvPr>
            <p:ph sz="quarter" idx="13"/>
          </p:nvPr>
        </p:nvSpPr>
        <p:spPr>
          <a:xfrm>
            <a:off x="457200" y="1556327"/>
            <a:ext cx="8229600" cy="1275363"/>
          </a:xfrm>
        </p:spPr>
        <p:txBody>
          <a:bodyPr/>
          <a:lstStyle/>
          <a:p>
            <a:pPr marL="432" indent="0">
              <a:buNone/>
            </a:pPr>
            <a:r>
              <a:rPr lang="en-US" altLang="en-US"/>
              <a:t>You can use the </a:t>
            </a:r>
            <a:r>
              <a:rPr lang="en-US" altLang="en-US" b="1">
                <a:latin typeface="Courier New" panose="02070309020205020404" pitchFamily="49" charset="0"/>
                <a:cs typeface="Courier New" panose="02070309020205020404" pitchFamily="49" charset="0"/>
              </a:rPr>
              <a:t>Media</a:t>
            </a:r>
            <a:r>
              <a:rPr lang="en-US" altLang="en-US"/>
              <a:t> class to obtain the source of the </a:t>
            </a:r>
            <a:r>
              <a:rPr lang="en-US" altLang="en-US">
                <a:latin typeface="Courier New" panose="02070309020205020404" pitchFamily="49" charset="0"/>
                <a:cs typeface="Courier New" panose="02070309020205020404" pitchFamily="49" charset="0"/>
              </a:rPr>
              <a:t>media</a:t>
            </a:r>
            <a:r>
              <a:rPr lang="en-US" altLang="en-US"/>
              <a:t>, the </a:t>
            </a:r>
            <a:r>
              <a:rPr lang="en-US" altLang="en-US" b="1">
                <a:latin typeface="Courier New" panose="02070309020205020404" pitchFamily="49" charset="0"/>
                <a:cs typeface="Courier New" panose="02070309020205020404" pitchFamily="49" charset="0"/>
              </a:rPr>
              <a:t>MediaPlayer</a:t>
            </a:r>
            <a:r>
              <a:rPr lang="en-US" altLang="en-US"/>
              <a:t> class to play and control the </a:t>
            </a:r>
            <a:r>
              <a:rPr lang="en-US" altLang="en-US">
                <a:latin typeface="Courier New" panose="02070309020205020404" pitchFamily="49" charset="0"/>
                <a:cs typeface="Courier New" panose="02070309020205020404" pitchFamily="49" charset="0"/>
              </a:rPr>
              <a:t>media</a:t>
            </a:r>
            <a:r>
              <a:rPr lang="en-US" altLang="en-US"/>
              <a:t>, and the </a:t>
            </a:r>
            <a:r>
              <a:rPr lang="en-US" altLang="en-US" b="1">
                <a:latin typeface="Courier New" panose="02070309020205020404" pitchFamily="49" charset="0"/>
                <a:cs typeface="Courier New" panose="02070309020205020404" pitchFamily="49" charset="0"/>
              </a:rPr>
              <a:t>MediaView</a:t>
            </a:r>
            <a:r>
              <a:rPr lang="en-US" altLang="en-US"/>
              <a:t> class to display the video.</a:t>
            </a:r>
          </a:p>
        </p:txBody>
      </p:sp>
      <p:pic>
        <p:nvPicPr>
          <p:cNvPr id="8" name="Picture 7" descr="The computer code shows the Media. For long description in Notes pane, press F6.">
            <a:extLst>
              <a:ext uri="{FF2B5EF4-FFF2-40B4-BE49-F238E27FC236}">
                <a16:creationId xmlns:a16="http://schemas.microsoft.com/office/drawing/2014/main" id="{346961B8-4348-44BB-9E73-5611DEE4DEEE}"/>
              </a:ext>
            </a:extLst>
          </p:cNvPr>
          <p:cNvPicPr>
            <a:picLocks noChangeAspect="1"/>
          </p:cNvPicPr>
          <p:nvPr/>
        </p:nvPicPr>
        <p:blipFill>
          <a:blip r:embed="rId3"/>
          <a:stretch>
            <a:fillRect/>
          </a:stretch>
        </p:blipFill>
        <p:spPr>
          <a:xfrm>
            <a:off x="613595" y="3444882"/>
            <a:ext cx="7916809" cy="2190931"/>
          </a:xfrm>
          <a:prstGeom prst="rect">
            <a:avLst/>
          </a:prstGeom>
        </p:spPr>
      </p:pic>
    </p:spTree>
    <p:extLst>
      <p:ext uri="{BB962C8B-B14F-4D97-AF65-F5344CB8AC3E}">
        <p14:creationId xmlns:p14="http://schemas.microsoft.com/office/powerpoint/2010/main" val="41764274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38E88-3C14-4581-9DBA-56DAE59D3B2F}"/>
              </a:ext>
            </a:extLst>
          </p:cNvPr>
          <p:cNvSpPr>
            <a:spLocks noGrp="1"/>
          </p:cNvSpPr>
          <p:nvPr>
            <p:ph type="title"/>
          </p:nvPr>
        </p:nvSpPr>
        <p:spPr/>
        <p:txBody>
          <a:bodyPr/>
          <a:lstStyle/>
          <a:p>
            <a:r>
              <a:rPr lang="en-US" altLang="en-US">
                <a:latin typeface="Courier New" panose="02070309020205020404" pitchFamily="49" charset="0"/>
              </a:rPr>
              <a:t>MediaPlayer</a:t>
            </a:r>
            <a:endParaRPr lang="en-US"/>
          </a:p>
        </p:txBody>
      </p:sp>
      <p:sp>
        <p:nvSpPr>
          <p:cNvPr id="3" name="Content Placeholder 2">
            <a:extLst>
              <a:ext uri="{FF2B5EF4-FFF2-40B4-BE49-F238E27FC236}">
                <a16:creationId xmlns:a16="http://schemas.microsoft.com/office/drawing/2014/main" id="{1EFCF033-3CFB-4115-B52B-37E9B48124AB}"/>
              </a:ext>
            </a:extLst>
          </p:cNvPr>
          <p:cNvSpPr>
            <a:spLocks noGrp="1"/>
          </p:cNvSpPr>
          <p:nvPr>
            <p:ph sz="quarter" idx="13"/>
          </p:nvPr>
        </p:nvSpPr>
        <p:spPr>
          <a:xfrm>
            <a:off x="457200" y="1556327"/>
            <a:ext cx="8229600" cy="1275363"/>
          </a:xfrm>
        </p:spPr>
        <p:txBody>
          <a:bodyPr/>
          <a:lstStyle/>
          <a:p>
            <a:pPr marL="0" indent="0">
              <a:buFont typeface="Monotype Sorts"/>
              <a:buNone/>
            </a:pPr>
            <a:r>
              <a:rPr lang="en-US" altLang="en-US"/>
              <a:t>The </a:t>
            </a:r>
            <a:r>
              <a:rPr lang="en-US" altLang="en-US" b="1">
                <a:latin typeface="Courier New" panose="02070309020205020404" pitchFamily="49" charset="0"/>
                <a:cs typeface="Courier New" panose="02070309020205020404" pitchFamily="49" charset="0"/>
              </a:rPr>
              <a:t>MediaPlayer</a:t>
            </a:r>
            <a:r>
              <a:rPr lang="en-US" altLang="en-US"/>
              <a:t> class playes and controls the </a:t>
            </a:r>
            <a:r>
              <a:rPr lang="en-US" altLang="en-US">
                <a:latin typeface="Courier New" panose="02070309020205020404" pitchFamily="49" charset="0"/>
                <a:cs typeface="Courier New" panose="02070309020205020404" pitchFamily="49" charset="0"/>
              </a:rPr>
              <a:t>media</a:t>
            </a:r>
            <a:r>
              <a:rPr lang="en-US" altLang="en-US"/>
              <a:t> with properties such as </a:t>
            </a:r>
            <a:r>
              <a:rPr lang="en-US" altLang="en-US" b="1">
                <a:latin typeface="Courier New" panose="02070309020205020404" pitchFamily="49" charset="0"/>
                <a:cs typeface="Courier New" panose="02070309020205020404" pitchFamily="49" charset="0"/>
              </a:rPr>
              <a:t>autoPlay</a:t>
            </a:r>
            <a:r>
              <a:rPr lang="en-US" altLang="en-US"/>
              <a:t>, </a:t>
            </a:r>
            <a:r>
              <a:rPr lang="en-US" altLang="en-US" b="1">
                <a:latin typeface="Courier New" panose="02070309020205020404" pitchFamily="49" charset="0"/>
                <a:cs typeface="Courier New" panose="02070309020205020404" pitchFamily="49" charset="0"/>
              </a:rPr>
              <a:t>currentCount</a:t>
            </a:r>
            <a:r>
              <a:rPr lang="en-US" altLang="en-US"/>
              <a:t>, </a:t>
            </a:r>
            <a:r>
              <a:rPr lang="en-US" altLang="en-US" b="1">
                <a:latin typeface="Courier New" panose="02070309020205020404" pitchFamily="49" charset="0"/>
                <a:cs typeface="Courier New" panose="02070309020205020404" pitchFamily="49" charset="0"/>
              </a:rPr>
              <a:t>cycleCount</a:t>
            </a:r>
            <a:r>
              <a:rPr lang="en-US" altLang="en-US"/>
              <a:t>, </a:t>
            </a:r>
            <a:r>
              <a:rPr lang="en-US" altLang="en-US" b="1">
                <a:latin typeface="Courier New" panose="02070309020205020404" pitchFamily="49" charset="0"/>
                <a:cs typeface="Courier New" panose="02070309020205020404" pitchFamily="49" charset="0"/>
              </a:rPr>
              <a:t>mute</a:t>
            </a:r>
            <a:r>
              <a:rPr lang="en-US" altLang="en-US"/>
              <a:t>, </a:t>
            </a:r>
            <a:r>
              <a:rPr lang="en-US" altLang="en-US" b="1">
                <a:latin typeface="Courier New" panose="02070309020205020404" pitchFamily="49" charset="0"/>
                <a:cs typeface="Courier New" panose="02070309020205020404" pitchFamily="49" charset="0"/>
              </a:rPr>
              <a:t>volume</a:t>
            </a:r>
            <a:r>
              <a:rPr lang="en-US" altLang="en-US"/>
              <a:t>, and </a:t>
            </a:r>
            <a:r>
              <a:rPr lang="en-US" altLang="en-US" b="1">
                <a:latin typeface="Courier New" panose="02070309020205020404" pitchFamily="49" charset="0"/>
                <a:cs typeface="Courier New" panose="02070309020205020404" pitchFamily="49" charset="0"/>
              </a:rPr>
              <a:t>totalDuration</a:t>
            </a:r>
            <a:r>
              <a:rPr lang="en-US" altLang="en-US"/>
              <a:t>.</a:t>
            </a:r>
          </a:p>
        </p:txBody>
      </p:sp>
      <p:pic>
        <p:nvPicPr>
          <p:cNvPr id="8" name="Picture 7" descr="The computer code shows the Media Player. For long description in Notes pane, press F6.">
            <a:extLst>
              <a:ext uri="{FF2B5EF4-FFF2-40B4-BE49-F238E27FC236}">
                <a16:creationId xmlns:a16="http://schemas.microsoft.com/office/drawing/2014/main" id="{865F78BD-9E19-4434-A5BC-393FB8D0DFD2}"/>
              </a:ext>
            </a:extLst>
          </p:cNvPr>
          <p:cNvPicPr>
            <a:picLocks noChangeAspect="1"/>
          </p:cNvPicPr>
          <p:nvPr/>
        </p:nvPicPr>
        <p:blipFill>
          <a:blip r:embed="rId3"/>
          <a:stretch>
            <a:fillRect/>
          </a:stretch>
        </p:blipFill>
        <p:spPr>
          <a:xfrm>
            <a:off x="1098423" y="2963639"/>
            <a:ext cx="6947153" cy="3209683"/>
          </a:xfrm>
          <a:prstGeom prst="rect">
            <a:avLst/>
          </a:prstGeom>
        </p:spPr>
      </p:pic>
    </p:spTree>
    <p:extLst>
      <p:ext uri="{BB962C8B-B14F-4D97-AF65-F5344CB8AC3E}">
        <p14:creationId xmlns:p14="http://schemas.microsoft.com/office/powerpoint/2010/main" val="3014270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38E88-3C14-4581-9DBA-56DAE59D3B2F}"/>
              </a:ext>
            </a:extLst>
          </p:cNvPr>
          <p:cNvSpPr>
            <a:spLocks noGrp="1"/>
          </p:cNvSpPr>
          <p:nvPr>
            <p:ph type="title"/>
          </p:nvPr>
        </p:nvSpPr>
        <p:spPr/>
        <p:txBody>
          <a:bodyPr/>
          <a:lstStyle/>
          <a:p>
            <a:r>
              <a:rPr lang="en-US" altLang="en-US">
                <a:latin typeface="Courier New" panose="02070309020205020404" pitchFamily="49" charset="0"/>
              </a:rPr>
              <a:t>MediaView</a:t>
            </a:r>
            <a:endParaRPr lang="en-US"/>
          </a:p>
        </p:txBody>
      </p:sp>
      <p:sp>
        <p:nvSpPr>
          <p:cNvPr id="3" name="Content Placeholder 2">
            <a:extLst>
              <a:ext uri="{FF2B5EF4-FFF2-40B4-BE49-F238E27FC236}">
                <a16:creationId xmlns:a16="http://schemas.microsoft.com/office/drawing/2014/main" id="{1EFCF033-3CFB-4115-B52B-37E9B48124AB}"/>
              </a:ext>
            </a:extLst>
          </p:cNvPr>
          <p:cNvSpPr>
            <a:spLocks noGrp="1"/>
          </p:cNvSpPr>
          <p:nvPr>
            <p:ph sz="quarter" idx="13"/>
          </p:nvPr>
        </p:nvSpPr>
        <p:spPr>
          <a:xfrm>
            <a:off x="457200" y="1556327"/>
            <a:ext cx="8244000" cy="1188000"/>
          </a:xfrm>
        </p:spPr>
        <p:txBody>
          <a:bodyPr/>
          <a:lstStyle/>
          <a:p>
            <a:pPr marL="0" indent="0">
              <a:buFont typeface="Monotype Sorts"/>
              <a:buNone/>
            </a:pPr>
            <a:r>
              <a:rPr lang="en-US" altLang="en-US" sz="2200"/>
              <a:t>The </a:t>
            </a:r>
            <a:r>
              <a:rPr lang="en-US" altLang="en-US" sz="2200" b="1">
                <a:latin typeface="Courier New" panose="02070309020205020404" pitchFamily="49" charset="0"/>
                <a:cs typeface="Courier New" panose="02070309020205020404" pitchFamily="49" charset="0"/>
              </a:rPr>
              <a:t>MediaView</a:t>
            </a:r>
            <a:r>
              <a:rPr lang="en-US" altLang="en-US" sz="2200"/>
              <a:t> class is a subclass of </a:t>
            </a:r>
            <a:r>
              <a:rPr lang="en-US" altLang="en-US" sz="2200" b="1">
                <a:latin typeface="Courier New" panose="02070309020205020404" pitchFamily="49" charset="0"/>
                <a:cs typeface="Courier New" panose="02070309020205020404" pitchFamily="49" charset="0"/>
              </a:rPr>
              <a:t>Node</a:t>
            </a:r>
            <a:r>
              <a:rPr lang="en-US" altLang="en-US" sz="2200"/>
              <a:t> that provides a view of the </a:t>
            </a:r>
            <a:r>
              <a:rPr lang="en-US" altLang="en-US" sz="2200" b="1">
                <a:latin typeface="Courier New" panose="02070309020205020404" pitchFamily="49" charset="0"/>
                <a:cs typeface="Courier New" panose="02070309020205020404" pitchFamily="49" charset="0"/>
              </a:rPr>
              <a:t>Media</a:t>
            </a:r>
            <a:r>
              <a:rPr lang="en-US" altLang="en-US" sz="2200"/>
              <a:t> being played by a </a:t>
            </a:r>
            <a:r>
              <a:rPr lang="en-US" altLang="en-US" sz="2200" b="1">
                <a:latin typeface="Courier New" panose="02070309020205020404" pitchFamily="49" charset="0"/>
                <a:cs typeface="Courier New" panose="02070309020205020404" pitchFamily="49" charset="0"/>
              </a:rPr>
              <a:t>MediaPlayer</a:t>
            </a:r>
            <a:r>
              <a:rPr lang="en-US" altLang="en-US" sz="2200"/>
              <a:t>. The </a:t>
            </a:r>
            <a:r>
              <a:rPr lang="en-US" altLang="en-US" sz="2200" b="1">
                <a:latin typeface="Courier New" panose="02070309020205020404" pitchFamily="49" charset="0"/>
                <a:cs typeface="Courier New" panose="02070309020205020404" pitchFamily="49" charset="0"/>
              </a:rPr>
              <a:t>MediaView</a:t>
            </a:r>
            <a:r>
              <a:rPr lang="en-US" altLang="en-US" sz="2200"/>
              <a:t> class provides the properties for viewing the </a:t>
            </a:r>
            <a:r>
              <a:rPr lang="en-US" altLang="en-US" sz="2200">
                <a:latin typeface="Courier New" panose="02070309020205020404" pitchFamily="49" charset="0"/>
                <a:cs typeface="Courier New" panose="02070309020205020404" pitchFamily="49" charset="0"/>
              </a:rPr>
              <a:t>media</a:t>
            </a:r>
            <a:r>
              <a:rPr lang="en-US" altLang="en-US" sz="2200"/>
              <a:t>.</a:t>
            </a:r>
          </a:p>
        </p:txBody>
      </p:sp>
      <p:pic>
        <p:nvPicPr>
          <p:cNvPr id="8" name="Picture 7" descr="The computer code shows the Media View. For long description in Notes pane, press F6.">
            <a:extLst>
              <a:ext uri="{FF2B5EF4-FFF2-40B4-BE49-F238E27FC236}">
                <a16:creationId xmlns:a16="http://schemas.microsoft.com/office/drawing/2014/main" id="{A96CD4EB-0A0C-4FAA-ADEC-B486237AD521}"/>
              </a:ext>
            </a:extLst>
          </p:cNvPr>
          <p:cNvPicPr>
            <a:picLocks noChangeAspect="1"/>
          </p:cNvPicPr>
          <p:nvPr/>
        </p:nvPicPr>
        <p:blipFill>
          <a:blip r:embed="rId3"/>
          <a:stretch>
            <a:fillRect/>
          </a:stretch>
        </p:blipFill>
        <p:spPr>
          <a:xfrm>
            <a:off x="595184" y="3194818"/>
            <a:ext cx="7953631" cy="2859870"/>
          </a:xfrm>
          <a:prstGeom prst="rect">
            <a:avLst/>
          </a:prstGeom>
        </p:spPr>
      </p:pic>
    </p:spTree>
    <p:extLst>
      <p:ext uri="{BB962C8B-B14F-4D97-AF65-F5344CB8AC3E}">
        <p14:creationId xmlns:p14="http://schemas.microsoft.com/office/powerpoint/2010/main" val="16691193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7A6B-6B64-4A77-B161-12762213A9F8}"/>
              </a:ext>
            </a:extLst>
          </p:cNvPr>
          <p:cNvSpPr>
            <a:spLocks noGrp="1"/>
          </p:cNvSpPr>
          <p:nvPr>
            <p:ph type="title"/>
          </p:nvPr>
        </p:nvSpPr>
        <p:spPr>
          <a:xfrm>
            <a:off x="442800" y="233082"/>
            <a:ext cx="8244000" cy="1097279"/>
          </a:xfrm>
        </p:spPr>
        <p:txBody>
          <a:bodyPr/>
          <a:lstStyle/>
          <a:p>
            <a:r>
              <a:rPr lang="en-US"/>
              <a:t>Example: Using Media</a:t>
            </a:r>
          </a:p>
        </p:txBody>
      </p:sp>
      <p:sp>
        <p:nvSpPr>
          <p:cNvPr id="3" name="Content Placeholder 2">
            <a:extLst>
              <a:ext uri="{FF2B5EF4-FFF2-40B4-BE49-F238E27FC236}">
                <a16:creationId xmlns:a16="http://schemas.microsoft.com/office/drawing/2014/main" id="{4C36BFE4-1B89-4E6E-BE90-E47994E594DF}"/>
              </a:ext>
            </a:extLst>
          </p:cNvPr>
          <p:cNvSpPr>
            <a:spLocks noGrp="1"/>
          </p:cNvSpPr>
          <p:nvPr>
            <p:ph sz="quarter" idx="13"/>
          </p:nvPr>
        </p:nvSpPr>
        <p:spPr>
          <a:xfrm>
            <a:off x="466626" y="1552574"/>
            <a:ext cx="3960000" cy="3096000"/>
          </a:xfrm>
        </p:spPr>
        <p:txBody>
          <a:bodyPr/>
          <a:lstStyle/>
          <a:p>
            <a:pPr marL="432" indent="0">
              <a:buNone/>
            </a:pPr>
            <a:r>
              <a:rPr lang="en-US" altLang="en-US"/>
              <a:t>This example displays a video in a view. You can use the play/pause button to play or pause the video and use the rewind button to restart the video, and use the slider to control the volume of the audio</a:t>
            </a:r>
            <a:r>
              <a:rPr lang="en-US" altLang="en-US">
                <a:cs typeface="Times New Roman" panose="02020603050405020304" pitchFamily="18" charset="0"/>
              </a:rPr>
              <a:t>.</a:t>
            </a:r>
          </a:p>
        </p:txBody>
      </p:sp>
      <p:pic>
        <p:nvPicPr>
          <p:cNvPr id="9" name="Picture 8" descr="An object shows the Example for Using Media. It displays a video, the buttons to play or pause, the rewind button to restart and slider to control the volume.">
            <a:extLst>
              <a:ext uri="{FF2B5EF4-FFF2-40B4-BE49-F238E27FC236}">
                <a16:creationId xmlns:a16="http://schemas.microsoft.com/office/drawing/2014/main" id="{23B2CAF0-2895-4502-AFB5-69C74B6C7EAA}"/>
              </a:ext>
            </a:extLst>
          </p:cNvPr>
          <p:cNvPicPr>
            <a:picLocks noChangeAspect="1"/>
          </p:cNvPicPr>
          <p:nvPr/>
        </p:nvPicPr>
        <p:blipFill>
          <a:blip r:embed="rId3"/>
          <a:stretch>
            <a:fillRect/>
          </a:stretch>
        </p:blipFill>
        <p:spPr>
          <a:xfrm>
            <a:off x="4648631" y="1668124"/>
            <a:ext cx="3953918" cy="2921902"/>
          </a:xfrm>
          <a:prstGeom prst="rect">
            <a:avLst/>
          </a:prstGeom>
        </p:spPr>
      </p:pic>
      <p:pic>
        <p:nvPicPr>
          <p:cNvPr id="12" name="Picture 11" descr="The computer code shows the Media. It has 3 boxes and they are interrelated with each other. Box 1, media colon Media. Box 2, media Player colon Media Player. Box 3, media View colon Media View. ">
            <a:extLst>
              <a:ext uri="{FF2B5EF4-FFF2-40B4-BE49-F238E27FC236}">
                <a16:creationId xmlns:a16="http://schemas.microsoft.com/office/drawing/2014/main" id="{BCCB0CD0-DA37-405F-874D-B4ADBC88E667}"/>
              </a:ext>
            </a:extLst>
          </p:cNvPr>
          <p:cNvPicPr>
            <a:picLocks noChangeAspect="1"/>
          </p:cNvPicPr>
          <p:nvPr/>
        </p:nvPicPr>
        <p:blipFill>
          <a:blip r:embed="rId4"/>
          <a:stretch>
            <a:fillRect/>
          </a:stretch>
        </p:blipFill>
        <p:spPr>
          <a:xfrm>
            <a:off x="665574" y="5034451"/>
            <a:ext cx="7812853" cy="402905"/>
          </a:xfrm>
          <a:prstGeom prst="rect">
            <a:avLst/>
          </a:prstGeom>
        </p:spPr>
      </p:pic>
      <p:sp>
        <p:nvSpPr>
          <p:cNvPr id="10" name="Text Placeholder 9">
            <a:extLst>
              <a:ext uri="{FF2B5EF4-FFF2-40B4-BE49-F238E27FC236}">
                <a16:creationId xmlns:a16="http://schemas.microsoft.com/office/drawing/2014/main" id="{D597E5ED-344D-4D10-A5BB-1580C6656852}"/>
              </a:ext>
            </a:extLst>
          </p:cNvPr>
          <p:cNvSpPr>
            <a:spLocks noGrp="1"/>
          </p:cNvSpPr>
          <p:nvPr>
            <p:ph type="body" sz="quarter" idx="20"/>
          </p:nvPr>
        </p:nvSpPr>
        <p:spPr>
          <a:xfrm>
            <a:off x="6813755" y="5828990"/>
            <a:ext cx="1873045" cy="432000"/>
          </a:xfrm>
        </p:spPr>
        <p:txBody>
          <a:bodyPr tIns="0"/>
          <a:lstStyle/>
          <a:p>
            <a:pPr marL="432" indent="0">
              <a:buNone/>
            </a:pPr>
            <a:r>
              <a:rPr lang="en-US" altLang="en-US" dirty="0">
                <a:hlinkClick r:id="rId5" tooltip="https://liveexample.pearsoncmg.com/html/MediaDemo.html"/>
              </a:rPr>
              <a:t>MediaDemo</a:t>
            </a:r>
          </a:p>
        </p:txBody>
      </p:sp>
    </p:spTree>
    <p:extLst>
      <p:ext uri="{BB962C8B-B14F-4D97-AF65-F5344CB8AC3E}">
        <p14:creationId xmlns:p14="http://schemas.microsoft.com/office/powerpoint/2010/main" val="33288125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504C7-29AA-4151-8721-B2084BC42F71}"/>
              </a:ext>
            </a:extLst>
          </p:cNvPr>
          <p:cNvSpPr>
            <a:spLocks noGrp="1"/>
          </p:cNvSpPr>
          <p:nvPr>
            <p:ph type="title"/>
          </p:nvPr>
        </p:nvSpPr>
        <p:spPr/>
        <p:txBody>
          <a:bodyPr/>
          <a:lstStyle/>
          <a:p>
            <a:r>
              <a:rPr lang="en-US" sz="3200"/>
              <a:t>Case Study: National Flags and Anthems</a:t>
            </a:r>
          </a:p>
        </p:txBody>
      </p:sp>
      <p:sp>
        <p:nvSpPr>
          <p:cNvPr id="3" name="Content Placeholder 2">
            <a:extLst>
              <a:ext uri="{FF2B5EF4-FFF2-40B4-BE49-F238E27FC236}">
                <a16:creationId xmlns:a16="http://schemas.microsoft.com/office/drawing/2014/main" id="{AB7BF8C2-1C99-4C9E-98A0-6C20BE5607F5}"/>
              </a:ext>
            </a:extLst>
          </p:cNvPr>
          <p:cNvSpPr>
            <a:spLocks noGrp="1"/>
          </p:cNvSpPr>
          <p:nvPr>
            <p:ph sz="quarter" idx="13"/>
          </p:nvPr>
        </p:nvSpPr>
        <p:spPr>
          <a:xfrm>
            <a:off x="457200" y="1552575"/>
            <a:ext cx="7801897" cy="895657"/>
          </a:xfrm>
        </p:spPr>
        <p:txBody>
          <a:bodyPr/>
          <a:lstStyle/>
          <a:p>
            <a:pPr marL="432" indent="0">
              <a:buNone/>
            </a:pPr>
            <a:r>
              <a:rPr lang="en-US" altLang="en-US"/>
              <a:t>This case study presents a program that displays a nation’s flag and plays its anthem.</a:t>
            </a:r>
          </a:p>
        </p:txBody>
      </p:sp>
      <p:pic>
        <p:nvPicPr>
          <p:cNvPr id="12" name="Picture 11" descr="An object shows the Case Study for National Flags and Anthems. For long description in Notes pane, press F6.">
            <a:extLst>
              <a:ext uri="{FF2B5EF4-FFF2-40B4-BE49-F238E27FC236}">
                <a16:creationId xmlns:a16="http://schemas.microsoft.com/office/drawing/2014/main" id="{26360B9C-6B28-43FB-BCD7-FEAB461D5043}"/>
              </a:ext>
            </a:extLst>
          </p:cNvPr>
          <p:cNvPicPr>
            <a:picLocks noChangeAspect="1"/>
          </p:cNvPicPr>
          <p:nvPr/>
        </p:nvPicPr>
        <p:blipFill>
          <a:blip r:embed="rId3"/>
          <a:stretch>
            <a:fillRect/>
          </a:stretch>
        </p:blipFill>
        <p:spPr>
          <a:xfrm>
            <a:off x="556628" y="2652988"/>
            <a:ext cx="2516195" cy="2086601"/>
          </a:xfrm>
          <a:prstGeom prst="rect">
            <a:avLst/>
          </a:prstGeom>
        </p:spPr>
      </p:pic>
      <p:pic>
        <p:nvPicPr>
          <p:cNvPr id="14" name="Picture 13" descr="Panel 2, shows the National Flag of UK and on the downward side there is a play and pause button, one bar for Select a nation, one drop-down arrow box which shows the UK.">
            <a:extLst>
              <a:ext uri="{FF2B5EF4-FFF2-40B4-BE49-F238E27FC236}">
                <a16:creationId xmlns:a16="http://schemas.microsoft.com/office/drawing/2014/main" id="{CE37AA0E-8C9F-47A3-BD3D-3E9D16C6CFA6}"/>
              </a:ext>
            </a:extLst>
          </p:cNvPr>
          <p:cNvPicPr>
            <a:picLocks noChangeAspect="1"/>
          </p:cNvPicPr>
          <p:nvPr/>
        </p:nvPicPr>
        <p:blipFill>
          <a:blip r:embed="rId4"/>
          <a:stretch>
            <a:fillRect/>
          </a:stretch>
        </p:blipFill>
        <p:spPr>
          <a:xfrm>
            <a:off x="3329873" y="2633575"/>
            <a:ext cx="2484252" cy="2069146"/>
          </a:xfrm>
          <a:prstGeom prst="rect">
            <a:avLst/>
          </a:prstGeom>
        </p:spPr>
      </p:pic>
      <p:pic>
        <p:nvPicPr>
          <p:cNvPr id="19" name="Picture 18" descr="Panel 3, shows the National Flag of US and on the downward side there is a play and pause button, one bar for Select a nation, one drop-down arrow box which shows the US.">
            <a:extLst>
              <a:ext uri="{FF2B5EF4-FFF2-40B4-BE49-F238E27FC236}">
                <a16:creationId xmlns:a16="http://schemas.microsoft.com/office/drawing/2014/main" id="{E07C77A5-480D-466F-AD1F-921E0B23A101}"/>
              </a:ext>
            </a:extLst>
          </p:cNvPr>
          <p:cNvPicPr>
            <a:picLocks noChangeAspect="1"/>
          </p:cNvPicPr>
          <p:nvPr/>
        </p:nvPicPr>
        <p:blipFill>
          <a:blip r:embed="rId5"/>
          <a:stretch>
            <a:fillRect/>
          </a:stretch>
        </p:blipFill>
        <p:spPr>
          <a:xfrm>
            <a:off x="5998782" y="2630539"/>
            <a:ext cx="2586432" cy="2056373"/>
          </a:xfrm>
          <a:prstGeom prst="rect">
            <a:avLst/>
          </a:prstGeom>
        </p:spPr>
      </p:pic>
      <p:sp>
        <p:nvSpPr>
          <p:cNvPr id="10" name="Text Placeholder 9">
            <a:extLst>
              <a:ext uri="{FF2B5EF4-FFF2-40B4-BE49-F238E27FC236}">
                <a16:creationId xmlns:a16="http://schemas.microsoft.com/office/drawing/2014/main" id="{B7AC28B5-9118-4BA7-AE4F-CC59517783D7}"/>
              </a:ext>
            </a:extLst>
          </p:cNvPr>
          <p:cNvSpPr>
            <a:spLocks noGrp="1"/>
          </p:cNvSpPr>
          <p:nvPr>
            <p:ph type="body" sz="quarter" idx="20"/>
          </p:nvPr>
        </p:nvSpPr>
        <p:spPr>
          <a:xfrm>
            <a:off x="6806450" y="5729106"/>
            <a:ext cx="1880350" cy="559399"/>
          </a:xfrm>
        </p:spPr>
        <p:txBody>
          <a:bodyPr/>
          <a:lstStyle/>
          <a:p>
            <a:pPr marL="432" indent="0">
              <a:buNone/>
            </a:pPr>
            <a:r>
              <a:rPr lang="en-US" altLang="en-US" dirty="0">
                <a:hlinkClick r:id="rId6" tooltip="https://liveexample.pearsoncmg.com/html/FlagAnthem.html"/>
              </a:rPr>
              <a:t>FlagAnthem</a:t>
            </a:r>
            <a:endParaRPr lang="en-US" altLang="en-US" dirty="0">
              <a:hlinkClick r:id="rId6"/>
            </a:endParaRPr>
          </a:p>
        </p:txBody>
      </p:sp>
    </p:spTree>
    <p:extLst>
      <p:ext uri="{BB962C8B-B14F-4D97-AF65-F5344CB8AC3E}">
        <p14:creationId xmlns:p14="http://schemas.microsoft.com/office/powerpoint/2010/main" val="2936092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a:t>This work is protected by United States copyright laws and is</a:t>
            </a:r>
            <a:r>
              <a:rPr lang="en-US" b="1" baseline="0"/>
              <a:t> </a:t>
            </a:r>
            <a:r>
              <a:rPr lang="en-US" b="1"/>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de507ab-19d9-42c9-b69f-59bb821f2f61">
      <Terms xmlns="http://schemas.microsoft.com/office/infopath/2007/PartnerControls"/>
    </lcf76f155ced4ddcb4097134ff3c332f>
    <TaxCatchAll xmlns="2b22d00c-ba54-415e-ac47-142f0dfcf7e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27C0A014A242A40A6712776A1B494A0" ma:contentTypeVersion="18" ma:contentTypeDescription="Create a new document." ma:contentTypeScope="" ma:versionID="4c6acf0bdd8d3c68de79bfafae2501c2">
  <xsd:schema xmlns:xsd="http://www.w3.org/2001/XMLSchema" xmlns:xs="http://www.w3.org/2001/XMLSchema" xmlns:p="http://schemas.microsoft.com/office/2006/metadata/properties" xmlns:ns2="bde507ab-19d9-42c9-b69f-59bb821f2f61" xmlns:ns3="2b22d00c-ba54-415e-ac47-142f0dfcf7e9" targetNamespace="http://schemas.microsoft.com/office/2006/metadata/properties" ma:root="true" ma:fieldsID="db735535aa43796101af087dcd28ba92" ns2:_="" ns3:_="">
    <xsd:import namespace="bde507ab-19d9-42c9-b69f-59bb821f2f61"/>
    <xsd:import namespace="2b22d00c-ba54-415e-ac47-142f0dfcf7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507ab-19d9-42c9-b69f-59bb821f2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b22d00c-ba54-415e-ac47-142f0dfcf7e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15ee8f1-b0c3-4805-b80a-d212239595e5}" ma:internalName="TaxCatchAll" ma:showField="CatchAllData" ma:web="2b22d00c-ba54-415e-ac47-142f0dfcf7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E7892F6-4DA8-4514-BDC2-44C496C492EA}">
  <ds:schemaRefs>
    <ds:schemaRef ds:uri="http://schemas.microsoft.com/sharepoint/v3/contenttype/forms"/>
  </ds:schemaRefs>
</ds:datastoreItem>
</file>

<file path=customXml/itemProps2.xml><?xml version="1.0" encoding="utf-8"?>
<ds:datastoreItem xmlns:ds="http://schemas.openxmlformats.org/officeDocument/2006/customXml" ds:itemID="{BD7525A0-6276-4B59-B461-E1C108199CC2}">
  <ds:schemaRefs>
    <ds:schemaRef ds:uri="http://schemas.microsoft.com/office/2006/metadata/properties"/>
    <ds:schemaRef ds:uri="http://schemas.microsoft.com/office/2006/documentManagement/types"/>
    <ds:schemaRef ds:uri="http://purl.org/dc/dcmitype/"/>
    <ds:schemaRef ds:uri="http://schemas.microsoft.com/office/infopath/2007/PartnerControls"/>
    <ds:schemaRef ds:uri="http://www.w3.org/XML/1998/namespace"/>
    <ds:schemaRef ds:uri="bde507ab-19d9-42c9-b69f-59bb821f2f61"/>
    <ds:schemaRef ds:uri="2b22d00c-ba54-415e-ac47-142f0dfcf7e9"/>
    <ds:schemaRef ds:uri="http://schemas.openxmlformats.org/package/2006/metadata/core-properties"/>
    <ds:schemaRef ds:uri="http://purl.org/dc/terms/"/>
    <ds:schemaRef ds:uri="http://purl.org/dc/elements/1.1/"/>
  </ds:schemaRefs>
</ds:datastoreItem>
</file>

<file path=customXml/itemProps3.xml><?xml version="1.0" encoding="utf-8"?>
<ds:datastoreItem xmlns:ds="http://schemas.openxmlformats.org/officeDocument/2006/customXml" ds:itemID="{DB15B669-7B05-4552-9760-2F6C258324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e507ab-19d9-42c9-b69f-59bb821f2f61"/>
    <ds:schemaRef ds:uri="2b22d00c-ba54-415e-ac47-142f0dfcf7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147935</TotalTime>
  <Words>5508</Words>
  <Application>Microsoft Office PowerPoint</Application>
  <PresentationFormat>On-screen Show (4:3)</PresentationFormat>
  <Paragraphs>275</Paragraphs>
  <Slides>35</Slides>
  <Notes>31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35</vt:i4>
      </vt:variant>
    </vt:vector>
  </HeadingPairs>
  <TitlesOfParts>
    <vt:vector size="44" baseType="lpstr">
      <vt:lpstr>Noto Sans Symbols</vt:lpstr>
      <vt:lpstr>Times New Roman</vt:lpstr>
      <vt:lpstr>Courier New</vt:lpstr>
      <vt:lpstr>Monotype Sorts</vt:lpstr>
      <vt:lpstr>Verdana</vt:lpstr>
      <vt:lpstr>Arial</vt:lpstr>
      <vt:lpstr>Book Antiqua</vt:lpstr>
      <vt:lpstr>USHE</vt:lpstr>
      <vt:lpstr>USHE_slide options</vt:lpstr>
      <vt:lpstr>Introduction to Java Programming and Data Structures</vt:lpstr>
      <vt:lpstr>Motivations</vt:lpstr>
      <vt:lpstr>Objectives (1 of 2)</vt:lpstr>
      <vt:lpstr>Objectives (2 of 2)</vt:lpstr>
      <vt:lpstr>Frequently Used U I Controls</vt:lpstr>
      <vt:lpstr>Labeled</vt:lpstr>
      <vt:lpstr>Label</vt:lpstr>
      <vt:lpstr>Buttonbase and Button</vt:lpstr>
      <vt:lpstr>Button Example</vt:lpstr>
      <vt:lpstr>CheckBox</vt:lpstr>
      <vt:lpstr>CheckBox Example</vt:lpstr>
      <vt:lpstr>RadioButton</vt:lpstr>
      <vt:lpstr>RadioButton Example</vt:lpstr>
      <vt:lpstr>TextField</vt:lpstr>
      <vt:lpstr>TextField Example</vt:lpstr>
      <vt:lpstr>TextArea</vt:lpstr>
      <vt:lpstr>TextArea Example</vt:lpstr>
      <vt:lpstr>ComboBox</vt:lpstr>
      <vt:lpstr>ComboBox Example</vt:lpstr>
      <vt:lpstr>ListView</vt:lpstr>
      <vt:lpstr>Example: Using Listview</vt:lpstr>
      <vt:lpstr>ScrollBar</vt:lpstr>
      <vt:lpstr>Scroll Bar Properties</vt:lpstr>
      <vt:lpstr>Example: Using Scrollbars</vt:lpstr>
      <vt:lpstr>Slider</vt:lpstr>
      <vt:lpstr>Example: Using Sliders</vt:lpstr>
      <vt:lpstr>Case Study: Bounce Ball</vt:lpstr>
      <vt:lpstr>Case Study: TicTacToe (1 of 2)</vt:lpstr>
      <vt:lpstr>Case Study: TicTacToe (2 of 2)</vt:lpstr>
      <vt:lpstr>Media</vt:lpstr>
      <vt:lpstr>MediaPlayer</vt:lpstr>
      <vt:lpstr>MediaView</vt:lpstr>
      <vt:lpstr>Example: Using Media</vt:lpstr>
      <vt:lpstr>Case Study: National Flags and Anthems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Programming and Data Structures, Thirteenth Edition, Chapter 16, JavaFX UI Controls and Multimedia</dc:title>
  <dc:subject>IT</dc:subject>
  <dc:creator>Liang</dc:creator>
  <cp:keywords>Introduction to Java Programming and Data Structures</cp:keywords>
  <dc:description>This deck contains code snippets and symbols, screen reader users may need to increase verbosity levels; Long description alt-text is inserted in the notes pane; This presentation contains the hyperlinks located in Notes Pane.</dc:description>
  <cp:lastModifiedBy>Chiranjeevi Kumar</cp:lastModifiedBy>
  <cp:revision>1003</cp:revision>
  <dcterms:modified xsi:type="dcterms:W3CDTF">2023-05-16T09:26:06Z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